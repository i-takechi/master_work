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Normal</c:v>
                </c:pt>
              </c:strCache>
            </c:strRef>
          </c:tx>
          <c:spPr>
            <a:solidFill>
              <a:srgbClr val="2E75B6"/>
            </a:solidFill>
            <a:effectLst/>
          </c:spPr>
          <c:invertIfNegative val="0"/>
          <c:cat>
            <c:strRef>
              <c:f>Sheet1!$A$2:$A$7</c:f>
              <c:strCache>
                <c:ptCount val="6"/>
                <c:pt idx="0">
                  <c:v>Ouster S1</c:v>
                </c:pt>
                <c:pt idx="1">
                  <c:v>Hesai S1</c:v>
                </c:pt>
                <c:pt idx="2">
                  <c:v>Livox S1</c:v>
                </c:pt>
                <c:pt idx="3">
                  <c:v>Ouster S3</c:v>
                </c:pt>
                <c:pt idx="4">
                  <c:v>Hesai S3</c:v>
                </c:pt>
                <c:pt idx="5">
                  <c:v>Livox S3</c:v>
                </c:pt>
              </c:strCache>
            </c:strRef>
          </c:cat>
          <c:val>
            <c:numRef>
              <c:f>Sheet1!$B$2:$B$7</c:f>
              <c:numCache>
                <c:formatCode>General</c:formatCode>
                <c:ptCount val="6"/>
                <c:pt idx="0">
                  <c:v>84.19</c:v>
                </c:pt>
                <c:pt idx="1">
                  <c:v>76.67</c:v>
                </c:pt>
                <c:pt idx="2">
                  <c:v>52.23</c:v>
                </c:pt>
                <c:pt idx="3">
                  <c:v>87.05</c:v>
                </c:pt>
                <c:pt idx="4">
                  <c:v>76.97</c:v>
                </c:pt>
                <c:pt idx="5">
                  <c:v>55.78</c:v>
                </c:pt>
              </c:numCache>
            </c:numRef>
          </c:val>
          <c:extLst>
            <c:ext xmlns:c16="http://schemas.microsoft.com/office/drawing/2014/chart" uri="{C3380CC4-5D6E-409C-BE32-E72D297353CC}">
              <c16:uniqueId val="{00000000-A0B5-4C2C-864A-E8DA2F6A543F}"/>
            </c:ext>
          </c:extLst>
        </c:ser>
        <c:ser>
          <c:idx val="1"/>
          <c:order val="1"/>
          <c:tx>
            <c:strRef>
              <c:f>Sheet1!$C$1</c:f>
              <c:strCache>
                <c:ptCount val="1"/>
                <c:pt idx="0">
                  <c:v>Reflection</c:v>
                </c:pt>
              </c:strCache>
            </c:strRef>
          </c:tx>
          <c:spPr>
            <a:solidFill>
              <a:srgbClr val="ED7D31"/>
            </a:solidFill>
            <a:effectLst/>
          </c:spPr>
          <c:invertIfNegative val="0"/>
          <c:cat>
            <c:strRef>
              <c:f>Sheet1!$A$2:$A$7</c:f>
              <c:strCache>
                <c:ptCount val="6"/>
                <c:pt idx="0">
                  <c:v>Ouster S1</c:v>
                </c:pt>
                <c:pt idx="1">
                  <c:v>Hesai S1</c:v>
                </c:pt>
                <c:pt idx="2">
                  <c:v>Livox S1</c:v>
                </c:pt>
                <c:pt idx="3">
                  <c:v>Ouster S3</c:v>
                </c:pt>
                <c:pt idx="4">
                  <c:v>Hesai S3</c:v>
                </c:pt>
                <c:pt idx="5">
                  <c:v>Livox S3</c:v>
                </c:pt>
              </c:strCache>
            </c:strRef>
          </c:cat>
          <c:val>
            <c:numRef>
              <c:f>Sheet1!$C$2:$C$7</c:f>
              <c:numCache>
                <c:formatCode>General</c:formatCode>
                <c:ptCount val="6"/>
                <c:pt idx="0">
                  <c:v>9.31</c:v>
                </c:pt>
                <c:pt idx="1">
                  <c:v>10.77</c:v>
                </c:pt>
                <c:pt idx="2">
                  <c:v>29.22</c:v>
                </c:pt>
                <c:pt idx="3">
                  <c:v>1.67</c:v>
                </c:pt>
                <c:pt idx="4">
                  <c:v>3.41</c:v>
                </c:pt>
                <c:pt idx="5">
                  <c:v>14.34</c:v>
                </c:pt>
              </c:numCache>
            </c:numRef>
          </c:val>
          <c:extLst>
            <c:ext xmlns:c16="http://schemas.microsoft.com/office/drawing/2014/chart" uri="{C3380CC4-5D6E-409C-BE32-E72D297353CC}">
              <c16:uniqueId val="{00000001-A0B5-4C2C-864A-E8DA2F6A543F}"/>
            </c:ext>
          </c:extLst>
        </c:ser>
        <c:ser>
          <c:idx val="2"/>
          <c:order val="2"/>
          <c:tx>
            <c:strRef>
              <c:f>Sheet1!$D$1</c:f>
              <c:strCache>
                <c:ptCount val="1"/>
                <c:pt idx="0">
                  <c:v>Obstacle</c:v>
                </c:pt>
              </c:strCache>
            </c:strRef>
          </c:tx>
          <c:spPr>
            <a:solidFill>
              <a:srgbClr val="2A9D8F"/>
            </a:solidFill>
            <a:effectLst/>
          </c:spPr>
          <c:invertIfNegative val="0"/>
          <c:cat>
            <c:strRef>
              <c:f>Sheet1!$A$2:$A$7</c:f>
              <c:strCache>
                <c:ptCount val="6"/>
                <c:pt idx="0">
                  <c:v>Ouster S1</c:v>
                </c:pt>
                <c:pt idx="1">
                  <c:v>Hesai S1</c:v>
                </c:pt>
                <c:pt idx="2">
                  <c:v>Livox S1</c:v>
                </c:pt>
                <c:pt idx="3">
                  <c:v>Ouster S3</c:v>
                </c:pt>
                <c:pt idx="4">
                  <c:v>Hesai S3</c:v>
                </c:pt>
                <c:pt idx="5">
                  <c:v>Livox S3</c:v>
                </c:pt>
              </c:strCache>
            </c:strRef>
          </c:cat>
          <c:val>
            <c:numRef>
              <c:f>Sheet1!$D$2:$D$7</c:f>
              <c:numCache>
                <c:formatCode>General</c:formatCode>
                <c:ptCount val="6"/>
                <c:pt idx="0">
                  <c:v>0.66</c:v>
                </c:pt>
                <c:pt idx="1">
                  <c:v>1.54</c:v>
                </c:pt>
                <c:pt idx="2">
                  <c:v>7.62</c:v>
                </c:pt>
                <c:pt idx="3">
                  <c:v>3.64</c:v>
                </c:pt>
                <c:pt idx="4">
                  <c:v>5.46</c:v>
                </c:pt>
                <c:pt idx="5">
                  <c:v>19.28</c:v>
                </c:pt>
              </c:numCache>
            </c:numRef>
          </c:val>
          <c:extLst>
            <c:ext xmlns:c16="http://schemas.microsoft.com/office/drawing/2014/chart" uri="{C3380CC4-5D6E-409C-BE32-E72D297353CC}">
              <c16:uniqueId val="{00000002-A0B5-4C2C-864A-E8DA2F6A543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majorGridlines>
          <c:spPr>
            <a:ln w="12700" cap="flat">
              <a:solidFill>
                <a:srgbClr val="FFFFFF"/>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rot="18900000"/>
          <a:lstStyle/>
          <a:p>
            <a:pPr>
              <a:defRPr sz="1000" b="0" i="0" u="none" strike="noStrike">
                <a:solidFill>
                  <a:srgbClr val="4D5966"/>
                </a:solidFill>
                <a:latin typeface="Yu Gothic"/>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DD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4D5966"/>
                </a:solidFill>
                <a:latin typeface="Yu Gothic"/>
              </a:defRPr>
            </a:pPr>
            <a:endParaRPr lang="en-US"/>
          </a:p>
        </c:txPr>
        <c:crossAx val="2094734554"/>
        <c:crosses val="autoZero"/>
        <c:crossBetween val="between"/>
        <c:majorUnit val="20"/>
      </c:valAx>
      <c:spPr>
        <a:solidFill>
          <a:srgbClr val="FFFFFF"/>
        </a:solidFill>
        <a:ln>
          <a:noFill/>
        </a:ln>
        <a:effectLst/>
      </c:spPr>
    </c:plotArea>
    <c:legend>
      <c:legendPos val="b"/>
      <c:overlay val="0"/>
      <c:txPr>
        <a:bodyPr/>
        <a:lstStyle/>
        <a:p>
          <a:pPr>
            <a:defRPr sz="950">
              <a:solidFill>
                <a:srgbClr val="4D5966"/>
              </a:solidFill>
              <a:latin typeface="Yu Gothic"/>
              <a:cs typeface="Yu Gothic"/>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ΔmIoU (Yes − No)</c:v>
                </c:pt>
              </c:strCache>
            </c:strRef>
          </c:tx>
          <c:spPr>
            <a:solidFill>
              <a:srgbClr val="2E75B6"/>
            </a:solidFill>
            <a:effectLst/>
          </c:spPr>
          <c:invertIfNegative val="0"/>
          <c:dPt>
            <c:idx val="0"/>
            <c:invertIfNegative val="0"/>
            <c:bubble3D val="0"/>
            <c:extLst>
              <c:ext xmlns:c16="http://schemas.microsoft.com/office/drawing/2014/chart" uri="{C3380CC4-5D6E-409C-BE32-E72D297353CC}">
                <c16:uniqueId val="{00000001-4554-4B87-89D3-D929919955FA}"/>
              </c:ext>
            </c:extLst>
          </c:dPt>
          <c:dPt>
            <c:idx val="1"/>
            <c:invertIfNegative val="0"/>
            <c:bubble3D val="0"/>
            <c:spPr>
              <a:solidFill>
                <a:srgbClr val="ED7D31"/>
              </a:solidFill>
              <a:effectLst/>
            </c:spPr>
            <c:extLst>
              <c:ext xmlns:c16="http://schemas.microsoft.com/office/drawing/2014/chart" uri="{C3380CC4-5D6E-409C-BE32-E72D297353CC}">
                <c16:uniqueId val="{00000003-4554-4B87-89D3-D929919955FA}"/>
              </c:ext>
            </c:extLst>
          </c:dPt>
          <c:dPt>
            <c:idx val="2"/>
            <c:invertIfNegative val="0"/>
            <c:bubble3D val="0"/>
            <c:spPr>
              <a:solidFill>
                <a:srgbClr val="2A9D8F"/>
              </a:solidFill>
              <a:effectLst/>
            </c:spPr>
            <c:extLst>
              <c:ext xmlns:c16="http://schemas.microsoft.com/office/drawing/2014/chart" uri="{C3380CC4-5D6E-409C-BE32-E72D297353CC}">
                <c16:uniqueId val="{00000005-4554-4B87-89D3-D929919955FA}"/>
              </c:ext>
            </c:extLst>
          </c:dPt>
          <c:dLbls>
            <c:numFmt formatCode="0.00" sourceLinked="0"/>
            <c:spPr>
              <a:noFill/>
              <a:ln>
                <a:noFill/>
              </a:ln>
              <a:effectLst/>
            </c:spPr>
            <c:txPr>
              <a:bodyPr/>
              <a:lstStyle/>
              <a:p>
                <a:pPr>
                  <a:defRPr sz="950" b="0" i="0" u="none" strike="noStrike">
                    <a:solidFill>
                      <a:srgbClr val="20242A"/>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MinkowskiNet</c:v>
                </c:pt>
                <c:pt idx="1">
                  <c:v>SPVCNN</c:v>
                </c:pt>
                <c:pt idx="2">
                  <c:v>Cylinder3D</c:v>
                </c:pt>
              </c:strCache>
            </c:strRef>
          </c:cat>
          <c:val>
            <c:numRef>
              <c:f>Sheet1!$B$2:$B$4</c:f>
              <c:numCache>
                <c:formatCode>General</c:formatCode>
                <c:ptCount val="3"/>
                <c:pt idx="0">
                  <c:v>0.56520000000000004</c:v>
                </c:pt>
                <c:pt idx="1">
                  <c:v>0.29509999999999997</c:v>
                </c:pt>
                <c:pt idx="2">
                  <c:v>0.19919999999999999</c:v>
                </c:pt>
              </c:numCache>
            </c:numRef>
          </c:val>
          <c:extLst>
            <c:ext xmlns:c16="http://schemas.microsoft.com/office/drawing/2014/chart" uri="{C3380CC4-5D6E-409C-BE32-E72D297353CC}">
              <c16:uniqueId val="{00000006-4554-4B87-89D3-D929919955F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majorGridlines>
          <c:spPr>
            <a:ln w="12700" cap="flat">
              <a:solidFill>
                <a:srgbClr val="FFFFFF"/>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5966"/>
                </a:solidFill>
                <a:latin typeface="Yu Gothic"/>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12700" cap="flat">
              <a:solidFill>
                <a:srgbClr val="DD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4D5966"/>
                </a:solidFill>
                <a:latin typeface="Yu Gothic"/>
              </a:defRPr>
            </a:pPr>
            <a:endParaRPr lang="en-US"/>
          </a:p>
        </c:txPr>
        <c:crossAx val="2094734554"/>
        <c:crosses val="autoZero"/>
        <c:crossBetween val="between"/>
        <c:majorUnit val="0.1"/>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6312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本発表では、3DV 2024の3DRef論文を、データセット設計と評価結果の両面から説明します。,中心となる問いは、反射・透過によってLiDARの幾何仮定が破れる環境を、3Dでどのように正解付けするかです。,論文の表に記載された数値を優先し、本文との不一致がある箇所は明示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通常のLiDAR処理は、レーザが最初に当たった実表面から戻ることを暗黙に仮定します。,反射・透明材料では、表面点、透過後の障害物、虚像点、欠測のいずれも起こり得ます。,したがって『反射材の領域』だけでなく、点が実物か虚像か、透明材の背後かまで区別する必要があります。,この誤観測は地図上のphantom wallや穴となり、自己位置推定と経路計画を同時に損ないます。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論文の主貢献は新しい検出ネットワークではなく、データ・注釈・評価基盤です。,第一に、3種類のLiDARとRGBを時刻・座標系で整列した大規模屋内データを提供します。,第二に、3D meshを共通の正解源として点群と画像のラベルを生成します。,第三に、既存のLiDAR/RGB手法をベンチマークし、multi-return情報が有効かを数値で検証します。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1では、従来データの多くがRGBまたはRGB-Dのglass/mirror segmentationです。,3DRefの48,024と3,799はそれぞれ点群とRGB画像で、単純に同一モダリティの標本数として比較しない点に注意します。,本論文の新規性は、材料カテゴリに加えて、虚像点と透明材背後の実障害物を3Dで区別することで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multi-return LiDARは、1本の発射に対して複数のechoを記録できます。,透明面や多重反射では、早いreturnと遅いreturnが異なる物理経路に対応する可能性があります。,論文は、return番号を5番目の入力特徴として加える実験を行います。,ただしセンサごとにreturn selectionが異なるため、改善量とセンサ依存性を分けて読む必要があります。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収集装置は手持ち型で、Ouster、Hesai、Livoxと360度カメラ、IMUを搭載します。,Ousterはstrongest/second strongest、Hesaiはfirst/last、Livoxは最大triple echoであり、同じreturn番号でも選択規則は異なります。,PTPで1ミリ秒以内に同期します。これにより動きながら取得してもセンサ間対応を保ちます。,Ouster・カメラ・IMUはPolar scanner側に統合され、ground-truth mesh作成にも使われます。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3Dラベル生成では、LiDAR原点からmeshへrayを飛ばすため、姿勢誤差は直接ラベル誤差になります。,初期外部校正は、3台のLiDAR点群をFARO ground-truth fieldへregistrationして求めます。,MA-LIOは連続時間B-spline軌跡を用い、動き歪みを補正すると同時に、時変extrinsicと残留時刻ずれをオンライン推定します。,つまり、本データセットの品質は幾何再構成とセンサ整列の二段階に支えられてい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収集者は手持ち装置で屋内を歩き、同一反射面を複数の視点・距離・入射角から観測します。,Sequence 1は鏡と大きな窓、Sequence 2は全面ガラスの会議室、Sequence 3は白板・TV・ガラス手すりなど多様な材質を含みます。,図中の赤線は軌跡です。論文の可視化では0.1 m subsamplingを行い、天井を除去しています。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注釈の起点は、Polar scannerから生成したtexture付き3D meshです。,ガラスや鏡によってmeshに穴や誤形状が生じるため、著者はmeshを手作業でcleaningし、欠損を修正します。,さらにtexture上でglass、mirror、other reflectiveを色分けします。,これにより、点群と画像の各フレームを独立に塗るのではなく、一貫した3D scene modelからラベルを投影できます。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各点について、LiDARの観測姿勢をmesh座標系へ変換し、センサ原点から観測点方向へrayを飛ばします。,rayが最初に交差したmesh面の色・種類を参照してラベルを割り当てます。,この処理はOpen3D ray castingで自動化されています。,境界付近ではpose・mesh・calibrationの誤差がラベルに影響するため、完全な自動正解ではない点には注意が必要です。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RGBでは、各カメラ姿勢と内部パラメータを用いて、色付きmeshを画像平面へrenderします。,render結果からglass、mirror、other reflective、および全反射材のmaskを抽出します。,360度魚眼画像は、既存のpinhole前提ネットワークへ入力するためundistortされます。,LiDARとRGBが同じmeshを正解源とすることが、将来のsensor fusionにとって重要です。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配布ラベルは0から6までの7 IDです。,0はmesh外などのUnlabeledで、通常は評価対象から外します。したがって意味クラスはNormalを含む6クラスです。,重要なのは、材料クラス2〜4と、点の生成現象を表す5〜6を区別していることです。,Reflection pointは虚像点、Obstacle behind glassは実在する背後物体という幾何学的に異なる意味を持ちます。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各LiDARについて16,008 frame、合計48,024点群です。RGBは3,799画像です。,3台は同じ軌跡を同時観測するため、48,024を独立な環境数として解釈してはいけません。,SemanticKITTI互換形式では、XYZIの4チャネルとreturn番号を追加したXYZIRの5チャネルを提供します。,rawデータ、mesh、calibration、ray tracingと評価scriptも公開対象です。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3の代表値を可視化しています。Normalが多数派ですが、LivoxではReflectionとObstacleの比率が大きくなります。,Sequence 1のLivoxはReflection 29.22%、Sequence 3ではObstacle behind glassが19.28%です。,同じ環境でもreturn selectionやsampling patternによりラベル分布が変わります。,したがって、センサ別成績は単純なハードウェア性能だけでなく、入力分布の差も含みます。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4は各クラスの点が何番目のreturnで観測されたかを示します。,Normal、Glass、Mirror、Other reflectiveは98.7%以上がfirst returnです。,一方、Reflectionは22.84%、Obstacleは37.81%がsecondまたはthird returnです。,ただしReflectionの77.16%、Obstacleの62.20%はfirst returnなので、return番号は決定規則ではなく補助特徴です。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入射角はmesh法線とLiDAR beam方向から計算します。図は各角度bin内のclass構成を100%に正規化したものです。,Normalはgrazing方向まで増加した後、極端な角度で減少します。,GlassとMirrorの直接returnは比較的小さい角度で多く、角度が大きくなると減少します。,この結果は、単一視点だけでは材料特性と角度効果を分離しにくいことを示し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LiDARではPCSeg codebase上の3つのsemantic segmentation手法を使用します。,return番号なしのXYZIと、return番号を加えたXYZIRを比較します。,RGBではglass用とmirror用の既存モデルを、pretrainedのまま評価し、一部を3DRefで再学習します。,論文はRGB-LiDAR fusionを将来課題とし、現在のベンチマークは単一モダリティです。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5のAll sensors部分を再掲しています。,最高mIoUはCylinder3Dにreturn番号を加えた83.9188です。,Normalは96%以上ですが、Glassは約70で、材料面の識別が相対的に難しいです。,return追加は全体mIoUを改善するものの、全クラス・全モデルで一様に改善するわけ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return有無のmIoU差は、MinkowskiNetで+0.5652、SPVCNNで+0.2951、Cylinder3Dで+0.1992 pointです。,3手法の単純平均は+0.3532 pointです。本文の『across methodsで0.5%改善』は丸めまたは概括的表現と考えられます。,クラス別にはMinkowskiNetのMirrorが約2.13 point低下するなど、効果は非一様です。,したがって、return番号の情報量は確認できるものの、強い決定的改善とは言えません。</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Cylinder3D＋returnをsensor別に見ると、Ouster 79.71、Hesai 84.98、Livox 85.96です。,OusterはGlassとMirrorが低く、Hesaiは両クラスが高い一方、Obstacleは低めです。,Livoxはlate return比率が高く、Obstacle IoUも86.59です。,ただし点密度、FoV、return rule、class分布が同時に変わるため、センサの因果的比較ではありません。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pretrained modelを3DRefへ直接適用すると、GlassSemNetは90.80から53.69、SATNetは78.42から49.46へ低下します。,これは屋内環境、撮像条件、材料の多様性、mask生成法の差によるdomain gapを示します。,3DRefで再学習すると、SATNet Mirror 82.47、EBLNet Glass 86.71まで回復します。,All reflectiveでは表上SATNet 68.81、EBLNet 87.60です。</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ここでは批判ではなく、証拠の読み分けを行います。,return改善量について、本文の0.5%とTable 5からの単純平均0.353 pointは一致しません。,RGBについて、87.60は表ではEBLNetのAllですが、本文はSATNetと記述しています。手法名の誤記の可能性があります。,したがって発表では、具体値は表を一次情報として提示し、本文表現は別に紹介します。</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論文の明示的な将来課題は、センサ・材質・環境の拡張、multimodal fusion、depth/polarization、self/semi-supervised learningです。,追加で、3 sequenceの屋内データから未知環境への汎化をどこまで主張できるかは限定的です。,mesh修正とray castingは高効率ですが、正解がpose・calibration・mesh品質に依存します。,最終的には、segmentation精度だけでなく、SLAMやnavigationの安全性改善へつながるかを評価する必要があります。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主論文と、発表で名前を挙げた代表的なRGBおよびpoint-cloud segmentation関連文献です。,データとコードは3dref.github.ioで公開されています。,質疑では、Table 1に掲載された全関連データセットとTable 5・6の元論文を必要に応じて参照します。</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第一の結論は、3D meshを共通正解源にした注釈設計がデータセットの核だという点です。,第二に、late returnは反射現象へ選択的ですが、return番号追加のmIoU改善は限定的で、補助特徴と理解すべきです。,第三に、既存RGBモデルは3DRefへ直接汎化せず、データセット固有の再学習が重要です。,本研究を次へ進めるには、検出精度がSLAMとnavigationの失敗を実際にどれだけ減らすかを測る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3の主要列を付録として一覧化しています。,Ousterのsecond returnは全sequenceで0.4%未満、Livoxはsecond/thirdが最大16.5%程度です。,MirrorはSequence 3には含まれません。,クラス分布とreturn分布がsensor・sequenceの両方で変化することを確認できます。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5のreturn有無からclass-wise差分を計算したものです。,Reflectionは3手法で正ですが、Glass、Mirror、Other、Obstacleは手法により正負が変わります。,MinkowskiNetではMirrorが2.134 point低下する一方、Obstacleは2.452 point改善します。,return featureを加える際は、全体mIoUだけでなくclass-wise trade-offを確認すべきです。</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再現性確認で特に重要な点を整理しています。,同時刻の3センサ点群は相関が高いため、分割単位によっては情報漏洩に近い状況が起こり得ます。論文と公開scriptのsplit定義を確認すべきです。,Unlabeledのignore設定、return番号の符号化、mesh・poseの座標系も結果に直結します。,また、本文と表で不一致がある箇所はTable 5・6の値を基準に記録します。</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65D"/>
        </a:solidFill>
        <a:effectLst/>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102A49"/>
          </a:solidFill>
          <a:ln w="12700">
            <a:solidFill>
              <a:srgbClr val="102A49"/>
            </a:solidFill>
            <a:prstDash val="solid"/>
          </a:ln>
        </p:spPr>
      </p:sp>
      <p:sp>
        <p:nvSpPr>
          <p:cNvPr id="3" name="Text 1"/>
          <p:cNvSpPr/>
          <p:nvPr/>
        </p:nvSpPr>
        <p:spPr>
          <a:xfrm>
            <a:off x="603504" y="438912"/>
            <a:ext cx="1920240" cy="502920"/>
          </a:xfrm>
          <a:prstGeom prst="rect">
            <a:avLst/>
          </a:prstGeom>
          <a:noFill/>
          <a:ln/>
        </p:spPr>
        <p:txBody>
          <a:bodyPr wrap="square" lIns="0" tIns="0" rIns="0" bIns="0" rtlCol="0" anchor="ctr">
            <a:normAutofit/>
          </a:bodyPr>
          <a:lstStyle/>
          <a:p>
            <a:pPr marL="0" indent="0">
              <a:buNone/>
            </a:pPr>
            <a:r>
              <a:rPr lang="en-US" sz="3400" b="1" dirty="0">
                <a:solidFill>
                  <a:srgbClr val="5B9BD5"/>
                </a:solidFill>
                <a:latin typeface="Yu Gothic" pitchFamily="34" charset="0"/>
                <a:ea typeface="Yu Gothic" pitchFamily="34" charset="-122"/>
                <a:cs typeface="Yu Gothic" pitchFamily="34" charset="-120"/>
              </a:rPr>
              <a:t>3DRef</a:t>
            </a:r>
            <a:endParaRPr lang="en-US" sz="3400" dirty="0"/>
          </a:p>
        </p:txBody>
      </p:sp>
      <p:sp>
        <p:nvSpPr>
          <p:cNvPr id="4" name="Text 2"/>
          <p:cNvSpPr/>
          <p:nvPr/>
        </p:nvSpPr>
        <p:spPr>
          <a:xfrm>
            <a:off x="603504" y="1051560"/>
            <a:ext cx="7955280" cy="1298448"/>
          </a:xfrm>
          <a:prstGeom prst="rect">
            <a:avLst/>
          </a:prstGeom>
          <a:noFill/>
          <a:ln/>
        </p:spPr>
        <p:txBody>
          <a:bodyPr wrap="square" lIns="0" tIns="0" rIns="0" bIns="0" rtlCol="0" anchor="t">
            <a:normAutofit/>
          </a:bodyPr>
          <a:lstStyle/>
          <a:p>
            <a:pPr marL="0" indent="0">
              <a:buNone/>
            </a:pPr>
            <a:r>
              <a:rPr lang="en-US" sz="2900" b="1" dirty="0">
                <a:solidFill>
                  <a:srgbClr val="FFFFFF"/>
                </a:solidFill>
                <a:latin typeface="Yu Gothic" pitchFamily="34" charset="0"/>
                <a:ea typeface="Yu Gothic" pitchFamily="34" charset="-122"/>
                <a:cs typeface="Yu Gothic" pitchFamily="34" charset="-120"/>
              </a:rPr>
              <a:t>反射面を含む環境のための</a:t>
            </a:r>
            <a:endParaRPr lang="en-US" sz="2900" dirty="0"/>
          </a:p>
          <a:p>
            <a:pPr marL="0" indent="0">
              <a:buNone/>
            </a:pPr>
            <a:r>
              <a:rPr lang="en-US" sz="2900" b="1" dirty="0">
                <a:solidFill>
                  <a:srgbClr val="FFFFFF"/>
                </a:solidFill>
                <a:latin typeface="Yu Gothic" pitchFamily="34" charset="0"/>
                <a:ea typeface="Yu Gothic" pitchFamily="34" charset="-122"/>
                <a:cs typeface="Yu Gothic" pitchFamily="34" charset="-120"/>
              </a:rPr>
              <a:t>RGB・LiDAR 3Dデータセットとベンチマーク</a:t>
            </a:r>
            <a:endParaRPr lang="en-US" sz="2900" dirty="0"/>
          </a:p>
        </p:txBody>
      </p:sp>
      <p:sp>
        <p:nvSpPr>
          <p:cNvPr id="5" name="Text 3"/>
          <p:cNvSpPr/>
          <p:nvPr/>
        </p:nvSpPr>
        <p:spPr>
          <a:xfrm>
            <a:off x="621792" y="2578608"/>
            <a:ext cx="7772400" cy="310896"/>
          </a:xfrm>
          <a:prstGeom prst="rect">
            <a:avLst/>
          </a:prstGeom>
          <a:noFill/>
          <a:ln/>
        </p:spPr>
        <p:txBody>
          <a:bodyPr wrap="square" lIns="0" tIns="0" rIns="0" bIns="0" rtlCol="0" anchor="ctr">
            <a:normAutofit/>
          </a:bodyPr>
          <a:lstStyle/>
          <a:p>
            <a:pPr marL="0" indent="0">
              <a:buNone/>
            </a:pPr>
            <a:r>
              <a:rPr lang="en-US" sz="1500" dirty="0">
                <a:solidFill>
                  <a:srgbClr val="C8D9EA"/>
                </a:solidFill>
                <a:latin typeface="Yu Gothic" pitchFamily="34" charset="0"/>
                <a:ea typeface="Yu Gothic" pitchFamily="34" charset="-122"/>
                <a:cs typeface="Yu Gothic" pitchFamily="34" charset="-120"/>
              </a:rPr>
              <a:t>Xiting Zhao, Sören Schwertfeger — 3DV 2024</a:t>
            </a:r>
            <a:endParaRPr lang="en-US" sz="1500" dirty="0"/>
          </a:p>
        </p:txBody>
      </p:sp>
      <p:sp>
        <p:nvSpPr>
          <p:cNvPr id="6" name="Shape 4"/>
          <p:cNvSpPr/>
          <p:nvPr/>
        </p:nvSpPr>
        <p:spPr>
          <a:xfrm>
            <a:off x="621792" y="3127248"/>
            <a:ext cx="1691640" cy="292608"/>
          </a:xfrm>
          <a:prstGeom prst="roundRect">
            <a:avLst>
              <a:gd name="adj" fmla="val 15625"/>
            </a:avLst>
          </a:prstGeom>
          <a:solidFill>
            <a:srgbClr val="284B70"/>
          </a:solidFill>
          <a:ln w="12700">
            <a:solidFill>
              <a:srgbClr val="FFFFFF"/>
            </a:solidFill>
            <a:prstDash val="solid"/>
          </a:ln>
        </p:spPr>
      </p:sp>
      <p:sp>
        <p:nvSpPr>
          <p:cNvPr id="7" name="Text 5"/>
          <p:cNvSpPr/>
          <p:nvPr/>
        </p:nvSpPr>
        <p:spPr>
          <a:xfrm>
            <a:off x="621792" y="3127248"/>
            <a:ext cx="1691640" cy="292608"/>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latin typeface="Yu Gothic" pitchFamily="34" charset="0"/>
                <a:ea typeface="Yu Gothic" pitchFamily="34" charset="-122"/>
                <a:cs typeface="Yu Gothic" pitchFamily="34" charset="-120"/>
              </a:rPr>
              <a:t>論文紹介・詳細版</a:t>
            </a:r>
            <a:endParaRPr lang="en-US" sz="1250" dirty="0"/>
          </a:p>
        </p:txBody>
      </p:sp>
      <p:sp>
        <p:nvSpPr>
          <p:cNvPr id="8" name="Text 6"/>
          <p:cNvSpPr/>
          <p:nvPr/>
        </p:nvSpPr>
        <p:spPr>
          <a:xfrm>
            <a:off x="621792" y="4489704"/>
            <a:ext cx="7955280" cy="256032"/>
          </a:xfrm>
          <a:prstGeom prst="rect">
            <a:avLst/>
          </a:prstGeom>
          <a:noFill/>
          <a:ln/>
        </p:spPr>
        <p:txBody>
          <a:bodyPr wrap="square" lIns="0" tIns="0" rIns="0" bIns="0" rtlCol="0" anchor="ctr">
            <a:normAutofit/>
          </a:bodyPr>
          <a:lstStyle/>
          <a:p>
            <a:pPr marL="0" indent="0">
              <a:buNone/>
            </a:pPr>
            <a:r>
              <a:rPr lang="en-US" sz="1400" dirty="0">
                <a:solidFill>
                  <a:srgbClr val="C8D9EA"/>
                </a:solidFill>
                <a:latin typeface="Yu Gothic" pitchFamily="34" charset="0"/>
                <a:ea typeface="Yu Gothic" pitchFamily="34" charset="-122"/>
                <a:cs typeface="Yu Gothic" pitchFamily="34" charset="-120"/>
              </a:rPr>
              <a:t>大阪大学 修士課程セミナー  |  2026年7月23日</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反射面では「最初の実物表面から返る」というLiDAR仮定が破れる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Problem</a:t>
            </a:r>
            <a:endParaRPr lang="en-US" sz="950" dirty="0"/>
          </a:p>
        </p:txBody>
      </p:sp>
      <p:sp>
        <p:nvSpPr>
          <p:cNvPr id="5" name="Shape 3"/>
          <p:cNvSpPr/>
          <p:nvPr/>
        </p:nvSpPr>
        <p:spPr>
          <a:xfrm>
            <a:off x="566928" y="1005840"/>
            <a:ext cx="1810512" cy="192024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566928" y="1005840"/>
            <a:ext cx="50292" cy="1920240"/>
          </a:xfrm>
          <a:prstGeom prst="rect">
            <a:avLst/>
          </a:prstGeom>
          <a:solidFill>
            <a:srgbClr val="2A9D8F"/>
          </a:solidFill>
          <a:ln w="12700">
            <a:solidFill>
              <a:srgbClr val="2A9D8F"/>
            </a:solidFill>
            <a:prstDash val="solid"/>
          </a:ln>
        </p:spPr>
      </p:sp>
      <p:sp>
        <p:nvSpPr>
          <p:cNvPr id="7" name="Text 5"/>
          <p:cNvSpPr/>
          <p:nvPr/>
        </p:nvSpPr>
        <p:spPr>
          <a:xfrm>
            <a:off x="731520" y="1078992"/>
            <a:ext cx="1536192" cy="310896"/>
          </a:xfrm>
          <a:prstGeom prst="rect">
            <a:avLst/>
          </a:prstGeom>
          <a:noFill/>
          <a:ln/>
        </p:spPr>
        <p:txBody>
          <a:bodyPr wrap="square" lIns="0" tIns="0" rIns="0" bIns="0" rtlCol="0" anchor="t">
            <a:normAutofit/>
          </a:bodyPr>
          <a:lstStyle/>
          <a:p>
            <a:pPr marL="0" indent="0">
              <a:buNone/>
            </a:pPr>
            <a:r>
              <a:rPr lang="en-US" sz="1430" b="1" dirty="0">
                <a:solidFill>
                  <a:srgbClr val="17365D"/>
                </a:solidFill>
                <a:latin typeface="Yu Gothic" pitchFamily="34" charset="0"/>
                <a:ea typeface="Yu Gothic" pitchFamily="34" charset="-122"/>
                <a:cs typeface="Yu Gothic" pitchFamily="34" charset="-120"/>
              </a:rPr>
              <a:t>① 表面で反射</a:t>
            </a:r>
            <a:endParaRPr lang="en-US" sz="1430" dirty="0"/>
          </a:p>
        </p:txBody>
      </p:sp>
      <p:sp>
        <p:nvSpPr>
          <p:cNvPr id="8" name="Text 6"/>
          <p:cNvSpPr/>
          <p:nvPr/>
        </p:nvSpPr>
        <p:spPr>
          <a:xfrm>
            <a:off x="731520" y="1426464"/>
            <a:ext cx="1536192" cy="1408176"/>
          </a:xfrm>
          <a:prstGeom prst="rect">
            <a:avLst/>
          </a:prstGeom>
          <a:noFill/>
          <a:ln/>
        </p:spPr>
        <p:txBody>
          <a:bodyPr wrap="square" lIns="12700" tIns="0" rIns="0" bIns="25400" rtlCol="0" anchor="t">
            <a:normAutofit/>
          </a:bodyPr>
          <a:lstStyle/>
          <a:p>
            <a:pPr marL="0" indent="0">
              <a:buNone/>
            </a:pPr>
            <a:r>
              <a:rPr lang="en-US" sz="1330" dirty="0">
                <a:solidFill>
                  <a:srgbClr val="4D5966"/>
                </a:solidFill>
                <a:latin typeface="Yu Gothic" pitchFamily="34" charset="0"/>
                <a:ea typeface="Yu Gothic" pitchFamily="34" charset="-122"/>
                <a:cs typeface="Yu Gothic" pitchFamily="34" charset="-120"/>
              </a:rPr>
              <a:t>反射材そのものから</a:t>
            </a:r>
            <a:endParaRPr lang="en-US" sz="1330" dirty="0"/>
          </a:p>
          <a:p>
            <a:pPr marL="0" indent="0">
              <a:buNone/>
            </a:pPr>
            <a:r>
              <a:rPr lang="en-US" sz="1330" dirty="0">
                <a:solidFill>
                  <a:srgbClr val="4D5966"/>
                </a:solidFill>
                <a:latin typeface="Yu Gothic" pitchFamily="34" charset="0"/>
                <a:ea typeface="Yu Gothic" pitchFamily="34" charset="-122"/>
                <a:cs typeface="Yu Gothic" pitchFamily="34" charset="-120"/>
              </a:rPr>
              <a:t>有効な点が返る</a:t>
            </a:r>
            <a:endParaRPr lang="en-US" sz="1330" dirty="0"/>
          </a:p>
        </p:txBody>
      </p:sp>
      <p:sp>
        <p:nvSpPr>
          <p:cNvPr id="9" name="Shape 7"/>
          <p:cNvSpPr/>
          <p:nvPr/>
        </p:nvSpPr>
        <p:spPr>
          <a:xfrm>
            <a:off x="859536" y="3246120"/>
            <a:ext cx="1188720" cy="0"/>
          </a:xfrm>
          <a:prstGeom prst="line">
            <a:avLst/>
          </a:prstGeom>
          <a:noFill/>
          <a:ln w="12700">
            <a:solidFill>
              <a:srgbClr val="2A9D8F"/>
            </a:solidFill>
            <a:prstDash val="solid"/>
            <a:headEnd type="none"/>
            <a:tailEnd type="triangle"/>
          </a:ln>
        </p:spPr>
      </p:sp>
      <p:sp>
        <p:nvSpPr>
          <p:cNvPr id="10" name="Shape 8"/>
          <p:cNvSpPr/>
          <p:nvPr/>
        </p:nvSpPr>
        <p:spPr>
          <a:xfrm>
            <a:off x="1280160" y="3099816"/>
            <a:ext cx="274320" cy="274320"/>
          </a:xfrm>
          <a:prstGeom prst="ellipse">
            <a:avLst/>
          </a:prstGeom>
          <a:solidFill>
            <a:srgbClr val="2A9D8F"/>
          </a:solidFill>
          <a:ln w="12700">
            <a:solidFill>
              <a:srgbClr val="2A9D8F"/>
            </a:solidFill>
            <a:prstDash val="solid"/>
          </a:ln>
        </p:spPr>
      </p:sp>
      <p:sp>
        <p:nvSpPr>
          <p:cNvPr id="11" name="Shape 9"/>
          <p:cNvSpPr/>
          <p:nvPr/>
        </p:nvSpPr>
        <p:spPr>
          <a:xfrm>
            <a:off x="2615184" y="1005840"/>
            <a:ext cx="1810512" cy="192024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2" name="Shape 10"/>
          <p:cNvSpPr/>
          <p:nvPr/>
        </p:nvSpPr>
        <p:spPr>
          <a:xfrm>
            <a:off x="2615184" y="1005840"/>
            <a:ext cx="50292" cy="1920240"/>
          </a:xfrm>
          <a:prstGeom prst="rect">
            <a:avLst/>
          </a:prstGeom>
          <a:solidFill>
            <a:srgbClr val="2E75B6"/>
          </a:solidFill>
          <a:ln w="12700">
            <a:solidFill>
              <a:srgbClr val="2E75B6"/>
            </a:solidFill>
            <a:prstDash val="solid"/>
          </a:ln>
        </p:spPr>
      </p:sp>
      <p:sp>
        <p:nvSpPr>
          <p:cNvPr id="13" name="Text 11"/>
          <p:cNvSpPr/>
          <p:nvPr/>
        </p:nvSpPr>
        <p:spPr>
          <a:xfrm>
            <a:off x="2779776" y="1078992"/>
            <a:ext cx="1536192" cy="310896"/>
          </a:xfrm>
          <a:prstGeom prst="rect">
            <a:avLst/>
          </a:prstGeom>
          <a:noFill/>
          <a:ln/>
        </p:spPr>
        <p:txBody>
          <a:bodyPr wrap="square" lIns="0" tIns="0" rIns="0" bIns="0" rtlCol="0" anchor="t">
            <a:normAutofit/>
          </a:bodyPr>
          <a:lstStyle/>
          <a:p>
            <a:pPr marL="0" indent="0">
              <a:buNone/>
            </a:pPr>
            <a:r>
              <a:rPr lang="en-US" sz="1430" b="1" dirty="0">
                <a:solidFill>
                  <a:srgbClr val="17365D"/>
                </a:solidFill>
                <a:latin typeface="Yu Gothic" pitchFamily="34" charset="0"/>
                <a:ea typeface="Yu Gothic" pitchFamily="34" charset="-122"/>
                <a:cs typeface="Yu Gothic" pitchFamily="34" charset="-120"/>
              </a:rPr>
              <a:t>② 透過後の障害物</a:t>
            </a:r>
            <a:endParaRPr lang="en-US" sz="1430" dirty="0"/>
          </a:p>
        </p:txBody>
      </p:sp>
      <p:sp>
        <p:nvSpPr>
          <p:cNvPr id="14" name="Text 12"/>
          <p:cNvSpPr/>
          <p:nvPr/>
        </p:nvSpPr>
        <p:spPr>
          <a:xfrm>
            <a:off x="2779776" y="1426464"/>
            <a:ext cx="1536192" cy="1408176"/>
          </a:xfrm>
          <a:prstGeom prst="rect">
            <a:avLst/>
          </a:prstGeom>
          <a:noFill/>
          <a:ln/>
        </p:spPr>
        <p:txBody>
          <a:bodyPr wrap="square" lIns="12700" tIns="0" rIns="0" bIns="25400" rtlCol="0" anchor="t">
            <a:normAutofit/>
          </a:bodyPr>
          <a:lstStyle/>
          <a:p>
            <a:pPr marL="0" indent="0">
              <a:buNone/>
            </a:pPr>
            <a:r>
              <a:rPr lang="en-US" sz="1330" dirty="0">
                <a:solidFill>
                  <a:srgbClr val="4D5966"/>
                </a:solidFill>
                <a:latin typeface="Yu Gothic" pitchFamily="34" charset="0"/>
                <a:ea typeface="Yu Gothic" pitchFamily="34" charset="-122"/>
                <a:cs typeface="Yu Gothic" pitchFamily="34" charset="-120"/>
              </a:rPr>
              <a:t>ガラスを通過し</a:t>
            </a:r>
            <a:endParaRPr lang="en-US" sz="1330" dirty="0"/>
          </a:p>
          <a:p>
            <a:pPr marL="0" indent="0">
              <a:buNone/>
            </a:pPr>
            <a:r>
              <a:rPr lang="en-US" sz="1330" dirty="0">
                <a:solidFill>
                  <a:srgbClr val="4D5966"/>
                </a:solidFill>
                <a:latin typeface="Yu Gothic" pitchFamily="34" charset="0"/>
                <a:ea typeface="Yu Gothic" pitchFamily="34" charset="-122"/>
                <a:cs typeface="Yu Gothic" pitchFamily="34" charset="-120"/>
              </a:rPr>
              <a:t>背後の実物を観測</a:t>
            </a:r>
            <a:endParaRPr lang="en-US" sz="1330" dirty="0"/>
          </a:p>
        </p:txBody>
      </p:sp>
      <p:sp>
        <p:nvSpPr>
          <p:cNvPr id="15" name="Shape 13"/>
          <p:cNvSpPr/>
          <p:nvPr/>
        </p:nvSpPr>
        <p:spPr>
          <a:xfrm>
            <a:off x="2907792" y="3246120"/>
            <a:ext cx="1188720" cy="0"/>
          </a:xfrm>
          <a:prstGeom prst="line">
            <a:avLst/>
          </a:prstGeom>
          <a:noFill/>
          <a:ln w="12700">
            <a:solidFill>
              <a:srgbClr val="2E75B6"/>
            </a:solidFill>
            <a:prstDash val="solid"/>
            <a:headEnd type="none"/>
            <a:tailEnd type="triangle"/>
          </a:ln>
        </p:spPr>
      </p:sp>
      <p:sp>
        <p:nvSpPr>
          <p:cNvPr id="16" name="Shape 14"/>
          <p:cNvSpPr/>
          <p:nvPr/>
        </p:nvSpPr>
        <p:spPr>
          <a:xfrm>
            <a:off x="3328416" y="3099816"/>
            <a:ext cx="274320" cy="274320"/>
          </a:xfrm>
          <a:prstGeom prst="ellipse">
            <a:avLst/>
          </a:prstGeom>
          <a:solidFill>
            <a:srgbClr val="2E75B6"/>
          </a:solidFill>
          <a:ln w="12700">
            <a:solidFill>
              <a:srgbClr val="2E75B6"/>
            </a:solidFill>
            <a:prstDash val="solid"/>
          </a:ln>
        </p:spPr>
      </p:sp>
      <p:sp>
        <p:nvSpPr>
          <p:cNvPr id="17" name="Shape 15"/>
          <p:cNvSpPr/>
          <p:nvPr/>
        </p:nvSpPr>
        <p:spPr>
          <a:xfrm>
            <a:off x="4663440" y="1005840"/>
            <a:ext cx="1810512" cy="1920240"/>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18" name="Shape 16"/>
          <p:cNvSpPr/>
          <p:nvPr/>
        </p:nvSpPr>
        <p:spPr>
          <a:xfrm>
            <a:off x="4663440" y="1005840"/>
            <a:ext cx="50292" cy="1920240"/>
          </a:xfrm>
          <a:prstGeom prst="rect">
            <a:avLst/>
          </a:prstGeom>
          <a:solidFill>
            <a:srgbClr val="ED7D31"/>
          </a:solidFill>
          <a:ln w="12700">
            <a:solidFill>
              <a:srgbClr val="ED7D31"/>
            </a:solidFill>
            <a:prstDash val="solid"/>
          </a:ln>
        </p:spPr>
      </p:sp>
      <p:sp>
        <p:nvSpPr>
          <p:cNvPr id="19" name="Text 17"/>
          <p:cNvSpPr/>
          <p:nvPr/>
        </p:nvSpPr>
        <p:spPr>
          <a:xfrm>
            <a:off x="4828032" y="1078992"/>
            <a:ext cx="1536192" cy="310896"/>
          </a:xfrm>
          <a:prstGeom prst="rect">
            <a:avLst/>
          </a:prstGeom>
          <a:noFill/>
          <a:ln/>
        </p:spPr>
        <p:txBody>
          <a:bodyPr wrap="square" lIns="0" tIns="0" rIns="0" bIns="0" rtlCol="0" anchor="t">
            <a:normAutofit/>
          </a:bodyPr>
          <a:lstStyle/>
          <a:p>
            <a:pPr marL="0" indent="0">
              <a:buNone/>
            </a:pPr>
            <a:r>
              <a:rPr lang="en-US" sz="1430" b="1" dirty="0">
                <a:solidFill>
                  <a:srgbClr val="17365D"/>
                </a:solidFill>
                <a:latin typeface="Yu Gothic" pitchFamily="34" charset="0"/>
                <a:ea typeface="Yu Gothic" pitchFamily="34" charset="-122"/>
                <a:cs typeface="Yu Gothic" pitchFamily="34" charset="-120"/>
              </a:rPr>
              <a:t>③ 多重反射・虚像</a:t>
            </a:r>
            <a:endParaRPr lang="en-US" sz="1430" dirty="0"/>
          </a:p>
        </p:txBody>
      </p:sp>
      <p:sp>
        <p:nvSpPr>
          <p:cNvPr id="20" name="Text 18"/>
          <p:cNvSpPr/>
          <p:nvPr/>
        </p:nvSpPr>
        <p:spPr>
          <a:xfrm>
            <a:off x="4828032" y="1426464"/>
            <a:ext cx="1536192" cy="1408176"/>
          </a:xfrm>
          <a:prstGeom prst="rect">
            <a:avLst/>
          </a:prstGeom>
          <a:noFill/>
          <a:ln/>
        </p:spPr>
        <p:txBody>
          <a:bodyPr wrap="square" lIns="12700" tIns="0" rIns="0" bIns="25400" rtlCol="0" anchor="t">
            <a:normAutofit/>
          </a:bodyPr>
          <a:lstStyle/>
          <a:p>
            <a:pPr marL="0" indent="0">
              <a:buNone/>
            </a:pPr>
            <a:r>
              <a:rPr lang="en-US" sz="1330" dirty="0">
                <a:solidFill>
                  <a:srgbClr val="4D5966"/>
                </a:solidFill>
                <a:latin typeface="Yu Gothic" pitchFamily="34" charset="0"/>
                <a:ea typeface="Yu Gothic" pitchFamily="34" charset="-122"/>
                <a:cs typeface="Yu Gothic" pitchFamily="34" charset="-120"/>
              </a:rPr>
              <a:t>鏡面経由で仮想位置に</a:t>
            </a:r>
            <a:endParaRPr lang="en-US" sz="1330" dirty="0"/>
          </a:p>
          <a:p>
            <a:pPr marL="0" indent="0">
              <a:buNone/>
            </a:pPr>
            <a:r>
              <a:rPr lang="en-US" sz="1330" dirty="0">
                <a:solidFill>
                  <a:srgbClr val="4D5966"/>
                </a:solidFill>
                <a:latin typeface="Yu Gothic" pitchFamily="34" charset="0"/>
                <a:ea typeface="Yu Gothic" pitchFamily="34" charset="-122"/>
                <a:cs typeface="Yu Gothic" pitchFamily="34" charset="-120"/>
              </a:rPr>
              <a:t>点が生成される</a:t>
            </a:r>
            <a:endParaRPr lang="en-US" sz="1330" dirty="0"/>
          </a:p>
        </p:txBody>
      </p:sp>
      <p:sp>
        <p:nvSpPr>
          <p:cNvPr id="21" name="Shape 19"/>
          <p:cNvSpPr/>
          <p:nvPr/>
        </p:nvSpPr>
        <p:spPr>
          <a:xfrm>
            <a:off x="4956048" y="3246120"/>
            <a:ext cx="1188720" cy="0"/>
          </a:xfrm>
          <a:prstGeom prst="line">
            <a:avLst/>
          </a:prstGeom>
          <a:noFill/>
          <a:ln w="12700">
            <a:solidFill>
              <a:srgbClr val="ED7D31"/>
            </a:solidFill>
            <a:prstDash val="solid"/>
            <a:headEnd type="none"/>
            <a:tailEnd type="triangle"/>
          </a:ln>
        </p:spPr>
      </p:sp>
      <p:sp>
        <p:nvSpPr>
          <p:cNvPr id="22" name="Shape 20"/>
          <p:cNvSpPr/>
          <p:nvPr/>
        </p:nvSpPr>
        <p:spPr>
          <a:xfrm>
            <a:off x="5376672" y="3099816"/>
            <a:ext cx="274320" cy="274320"/>
          </a:xfrm>
          <a:prstGeom prst="ellipse">
            <a:avLst/>
          </a:prstGeom>
          <a:solidFill>
            <a:srgbClr val="ED7D31"/>
          </a:solidFill>
          <a:ln w="12700">
            <a:solidFill>
              <a:srgbClr val="ED7D31"/>
            </a:solidFill>
            <a:prstDash val="solid"/>
          </a:ln>
        </p:spPr>
      </p:sp>
      <p:sp>
        <p:nvSpPr>
          <p:cNvPr id="23" name="Shape 21"/>
          <p:cNvSpPr/>
          <p:nvPr/>
        </p:nvSpPr>
        <p:spPr>
          <a:xfrm>
            <a:off x="6711696" y="1005840"/>
            <a:ext cx="1810512" cy="192024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4" name="Shape 22"/>
          <p:cNvSpPr/>
          <p:nvPr/>
        </p:nvSpPr>
        <p:spPr>
          <a:xfrm>
            <a:off x="6711696" y="1005840"/>
            <a:ext cx="50292" cy="1920240"/>
          </a:xfrm>
          <a:prstGeom prst="rect">
            <a:avLst/>
          </a:prstGeom>
          <a:solidFill>
            <a:srgbClr val="C94C4C"/>
          </a:solidFill>
          <a:ln w="12700">
            <a:solidFill>
              <a:srgbClr val="C94C4C"/>
            </a:solidFill>
            <a:prstDash val="solid"/>
          </a:ln>
        </p:spPr>
      </p:sp>
      <p:sp>
        <p:nvSpPr>
          <p:cNvPr id="25" name="Text 23"/>
          <p:cNvSpPr/>
          <p:nvPr/>
        </p:nvSpPr>
        <p:spPr>
          <a:xfrm>
            <a:off x="6876288" y="1078992"/>
            <a:ext cx="1536192" cy="310896"/>
          </a:xfrm>
          <a:prstGeom prst="rect">
            <a:avLst/>
          </a:prstGeom>
          <a:noFill/>
          <a:ln/>
        </p:spPr>
        <p:txBody>
          <a:bodyPr wrap="square" lIns="0" tIns="0" rIns="0" bIns="0" rtlCol="0" anchor="t">
            <a:normAutofit/>
          </a:bodyPr>
          <a:lstStyle/>
          <a:p>
            <a:pPr marL="0" indent="0">
              <a:buNone/>
            </a:pPr>
            <a:r>
              <a:rPr lang="en-US" sz="1430" b="1" dirty="0">
                <a:solidFill>
                  <a:srgbClr val="17365D"/>
                </a:solidFill>
                <a:latin typeface="Yu Gothic" pitchFamily="34" charset="0"/>
                <a:ea typeface="Yu Gothic" pitchFamily="34" charset="-122"/>
                <a:cs typeface="Yu Gothic" pitchFamily="34" charset="-120"/>
              </a:rPr>
              <a:t>④ 無返答・欠測</a:t>
            </a:r>
            <a:endParaRPr lang="en-US" sz="1430" dirty="0"/>
          </a:p>
        </p:txBody>
      </p:sp>
      <p:sp>
        <p:nvSpPr>
          <p:cNvPr id="26" name="Text 24"/>
          <p:cNvSpPr/>
          <p:nvPr/>
        </p:nvSpPr>
        <p:spPr>
          <a:xfrm>
            <a:off x="6876288" y="1426464"/>
            <a:ext cx="1536192" cy="1408176"/>
          </a:xfrm>
          <a:prstGeom prst="rect">
            <a:avLst/>
          </a:prstGeom>
          <a:noFill/>
          <a:ln/>
        </p:spPr>
        <p:txBody>
          <a:bodyPr wrap="square" lIns="12700" tIns="0" rIns="0" bIns="25400" rtlCol="0" anchor="t">
            <a:normAutofit/>
          </a:bodyPr>
          <a:lstStyle/>
          <a:p>
            <a:pPr marL="0" indent="0">
              <a:buNone/>
            </a:pPr>
            <a:r>
              <a:rPr lang="en-US" sz="1330" dirty="0">
                <a:solidFill>
                  <a:srgbClr val="4D5966"/>
                </a:solidFill>
                <a:latin typeface="Yu Gothic" pitchFamily="34" charset="0"/>
                <a:ea typeface="Yu Gothic" pitchFamily="34" charset="-122"/>
                <a:cs typeface="Yu Gothic" pitchFamily="34" charset="-120"/>
              </a:rPr>
              <a:t>吸収・散乱・視野外で</a:t>
            </a:r>
            <a:endParaRPr lang="en-US" sz="1330" dirty="0"/>
          </a:p>
          <a:p>
            <a:pPr marL="0" indent="0">
              <a:buNone/>
            </a:pPr>
            <a:r>
              <a:rPr lang="en-US" sz="1330" dirty="0">
                <a:solidFill>
                  <a:srgbClr val="4D5966"/>
                </a:solidFill>
                <a:latin typeface="Yu Gothic" pitchFamily="34" charset="0"/>
                <a:ea typeface="Yu Gothic" pitchFamily="34" charset="-122"/>
                <a:cs typeface="Yu Gothic" pitchFamily="34" charset="-120"/>
              </a:rPr>
              <a:t>点が得られない</a:t>
            </a:r>
            <a:endParaRPr lang="en-US" sz="1330" dirty="0"/>
          </a:p>
        </p:txBody>
      </p:sp>
      <p:sp>
        <p:nvSpPr>
          <p:cNvPr id="27" name="Shape 25"/>
          <p:cNvSpPr/>
          <p:nvPr/>
        </p:nvSpPr>
        <p:spPr>
          <a:xfrm>
            <a:off x="7004304" y="3246120"/>
            <a:ext cx="1188720" cy="0"/>
          </a:xfrm>
          <a:prstGeom prst="line">
            <a:avLst/>
          </a:prstGeom>
          <a:noFill/>
          <a:ln w="12700">
            <a:solidFill>
              <a:srgbClr val="C94C4C"/>
            </a:solidFill>
            <a:prstDash val="solid"/>
            <a:headEnd type="none"/>
            <a:tailEnd type="triangle"/>
          </a:ln>
        </p:spPr>
      </p:sp>
      <p:sp>
        <p:nvSpPr>
          <p:cNvPr id="28" name="Shape 26"/>
          <p:cNvSpPr/>
          <p:nvPr/>
        </p:nvSpPr>
        <p:spPr>
          <a:xfrm>
            <a:off x="7424928" y="3099816"/>
            <a:ext cx="274320" cy="274320"/>
          </a:xfrm>
          <a:prstGeom prst="ellipse">
            <a:avLst/>
          </a:prstGeom>
          <a:solidFill>
            <a:srgbClr val="C94C4C"/>
          </a:solidFill>
          <a:ln w="12700">
            <a:solidFill>
              <a:srgbClr val="C94C4C"/>
            </a:solidFill>
            <a:prstDash val="solid"/>
          </a:ln>
        </p:spPr>
      </p:sp>
      <p:sp>
        <p:nvSpPr>
          <p:cNvPr id="29" name="Text 27"/>
          <p:cNvSpPr/>
          <p:nvPr/>
        </p:nvSpPr>
        <p:spPr>
          <a:xfrm>
            <a:off x="658368" y="3730752"/>
            <a:ext cx="7827264" cy="292608"/>
          </a:xfrm>
          <a:prstGeom prst="rect">
            <a:avLst/>
          </a:prstGeom>
          <a:noFill/>
          <a:ln/>
        </p:spPr>
        <p:txBody>
          <a:bodyPr wrap="square" lIns="0" tIns="0" rIns="0" bIns="0" rtlCol="0" anchor="ctr">
            <a:normAutofit/>
          </a:bodyPr>
          <a:lstStyle/>
          <a:p>
            <a:pPr marL="0" indent="0" algn="ctr">
              <a:buNone/>
            </a:pPr>
            <a:r>
              <a:rPr lang="en-US" sz="1700" b="1" dirty="0">
                <a:solidFill>
                  <a:srgbClr val="17365D"/>
                </a:solidFill>
                <a:latin typeface="Yu Gothic" pitchFamily="34" charset="0"/>
                <a:ea typeface="Yu Gothic" pitchFamily="34" charset="-122"/>
                <a:cs typeface="Yu Gothic" pitchFamily="34" charset="-120"/>
              </a:rPr>
              <a:t>同一スキャン内で4現象が混在 → phantom wall・穴・誤った障害物</a:t>
            </a:r>
            <a:endParaRPr lang="en-US" sz="1700" dirty="0"/>
          </a:p>
        </p:txBody>
      </p:sp>
      <p:sp>
        <p:nvSpPr>
          <p:cNvPr id="30" name="Text 28"/>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3DRefの貢献は、新規モデルよりも学習・比較を可能にする基盤の構築にある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Contributions</a:t>
            </a:r>
            <a:endParaRPr lang="en-US" sz="950" dirty="0"/>
          </a:p>
        </p:txBody>
      </p:sp>
      <p:sp>
        <p:nvSpPr>
          <p:cNvPr id="5" name="Shape 3"/>
          <p:cNvSpPr/>
          <p:nvPr/>
        </p:nvSpPr>
        <p:spPr>
          <a:xfrm>
            <a:off x="658368" y="896112"/>
            <a:ext cx="7827264" cy="749808"/>
          </a:xfrm>
          <a:prstGeom prst="rect">
            <a:avLst/>
          </a:prstGeom>
          <a:solidFill>
            <a:srgbClr val="EAF2F8"/>
          </a:solidFill>
          <a:ln w="12700">
            <a:solidFill>
              <a:srgbClr val="2E75B6"/>
            </a:solidFill>
            <a:prstDash val="solid"/>
          </a:ln>
          <a:effectLst>
            <a:outerShdw blurRad="25400" dist="50800" dir="2700000" algn="bl" rotWithShape="0">
              <a:srgbClr val="000000">
                <a:alpha val="11000"/>
              </a:srgbClr>
            </a:outerShdw>
          </a:effectLst>
        </p:spPr>
      </p:sp>
      <p:sp>
        <p:nvSpPr>
          <p:cNvPr id="6" name="Text 4"/>
          <p:cNvSpPr/>
          <p:nvPr/>
        </p:nvSpPr>
        <p:spPr>
          <a:xfrm>
            <a:off x="868680" y="1033272"/>
            <a:ext cx="7406640" cy="411480"/>
          </a:xfrm>
          <a:prstGeom prst="rect">
            <a:avLst/>
          </a:prstGeom>
          <a:noFill/>
          <a:ln/>
        </p:spPr>
        <p:txBody>
          <a:bodyPr wrap="square" lIns="0" tIns="0" rIns="0" bIns="0" rtlCol="0" anchor="ctr">
            <a:normAutofit/>
          </a:bodyPr>
          <a:lstStyle/>
          <a:p>
            <a:pPr marL="0" indent="0" algn="ctr">
              <a:buNone/>
            </a:pPr>
            <a:r>
              <a:rPr lang="en-US" sz="1700" b="1" dirty="0">
                <a:solidFill>
                  <a:srgbClr val="17365D"/>
                </a:solidFill>
                <a:latin typeface="Yu Gothic" pitchFamily="34" charset="0"/>
                <a:ea typeface="Yu Gothic" pitchFamily="34" charset="-122"/>
                <a:cs typeface="Yu Gothic" pitchFamily="34" charset="-120"/>
              </a:rPr>
              <a:t>研究課題：多様な反射現象をRGBと3D LiDARで精密にラベル化し、既存手法を同一基準で比較できるか</a:t>
            </a:r>
            <a:endParaRPr lang="en-US" sz="1700" dirty="0"/>
          </a:p>
        </p:txBody>
      </p:sp>
      <p:sp>
        <p:nvSpPr>
          <p:cNvPr id="7" name="Shape 5"/>
          <p:cNvSpPr/>
          <p:nvPr/>
        </p:nvSpPr>
        <p:spPr>
          <a:xfrm>
            <a:off x="658368" y="1965960"/>
            <a:ext cx="2450592" cy="187452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8" name="Shape 6"/>
          <p:cNvSpPr/>
          <p:nvPr/>
        </p:nvSpPr>
        <p:spPr>
          <a:xfrm>
            <a:off x="658368" y="1965960"/>
            <a:ext cx="50292" cy="1874520"/>
          </a:xfrm>
          <a:prstGeom prst="rect">
            <a:avLst/>
          </a:prstGeom>
          <a:solidFill>
            <a:srgbClr val="2E75B6"/>
          </a:solidFill>
          <a:ln w="12700">
            <a:solidFill>
              <a:srgbClr val="2E75B6"/>
            </a:solidFill>
            <a:prstDash val="solid"/>
          </a:ln>
        </p:spPr>
      </p:sp>
      <p:sp>
        <p:nvSpPr>
          <p:cNvPr id="9" name="Text 7"/>
          <p:cNvSpPr/>
          <p:nvPr/>
        </p:nvSpPr>
        <p:spPr>
          <a:xfrm>
            <a:off x="822960" y="2039112"/>
            <a:ext cx="217627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51,800超の整列データ</a:t>
            </a:r>
            <a:endParaRPr lang="en-US" sz="1600" dirty="0"/>
          </a:p>
        </p:txBody>
      </p:sp>
      <p:sp>
        <p:nvSpPr>
          <p:cNvPr id="10" name="Text 8"/>
          <p:cNvSpPr/>
          <p:nvPr/>
        </p:nvSpPr>
        <p:spPr>
          <a:xfrm>
            <a:off x="822960" y="2386584"/>
            <a:ext cx="2176272" cy="13624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48,024点群＋3,799 RGB。3 LiDAR、3シーケンスの屋内データ。</a:t>
            </a:r>
            <a:endParaRPr lang="en-US" sz="1320" dirty="0"/>
          </a:p>
        </p:txBody>
      </p:sp>
      <p:sp>
        <p:nvSpPr>
          <p:cNvPr id="11" name="Shape 9"/>
          <p:cNvSpPr/>
          <p:nvPr/>
        </p:nvSpPr>
        <p:spPr>
          <a:xfrm>
            <a:off x="2798064" y="1856232"/>
            <a:ext cx="292608" cy="292608"/>
          </a:xfrm>
          <a:prstGeom prst="ellipse">
            <a:avLst/>
          </a:prstGeom>
          <a:solidFill>
            <a:srgbClr val="2E75B6"/>
          </a:solidFill>
          <a:ln w="12700">
            <a:solidFill>
              <a:srgbClr val="2E75B6"/>
            </a:solidFill>
            <a:prstDash val="solid"/>
          </a:ln>
        </p:spPr>
      </p:sp>
      <p:sp>
        <p:nvSpPr>
          <p:cNvPr id="12" name="Text 10"/>
          <p:cNvSpPr/>
          <p:nvPr/>
        </p:nvSpPr>
        <p:spPr>
          <a:xfrm>
            <a:off x="2798064" y="1856232"/>
            <a:ext cx="292608"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3" name="Shape 11"/>
          <p:cNvSpPr/>
          <p:nvPr/>
        </p:nvSpPr>
        <p:spPr>
          <a:xfrm>
            <a:off x="3346704" y="1965960"/>
            <a:ext cx="2450592" cy="187452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4" name="Shape 12"/>
          <p:cNvSpPr/>
          <p:nvPr/>
        </p:nvSpPr>
        <p:spPr>
          <a:xfrm>
            <a:off x="3346704" y="1965960"/>
            <a:ext cx="50292" cy="1874520"/>
          </a:xfrm>
          <a:prstGeom prst="rect">
            <a:avLst/>
          </a:prstGeom>
          <a:solidFill>
            <a:srgbClr val="2A9D8F"/>
          </a:solidFill>
          <a:ln w="12700">
            <a:solidFill>
              <a:srgbClr val="2A9D8F"/>
            </a:solidFill>
            <a:prstDash val="solid"/>
          </a:ln>
        </p:spPr>
      </p:sp>
      <p:sp>
        <p:nvSpPr>
          <p:cNvPr id="15" name="Text 13"/>
          <p:cNvSpPr/>
          <p:nvPr/>
        </p:nvSpPr>
        <p:spPr>
          <a:xfrm>
            <a:off x="3511296" y="2039112"/>
            <a:ext cx="217627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3D meshを正解の核に</a:t>
            </a:r>
            <a:endParaRPr lang="en-US" sz="1600" dirty="0"/>
          </a:p>
        </p:txBody>
      </p:sp>
      <p:sp>
        <p:nvSpPr>
          <p:cNvPr id="16" name="Text 14"/>
          <p:cNvSpPr/>
          <p:nvPr/>
        </p:nvSpPr>
        <p:spPr>
          <a:xfrm>
            <a:off x="3511296" y="2386584"/>
            <a:ext cx="2176272" cy="13624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手修正した色付きmeshからray castingで点群ラベルと画像maskを生成。</a:t>
            </a:r>
            <a:endParaRPr lang="en-US" sz="1320" dirty="0"/>
          </a:p>
        </p:txBody>
      </p:sp>
      <p:sp>
        <p:nvSpPr>
          <p:cNvPr id="17" name="Shape 15"/>
          <p:cNvSpPr/>
          <p:nvPr/>
        </p:nvSpPr>
        <p:spPr>
          <a:xfrm>
            <a:off x="5486400" y="1856232"/>
            <a:ext cx="292608" cy="292608"/>
          </a:xfrm>
          <a:prstGeom prst="ellipse">
            <a:avLst/>
          </a:prstGeom>
          <a:solidFill>
            <a:srgbClr val="2A9D8F"/>
          </a:solidFill>
          <a:ln w="12700">
            <a:solidFill>
              <a:srgbClr val="2A9D8F"/>
            </a:solidFill>
            <a:prstDash val="solid"/>
          </a:ln>
        </p:spPr>
      </p:sp>
      <p:sp>
        <p:nvSpPr>
          <p:cNvPr id="18" name="Text 16"/>
          <p:cNvSpPr/>
          <p:nvPr/>
        </p:nvSpPr>
        <p:spPr>
          <a:xfrm>
            <a:off x="5486400" y="1856232"/>
            <a:ext cx="292608"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9" name="Shape 17"/>
          <p:cNvSpPr/>
          <p:nvPr/>
        </p:nvSpPr>
        <p:spPr>
          <a:xfrm>
            <a:off x="6035040" y="1965960"/>
            <a:ext cx="2450592" cy="187452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0" name="Shape 18"/>
          <p:cNvSpPr/>
          <p:nvPr/>
        </p:nvSpPr>
        <p:spPr>
          <a:xfrm>
            <a:off x="6035040" y="1965960"/>
            <a:ext cx="50292" cy="1874520"/>
          </a:xfrm>
          <a:prstGeom prst="rect">
            <a:avLst/>
          </a:prstGeom>
          <a:solidFill>
            <a:srgbClr val="ED7D31"/>
          </a:solidFill>
          <a:ln w="12700">
            <a:solidFill>
              <a:srgbClr val="ED7D31"/>
            </a:solidFill>
            <a:prstDash val="solid"/>
          </a:ln>
        </p:spPr>
      </p:sp>
      <p:sp>
        <p:nvSpPr>
          <p:cNvPr id="21" name="Text 19"/>
          <p:cNvSpPr/>
          <p:nvPr/>
        </p:nvSpPr>
        <p:spPr>
          <a:xfrm>
            <a:off x="6199632" y="2039112"/>
            <a:ext cx="217627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単一モダリティの基準値</a:t>
            </a:r>
            <a:endParaRPr lang="en-US" sz="1600" dirty="0"/>
          </a:p>
        </p:txBody>
      </p:sp>
      <p:sp>
        <p:nvSpPr>
          <p:cNvPr id="22" name="Text 20"/>
          <p:cNvSpPr/>
          <p:nvPr/>
        </p:nvSpPr>
        <p:spPr>
          <a:xfrm>
            <a:off x="6199632" y="2386584"/>
            <a:ext cx="2176272" cy="13624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LiDAR 3手法、RGB 4手法を評価し、return番号の寄与も検証。</a:t>
            </a:r>
            <a:endParaRPr lang="en-US" sz="1320" dirty="0"/>
          </a:p>
        </p:txBody>
      </p:sp>
      <p:sp>
        <p:nvSpPr>
          <p:cNvPr id="23" name="Shape 21"/>
          <p:cNvSpPr/>
          <p:nvPr/>
        </p:nvSpPr>
        <p:spPr>
          <a:xfrm>
            <a:off x="8174736" y="1856232"/>
            <a:ext cx="292608" cy="292608"/>
          </a:xfrm>
          <a:prstGeom prst="ellipse">
            <a:avLst/>
          </a:prstGeom>
          <a:solidFill>
            <a:srgbClr val="ED7D31"/>
          </a:solidFill>
          <a:ln w="12700">
            <a:solidFill>
              <a:srgbClr val="ED7D31"/>
            </a:solidFill>
            <a:prstDash val="solid"/>
          </a:ln>
        </p:spPr>
      </p:sp>
      <p:sp>
        <p:nvSpPr>
          <p:cNvPr id="24" name="Text 22"/>
          <p:cNvSpPr/>
          <p:nvPr/>
        </p:nvSpPr>
        <p:spPr>
          <a:xfrm>
            <a:off x="8174736" y="1856232"/>
            <a:ext cx="292608"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5" name="Text 23"/>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Abstract; Sec. 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既存データは2D・単一材料が中心で、3D反射ラベルが欠けていた</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Related work</a:t>
            </a:r>
            <a:endParaRPr lang="en-US" sz="950" dirty="0"/>
          </a:p>
        </p:txBody>
      </p:sp>
      <p:sp>
        <p:nvSpPr>
          <p:cNvPr id="5" name="Shape 3"/>
          <p:cNvSpPr/>
          <p:nvPr/>
        </p:nvSpPr>
        <p:spPr>
          <a:xfrm>
            <a:off x="566928" y="932688"/>
            <a:ext cx="1370228" cy="424543"/>
          </a:xfrm>
          <a:prstGeom prst="rect">
            <a:avLst/>
          </a:prstGeom>
          <a:solidFill>
            <a:srgbClr val="17365D"/>
          </a:solidFill>
          <a:ln w="12700">
            <a:solidFill>
              <a:srgbClr val="FFFFFF"/>
            </a:solidFill>
            <a:prstDash val="solid"/>
          </a:ln>
        </p:spPr>
      </p:sp>
      <p:sp>
        <p:nvSpPr>
          <p:cNvPr id="6" name="Text 4"/>
          <p:cNvSpPr/>
          <p:nvPr/>
        </p:nvSpPr>
        <p:spPr>
          <a:xfrm>
            <a:off x="594360" y="950976"/>
            <a:ext cx="1315364" cy="387967"/>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Dataset</a:t>
            </a:r>
            <a:endParaRPr lang="en-US" sz="1150" dirty="0"/>
          </a:p>
        </p:txBody>
      </p:sp>
      <p:sp>
        <p:nvSpPr>
          <p:cNvPr id="7" name="Shape 5"/>
          <p:cNvSpPr/>
          <p:nvPr/>
        </p:nvSpPr>
        <p:spPr>
          <a:xfrm>
            <a:off x="1937156" y="932688"/>
            <a:ext cx="964235" cy="424543"/>
          </a:xfrm>
          <a:prstGeom prst="rect">
            <a:avLst/>
          </a:prstGeom>
          <a:solidFill>
            <a:srgbClr val="17365D"/>
          </a:solidFill>
          <a:ln w="12700">
            <a:solidFill>
              <a:srgbClr val="FFFFFF"/>
            </a:solidFill>
            <a:prstDash val="solid"/>
          </a:ln>
        </p:spPr>
      </p:sp>
      <p:sp>
        <p:nvSpPr>
          <p:cNvPr id="8" name="Text 6"/>
          <p:cNvSpPr/>
          <p:nvPr/>
        </p:nvSpPr>
        <p:spPr>
          <a:xfrm>
            <a:off x="1964588" y="950976"/>
            <a:ext cx="909371" cy="387967"/>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Modal.</a:t>
            </a:r>
            <a:endParaRPr lang="en-US" sz="1150" dirty="0"/>
          </a:p>
        </p:txBody>
      </p:sp>
      <p:sp>
        <p:nvSpPr>
          <p:cNvPr id="9" name="Shape 7"/>
          <p:cNvSpPr/>
          <p:nvPr/>
        </p:nvSpPr>
        <p:spPr>
          <a:xfrm>
            <a:off x="2901391" y="932688"/>
            <a:ext cx="1116482" cy="424543"/>
          </a:xfrm>
          <a:prstGeom prst="rect">
            <a:avLst/>
          </a:prstGeom>
          <a:solidFill>
            <a:srgbClr val="17365D"/>
          </a:solidFill>
          <a:ln w="12700">
            <a:solidFill>
              <a:srgbClr val="FFFFFF"/>
            </a:solidFill>
            <a:prstDash val="solid"/>
          </a:ln>
        </p:spPr>
      </p:sp>
      <p:sp>
        <p:nvSpPr>
          <p:cNvPr id="10" name="Text 8"/>
          <p:cNvSpPr/>
          <p:nvPr/>
        </p:nvSpPr>
        <p:spPr>
          <a:xfrm>
            <a:off x="2928823" y="950976"/>
            <a:ext cx="1061618" cy="387967"/>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Samples</a:t>
            </a:r>
            <a:endParaRPr lang="en-US" sz="1150" dirty="0"/>
          </a:p>
        </p:txBody>
      </p:sp>
      <p:sp>
        <p:nvSpPr>
          <p:cNvPr id="11" name="Shape 9"/>
          <p:cNvSpPr/>
          <p:nvPr/>
        </p:nvSpPr>
        <p:spPr>
          <a:xfrm>
            <a:off x="4017874" y="932688"/>
            <a:ext cx="1623974" cy="424543"/>
          </a:xfrm>
          <a:prstGeom prst="rect">
            <a:avLst/>
          </a:prstGeom>
          <a:solidFill>
            <a:srgbClr val="17365D"/>
          </a:solidFill>
          <a:ln w="12700">
            <a:solidFill>
              <a:srgbClr val="FFFFFF"/>
            </a:solidFill>
            <a:prstDash val="solid"/>
          </a:ln>
        </p:spPr>
      </p:sp>
      <p:sp>
        <p:nvSpPr>
          <p:cNvPr id="12" name="Text 10"/>
          <p:cNvSpPr/>
          <p:nvPr/>
        </p:nvSpPr>
        <p:spPr>
          <a:xfrm>
            <a:off x="4045306" y="950976"/>
            <a:ext cx="1569110" cy="387967"/>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Target</a:t>
            </a:r>
            <a:endParaRPr lang="en-US" sz="1150" dirty="0"/>
          </a:p>
        </p:txBody>
      </p:sp>
      <p:sp>
        <p:nvSpPr>
          <p:cNvPr id="13" name="Shape 11"/>
          <p:cNvSpPr/>
          <p:nvPr/>
        </p:nvSpPr>
        <p:spPr>
          <a:xfrm>
            <a:off x="566928" y="1357231"/>
            <a:ext cx="1370228" cy="424543"/>
          </a:xfrm>
          <a:prstGeom prst="rect">
            <a:avLst/>
          </a:prstGeom>
          <a:solidFill>
            <a:srgbClr val="FFFFFF"/>
          </a:solidFill>
          <a:ln w="12700">
            <a:solidFill>
              <a:srgbClr val="D5DCE3"/>
            </a:solidFill>
            <a:prstDash val="solid"/>
          </a:ln>
        </p:spPr>
      </p:sp>
      <p:sp>
        <p:nvSpPr>
          <p:cNvPr id="14" name="Text 12"/>
          <p:cNvSpPr/>
          <p:nvPr/>
        </p:nvSpPr>
        <p:spPr>
          <a:xfrm>
            <a:off x="594360" y="1375519"/>
            <a:ext cx="1315364" cy="387967"/>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GDD</a:t>
            </a:r>
            <a:endParaRPr lang="en-US" sz="1020" dirty="0"/>
          </a:p>
        </p:txBody>
      </p:sp>
      <p:sp>
        <p:nvSpPr>
          <p:cNvPr id="15" name="Shape 13"/>
          <p:cNvSpPr/>
          <p:nvPr/>
        </p:nvSpPr>
        <p:spPr>
          <a:xfrm>
            <a:off x="1937156" y="1357231"/>
            <a:ext cx="964235" cy="424543"/>
          </a:xfrm>
          <a:prstGeom prst="rect">
            <a:avLst/>
          </a:prstGeom>
          <a:solidFill>
            <a:srgbClr val="FFFFFF"/>
          </a:solidFill>
          <a:ln w="12700">
            <a:solidFill>
              <a:srgbClr val="D5DCE3"/>
            </a:solidFill>
            <a:prstDash val="solid"/>
          </a:ln>
        </p:spPr>
      </p:sp>
      <p:sp>
        <p:nvSpPr>
          <p:cNvPr id="16" name="Text 14"/>
          <p:cNvSpPr/>
          <p:nvPr/>
        </p:nvSpPr>
        <p:spPr>
          <a:xfrm>
            <a:off x="1964588" y="1375519"/>
            <a:ext cx="909371"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RGB</a:t>
            </a:r>
            <a:endParaRPr lang="en-US" sz="1020" dirty="0"/>
          </a:p>
        </p:txBody>
      </p:sp>
      <p:sp>
        <p:nvSpPr>
          <p:cNvPr id="17" name="Shape 15"/>
          <p:cNvSpPr/>
          <p:nvPr/>
        </p:nvSpPr>
        <p:spPr>
          <a:xfrm>
            <a:off x="2901391" y="1357231"/>
            <a:ext cx="1116482" cy="424543"/>
          </a:xfrm>
          <a:prstGeom prst="rect">
            <a:avLst/>
          </a:prstGeom>
          <a:solidFill>
            <a:srgbClr val="FFFFFF"/>
          </a:solidFill>
          <a:ln w="12700">
            <a:solidFill>
              <a:srgbClr val="D5DCE3"/>
            </a:solidFill>
            <a:prstDash val="solid"/>
          </a:ln>
        </p:spPr>
      </p:sp>
      <p:sp>
        <p:nvSpPr>
          <p:cNvPr id="18" name="Text 16"/>
          <p:cNvSpPr/>
          <p:nvPr/>
        </p:nvSpPr>
        <p:spPr>
          <a:xfrm>
            <a:off x="2928823" y="1375519"/>
            <a:ext cx="1061618"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3,900</a:t>
            </a:r>
            <a:endParaRPr lang="en-US" sz="1020" dirty="0"/>
          </a:p>
        </p:txBody>
      </p:sp>
      <p:sp>
        <p:nvSpPr>
          <p:cNvPr id="19" name="Shape 17"/>
          <p:cNvSpPr/>
          <p:nvPr/>
        </p:nvSpPr>
        <p:spPr>
          <a:xfrm>
            <a:off x="4017874" y="1357231"/>
            <a:ext cx="1623974" cy="424543"/>
          </a:xfrm>
          <a:prstGeom prst="rect">
            <a:avLst/>
          </a:prstGeom>
          <a:solidFill>
            <a:srgbClr val="FFFFFF"/>
          </a:solidFill>
          <a:ln w="12700">
            <a:solidFill>
              <a:srgbClr val="D5DCE3"/>
            </a:solidFill>
            <a:prstDash val="solid"/>
          </a:ln>
        </p:spPr>
      </p:sp>
      <p:sp>
        <p:nvSpPr>
          <p:cNvPr id="20" name="Text 18"/>
          <p:cNvSpPr/>
          <p:nvPr/>
        </p:nvSpPr>
        <p:spPr>
          <a:xfrm>
            <a:off x="4045306" y="1375519"/>
            <a:ext cx="1569110"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Glass</a:t>
            </a:r>
            <a:endParaRPr lang="en-US" sz="1020" dirty="0"/>
          </a:p>
        </p:txBody>
      </p:sp>
      <p:sp>
        <p:nvSpPr>
          <p:cNvPr id="21" name="Shape 19"/>
          <p:cNvSpPr/>
          <p:nvPr/>
        </p:nvSpPr>
        <p:spPr>
          <a:xfrm>
            <a:off x="566928" y="1781774"/>
            <a:ext cx="1370228" cy="424543"/>
          </a:xfrm>
          <a:prstGeom prst="rect">
            <a:avLst/>
          </a:prstGeom>
          <a:solidFill>
            <a:srgbClr val="F5F7FA"/>
          </a:solidFill>
          <a:ln w="12700">
            <a:solidFill>
              <a:srgbClr val="D5DCE3"/>
            </a:solidFill>
            <a:prstDash val="solid"/>
          </a:ln>
        </p:spPr>
      </p:sp>
      <p:sp>
        <p:nvSpPr>
          <p:cNvPr id="22" name="Text 20"/>
          <p:cNvSpPr/>
          <p:nvPr/>
        </p:nvSpPr>
        <p:spPr>
          <a:xfrm>
            <a:off x="594360" y="1800062"/>
            <a:ext cx="1315364" cy="387967"/>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GSD</a:t>
            </a:r>
            <a:endParaRPr lang="en-US" sz="1020" dirty="0"/>
          </a:p>
        </p:txBody>
      </p:sp>
      <p:sp>
        <p:nvSpPr>
          <p:cNvPr id="23" name="Shape 21"/>
          <p:cNvSpPr/>
          <p:nvPr/>
        </p:nvSpPr>
        <p:spPr>
          <a:xfrm>
            <a:off x="1937156" y="1781774"/>
            <a:ext cx="964235" cy="424543"/>
          </a:xfrm>
          <a:prstGeom prst="rect">
            <a:avLst/>
          </a:prstGeom>
          <a:solidFill>
            <a:srgbClr val="F5F7FA"/>
          </a:solidFill>
          <a:ln w="12700">
            <a:solidFill>
              <a:srgbClr val="D5DCE3"/>
            </a:solidFill>
            <a:prstDash val="solid"/>
          </a:ln>
        </p:spPr>
      </p:sp>
      <p:sp>
        <p:nvSpPr>
          <p:cNvPr id="24" name="Text 22"/>
          <p:cNvSpPr/>
          <p:nvPr/>
        </p:nvSpPr>
        <p:spPr>
          <a:xfrm>
            <a:off x="1964588" y="1800062"/>
            <a:ext cx="909371"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RGB</a:t>
            </a:r>
            <a:endParaRPr lang="en-US" sz="1020" dirty="0"/>
          </a:p>
        </p:txBody>
      </p:sp>
      <p:sp>
        <p:nvSpPr>
          <p:cNvPr id="25" name="Shape 23"/>
          <p:cNvSpPr/>
          <p:nvPr/>
        </p:nvSpPr>
        <p:spPr>
          <a:xfrm>
            <a:off x="2901391" y="1781774"/>
            <a:ext cx="1116482" cy="424543"/>
          </a:xfrm>
          <a:prstGeom prst="rect">
            <a:avLst/>
          </a:prstGeom>
          <a:solidFill>
            <a:srgbClr val="F5F7FA"/>
          </a:solidFill>
          <a:ln w="12700">
            <a:solidFill>
              <a:srgbClr val="D5DCE3"/>
            </a:solidFill>
            <a:prstDash val="solid"/>
          </a:ln>
        </p:spPr>
      </p:sp>
      <p:sp>
        <p:nvSpPr>
          <p:cNvPr id="26" name="Text 24"/>
          <p:cNvSpPr/>
          <p:nvPr/>
        </p:nvSpPr>
        <p:spPr>
          <a:xfrm>
            <a:off x="2928823" y="1800062"/>
            <a:ext cx="1061618"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4,102</a:t>
            </a:r>
            <a:endParaRPr lang="en-US" sz="1020" dirty="0"/>
          </a:p>
        </p:txBody>
      </p:sp>
      <p:sp>
        <p:nvSpPr>
          <p:cNvPr id="27" name="Shape 25"/>
          <p:cNvSpPr/>
          <p:nvPr/>
        </p:nvSpPr>
        <p:spPr>
          <a:xfrm>
            <a:off x="4017874" y="1781774"/>
            <a:ext cx="1623974" cy="424543"/>
          </a:xfrm>
          <a:prstGeom prst="rect">
            <a:avLst/>
          </a:prstGeom>
          <a:solidFill>
            <a:srgbClr val="F5F7FA"/>
          </a:solidFill>
          <a:ln w="12700">
            <a:solidFill>
              <a:srgbClr val="D5DCE3"/>
            </a:solidFill>
            <a:prstDash val="solid"/>
          </a:ln>
        </p:spPr>
      </p:sp>
      <p:sp>
        <p:nvSpPr>
          <p:cNvPr id="28" name="Text 26"/>
          <p:cNvSpPr/>
          <p:nvPr/>
        </p:nvSpPr>
        <p:spPr>
          <a:xfrm>
            <a:off x="4045306" y="1800062"/>
            <a:ext cx="1569110"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Glass</a:t>
            </a:r>
            <a:endParaRPr lang="en-US" sz="1020" dirty="0"/>
          </a:p>
        </p:txBody>
      </p:sp>
      <p:sp>
        <p:nvSpPr>
          <p:cNvPr id="29" name="Shape 27"/>
          <p:cNvSpPr/>
          <p:nvPr/>
        </p:nvSpPr>
        <p:spPr>
          <a:xfrm>
            <a:off x="566928" y="2206317"/>
            <a:ext cx="1370228" cy="424543"/>
          </a:xfrm>
          <a:prstGeom prst="rect">
            <a:avLst/>
          </a:prstGeom>
          <a:solidFill>
            <a:srgbClr val="FFFFFF"/>
          </a:solidFill>
          <a:ln w="12700">
            <a:solidFill>
              <a:srgbClr val="D5DCE3"/>
            </a:solidFill>
            <a:prstDash val="solid"/>
          </a:ln>
        </p:spPr>
      </p:sp>
      <p:sp>
        <p:nvSpPr>
          <p:cNvPr id="30" name="Text 28"/>
          <p:cNvSpPr/>
          <p:nvPr/>
        </p:nvSpPr>
        <p:spPr>
          <a:xfrm>
            <a:off x="594360" y="2224605"/>
            <a:ext cx="1315364" cy="387967"/>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MSD</a:t>
            </a:r>
            <a:endParaRPr lang="en-US" sz="1020" dirty="0"/>
          </a:p>
        </p:txBody>
      </p:sp>
      <p:sp>
        <p:nvSpPr>
          <p:cNvPr id="31" name="Shape 29"/>
          <p:cNvSpPr/>
          <p:nvPr/>
        </p:nvSpPr>
        <p:spPr>
          <a:xfrm>
            <a:off x="1937156" y="2206317"/>
            <a:ext cx="964235" cy="424543"/>
          </a:xfrm>
          <a:prstGeom prst="rect">
            <a:avLst/>
          </a:prstGeom>
          <a:solidFill>
            <a:srgbClr val="FFFFFF"/>
          </a:solidFill>
          <a:ln w="12700">
            <a:solidFill>
              <a:srgbClr val="D5DCE3"/>
            </a:solidFill>
            <a:prstDash val="solid"/>
          </a:ln>
        </p:spPr>
      </p:sp>
      <p:sp>
        <p:nvSpPr>
          <p:cNvPr id="32" name="Text 30"/>
          <p:cNvSpPr/>
          <p:nvPr/>
        </p:nvSpPr>
        <p:spPr>
          <a:xfrm>
            <a:off x="1964588" y="2224605"/>
            <a:ext cx="909371"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RGB</a:t>
            </a:r>
            <a:endParaRPr lang="en-US" sz="1020" dirty="0"/>
          </a:p>
        </p:txBody>
      </p:sp>
      <p:sp>
        <p:nvSpPr>
          <p:cNvPr id="33" name="Shape 31"/>
          <p:cNvSpPr/>
          <p:nvPr/>
        </p:nvSpPr>
        <p:spPr>
          <a:xfrm>
            <a:off x="2901391" y="2206317"/>
            <a:ext cx="1116482" cy="424543"/>
          </a:xfrm>
          <a:prstGeom prst="rect">
            <a:avLst/>
          </a:prstGeom>
          <a:solidFill>
            <a:srgbClr val="FFFFFF"/>
          </a:solidFill>
          <a:ln w="12700">
            <a:solidFill>
              <a:srgbClr val="D5DCE3"/>
            </a:solidFill>
            <a:prstDash val="solid"/>
          </a:ln>
        </p:spPr>
      </p:sp>
      <p:sp>
        <p:nvSpPr>
          <p:cNvPr id="34" name="Text 32"/>
          <p:cNvSpPr/>
          <p:nvPr/>
        </p:nvSpPr>
        <p:spPr>
          <a:xfrm>
            <a:off x="2928823" y="2224605"/>
            <a:ext cx="1061618"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4,018</a:t>
            </a:r>
            <a:endParaRPr lang="en-US" sz="1020" dirty="0"/>
          </a:p>
        </p:txBody>
      </p:sp>
      <p:sp>
        <p:nvSpPr>
          <p:cNvPr id="35" name="Shape 33"/>
          <p:cNvSpPr/>
          <p:nvPr/>
        </p:nvSpPr>
        <p:spPr>
          <a:xfrm>
            <a:off x="4017874" y="2206317"/>
            <a:ext cx="1623974" cy="424543"/>
          </a:xfrm>
          <a:prstGeom prst="rect">
            <a:avLst/>
          </a:prstGeom>
          <a:solidFill>
            <a:srgbClr val="FFFFFF"/>
          </a:solidFill>
          <a:ln w="12700">
            <a:solidFill>
              <a:srgbClr val="D5DCE3"/>
            </a:solidFill>
            <a:prstDash val="solid"/>
          </a:ln>
        </p:spPr>
      </p:sp>
      <p:sp>
        <p:nvSpPr>
          <p:cNvPr id="36" name="Text 34"/>
          <p:cNvSpPr/>
          <p:nvPr/>
        </p:nvSpPr>
        <p:spPr>
          <a:xfrm>
            <a:off x="4045306" y="2224605"/>
            <a:ext cx="1569110"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Mirror</a:t>
            </a:r>
            <a:endParaRPr lang="en-US" sz="1020" dirty="0"/>
          </a:p>
        </p:txBody>
      </p:sp>
      <p:sp>
        <p:nvSpPr>
          <p:cNvPr id="37" name="Shape 35"/>
          <p:cNvSpPr/>
          <p:nvPr/>
        </p:nvSpPr>
        <p:spPr>
          <a:xfrm>
            <a:off x="566928" y="2630859"/>
            <a:ext cx="1370228" cy="424543"/>
          </a:xfrm>
          <a:prstGeom prst="rect">
            <a:avLst/>
          </a:prstGeom>
          <a:solidFill>
            <a:srgbClr val="F5F7FA"/>
          </a:solidFill>
          <a:ln w="12700">
            <a:solidFill>
              <a:srgbClr val="D5DCE3"/>
            </a:solidFill>
            <a:prstDash val="solid"/>
          </a:ln>
        </p:spPr>
      </p:sp>
      <p:sp>
        <p:nvSpPr>
          <p:cNvPr id="38" name="Text 36"/>
          <p:cNvSpPr/>
          <p:nvPr/>
        </p:nvSpPr>
        <p:spPr>
          <a:xfrm>
            <a:off x="594360" y="2649147"/>
            <a:ext cx="1315364" cy="387967"/>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Mirror3D</a:t>
            </a:r>
            <a:endParaRPr lang="en-US" sz="1020" dirty="0"/>
          </a:p>
        </p:txBody>
      </p:sp>
      <p:sp>
        <p:nvSpPr>
          <p:cNvPr id="39" name="Shape 37"/>
          <p:cNvSpPr/>
          <p:nvPr/>
        </p:nvSpPr>
        <p:spPr>
          <a:xfrm>
            <a:off x="1937156" y="2630859"/>
            <a:ext cx="964235" cy="424543"/>
          </a:xfrm>
          <a:prstGeom prst="rect">
            <a:avLst/>
          </a:prstGeom>
          <a:solidFill>
            <a:srgbClr val="F5F7FA"/>
          </a:solidFill>
          <a:ln w="12700">
            <a:solidFill>
              <a:srgbClr val="D5DCE3"/>
            </a:solidFill>
            <a:prstDash val="solid"/>
          </a:ln>
        </p:spPr>
      </p:sp>
      <p:sp>
        <p:nvSpPr>
          <p:cNvPr id="40" name="Text 38"/>
          <p:cNvSpPr/>
          <p:nvPr/>
        </p:nvSpPr>
        <p:spPr>
          <a:xfrm>
            <a:off x="1964588" y="2649147"/>
            <a:ext cx="909371"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RGB-D</a:t>
            </a:r>
            <a:endParaRPr lang="en-US" sz="1020" dirty="0"/>
          </a:p>
        </p:txBody>
      </p:sp>
      <p:sp>
        <p:nvSpPr>
          <p:cNvPr id="41" name="Shape 39"/>
          <p:cNvSpPr/>
          <p:nvPr/>
        </p:nvSpPr>
        <p:spPr>
          <a:xfrm>
            <a:off x="2901391" y="2630859"/>
            <a:ext cx="1116482" cy="424543"/>
          </a:xfrm>
          <a:prstGeom prst="rect">
            <a:avLst/>
          </a:prstGeom>
          <a:solidFill>
            <a:srgbClr val="F5F7FA"/>
          </a:solidFill>
          <a:ln w="12700">
            <a:solidFill>
              <a:srgbClr val="D5DCE3"/>
            </a:solidFill>
            <a:prstDash val="solid"/>
          </a:ln>
        </p:spPr>
      </p:sp>
      <p:sp>
        <p:nvSpPr>
          <p:cNvPr id="42" name="Text 40"/>
          <p:cNvSpPr/>
          <p:nvPr/>
        </p:nvSpPr>
        <p:spPr>
          <a:xfrm>
            <a:off x="2928823" y="2649147"/>
            <a:ext cx="1061618"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5,894</a:t>
            </a:r>
            <a:endParaRPr lang="en-US" sz="1020" dirty="0"/>
          </a:p>
        </p:txBody>
      </p:sp>
      <p:sp>
        <p:nvSpPr>
          <p:cNvPr id="43" name="Shape 41"/>
          <p:cNvSpPr/>
          <p:nvPr/>
        </p:nvSpPr>
        <p:spPr>
          <a:xfrm>
            <a:off x="4017874" y="2630859"/>
            <a:ext cx="1623974" cy="424543"/>
          </a:xfrm>
          <a:prstGeom prst="rect">
            <a:avLst/>
          </a:prstGeom>
          <a:solidFill>
            <a:srgbClr val="F5F7FA"/>
          </a:solidFill>
          <a:ln w="12700">
            <a:solidFill>
              <a:srgbClr val="D5DCE3"/>
            </a:solidFill>
            <a:prstDash val="solid"/>
          </a:ln>
        </p:spPr>
      </p:sp>
      <p:sp>
        <p:nvSpPr>
          <p:cNvPr id="44" name="Text 42"/>
          <p:cNvSpPr/>
          <p:nvPr/>
        </p:nvSpPr>
        <p:spPr>
          <a:xfrm>
            <a:off x="4045306" y="2649147"/>
            <a:ext cx="1569110"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Mirror</a:t>
            </a:r>
            <a:endParaRPr lang="en-US" sz="1020" dirty="0"/>
          </a:p>
        </p:txBody>
      </p:sp>
      <p:sp>
        <p:nvSpPr>
          <p:cNvPr id="45" name="Shape 43"/>
          <p:cNvSpPr/>
          <p:nvPr/>
        </p:nvSpPr>
        <p:spPr>
          <a:xfrm>
            <a:off x="566928" y="3055402"/>
            <a:ext cx="1370228" cy="424543"/>
          </a:xfrm>
          <a:prstGeom prst="rect">
            <a:avLst/>
          </a:prstGeom>
          <a:solidFill>
            <a:srgbClr val="FFFFFF"/>
          </a:solidFill>
          <a:ln w="12700">
            <a:solidFill>
              <a:srgbClr val="D5DCE3"/>
            </a:solidFill>
            <a:prstDash val="solid"/>
          </a:ln>
        </p:spPr>
      </p:sp>
      <p:sp>
        <p:nvSpPr>
          <p:cNvPr id="46" name="Text 44"/>
          <p:cNvSpPr/>
          <p:nvPr/>
        </p:nvSpPr>
        <p:spPr>
          <a:xfrm>
            <a:off x="594360" y="3073690"/>
            <a:ext cx="1315364" cy="387967"/>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TROSD</a:t>
            </a:r>
            <a:endParaRPr lang="en-US" sz="1020" dirty="0"/>
          </a:p>
        </p:txBody>
      </p:sp>
      <p:sp>
        <p:nvSpPr>
          <p:cNvPr id="47" name="Shape 45"/>
          <p:cNvSpPr/>
          <p:nvPr/>
        </p:nvSpPr>
        <p:spPr>
          <a:xfrm>
            <a:off x="1937156" y="3055402"/>
            <a:ext cx="964235" cy="424543"/>
          </a:xfrm>
          <a:prstGeom prst="rect">
            <a:avLst/>
          </a:prstGeom>
          <a:solidFill>
            <a:srgbClr val="FFFFFF"/>
          </a:solidFill>
          <a:ln w="12700">
            <a:solidFill>
              <a:srgbClr val="D5DCE3"/>
            </a:solidFill>
            <a:prstDash val="solid"/>
          </a:ln>
        </p:spPr>
      </p:sp>
      <p:sp>
        <p:nvSpPr>
          <p:cNvPr id="48" name="Text 46"/>
          <p:cNvSpPr/>
          <p:nvPr/>
        </p:nvSpPr>
        <p:spPr>
          <a:xfrm>
            <a:off x="1964588" y="3073690"/>
            <a:ext cx="909371"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RGB-D</a:t>
            </a:r>
            <a:endParaRPr lang="en-US" sz="1020" dirty="0"/>
          </a:p>
        </p:txBody>
      </p:sp>
      <p:sp>
        <p:nvSpPr>
          <p:cNvPr id="49" name="Shape 47"/>
          <p:cNvSpPr/>
          <p:nvPr/>
        </p:nvSpPr>
        <p:spPr>
          <a:xfrm>
            <a:off x="2901391" y="3055402"/>
            <a:ext cx="1116482" cy="424543"/>
          </a:xfrm>
          <a:prstGeom prst="rect">
            <a:avLst/>
          </a:prstGeom>
          <a:solidFill>
            <a:srgbClr val="FFFFFF"/>
          </a:solidFill>
          <a:ln w="12700">
            <a:solidFill>
              <a:srgbClr val="D5DCE3"/>
            </a:solidFill>
            <a:prstDash val="solid"/>
          </a:ln>
        </p:spPr>
      </p:sp>
      <p:sp>
        <p:nvSpPr>
          <p:cNvPr id="50" name="Text 48"/>
          <p:cNvSpPr/>
          <p:nvPr/>
        </p:nvSpPr>
        <p:spPr>
          <a:xfrm>
            <a:off x="2928823" y="3073690"/>
            <a:ext cx="1061618"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11,060</a:t>
            </a:r>
            <a:endParaRPr lang="en-US" sz="1020" dirty="0"/>
          </a:p>
        </p:txBody>
      </p:sp>
      <p:sp>
        <p:nvSpPr>
          <p:cNvPr id="51" name="Shape 49"/>
          <p:cNvSpPr/>
          <p:nvPr/>
        </p:nvSpPr>
        <p:spPr>
          <a:xfrm>
            <a:off x="4017874" y="3055402"/>
            <a:ext cx="1623974" cy="424543"/>
          </a:xfrm>
          <a:prstGeom prst="rect">
            <a:avLst/>
          </a:prstGeom>
          <a:solidFill>
            <a:srgbClr val="FFFFFF"/>
          </a:solidFill>
          <a:ln w="12700">
            <a:solidFill>
              <a:srgbClr val="D5DCE3"/>
            </a:solidFill>
            <a:prstDash val="solid"/>
          </a:ln>
        </p:spPr>
      </p:sp>
      <p:sp>
        <p:nvSpPr>
          <p:cNvPr id="52" name="Text 50"/>
          <p:cNvSpPr/>
          <p:nvPr/>
        </p:nvSpPr>
        <p:spPr>
          <a:xfrm>
            <a:off x="4045306" y="3073690"/>
            <a:ext cx="1569110" cy="387967"/>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Mirror &amp; Glass</a:t>
            </a:r>
            <a:endParaRPr lang="en-US" sz="1020" dirty="0"/>
          </a:p>
        </p:txBody>
      </p:sp>
      <p:sp>
        <p:nvSpPr>
          <p:cNvPr id="53" name="Shape 51"/>
          <p:cNvSpPr/>
          <p:nvPr/>
        </p:nvSpPr>
        <p:spPr>
          <a:xfrm>
            <a:off x="566928" y="3479945"/>
            <a:ext cx="1370228" cy="424543"/>
          </a:xfrm>
          <a:prstGeom prst="rect">
            <a:avLst/>
          </a:prstGeom>
          <a:solidFill>
            <a:srgbClr val="F5F7FA"/>
          </a:solidFill>
          <a:ln w="12700">
            <a:solidFill>
              <a:srgbClr val="D5DCE3"/>
            </a:solidFill>
            <a:prstDash val="solid"/>
          </a:ln>
        </p:spPr>
      </p:sp>
      <p:sp>
        <p:nvSpPr>
          <p:cNvPr id="54" name="Text 52"/>
          <p:cNvSpPr/>
          <p:nvPr/>
        </p:nvSpPr>
        <p:spPr>
          <a:xfrm>
            <a:off x="594360" y="3498233"/>
            <a:ext cx="1315364" cy="387967"/>
          </a:xfrm>
          <a:prstGeom prst="rect">
            <a:avLst/>
          </a:prstGeom>
          <a:noFill/>
          <a:ln/>
        </p:spPr>
        <p:txBody>
          <a:bodyPr wrap="square" lIns="0" tIns="0" rIns="0" bIns="0" rtlCol="0" anchor="ctr">
            <a:normAutofit/>
          </a:bodyPr>
          <a:lstStyle/>
          <a:p>
            <a:pPr marL="0" indent="0" algn="l">
              <a:buNone/>
            </a:pPr>
            <a:r>
              <a:rPr lang="en-US" sz="1020" b="1" dirty="0">
                <a:solidFill>
                  <a:srgbClr val="2E75B6"/>
                </a:solidFill>
                <a:latin typeface="Yu Gothic" pitchFamily="34" charset="0"/>
                <a:ea typeface="Yu Gothic" pitchFamily="34" charset="-122"/>
                <a:cs typeface="Yu Gothic" pitchFamily="34" charset="-120"/>
              </a:rPr>
              <a:t>3DRef</a:t>
            </a:r>
            <a:endParaRPr lang="en-US" sz="1020" dirty="0"/>
          </a:p>
        </p:txBody>
      </p:sp>
      <p:sp>
        <p:nvSpPr>
          <p:cNvPr id="55" name="Shape 53"/>
          <p:cNvSpPr/>
          <p:nvPr/>
        </p:nvSpPr>
        <p:spPr>
          <a:xfrm>
            <a:off x="1937156" y="3479945"/>
            <a:ext cx="964235" cy="424543"/>
          </a:xfrm>
          <a:prstGeom prst="rect">
            <a:avLst/>
          </a:prstGeom>
          <a:solidFill>
            <a:srgbClr val="F5F7FA"/>
          </a:solidFill>
          <a:ln w="12700">
            <a:solidFill>
              <a:srgbClr val="D5DCE3"/>
            </a:solidFill>
            <a:prstDash val="solid"/>
          </a:ln>
        </p:spPr>
      </p:sp>
      <p:sp>
        <p:nvSpPr>
          <p:cNvPr id="56" name="Text 54"/>
          <p:cNvSpPr/>
          <p:nvPr/>
        </p:nvSpPr>
        <p:spPr>
          <a:xfrm>
            <a:off x="1964588" y="3498233"/>
            <a:ext cx="909371" cy="387967"/>
          </a:xfrm>
          <a:prstGeom prst="rect">
            <a:avLst/>
          </a:prstGeom>
          <a:noFill/>
          <a:ln/>
        </p:spPr>
        <p:txBody>
          <a:bodyPr wrap="square" lIns="0" tIns="0" rIns="0" bIns="0" rtlCol="0" anchor="ctr">
            <a:normAutofit/>
          </a:bodyPr>
          <a:lstStyle/>
          <a:p>
            <a:pPr marL="0" indent="0" algn="ctr">
              <a:buNone/>
            </a:pPr>
            <a:r>
              <a:rPr lang="en-US" sz="1020" b="1" dirty="0">
                <a:solidFill>
                  <a:srgbClr val="20242A"/>
                </a:solidFill>
                <a:latin typeface="Yu Gothic" pitchFamily="34" charset="0"/>
                <a:ea typeface="Yu Gothic" pitchFamily="34" charset="-122"/>
                <a:cs typeface="Yu Gothic" pitchFamily="34" charset="-120"/>
              </a:rPr>
              <a:t>LiDAR, RGB</a:t>
            </a:r>
            <a:endParaRPr lang="en-US" sz="1020" dirty="0"/>
          </a:p>
        </p:txBody>
      </p:sp>
      <p:sp>
        <p:nvSpPr>
          <p:cNvPr id="57" name="Shape 55"/>
          <p:cNvSpPr/>
          <p:nvPr/>
        </p:nvSpPr>
        <p:spPr>
          <a:xfrm>
            <a:off x="2901391" y="3479945"/>
            <a:ext cx="1116482" cy="424543"/>
          </a:xfrm>
          <a:prstGeom prst="rect">
            <a:avLst/>
          </a:prstGeom>
          <a:solidFill>
            <a:srgbClr val="F5F7FA"/>
          </a:solidFill>
          <a:ln w="12700">
            <a:solidFill>
              <a:srgbClr val="D5DCE3"/>
            </a:solidFill>
            <a:prstDash val="solid"/>
          </a:ln>
        </p:spPr>
      </p:sp>
      <p:sp>
        <p:nvSpPr>
          <p:cNvPr id="58" name="Text 56"/>
          <p:cNvSpPr/>
          <p:nvPr/>
        </p:nvSpPr>
        <p:spPr>
          <a:xfrm>
            <a:off x="2928823" y="3498233"/>
            <a:ext cx="1061618" cy="387967"/>
          </a:xfrm>
          <a:prstGeom prst="rect">
            <a:avLst/>
          </a:prstGeom>
          <a:noFill/>
          <a:ln/>
        </p:spPr>
        <p:txBody>
          <a:bodyPr wrap="square" lIns="0" tIns="0" rIns="0" bIns="0" rtlCol="0" anchor="ctr">
            <a:normAutofit/>
          </a:bodyPr>
          <a:lstStyle/>
          <a:p>
            <a:pPr marL="0" indent="0" algn="ctr">
              <a:buNone/>
            </a:pPr>
            <a:r>
              <a:rPr lang="en-US" sz="1020" b="1" dirty="0">
                <a:solidFill>
                  <a:srgbClr val="20242A"/>
                </a:solidFill>
                <a:latin typeface="Yu Gothic" pitchFamily="34" charset="0"/>
                <a:ea typeface="Yu Gothic" pitchFamily="34" charset="-122"/>
                <a:cs typeface="Yu Gothic" pitchFamily="34" charset="-120"/>
              </a:rPr>
              <a:t>48,024 / 3,799</a:t>
            </a:r>
            <a:endParaRPr lang="en-US" sz="1020" dirty="0"/>
          </a:p>
        </p:txBody>
      </p:sp>
      <p:sp>
        <p:nvSpPr>
          <p:cNvPr id="59" name="Shape 57"/>
          <p:cNvSpPr/>
          <p:nvPr/>
        </p:nvSpPr>
        <p:spPr>
          <a:xfrm>
            <a:off x="4017874" y="3479945"/>
            <a:ext cx="1623974" cy="424543"/>
          </a:xfrm>
          <a:prstGeom prst="rect">
            <a:avLst/>
          </a:prstGeom>
          <a:solidFill>
            <a:srgbClr val="F5F7FA"/>
          </a:solidFill>
          <a:ln w="12700">
            <a:solidFill>
              <a:srgbClr val="D5DCE3"/>
            </a:solidFill>
            <a:prstDash val="solid"/>
          </a:ln>
        </p:spPr>
      </p:sp>
      <p:sp>
        <p:nvSpPr>
          <p:cNvPr id="60" name="Text 58"/>
          <p:cNvSpPr/>
          <p:nvPr/>
        </p:nvSpPr>
        <p:spPr>
          <a:xfrm>
            <a:off x="4045306" y="3498233"/>
            <a:ext cx="1569110" cy="387967"/>
          </a:xfrm>
          <a:prstGeom prst="rect">
            <a:avLst/>
          </a:prstGeom>
          <a:noFill/>
          <a:ln/>
        </p:spPr>
        <p:txBody>
          <a:bodyPr wrap="square" lIns="0" tIns="0" rIns="0" bIns="0" rtlCol="0" anchor="ctr">
            <a:normAutofit/>
          </a:bodyPr>
          <a:lstStyle/>
          <a:p>
            <a:pPr marL="0" indent="0" algn="ctr">
              <a:buNone/>
            </a:pPr>
            <a:r>
              <a:rPr lang="en-US" sz="1020" b="1" dirty="0">
                <a:solidFill>
                  <a:srgbClr val="2E75B6"/>
                </a:solidFill>
                <a:latin typeface="Yu Gothic" pitchFamily="34" charset="0"/>
                <a:ea typeface="Yu Gothic" pitchFamily="34" charset="-122"/>
                <a:cs typeface="Yu Gothic" pitchFamily="34" charset="-120"/>
              </a:rPr>
              <a:t>All reflective</a:t>
            </a:r>
            <a:endParaRPr lang="en-US" sz="1020" dirty="0"/>
          </a:p>
        </p:txBody>
      </p:sp>
      <p:sp>
        <p:nvSpPr>
          <p:cNvPr id="61" name="Shape 59"/>
          <p:cNvSpPr/>
          <p:nvPr/>
        </p:nvSpPr>
        <p:spPr>
          <a:xfrm>
            <a:off x="5888736" y="969264"/>
            <a:ext cx="2670048" cy="1188720"/>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62" name="Shape 60"/>
          <p:cNvSpPr/>
          <p:nvPr/>
        </p:nvSpPr>
        <p:spPr>
          <a:xfrm>
            <a:off x="5888736" y="969264"/>
            <a:ext cx="50292" cy="1188720"/>
          </a:xfrm>
          <a:prstGeom prst="rect">
            <a:avLst/>
          </a:prstGeom>
          <a:solidFill>
            <a:srgbClr val="2E75B6"/>
          </a:solidFill>
          <a:ln w="12700">
            <a:solidFill>
              <a:srgbClr val="2E75B6"/>
            </a:solidFill>
            <a:prstDash val="solid"/>
          </a:ln>
        </p:spPr>
      </p:sp>
      <p:sp>
        <p:nvSpPr>
          <p:cNvPr id="63" name="Text 61"/>
          <p:cNvSpPr/>
          <p:nvPr/>
        </p:nvSpPr>
        <p:spPr>
          <a:xfrm>
            <a:off x="6053328" y="1042416"/>
            <a:ext cx="239572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差分 1｜3D点ラベル</a:t>
            </a:r>
            <a:endParaRPr lang="en-US" sz="1600" dirty="0"/>
          </a:p>
        </p:txBody>
      </p:sp>
      <p:sp>
        <p:nvSpPr>
          <p:cNvPr id="64" name="Text 62"/>
          <p:cNvSpPr/>
          <p:nvPr/>
        </p:nvSpPr>
        <p:spPr>
          <a:xfrm>
            <a:off x="6053328" y="1389888"/>
            <a:ext cx="2395728" cy="6766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主要LiDARデータセットには、反射面と虚像点の3Dラベルがない。</a:t>
            </a:r>
            <a:endParaRPr lang="en-US" sz="1320" dirty="0"/>
          </a:p>
        </p:txBody>
      </p:sp>
      <p:sp>
        <p:nvSpPr>
          <p:cNvPr id="65" name="Shape 63"/>
          <p:cNvSpPr/>
          <p:nvPr/>
        </p:nvSpPr>
        <p:spPr>
          <a:xfrm>
            <a:off x="5888736" y="2331720"/>
            <a:ext cx="2670048" cy="1188720"/>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66" name="Shape 64"/>
          <p:cNvSpPr/>
          <p:nvPr/>
        </p:nvSpPr>
        <p:spPr>
          <a:xfrm>
            <a:off x="5888736" y="2331720"/>
            <a:ext cx="50292" cy="1188720"/>
          </a:xfrm>
          <a:prstGeom prst="rect">
            <a:avLst/>
          </a:prstGeom>
          <a:solidFill>
            <a:srgbClr val="ED7D31"/>
          </a:solidFill>
          <a:ln w="12700">
            <a:solidFill>
              <a:srgbClr val="ED7D31"/>
            </a:solidFill>
            <a:prstDash val="solid"/>
          </a:ln>
        </p:spPr>
      </p:sp>
      <p:sp>
        <p:nvSpPr>
          <p:cNvPr id="67" name="Text 65"/>
          <p:cNvSpPr/>
          <p:nvPr/>
        </p:nvSpPr>
        <p:spPr>
          <a:xfrm>
            <a:off x="6053328" y="2404872"/>
            <a:ext cx="239572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差分 2｜現象の分離</a:t>
            </a:r>
            <a:endParaRPr lang="en-US" sz="1600" dirty="0"/>
          </a:p>
        </p:txBody>
      </p:sp>
      <p:sp>
        <p:nvSpPr>
          <p:cNvPr id="68" name="Text 66"/>
          <p:cNvSpPr/>
          <p:nvPr/>
        </p:nvSpPr>
        <p:spPr>
          <a:xfrm>
            <a:off x="6053328" y="2752344"/>
            <a:ext cx="2395728" cy="6766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glass/mirrorだけでなく、reflection pointと背後障害物を区別。</a:t>
            </a:r>
            <a:endParaRPr lang="en-US" sz="1320" dirty="0"/>
          </a:p>
        </p:txBody>
      </p:sp>
      <p:sp>
        <p:nvSpPr>
          <p:cNvPr id="69" name="Shape 67"/>
          <p:cNvSpPr/>
          <p:nvPr/>
        </p:nvSpPr>
        <p:spPr>
          <a:xfrm>
            <a:off x="566928" y="4096512"/>
            <a:ext cx="8010144" cy="347472"/>
          </a:xfrm>
          <a:prstGeom prst="rect">
            <a:avLst/>
          </a:prstGeom>
          <a:solidFill>
            <a:srgbClr val="F8FAFB"/>
          </a:solidFill>
          <a:ln w="12700">
            <a:solidFill>
              <a:srgbClr val="2A9D8F"/>
            </a:solidFill>
            <a:prstDash val="solid"/>
          </a:ln>
        </p:spPr>
      </p:sp>
      <p:sp>
        <p:nvSpPr>
          <p:cNvPr id="70" name="Shape 68"/>
          <p:cNvSpPr/>
          <p:nvPr/>
        </p:nvSpPr>
        <p:spPr>
          <a:xfrm>
            <a:off x="566928" y="4096512"/>
            <a:ext cx="64008" cy="347472"/>
          </a:xfrm>
          <a:prstGeom prst="rect">
            <a:avLst/>
          </a:prstGeom>
          <a:solidFill>
            <a:srgbClr val="2A9D8F"/>
          </a:solidFill>
          <a:ln w="12700">
            <a:solidFill>
              <a:srgbClr val="2A9D8F"/>
            </a:solidFill>
            <a:prstDash val="solid"/>
          </a:ln>
        </p:spPr>
      </p:sp>
      <p:sp>
        <p:nvSpPr>
          <p:cNvPr id="71" name="Text 69"/>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3DRefは「反射物体の2D領域」から「LiDARで生じた3D現象」へ対象を広げる。</a:t>
            </a:r>
            <a:endParaRPr lang="en-US" sz="1450" dirty="0"/>
          </a:p>
        </p:txBody>
      </p:sp>
      <p:sp>
        <p:nvSpPr>
          <p:cNvPr id="72" name="Text 70"/>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1; Sec. 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multi-returnは中間反射と背後物体を分ける手掛かりになり得る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Hypothesis</a:t>
            </a:r>
            <a:endParaRPr lang="en-US" sz="950" dirty="0"/>
          </a:p>
        </p:txBody>
      </p:sp>
      <p:sp>
        <p:nvSpPr>
          <p:cNvPr id="5" name="Text 3"/>
          <p:cNvSpPr/>
          <p:nvPr/>
        </p:nvSpPr>
        <p:spPr>
          <a:xfrm>
            <a:off x="658368" y="896112"/>
            <a:ext cx="320040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1本のビームから複数のechoを返すLiDAR</a:t>
            </a:r>
            <a:endParaRPr lang="en-US" sz="1450" dirty="0"/>
          </a:p>
        </p:txBody>
      </p:sp>
      <p:sp>
        <p:nvSpPr>
          <p:cNvPr id="6" name="Shape 4"/>
          <p:cNvSpPr/>
          <p:nvPr/>
        </p:nvSpPr>
        <p:spPr>
          <a:xfrm>
            <a:off x="777240" y="2011680"/>
            <a:ext cx="320040" cy="320040"/>
          </a:xfrm>
          <a:prstGeom prst="ellipse">
            <a:avLst/>
          </a:prstGeom>
          <a:solidFill>
            <a:srgbClr val="17365D"/>
          </a:solidFill>
          <a:ln w="12700">
            <a:solidFill>
              <a:srgbClr val="17365D"/>
            </a:solidFill>
            <a:prstDash val="solid"/>
          </a:ln>
        </p:spPr>
      </p:sp>
      <p:sp>
        <p:nvSpPr>
          <p:cNvPr id="7" name="Text 5"/>
          <p:cNvSpPr/>
          <p:nvPr/>
        </p:nvSpPr>
        <p:spPr>
          <a:xfrm>
            <a:off x="566928" y="2395728"/>
            <a:ext cx="749808" cy="228600"/>
          </a:xfrm>
          <a:prstGeom prst="rect">
            <a:avLst/>
          </a:prstGeom>
          <a:noFill/>
          <a:ln/>
        </p:spPr>
        <p:txBody>
          <a:bodyPr wrap="square" lIns="0" tIns="0" rIns="0" bIns="0" rtlCol="0" anchor="ctr">
            <a:normAutofit/>
          </a:bodyPr>
          <a:lstStyle/>
          <a:p>
            <a:pPr marL="0" indent="0" algn="ctr">
              <a:buNone/>
            </a:pPr>
            <a:r>
              <a:rPr lang="en-US" sz="1250" b="1" dirty="0">
                <a:solidFill>
                  <a:srgbClr val="17365D"/>
                </a:solidFill>
                <a:latin typeface="Yu Gothic" pitchFamily="34" charset="0"/>
                <a:ea typeface="Yu Gothic" pitchFamily="34" charset="-122"/>
                <a:cs typeface="Yu Gothic" pitchFamily="34" charset="-120"/>
              </a:rPr>
              <a:t>LiDAR</a:t>
            </a:r>
            <a:endParaRPr lang="en-US" sz="1250" dirty="0"/>
          </a:p>
        </p:txBody>
      </p:sp>
      <p:sp>
        <p:nvSpPr>
          <p:cNvPr id="8" name="Shape 6"/>
          <p:cNvSpPr/>
          <p:nvPr/>
        </p:nvSpPr>
        <p:spPr>
          <a:xfrm>
            <a:off x="2240280" y="1143000"/>
            <a:ext cx="0" cy="2606040"/>
          </a:xfrm>
          <a:prstGeom prst="line">
            <a:avLst/>
          </a:prstGeom>
          <a:noFill/>
          <a:ln w="12700">
            <a:solidFill>
              <a:srgbClr val="2E75B6"/>
            </a:solidFill>
            <a:prstDash val="solid"/>
            <a:headEnd type="none"/>
            <a:tailEnd type="none"/>
          </a:ln>
        </p:spPr>
      </p:sp>
      <p:sp>
        <p:nvSpPr>
          <p:cNvPr id="9" name="Text 7"/>
          <p:cNvSpPr/>
          <p:nvPr/>
        </p:nvSpPr>
        <p:spPr>
          <a:xfrm>
            <a:off x="1865376" y="3813048"/>
            <a:ext cx="749808" cy="237744"/>
          </a:xfrm>
          <a:prstGeom prst="rect">
            <a:avLst/>
          </a:prstGeom>
          <a:noFill/>
          <a:ln/>
        </p:spPr>
        <p:txBody>
          <a:bodyPr wrap="square" lIns="0" tIns="0" rIns="0" bIns="0" rtlCol="0" anchor="ctr">
            <a:normAutofit/>
          </a:bodyPr>
          <a:lstStyle/>
          <a:p>
            <a:pPr marL="0" indent="0" algn="ctr">
              <a:buNone/>
            </a:pPr>
            <a:r>
              <a:rPr lang="en-US" sz="1250" b="1" dirty="0">
                <a:solidFill>
                  <a:srgbClr val="2E75B6"/>
                </a:solidFill>
                <a:latin typeface="Yu Gothic" pitchFamily="34" charset="0"/>
                <a:ea typeface="Yu Gothic" pitchFamily="34" charset="-122"/>
                <a:cs typeface="Yu Gothic" pitchFamily="34" charset="-120"/>
              </a:rPr>
              <a:t>glass</a:t>
            </a:r>
            <a:endParaRPr lang="en-US" sz="1250" dirty="0"/>
          </a:p>
        </p:txBody>
      </p:sp>
      <p:sp>
        <p:nvSpPr>
          <p:cNvPr id="10" name="Shape 8"/>
          <p:cNvSpPr/>
          <p:nvPr/>
        </p:nvSpPr>
        <p:spPr>
          <a:xfrm>
            <a:off x="4846320" y="1143000"/>
            <a:ext cx="0" cy="2606040"/>
          </a:xfrm>
          <a:prstGeom prst="line">
            <a:avLst/>
          </a:prstGeom>
          <a:noFill/>
          <a:ln w="12700">
            <a:solidFill>
              <a:srgbClr val="ED7D31"/>
            </a:solidFill>
            <a:prstDash val="solid"/>
            <a:headEnd type="none"/>
            <a:tailEnd type="none"/>
          </a:ln>
        </p:spPr>
      </p:sp>
      <p:sp>
        <p:nvSpPr>
          <p:cNvPr id="11" name="Text 9"/>
          <p:cNvSpPr/>
          <p:nvPr/>
        </p:nvSpPr>
        <p:spPr>
          <a:xfrm>
            <a:off x="4352544" y="3813048"/>
            <a:ext cx="987552" cy="237744"/>
          </a:xfrm>
          <a:prstGeom prst="rect">
            <a:avLst/>
          </a:prstGeom>
          <a:noFill/>
          <a:ln/>
        </p:spPr>
        <p:txBody>
          <a:bodyPr wrap="square" lIns="0" tIns="0" rIns="0" bIns="0" rtlCol="0" anchor="ctr">
            <a:normAutofit/>
          </a:bodyPr>
          <a:lstStyle/>
          <a:p>
            <a:pPr marL="0" indent="0" algn="ctr">
              <a:buNone/>
            </a:pPr>
            <a:r>
              <a:rPr lang="en-US" sz="1250" b="1" dirty="0">
                <a:solidFill>
                  <a:srgbClr val="ED7D31"/>
                </a:solidFill>
                <a:latin typeface="Yu Gothic" pitchFamily="34" charset="0"/>
                <a:ea typeface="Yu Gothic" pitchFamily="34" charset="-122"/>
                <a:cs typeface="Yu Gothic" pitchFamily="34" charset="-120"/>
              </a:rPr>
              <a:t>obstacle</a:t>
            </a:r>
            <a:endParaRPr lang="en-US" sz="1250" dirty="0"/>
          </a:p>
        </p:txBody>
      </p:sp>
      <p:sp>
        <p:nvSpPr>
          <p:cNvPr id="12" name="Shape 10"/>
          <p:cNvSpPr/>
          <p:nvPr/>
        </p:nvSpPr>
        <p:spPr>
          <a:xfrm>
            <a:off x="1097280" y="2157984"/>
            <a:ext cx="1115568" cy="0"/>
          </a:xfrm>
          <a:prstGeom prst="line">
            <a:avLst/>
          </a:prstGeom>
          <a:noFill/>
          <a:ln w="12700">
            <a:solidFill>
              <a:srgbClr val="2E75B6"/>
            </a:solidFill>
            <a:prstDash val="solid"/>
            <a:headEnd type="none"/>
            <a:tailEnd type="triangle"/>
          </a:ln>
        </p:spPr>
      </p:sp>
      <p:sp>
        <p:nvSpPr>
          <p:cNvPr id="13" name="Shape 11"/>
          <p:cNvSpPr/>
          <p:nvPr/>
        </p:nvSpPr>
        <p:spPr>
          <a:xfrm>
            <a:off x="1097280" y="2157984"/>
            <a:ext cx="3730752" cy="566928"/>
          </a:xfrm>
          <a:prstGeom prst="line">
            <a:avLst/>
          </a:prstGeom>
          <a:noFill/>
          <a:ln w="12700">
            <a:solidFill>
              <a:srgbClr val="ED7D31"/>
            </a:solidFill>
            <a:prstDash val="solid"/>
            <a:headEnd type="none"/>
            <a:tailEnd type="triangle"/>
          </a:ln>
        </p:spPr>
      </p:sp>
      <p:sp>
        <p:nvSpPr>
          <p:cNvPr id="14" name="Shape 12"/>
          <p:cNvSpPr/>
          <p:nvPr/>
        </p:nvSpPr>
        <p:spPr>
          <a:xfrm>
            <a:off x="1371600" y="1234440"/>
            <a:ext cx="1143000" cy="292608"/>
          </a:xfrm>
          <a:prstGeom prst="roundRect">
            <a:avLst>
              <a:gd name="adj" fmla="val 15625"/>
            </a:avLst>
          </a:prstGeom>
          <a:solidFill>
            <a:srgbClr val="EAF2F8"/>
          </a:solidFill>
          <a:ln w="12700">
            <a:solidFill>
              <a:srgbClr val="2E75B6"/>
            </a:solidFill>
            <a:prstDash val="solid"/>
          </a:ln>
        </p:spPr>
      </p:sp>
      <p:sp>
        <p:nvSpPr>
          <p:cNvPr id="15" name="Text 13"/>
          <p:cNvSpPr/>
          <p:nvPr/>
        </p:nvSpPr>
        <p:spPr>
          <a:xfrm>
            <a:off x="1371600" y="1234440"/>
            <a:ext cx="1143000" cy="292608"/>
          </a:xfrm>
          <a:prstGeom prst="rect">
            <a:avLst/>
          </a:prstGeom>
          <a:noFill/>
          <a:ln/>
        </p:spPr>
        <p:txBody>
          <a:bodyPr wrap="square" lIns="0" tIns="0" rIns="0" bIns="0" rtlCol="0" anchor="ctr">
            <a:normAutofit/>
          </a:bodyPr>
          <a:lstStyle/>
          <a:p>
            <a:pPr marL="0" indent="0" algn="ctr">
              <a:buNone/>
            </a:pPr>
            <a:r>
              <a:rPr lang="en-US" sz="1250" b="1" dirty="0">
                <a:solidFill>
                  <a:srgbClr val="2E75B6"/>
                </a:solidFill>
                <a:latin typeface="Yu Gothic" pitchFamily="34" charset="0"/>
                <a:ea typeface="Yu Gothic" pitchFamily="34" charset="-122"/>
                <a:cs typeface="Yu Gothic" pitchFamily="34" charset="-120"/>
              </a:rPr>
              <a:t>1st return</a:t>
            </a:r>
            <a:endParaRPr lang="en-US" sz="1250" dirty="0"/>
          </a:p>
        </p:txBody>
      </p:sp>
      <p:sp>
        <p:nvSpPr>
          <p:cNvPr id="16" name="Shape 14"/>
          <p:cNvSpPr/>
          <p:nvPr/>
        </p:nvSpPr>
        <p:spPr>
          <a:xfrm>
            <a:off x="3474720" y="2907792"/>
            <a:ext cx="1600200" cy="292608"/>
          </a:xfrm>
          <a:prstGeom prst="roundRect">
            <a:avLst>
              <a:gd name="adj" fmla="val 15625"/>
            </a:avLst>
          </a:prstGeom>
          <a:solidFill>
            <a:srgbClr val="FCE4D6"/>
          </a:solidFill>
          <a:ln w="12700">
            <a:solidFill>
              <a:srgbClr val="ED7D31"/>
            </a:solidFill>
            <a:prstDash val="solid"/>
          </a:ln>
        </p:spPr>
      </p:sp>
      <p:sp>
        <p:nvSpPr>
          <p:cNvPr id="17" name="Text 15"/>
          <p:cNvSpPr/>
          <p:nvPr/>
        </p:nvSpPr>
        <p:spPr>
          <a:xfrm>
            <a:off x="3474720" y="2907792"/>
            <a:ext cx="1600200" cy="292608"/>
          </a:xfrm>
          <a:prstGeom prst="rect">
            <a:avLst/>
          </a:prstGeom>
          <a:noFill/>
          <a:ln/>
        </p:spPr>
        <p:txBody>
          <a:bodyPr wrap="square" lIns="0" tIns="0" rIns="0" bIns="0" rtlCol="0" anchor="ctr">
            <a:normAutofit/>
          </a:bodyPr>
          <a:lstStyle/>
          <a:p>
            <a:pPr marL="0" indent="0" algn="ctr">
              <a:buNone/>
            </a:pPr>
            <a:r>
              <a:rPr lang="en-US" sz="1250" b="1" dirty="0">
                <a:solidFill>
                  <a:srgbClr val="ED7D31"/>
                </a:solidFill>
                <a:latin typeface="Yu Gothic" pitchFamily="34" charset="0"/>
                <a:ea typeface="Yu Gothic" pitchFamily="34" charset="-122"/>
                <a:cs typeface="Yu Gothic" pitchFamily="34" charset="-120"/>
              </a:rPr>
              <a:t>2nd / 3rd return</a:t>
            </a:r>
            <a:endParaRPr lang="en-US" sz="1250" dirty="0"/>
          </a:p>
        </p:txBody>
      </p:sp>
      <p:sp>
        <p:nvSpPr>
          <p:cNvPr id="18" name="Shape 16"/>
          <p:cNvSpPr/>
          <p:nvPr/>
        </p:nvSpPr>
        <p:spPr>
          <a:xfrm>
            <a:off x="5669280" y="1051560"/>
            <a:ext cx="2788920" cy="1143000"/>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19" name="Shape 17"/>
          <p:cNvSpPr/>
          <p:nvPr/>
        </p:nvSpPr>
        <p:spPr>
          <a:xfrm>
            <a:off x="5669280" y="1051560"/>
            <a:ext cx="50292" cy="1143000"/>
          </a:xfrm>
          <a:prstGeom prst="rect">
            <a:avLst/>
          </a:prstGeom>
          <a:solidFill>
            <a:srgbClr val="2A9D8F"/>
          </a:solidFill>
          <a:ln w="12700">
            <a:solidFill>
              <a:srgbClr val="2A9D8F"/>
            </a:solidFill>
            <a:prstDash val="solid"/>
          </a:ln>
        </p:spPr>
      </p:sp>
      <p:sp>
        <p:nvSpPr>
          <p:cNvPr id="20" name="Text 18"/>
          <p:cNvSpPr/>
          <p:nvPr/>
        </p:nvSpPr>
        <p:spPr>
          <a:xfrm>
            <a:off x="5833872" y="1124712"/>
            <a:ext cx="251460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検証する仮説</a:t>
            </a:r>
            <a:endParaRPr lang="en-US" sz="1600" dirty="0"/>
          </a:p>
        </p:txBody>
      </p:sp>
      <p:sp>
        <p:nvSpPr>
          <p:cNvPr id="21" name="Text 19"/>
          <p:cNvSpPr/>
          <p:nvPr/>
        </p:nvSpPr>
        <p:spPr>
          <a:xfrm>
            <a:off x="5833872" y="1472184"/>
            <a:ext cx="2514600" cy="63093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return番号を入力特徴に加えると、reflection / obstacle behindの識別が改善する。</a:t>
            </a:r>
            <a:endParaRPr lang="en-US" sz="1320" dirty="0"/>
          </a:p>
        </p:txBody>
      </p:sp>
      <p:sp>
        <p:nvSpPr>
          <p:cNvPr id="22" name="Shape 20"/>
          <p:cNvSpPr/>
          <p:nvPr/>
        </p:nvSpPr>
        <p:spPr>
          <a:xfrm>
            <a:off x="5669280" y="2487168"/>
            <a:ext cx="2788920" cy="1143000"/>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23" name="Shape 21"/>
          <p:cNvSpPr/>
          <p:nvPr/>
        </p:nvSpPr>
        <p:spPr>
          <a:xfrm>
            <a:off x="5669280" y="2487168"/>
            <a:ext cx="50292" cy="1143000"/>
          </a:xfrm>
          <a:prstGeom prst="rect">
            <a:avLst/>
          </a:prstGeom>
          <a:solidFill>
            <a:srgbClr val="ED7D31"/>
          </a:solidFill>
          <a:ln w="12700">
            <a:solidFill>
              <a:srgbClr val="ED7D31"/>
            </a:solidFill>
            <a:prstDash val="solid"/>
          </a:ln>
        </p:spPr>
      </p:sp>
      <p:sp>
        <p:nvSpPr>
          <p:cNvPr id="24" name="Text 22"/>
          <p:cNvSpPr/>
          <p:nvPr/>
        </p:nvSpPr>
        <p:spPr>
          <a:xfrm>
            <a:off x="5833872" y="2560320"/>
            <a:ext cx="251460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ただし注意</a:t>
            </a:r>
            <a:endParaRPr lang="en-US" sz="1600" dirty="0"/>
          </a:p>
        </p:txBody>
      </p:sp>
      <p:sp>
        <p:nvSpPr>
          <p:cNvPr id="25" name="Text 23"/>
          <p:cNvSpPr/>
          <p:nvPr/>
        </p:nvSpPr>
        <p:spPr>
          <a:xfrm>
            <a:off x="5833872" y="2907792"/>
            <a:ext cx="2514600" cy="63093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return生成規則と密度は機種ごとに異なるため、return番号は普遍的特徴とは限らない。</a:t>
            </a:r>
            <a:endParaRPr lang="en-US" sz="1320" dirty="0"/>
          </a:p>
        </p:txBody>
      </p:sp>
      <p:sp>
        <p:nvSpPr>
          <p:cNvPr id="26" name="Shape 24"/>
          <p:cNvSpPr/>
          <p:nvPr/>
        </p:nvSpPr>
        <p:spPr>
          <a:xfrm>
            <a:off x="566928" y="4096512"/>
            <a:ext cx="8010144" cy="347472"/>
          </a:xfrm>
          <a:prstGeom prst="rect">
            <a:avLst/>
          </a:prstGeom>
          <a:solidFill>
            <a:srgbClr val="F8FAFB"/>
          </a:solidFill>
          <a:ln w="12700">
            <a:solidFill>
              <a:srgbClr val="2E75B6"/>
            </a:solidFill>
            <a:prstDash val="solid"/>
          </a:ln>
        </p:spPr>
      </p:sp>
      <p:sp>
        <p:nvSpPr>
          <p:cNvPr id="27" name="Shape 25"/>
          <p:cNvSpPr/>
          <p:nvPr/>
        </p:nvSpPr>
        <p:spPr>
          <a:xfrm>
            <a:off x="566928" y="4096512"/>
            <a:ext cx="64008" cy="347472"/>
          </a:xfrm>
          <a:prstGeom prst="rect">
            <a:avLst/>
          </a:prstGeom>
          <a:solidFill>
            <a:srgbClr val="2E75B6"/>
          </a:solidFill>
          <a:ln w="12700">
            <a:solidFill>
              <a:srgbClr val="2E75B6"/>
            </a:solidFill>
            <a:prstDash val="solid"/>
          </a:ln>
        </p:spPr>
      </p:sp>
      <p:sp>
        <p:nvSpPr>
          <p:cNvPr id="28" name="Text 26"/>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後段のTable 4・5で、クラス選択性とmIoU改善を別々に確認する。</a:t>
            </a:r>
            <a:endParaRPr lang="en-US" sz="1450" dirty="0"/>
          </a:p>
        </p:txBody>
      </p:sp>
      <p:sp>
        <p:nvSpPr>
          <p:cNvPr id="29" name="Text 27"/>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1, 3.3, 4.1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3種類のLiDARを同一プラットフォームに搭載し、return特性を比較する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Acquisition</a:t>
            </a:r>
            <a:endParaRPr lang="en-US" sz="950" dirty="0"/>
          </a:p>
        </p:txBody>
      </p:sp>
      <p:pic>
        <p:nvPicPr>
          <p:cNvPr id="5" name="Image 0" descr="3DRef data collection platform"/>
          <p:cNvPicPr>
            <a:picLocks noChangeAspect="1"/>
          </p:cNvPicPr>
          <p:nvPr/>
        </p:nvPicPr>
        <p:blipFill>
          <a:blip r:embed="rId3"/>
          <a:stretch>
            <a:fillRect/>
          </a:stretch>
        </p:blipFill>
        <p:spPr>
          <a:xfrm>
            <a:off x="647430" y="877824"/>
            <a:ext cx="2865659" cy="3474720"/>
          </a:xfrm>
          <a:prstGeom prst="rect">
            <a:avLst/>
          </a:prstGeom>
        </p:spPr>
      </p:pic>
      <p:sp>
        <p:nvSpPr>
          <p:cNvPr id="6" name="Shape 3"/>
          <p:cNvSpPr/>
          <p:nvPr/>
        </p:nvSpPr>
        <p:spPr>
          <a:xfrm>
            <a:off x="3822192" y="987552"/>
            <a:ext cx="1184148" cy="479146"/>
          </a:xfrm>
          <a:prstGeom prst="rect">
            <a:avLst/>
          </a:prstGeom>
          <a:solidFill>
            <a:srgbClr val="17365D"/>
          </a:solidFill>
          <a:ln w="12700">
            <a:solidFill>
              <a:srgbClr val="FFFFFF"/>
            </a:solidFill>
            <a:prstDash val="solid"/>
          </a:ln>
        </p:spPr>
      </p:sp>
      <p:sp>
        <p:nvSpPr>
          <p:cNvPr id="7" name="Text 4"/>
          <p:cNvSpPr/>
          <p:nvPr/>
        </p:nvSpPr>
        <p:spPr>
          <a:xfrm>
            <a:off x="3849624" y="1005840"/>
            <a:ext cx="1129284" cy="44257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Yu Gothic" pitchFamily="34" charset="0"/>
                <a:ea typeface="Yu Gothic" pitchFamily="34" charset="-122"/>
                <a:cs typeface="Yu Gothic" pitchFamily="34" charset="-120"/>
              </a:rPr>
              <a:t>Sensor</a:t>
            </a:r>
            <a:endParaRPr lang="en-US" sz="1050" dirty="0"/>
          </a:p>
        </p:txBody>
      </p:sp>
      <p:sp>
        <p:nvSpPr>
          <p:cNvPr id="8" name="Shape 5"/>
          <p:cNvSpPr/>
          <p:nvPr/>
        </p:nvSpPr>
        <p:spPr>
          <a:xfrm>
            <a:off x="5006340" y="987552"/>
            <a:ext cx="1468344" cy="479146"/>
          </a:xfrm>
          <a:prstGeom prst="rect">
            <a:avLst/>
          </a:prstGeom>
          <a:solidFill>
            <a:srgbClr val="17365D"/>
          </a:solidFill>
          <a:ln w="12700">
            <a:solidFill>
              <a:srgbClr val="FFFFFF"/>
            </a:solidFill>
            <a:prstDash val="solid"/>
          </a:ln>
        </p:spPr>
      </p:sp>
      <p:sp>
        <p:nvSpPr>
          <p:cNvPr id="9" name="Text 6"/>
          <p:cNvSpPr/>
          <p:nvPr/>
        </p:nvSpPr>
        <p:spPr>
          <a:xfrm>
            <a:off x="5033772" y="1005840"/>
            <a:ext cx="1413480" cy="44257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Yu Gothic" pitchFamily="34" charset="0"/>
                <a:ea typeface="Yu Gothic" pitchFamily="34" charset="-122"/>
                <a:cs typeface="Yu Gothic" pitchFamily="34" charset="-120"/>
              </a:rPr>
              <a:t>Type / Return</a:t>
            </a:r>
            <a:endParaRPr lang="en-US" sz="1050" dirty="0"/>
          </a:p>
        </p:txBody>
      </p:sp>
      <p:sp>
        <p:nvSpPr>
          <p:cNvPr id="10" name="Shape 7"/>
          <p:cNvSpPr/>
          <p:nvPr/>
        </p:nvSpPr>
        <p:spPr>
          <a:xfrm>
            <a:off x="6474684" y="987552"/>
            <a:ext cx="2084100" cy="479146"/>
          </a:xfrm>
          <a:prstGeom prst="rect">
            <a:avLst/>
          </a:prstGeom>
          <a:solidFill>
            <a:srgbClr val="17365D"/>
          </a:solidFill>
          <a:ln w="12700">
            <a:solidFill>
              <a:srgbClr val="FFFFFF"/>
            </a:solidFill>
            <a:prstDash val="solid"/>
          </a:ln>
        </p:spPr>
      </p:sp>
      <p:sp>
        <p:nvSpPr>
          <p:cNvPr id="11" name="Text 8"/>
          <p:cNvSpPr/>
          <p:nvPr/>
        </p:nvSpPr>
        <p:spPr>
          <a:xfrm>
            <a:off x="6502116" y="1005840"/>
            <a:ext cx="2029236" cy="44257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Yu Gothic" pitchFamily="34" charset="0"/>
                <a:ea typeface="Yu Gothic" pitchFamily="34" charset="-122"/>
                <a:cs typeface="Yu Gothic" pitchFamily="34" charset="-120"/>
              </a:rPr>
              <a:t>Key specification</a:t>
            </a:r>
            <a:endParaRPr lang="en-US" sz="1050" dirty="0"/>
          </a:p>
        </p:txBody>
      </p:sp>
      <p:sp>
        <p:nvSpPr>
          <p:cNvPr id="12" name="Shape 9"/>
          <p:cNvSpPr/>
          <p:nvPr/>
        </p:nvSpPr>
        <p:spPr>
          <a:xfrm>
            <a:off x="3822192" y="1466698"/>
            <a:ext cx="1184148" cy="479146"/>
          </a:xfrm>
          <a:prstGeom prst="rect">
            <a:avLst/>
          </a:prstGeom>
          <a:solidFill>
            <a:srgbClr val="FFFFFF"/>
          </a:solidFill>
          <a:ln w="12700">
            <a:solidFill>
              <a:srgbClr val="D5DCE3"/>
            </a:solidFill>
            <a:prstDash val="solid"/>
          </a:ln>
        </p:spPr>
      </p:sp>
      <p:sp>
        <p:nvSpPr>
          <p:cNvPr id="13" name="Text 10"/>
          <p:cNvSpPr/>
          <p:nvPr/>
        </p:nvSpPr>
        <p:spPr>
          <a:xfrm>
            <a:off x="3849624" y="1484986"/>
            <a:ext cx="1129284" cy="442570"/>
          </a:xfrm>
          <a:prstGeom prst="rect">
            <a:avLst/>
          </a:prstGeom>
          <a:noFill/>
          <a:ln/>
        </p:spPr>
        <p:txBody>
          <a:bodyPr wrap="square" lIns="0" tIns="0" rIns="0" bIns="0" rtlCol="0" anchor="ctr">
            <a:normAutofit/>
          </a:bodyPr>
          <a:lstStyle/>
          <a:p>
            <a:pPr marL="0" indent="0" algn="l">
              <a:buNone/>
            </a:pPr>
            <a:r>
              <a:rPr lang="en-US" sz="960" dirty="0">
                <a:solidFill>
                  <a:srgbClr val="20242A"/>
                </a:solidFill>
                <a:latin typeface="Yu Gothic" pitchFamily="34" charset="0"/>
                <a:ea typeface="Yu Gothic" pitchFamily="34" charset="-122"/>
                <a:cs typeface="Yu Gothic" pitchFamily="34" charset="-120"/>
              </a:rPr>
              <a:t>Ouster OS0-128</a:t>
            </a:r>
            <a:endParaRPr lang="en-US" sz="960" dirty="0"/>
          </a:p>
        </p:txBody>
      </p:sp>
      <p:sp>
        <p:nvSpPr>
          <p:cNvPr id="14" name="Shape 11"/>
          <p:cNvSpPr/>
          <p:nvPr/>
        </p:nvSpPr>
        <p:spPr>
          <a:xfrm>
            <a:off x="5006340" y="1466698"/>
            <a:ext cx="1468344" cy="479146"/>
          </a:xfrm>
          <a:prstGeom prst="rect">
            <a:avLst/>
          </a:prstGeom>
          <a:solidFill>
            <a:srgbClr val="FFFFFF"/>
          </a:solidFill>
          <a:ln w="12700">
            <a:solidFill>
              <a:srgbClr val="D5DCE3"/>
            </a:solidFill>
            <a:prstDash val="solid"/>
          </a:ln>
        </p:spPr>
      </p:sp>
      <p:sp>
        <p:nvSpPr>
          <p:cNvPr id="15" name="Text 12"/>
          <p:cNvSpPr/>
          <p:nvPr/>
        </p:nvSpPr>
        <p:spPr>
          <a:xfrm>
            <a:off x="5033772" y="1484986"/>
            <a:ext cx="1413480"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spinning / strongest, 2nd</a:t>
            </a:r>
            <a:endParaRPr lang="en-US" sz="960" dirty="0"/>
          </a:p>
        </p:txBody>
      </p:sp>
      <p:sp>
        <p:nvSpPr>
          <p:cNvPr id="16" name="Shape 13"/>
          <p:cNvSpPr/>
          <p:nvPr/>
        </p:nvSpPr>
        <p:spPr>
          <a:xfrm>
            <a:off x="6474684" y="1466698"/>
            <a:ext cx="2084100" cy="479146"/>
          </a:xfrm>
          <a:prstGeom prst="rect">
            <a:avLst/>
          </a:prstGeom>
          <a:solidFill>
            <a:srgbClr val="FFFFFF"/>
          </a:solidFill>
          <a:ln w="12700">
            <a:solidFill>
              <a:srgbClr val="D5DCE3"/>
            </a:solidFill>
            <a:prstDash val="solid"/>
          </a:ln>
        </p:spPr>
      </p:sp>
      <p:sp>
        <p:nvSpPr>
          <p:cNvPr id="17" name="Text 14"/>
          <p:cNvSpPr/>
          <p:nvPr/>
        </p:nvSpPr>
        <p:spPr>
          <a:xfrm>
            <a:off x="6502116" y="1484986"/>
            <a:ext cx="2029236"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128 ch, 90° V-FoV, ≤5.2M pts/s</a:t>
            </a:r>
            <a:endParaRPr lang="en-US" sz="960" dirty="0"/>
          </a:p>
        </p:txBody>
      </p:sp>
      <p:sp>
        <p:nvSpPr>
          <p:cNvPr id="18" name="Shape 15"/>
          <p:cNvSpPr/>
          <p:nvPr/>
        </p:nvSpPr>
        <p:spPr>
          <a:xfrm>
            <a:off x="3822192" y="1945843"/>
            <a:ext cx="1184148" cy="479146"/>
          </a:xfrm>
          <a:prstGeom prst="rect">
            <a:avLst/>
          </a:prstGeom>
          <a:solidFill>
            <a:srgbClr val="F5F7FA"/>
          </a:solidFill>
          <a:ln w="12700">
            <a:solidFill>
              <a:srgbClr val="D5DCE3"/>
            </a:solidFill>
            <a:prstDash val="solid"/>
          </a:ln>
        </p:spPr>
      </p:sp>
      <p:sp>
        <p:nvSpPr>
          <p:cNvPr id="19" name="Text 16"/>
          <p:cNvSpPr/>
          <p:nvPr/>
        </p:nvSpPr>
        <p:spPr>
          <a:xfrm>
            <a:off x="3849624" y="1964131"/>
            <a:ext cx="1129284" cy="442570"/>
          </a:xfrm>
          <a:prstGeom prst="rect">
            <a:avLst/>
          </a:prstGeom>
          <a:noFill/>
          <a:ln/>
        </p:spPr>
        <p:txBody>
          <a:bodyPr wrap="square" lIns="0" tIns="0" rIns="0" bIns="0" rtlCol="0" anchor="ctr">
            <a:normAutofit/>
          </a:bodyPr>
          <a:lstStyle/>
          <a:p>
            <a:pPr marL="0" indent="0" algn="l">
              <a:buNone/>
            </a:pPr>
            <a:r>
              <a:rPr lang="en-US" sz="960" dirty="0">
                <a:solidFill>
                  <a:srgbClr val="20242A"/>
                </a:solidFill>
                <a:latin typeface="Yu Gothic" pitchFamily="34" charset="0"/>
                <a:ea typeface="Yu Gothic" pitchFamily="34" charset="-122"/>
                <a:cs typeface="Yu Gothic" pitchFamily="34" charset="-120"/>
              </a:rPr>
              <a:t>Hesai QT64</a:t>
            </a:r>
            <a:endParaRPr lang="en-US" sz="960" dirty="0"/>
          </a:p>
        </p:txBody>
      </p:sp>
      <p:sp>
        <p:nvSpPr>
          <p:cNvPr id="20" name="Shape 17"/>
          <p:cNvSpPr/>
          <p:nvPr/>
        </p:nvSpPr>
        <p:spPr>
          <a:xfrm>
            <a:off x="5006340" y="1945843"/>
            <a:ext cx="1468344" cy="479146"/>
          </a:xfrm>
          <a:prstGeom prst="rect">
            <a:avLst/>
          </a:prstGeom>
          <a:solidFill>
            <a:srgbClr val="F5F7FA"/>
          </a:solidFill>
          <a:ln w="12700">
            <a:solidFill>
              <a:srgbClr val="D5DCE3"/>
            </a:solidFill>
            <a:prstDash val="solid"/>
          </a:ln>
        </p:spPr>
      </p:sp>
      <p:sp>
        <p:nvSpPr>
          <p:cNvPr id="21" name="Text 18"/>
          <p:cNvSpPr/>
          <p:nvPr/>
        </p:nvSpPr>
        <p:spPr>
          <a:xfrm>
            <a:off x="5033772" y="1964131"/>
            <a:ext cx="1413480"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spinning / first, last</a:t>
            </a:r>
            <a:endParaRPr lang="en-US" sz="960" dirty="0"/>
          </a:p>
        </p:txBody>
      </p:sp>
      <p:sp>
        <p:nvSpPr>
          <p:cNvPr id="22" name="Shape 19"/>
          <p:cNvSpPr/>
          <p:nvPr/>
        </p:nvSpPr>
        <p:spPr>
          <a:xfrm>
            <a:off x="6474684" y="1945843"/>
            <a:ext cx="2084100" cy="479146"/>
          </a:xfrm>
          <a:prstGeom prst="rect">
            <a:avLst/>
          </a:prstGeom>
          <a:solidFill>
            <a:srgbClr val="F5F7FA"/>
          </a:solidFill>
          <a:ln w="12700">
            <a:solidFill>
              <a:srgbClr val="D5DCE3"/>
            </a:solidFill>
            <a:prstDash val="solid"/>
          </a:ln>
        </p:spPr>
      </p:sp>
      <p:sp>
        <p:nvSpPr>
          <p:cNvPr id="23" name="Text 20"/>
          <p:cNvSpPr/>
          <p:nvPr/>
        </p:nvSpPr>
        <p:spPr>
          <a:xfrm>
            <a:off x="6502116" y="1964131"/>
            <a:ext cx="2029236"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64 ch, 104.2° V-FoV</a:t>
            </a:r>
            <a:endParaRPr lang="en-US" sz="960" dirty="0"/>
          </a:p>
        </p:txBody>
      </p:sp>
      <p:sp>
        <p:nvSpPr>
          <p:cNvPr id="24" name="Shape 21"/>
          <p:cNvSpPr/>
          <p:nvPr/>
        </p:nvSpPr>
        <p:spPr>
          <a:xfrm>
            <a:off x="3822192" y="2424989"/>
            <a:ext cx="1184148" cy="479146"/>
          </a:xfrm>
          <a:prstGeom prst="rect">
            <a:avLst/>
          </a:prstGeom>
          <a:solidFill>
            <a:srgbClr val="FFFFFF"/>
          </a:solidFill>
          <a:ln w="12700">
            <a:solidFill>
              <a:srgbClr val="D5DCE3"/>
            </a:solidFill>
            <a:prstDash val="solid"/>
          </a:ln>
        </p:spPr>
      </p:sp>
      <p:sp>
        <p:nvSpPr>
          <p:cNvPr id="25" name="Text 22"/>
          <p:cNvSpPr/>
          <p:nvPr/>
        </p:nvSpPr>
        <p:spPr>
          <a:xfrm>
            <a:off x="3849624" y="2443277"/>
            <a:ext cx="1129284" cy="442570"/>
          </a:xfrm>
          <a:prstGeom prst="rect">
            <a:avLst/>
          </a:prstGeom>
          <a:noFill/>
          <a:ln/>
        </p:spPr>
        <p:txBody>
          <a:bodyPr wrap="square" lIns="0" tIns="0" rIns="0" bIns="0" rtlCol="0" anchor="ctr">
            <a:normAutofit/>
          </a:bodyPr>
          <a:lstStyle/>
          <a:p>
            <a:pPr marL="0" indent="0" algn="l">
              <a:buNone/>
            </a:pPr>
            <a:r>
              <a:rPr lang="en-US" sz="960" dirty="0">
                <a:solidFill>
                  <a:srgbClr val="20242A"/>
                </a:solidFill>
                <a:latin typeface="Yu Gothic" pitchFamily="34" charset="0"/>
                <a:ea typeface="Yu Gothic" pitchFamily="34" charset="-122"/>
                <a:cs typeface="Yu Gothic" pitchFamily="34" charset="-120"/>
              </a:rPr>
              <a:t>Livox Avia</a:t>
            </a:r>
            <a:endParaRPr lang="en-US" sz="960" dirty="0"/>
          </a:p>
        </p:txBody>
      </p:sp>
      <p:sp>
        <p:nvSpPr>
          <p:cNvPr id="26" name="Shape 23"/>
          <p:cNvSpPr/>
          <p:nvPr/>
        </p:nvSpPr>
        <p:spPr>
          <a:xfrm>
            <a:off x="5006340" y="2424989"/>
            <a:ext cx="1468344" cy="479146"/>
          </a:xfrm>
          <a:prstGeom prst="rect">
            <a:avLst/>
          </a:prstGeom>
          <a:solidFill>
            <a:srgbClr val="FFFFFF"/>
          </a:solidFill>
          <a:ln w="12700">
            <a:solidFill>
              <a:srgbClr val="D5DCE3"/>
            </a:solidFill>
            <a:prstDash val="solid"/>
          </a:ln>
        </p:spPr>
      </p:sp>
      <p:sp>
        <p:nvSpPr>
          <p:cNvPr id="27" name="Text 24"/>
          <p:cNvSpPr/>
          <p:nvPr/>
        </p:nvSpPr>
        <p:spPr>
          <a:xfrm>
            <a:off x="5033772" y="2443277"/>
            <a:ext cx="1413480"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solid-state / 1st–3rd</a:t>
            </a:r>
            <a:endParaRPr lang="en-US" sz="960" dirty="0"/>
          </a:p>
        </p:txBody>
      </p:sp>
      <p:sp>
        <p:nvSpPr>
          <p:cNvPr id="28" name="Shape 25"/>
          <p:cNvSpPr/>
          <p:nvPr/>
        </p:nvSpPr>
        <p:spPr>
          <a:xfrm>
            <a:off x="6474684" y="2424989"/>
            <a:ext cx="2084100" cy="479146"/>
          </a:xfrm>
          <a:prstGeom prst="rect">
            <a:avLst/>
          </a:prstGeom>
          <a:solidFill>
            <a:srgbClr val="FFFFFF"/>
          </a:solidFill>
          <a:ln w="12700">
            <a:solidFill>
              <a:srgbClr val="D5DCE3"/>
            </a:solidFill>
            <a:prstDash val="solid"/>
          </a:ln>
        </p:spPr>
      </p:sp>
      <p:sp>
        <p:nvSpPr>
          <p:cNvPr id="29" name="Text 26"/>
          <p:cNvSpPr/>
          <p:nvPr/>
        </p:nvSpPr>
        <p:spPr>
          <a:xfrm>
            <a:off x="6502116" y="2443277"/>
            <a:ext cx="2029236"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&gt;70° FoV, ≤240k pts/s</a:t>
            </a:r>
            <a:endParaRPr lang="en-US" sz="960" dirty="0"/>
          </a:p>
        </p:txBody>
      </p:sp>
      <p:sp>
        <p:nvSpPr>
          <p:cNvPr id="30" name="Shape 27"/>
          <p:cNvSpPr/>
          <p:nvPr/>
        </p:nvSpPr>
        <p:spPr>
          <a:xfrm>
            <a:off x="3822192" y="2904134"/>
            <a:ext cx="1184148" cy="479146"/>
          </a:xfrm>
          <a:prstGeom prst="rect">
            <a:avLst/>
          </a:prstGeom>
          <a:solidFill>
            <a:srgbClr val="F5F7FA"/>
          </a:solidFill>
          <a:ln w="12700">
            <a:solidFill>
              <a:srgbClr val="D5DCE3"/>
            </a:solidFill>
            <a:prstDash val="solid"/>
          </a:ln>
        </p:spPr>
      </p:sp>
      <p:sp>
        <p:nvSpPr>
          <p:cNvPr id="31" name="Text 28"/>
          <p:cNvSpPr/>
          <p:nvPr/>
        </p:nvSpPr>
        <p:spPr>
          <a:xfrm>
            <a:off x="3849624" y="2922422"/>
            <a:ext cx="1129284" cy="442570"/>
          </a:xfrm>
          <a:prstGeom prst="rect">
            <a:avLst/>
          </a:prstGeom>
          <a:noFill/>
          <a:ln/>
        </p:spPr>
        <p:txBody>
          <a:bodyPr wrap="square" lIns="0" tIns="0" rIns="0" bIns="0" rtlCol="0" anchor="ctr">
            <a:normAutofit/>
          </a:bodyPr>
          <a:lstStyle/>
          <a:p>
            <a:pPr marL="0" indent="0" algn="l">
              <a:buNone/>
            </a:pPr>
            <a:r>
              <a:rPr lang="en-US" sz="960" dirty="0">
                <a:solidFill>
                  <a:srgbClr val="20242A"/>
                </a:solidFill>
                <a:latin typeface="Yu Gothic" pitchFamily="34" charset="0"/>
                <a:ea typeface="Yu Gothic" pitchFamily="34" charset="-122"/>
                <a:cs typeface="Yu Gothic" pitchFamily="34" charset="-120"/>
              </a:rPr>
              <a:t>Insta360</a:t>
            </a:r>
            <a:endParaRPr lang="en-US" sz="960" dirty="0"/>
          </a:p>
        </p:txBody>
      </p:sp>
      <p:sp>
        <p:nvSpPr>
          <p:cNvPr id="32" name="Shape 29"/>
          <p:cNvSpPr/>
          <p:nvPr/>
        </p:nvSpPr>
        <p:spPr>
          <a:xfrm>
            <a:off x="5006340" y="2904134"/>
            <a:ext cx="1468344" cy="479146"/>
          </a:xfrm>
          <a:prstGeom prst="rect">
            <a:avLst/>
          </a:prstGeom>
          <a:solidFill>
            <a:srgbClr val="F5F7FA"/>
          </a:solidFill>
          <a:ln w="12700">
            <a:solidFill>
              <a:srgbClr val="D5DCE3"/>
            </a:solidFill>
            <a:prstDash val="solid"/>
          </a:ln>
        </p:spPr>
      </p:sp>
      <p:sp>
        <p:nvSpPr>
          <p:cNvPr id="33" name="Text 30"/>
          <p:cNvSpPr/>
          <p:nvPr/>
        </p:nvSpPr>
        <p:spPr>
          <a:xfrm>
            <a:off x="5033772" y="2922422"/>
            <a:ext cx="1413480"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dual fisheye RGB</a:t>
            </a:r>
            <a:endParaRPr lang="en-US" sz="960" dirty="0"/>
          </a:p>
        </p:txBody>
      </p:sp>
      <p:sp>
        <p:nvSpPr>
          <p:cNvPr id="34" name="Shape 31"/>
          <p:cNvSpPr/>
          <p:nvPr/>
        </p:nvSpPr>
        <p:spPr>
          <a:xfrm>
            <a:off x="6474684" y="2904134"/>
            <a:ext cx="2084100" cy="479146"/>
          </a:xfrm>
          <a:prstGeom prst="rect">
            <a:avLst/>
          </a:prstGeom>
          <a:solidFill>
            <a:srgbClr val="F5F7FA"/>
          </a:solidFill>
          <a:ln w="12700">
            <a:solidFill>
              <a:srgbClr val="D5DCE3"/>
            </a:solidFill>
            <a:prstDash val="solid"/>
          </a:ln>
        </p:spPr>
      </p:sp>
      <p:sp>
        <p:nvSpPr>
          <p:cNvPr id="35" name="Text 32"/>
          <p:cNvSpPr/>
          <p:nvPr/>
        </p:nvSpPr>
        <p:spPr>
          <a:xfrm>
            <a:off x="6502116" y="2922422"/>
            <a:ext cx="2029236" cy="442570"/>
          </a:xfrm>
          <a:prstGeom prst="rect">
            <a:avLst/>
          </a:prstGeom>
          <a:noFill/>
          <a:ln/>
        </p:spPr>
        <p:txBody>
          <a:bodyPr wrap="square" lIns="0" tIns="0" rIns="0" bIns="0" rtlCol="0" anchor="ctr">
            <a:normAutofit/>
          </a:bodyPr>
          <a:lstStyle/>
          <a:p>
            <a:pPr marL="0" indent="0" algn="ctr">
              <a:buNone/>
            </a:pPr>
            <a:r>
              <a:rPr lang="en-US" sz="960" dirty="0">
                <a:solidFill>
                  <a:srgbClr val="20242A"/>
                </a:solidFill>
                <a:latin typeface="Yu Gothic" pitchFamily="34" charset="0"/>
                <a:ea typeface="Yu Gothic" pitchFamily="34" charset="-122"/>
                <a:cs typeface="Yu Gothic" pitchFamily="34" charset="-120"/>
              </a:rPr>
              <a:t>6K, raw 3072×3072 / side</a:t>
            </a:r>
            <a:endParaRPr lang="en-US" sz="960" dirty="0"/>
          </a:p>
        </p:txBody>
      </p:sp>
      <p:sp>
        <p:nvSpPr>
          <p:cNvPr id="36" name="Shape 33"/>
          <p:cNvSpPr/>
          <p:nvPr/>
        </p:nvSpPr>
        <p:spPr>
          <a:xfrm>
            <a:off x="3822192" y="3575304"/>
            <a:ext cx="4736592" cy="694944"/>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37" name="Shape 34"/>
          <p:cNvSpPr/>
          <p:nvPr/>
        </p:nvSpPr>
        <p:spPr>
          <a:xfrm>
            <a:off x="3822192" y="3575304"/>
            <a:ext cx="50292" cy="694944"/>
          </a:xfrm>
          <a:prstGeom prst="rect">
            <a:avLst/>
          </a:prstGeom>
          <a:solidFill>
            <a:srgbClr val="2A9D8F"/>
          </a:solidFill>
          <a:ln w="12700">
            <a:solidFill>
              <a:srgbClr val="2A9D8F"/>
            </a:solidFill>
            <a:prstDash val="solid"/>
          </a:ln>
        </p:spPr>
      </p:sp>
      <p:sp>
        <p:nvSpPr>
          <p:cNvPr id="38" name="Text 35"/>
          <p:cNvSpPr/>
          <p:nvPr/>
        </p:nvSpPr>
        <p:spPr>
          <a:xfrm>
            <a:off x="3986784" y="3648456"/>
            <a:ext cx="4462272" cy="237744"/>
          </a:xfrm>
          <a:prstGeom prst="rect">
            <a:avLst/>
          </a:prstGeom>
          <a:noFill/>
          <a:ln/>
        </p:spPr>
        <p:txBody>
          <a:bodyPr wrap="square" lIns="0" tIns="0" rIns="0" bIns="0" rtlCol="0" anchor="t">
            <a:normAutofit/>
          </a:bodyPr>
          <a:lstStyle/>
          <a:p>
            <a:pPr marL="0" indent="0">
              <a:buNone/>
            </a:pPr>
            <a:r>
              <a:rPr lang="en-US" sz="1350" b="1" dirty="0">
                <a:solidFill>
                  <a:srgbClr val="17365D"/>
                </a:solidFill>
                <a:latin typeface="Yu Gothic" pitchFamily="34" charset="0"/>
                <a:ea typeface="Yu Gothic" pitchFamily="34" charset="-122"/>
                <a:cs typeface="Yu Gothic" pitchFamily="34" charset="-120"/>
              </a:rPr>
              <a:t>同期</a:t>
            </a:r>
            <a:endParaRPr lang="en-US" sz="1350" dirty="0"/>
          </a:p>
        </p:txBody>
      </p:sp>
      <p:sp>
        <p:nvSpPr>
          <p:cNvPr id="39" name="Text 36"/>
          <p:cNvSpPr/>
          <p:nvPr/>
        </p:nvSpPr>
        <p:spPr>
          <a:xfrm>
            <a:off x="3986784" y="3931920"/>
            <a:ext cx="4462272" cy="246888"/>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PTP hardware synchronization：センサ間時刻差を1 ms以内に制御</a:t>
            </a:r>
            <a:endParaRPr lang="en-US" sz="1250" dirty="0"/>
          </a:p>
        </p:txBody>
      </p:sp>
      <p:sp>
        <p:nvSpPr>
          <p:cNvPr id="40" name="Text 37"/>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Fig. 2; Table 2; Sec. 3.1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factory calibration＋FARO整合＋MA-LIOで時空間整列を成立させる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Calibration</a:t>
            </a:r>
            <a:endParaRPr lang="en-US" sz="950" dirty="0"/>
          </a:p>
        </p:txBody>
      </p:sp>
      <p:sp>
        <p:nvSpPr>
          <p:cNvPr id="5" name="Shape 3"/>
          <p:cNvSpPr/>
          <p:nvPr/>
        </p:nvSpPr>
        <p:spPr>
          <a:xfrm>
            <a:off x="566928" y="1115568"/>
            <a:ext cx="1417320" cy="1975104"/>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566928" y="1115568"/>
            <a:ext cx="50292" cy="1975104"/>
          </a:xfrm>
          <a:prstGeom prst="rect">
            <a:avLst/>
          </a:prstGeom>
          <a:solidFill>
            <a:srgbClr val="2E75B6"/>
          </a:solidFill>
          <a:ln w="12700">
            <a:solidFill>
              <a:srgbClr val="2E75B6"/>
            </a:solidFill>
            <a:prstDash val="solid"/>
          </a:ln>
        </p:spPr>
      </p:sp>
      <p:sp>
        <p:nvSpPr>
          <p:cNvPr id="7" name="Text 5"/>
          <p:cNvSpPr/>
          <p:nvPr/>
        </p:nvSpPr>
        <p:spPr>
          <a:xfrm>
            <a:off x="731520" y="1188720"/>
            <a:ext cx="1143000" cy="411480"/>
          </a:xfrm>
          <a:prstGeom prst="rect">
            <a:avLst/>
          </a:prstGeom>
          <a:noFill/>
          <a:ln/>
        </p:spPr>
        <p:txBody>
          <a:bodyPr wrap="square" lIns="0" tIns="0" rIns="0" bIns="0" rtlCol="0" anchor="t">
            <a:normAutofit/>
          </a:bodyPr>
          <a:lstStyle/>
          <a:p>
            <a:pPr marL="0" indent="0">
              <a:buNone/>
            </a:pPr>
            <a:r>
              <a:rPr lang="en-US" sz="1240" b="1" dirty="0">
                <a:solidFill>
                  <a:srgbClr val="17365D"/>
                </a:solidFill>
                <a:latin typeface="Yu Gothic" pitchFamily="34" charset="0"/>
                <a:ea typeface="Yu Gothic" pitchFamily="34" charset="-122"/>
                <a:cs typeface="Yu Gothic" pitchFamily="34" charset="-120"/>
              </a:rPr>
              <a:t>① Factory calibration</a:t>
            </a:r>
            <a:endParaRPr lang="en-US" sz="1240" dirty="0"/>
          </a:p>
        </p:txBody>
      </p:sp>
      <p:sp>
        <p:nvSpPr>
          <p:cNvPr id="8" name="Text 6"/>
          <p:cNvSpPr/>
          <p:nvPr/>
        </p:nvSpPr>
        <p:spPr>
          <a:xfrm>
            <a:off x="731520" y="1645920"/>
            <a:ext cx="1143000" cy="1353312"/>
          </a:xfrm>
          <a:prstGeom prst="rect">
            <a:avLst/>
          </a:prstGeom>
          <a:noFill/>
          <a:ln/>
        </p:spPr>
        <p:txBody>
          <a:bodyPr wrap="square" lIns="12700" tIns="0" rIns="0" bIns="25400" rtlCol="0" anchor="t">
            <a:normAutofit/>
          </a:bodyPr>
          <a:lstStyle/>
          <a:p>
            <a:pPr marL="0" indent="0">
              <a:buNone/>
            </a:pPr>
            <a:r>
              <a:rPr lang="en-US" sz="1150" dirty="0">
                <a:solidFill>
                  <a:srgbClr val="4D5966"/>
                </a:solidFill>
                <a:latin typeface="Yu Gothic" pitchFamily="34" charset="0"/>
                <a:ea typeface="Yu Gothic" pitchFamily="34" charset="-122"/>
                <a:cs typeface="Yu Gothic" pitchFamily="34" charset="-120"/>
              </a:rPr>
              <a:t>Ouster・camera・IMUの内部／外部校正</a:t>
            </a:r>
            <a:endParaRPr lang="en-US" sz="1150" dirty="0"/>
          </a:p>
        </p:txBody>
      </p:sp>
      <p:sp>
        <p:nvSpPr>
          <p:cNvPr id="9" name="Shape 7"/>
          <p:cNvSpPr/>
          <p:nvPr/>
        </p:nvSpPr>
        <p:spPr>
          <a:xfrm>
            <a:off x="2002536" y="2084832"/>
            <a:ext cx="164592" cy="0"/>
          </a:xfrm>
          <a:prstGeom prst="line">
            <a:avLst/>
          </a:prstGeom>
          <a:noFill/>
          <a:ln w="12700">
            <a:solidFill>
              <a:srgbClr val="6F7B86"/>
            </a:solidFill>
            <a:prstDash val="solid"/>
            <a:headEnd type="none"/>
            <a:tailEnd type="triangle"/>
          </a:ln>
        </p:spPr>
      </p:sp>
      <p:sp>
        <p:nvSpPr>
          <p:cNvPr id="10" name="Shape 8"/>
          <p:cNvSpPr/>
          <p:nvPr/>
        </p:nvSpPr>
        <p:spPr>
          <a:xfrm>
            <a:off x="2194560" y="1115568"/>
            <a:ext cx="1417320" cy="1975104"/>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1" name="Shape 9"/>
          <p:cNvSpPr/>
          <p:nvPr/>
        </p:nvSpPr>
        <p:spPr>
          <a:xfrm>
            <a:off x="2194560" y="1115568"/>
            <a:ext cx="50292" cy="1975104"/>
          </a:xfrm>
          <a:prstGeom prst="rect">
            <a:avLst/>
          </a:prstGeom>
          <a:solidFill>
            <a:srgbClr val="2A9D8F"/>
          </a:solidFill>
          <a:ln w="12700">
            <a:solidFill>
              <a:srgbClr val="2A9D8F"/>
            </a:solidFill>
            <a:prstDash val="solid"/>
          </a:ln>
        </p:spPr>
      </p:sp>
      <p:sp>
        <p:nvSpPr>
          <p:cNvPr id="12" name="Text 10"/>
          <p:cNvSpPr/>
          <p:nvPr/>
        </p:nvSpPr>
        <p:spPr>
          <a:xfrm>
            <a:off x="2359152" y="1188720"/>
            <a:ext cx="1143000" cy="411480"/>
          </a:xfrm>
          <a:prstGeom prst="rect">
            <a:avLst/>
          </a:prstGeom>
          <a:noFill/>
          <a:ln/>
        </p:spPr>
        <p:txBody>
          <a:bodyPr wrap="square" lIns="0" tIns="0" rIns="0" bIns="0" rtlCol="0" anchor="t">
            <a:normAutofit/>
          </a:bodyPr>
          <a:lstStyle/>
          <a:p>
            <a:pPr marL="0" indent="0">
              <a:buNone/>
            </a:pPr>
            <a:r>
              <a:rPr lang="en-US" sz="1240" b="1" dirty="0">
                <a:solidFill>
                  <a:srgbClr val="17365D"/>
                </a:solidFill>
                <a:latin typeface="Yu Gothic" pitchFamily="34" charset="0"/>
                <a:ea typeface="Yu Gothic" pitchFamily="34" charset="-122"/>
                <a:cs typeface="Yu Gothic" pitchFamily="34" charset="-120"/>
              </a:rPr>
              <a:t>② Initial extrinsic</a:t>
            </a:r>
            <a:endParaRPr lang="en-US" sz="1240" dirty="0"/>
          </a:p>
        </p:txBody>
      </p:sp>
      <p:sp>
        <p:nvSpPr>
          <p:cNvPr id="13" name="Text 11"/>
          <p:cNvSpPr/>
          <p:nvPr/>
        </p:nvSpPr>
        <p:spPr>
          <a:xfrm>
            <a:off x="2359152" y="1645920"/>
            <a:ext cx="1143000" cy="1353312"/>
          </a:xfrm>
          <a:prstGeom prst="rect">
            <a:avLst/>
          </a:prstGeom>
          <a:noFill/>
          <a:ln/>
        </p:spPr>
        <p:txBody>
          <a:bodyPr wrap="square" lIns="12700" tIns="0" rIns="0" bIns="25400" rtlCol="0" anchor="t">
            <a:normAutofit/>
          </a:bodyPr>
          <a:lstStyle/>
          <a:p>
            <a:pPr marL="0" indent="0">
              <a:buNone/>
            </a:pPr>
            <a:r>
              <a:rPr lang="en-US" sz="1150" dirty="0">
                <a:solidFill>
                  <a:srgbClr val="4D5966"/>
                </a:solidFill>
                <a:latin typeface="Yu Gothic" pitchFamily="34" charset="0"/>
                <a:ea typeface="Yu Gothic" pitchFamily="34" charset="-122"/>
                <a:cs typeface="Yu Gothic" pitchFamily="34" charset="-120"/>
              </a:rPr>
              <a:t>3 LiDARをFARO ground-truth fieldへregistration</a:t>
            </a:r>
            <a:endParaRPr lang="en-US" sz="1150" dirty="0"/>
          </a:p>
        </p:txBody>
      </p:sp>
      <p:sp>
        <p:nvSpPr>
          <p:cNvPr id="14" name="Shape 12"/>
          <p:cNvSpPr/>
          <p:nvPr/>
        </p:nvSpPr>
        <p:spPr>
          <a:xfrm>
            <a:off x="3630168" y="2084832"/>
            <a:ext cx="164592" cy="0"/>
          </a:xfrm>
          <a:prstGeom prst="line">
            <a:avLst/>
          </a:prstGeom>
          <a:noFill/>
          <a:ln w="12700">
            <a:solidFill>
              <a:srgbClr val="6F7B86"/>
            </a:solidFill>
            <a:prstDash val="solid"/>
            <a:headEnd type="none"/>
            <a:tailEnd type="triangle"/>
          </a:ln>
        </p:spPr>
      </p:sp>
      <p:sp>
        <p:nvSpPr>
          <p:cNvPr id="15" name="Shape 13"/>
          <p:cNvSpPr/>
          <p:nvPr/>
        </p:nvSpPr>
        <p:spPr>
          <a:xfrm>
            <a:off x="3822192" y="1115568"/>
            <a:ext cx="1417320" cy="1975104"/>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6" name="Shape 14"/>
          <p:cNvSpPr/>
          <p:nvPr/>
        </p:nvSpPr>
        <p:spPr>
          <a:xfrm>
            <a:off x="3822192" y="1115568"/>
            <a:ext cx="50292" cy="1975104"/>
          </a:xfrm>
          <a:prstGeom prst="rect">
            <a:avLst/>
          </a:prstGeom>
          <a:solidFill>
            <a:srgbClr val="8064A2"/>
          </a:solidFill>
          <a:ln w="12700">
            <a:solidFill>
              <a:srgbClr val="8064A2"/>
            </a:solidFill>
            <a:prstDash val="solid"/>
          </a:ln>
        </p:spPr>
      </p:sp>
      <p:sp>
        <p:nvSpPr>
          <p:cNvPr id="17" name="Text 15"/>
          <p:cNvSpPr/>
          <p:nvPr/>
        </p:nvSpPr>
        <p:spPr>
          <a:xfrm>
            <a:off x="3986784" y="1188720"/>
            <a:ext cx="1143000" cy="411480"/>
          </a:xfrm>
          <a:prstGeom prst="rect">
            <a:avLst/>
          </a:prstGeom>
          <a:noFill/>
          <a:ln/>
        </p:spPr>
        <p:txBody>
          <a:bodyPr wrap="square" lIns="0" tIns="0" rIns="0" bIns="0" rtlCol="0" anchor="t">
            <a:normAutofit/>
          </a:bodyPr>
          <a:lstStyle/>
          <a:p>
            <a:pPr marL="0" indent="0">
              <a:buNone/>
            </a:pPr>
            <a:r>
              <a:rPr lang="en-US" sz="1240" b="1" dirty="0">
                <a:solidFill>
                  <a:srgbClr val="17365D"/>
                </a:solidFill>
                <a:latin typeface="Yu Gothic" pitchFamily="34" charset="0"/>
                <a:ea typeface="Yu Gothic" pitchFamily="34" charset="-122"/>
                <a:cs typeface="Yu Gothic" pitchFamily="34" charset="-120"/>
              </a:rPr>
              <a:t>③ PTP sync</a:t>
            </a:r>
            <a:endParaRPr lang="en-US" sz="1240" dirty="0"/>
          </a:p>
        </p:txBody>
      </p:sp>
      <p:sp>
        <p:nvSpPr>
          <p:cNvPr id="18" name="Text 16"/>
          <p:cNvSpPr/>
          <p:nvPr/>
        </p:nvSpPr>
        <p:spPr>
          <a:xfrm>
            <a:off x="3986784" y="1645920"/>
            <a:ext cx="1143000" cy="1353312"/>
          </a:xfrm>
          <a:prstGeom prst="rect">
            <a:avLst/>
          </a:prstGeom>
          <a:noFill/>
          <a:ln/>
        </p:spPr>
        <p:txBody>
          <a:bodyPr wrap="square" lIns="12700" tIns="0" rIns="0" bIns="25400" rtlCol="0" anchor="t">
            <a:normAutofit/>
          </a:bodyPr>
          <a:lstStyle/>
          <a:p>
            <a:pPr marL="0" indent="0">
              <a:buNone/>
            </a:pPr>
            <a:r>
              <a:rPr lang="en-US" sz="1150" dirty="0">
                <a:solidFill>
                  <a:srgbClr val="4D5966"/>
                </a:solidFill>
                <a:latin typeface="Yu Gothic" pitchFamily="34" charset="0"/>
                <a:ea typeface="Yu Gothic" pitchFamily="34" charset="-122"/>
                <a:cs typeface="Yu Gothic" pitchFamily="34" charset="-120"/>
              </a:rPr>
              <a:t>hardware時刻同期（≤1 ms）</a:t>
            </a:r>
            <a:endParaRPr lang="en-US" sz="1150" dirty="0"/>
          </a:p>
        </p:txBody>
      </p:sp>
      <p:sp>
        <p:nvSpPr>
          <p:cNvPr id="19" name="Shape 17"/>
          <p:cNvSpPr/>
          <p:nvPr/>
        </p:nvSpPr>
        <p:spPr>
          <a:xfrm>
            <a:off x="5257800" y="2084832"/>
            <a:ext cx="164592" cy="0"/>
          </a:xfrm>
          <a:prstGeom prst="line">
            <a:avLst/>
          </a:prstGeom>
          <a:noFill/>
          <a:ln w="12700">
            <a:solidFill>
              <a:srgbClr val="6F7B86"/>
            </a:solidFill>
            <a:prstDash val="solid"/>
            <a:headEnd type="none"/>
            <a:tailEnd type="triangle"/>
          </a:ln>
        </p:spPr>
      </p:sp>
      <p:sp>
        <p:nvSpPr>
          <p:cNvPr id="20" name="Shape 18"/>
          <p:cNvSpPr/>
          <p:nvPr/>
        </p:nvSpPr>
        <p:spPr>
          <a:xfrm>
            <a:off x="5449824" y="1115568"/>
            <a:ext cx="1417320" cy="1975104"/>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1" name="Shape 19"/>
          <p:cNvSpPr/>
          <p:nvPr/>
        </p:nvSpPr>
        <p:spPr>
          <a:xfrm>
            <a:off x="5449824" y="1115568"/>
            <a:ext cx="50292" cy="1975104"/>
          </a:xfrm>
          <a:prstGeom prst="rect">
            <a:avLst/>
          </a:prstGeom>
          <a:solidFill>
            <a:srgbClr val="ED7D31"/>
          </a:solidFill>
          <a:ln w="12700">
            <a:solidFill>
              <a:srgbClr val="ED7D31"/>
            </a:solidFill>
            <a:prstDash val="solid"/>
          </a:ln>
        </p:spPr>
      </p:sp>
      <p:sp>
        <p:nvSpPr>
          <p:cNvPr id="22" name="Text 20"/>
          <p:cNvSpPr/>
          <p:nvPr/>
        </p:nvSpPr>
        <p:spPr>
          <a:xfrm>
            <a:off x="5614416" y="1188720"/>
            <a:ext cx="1143000" cy="411480"/>
          </a:xfrm>
          <a:prstGeom prst="rect">
            <a:avLst/>
          </a:prstGeom>
          <a:noFill/>
          <a:ln/>
        </p:spPr>
        <p:txBody>
          <a:bodyPr wrap="square" lIns="0" tIns="0" rIns="0" bIns="0" rtlCol="0" anchor="t">
            <a:normAutofit/>
          </a:bodyPr>
          <a:lstStyle/>
          <a:p>
            <a:pPr marL="0" indent="0">
              <a:buNone/>
            </a:pPr>
            <a:r>
              <a:rPr lang="en-US" sz="1240" b="1" dirty="0">
                <a:solidFill>
                  <a:srgbClr val="17365D"/>
                </a:solidFill>
                <a:latin typeface="Yu Gothic" pitchFamily="34" charset="0"/>
                <a:ea typeface="Yu Gothic" pitchFamily="34" charset="-122"/>
                <a:cs typeface="Yu Gothic" pitchFamily="34" charset="-120"/>
              </a:rPr>
              <a:t>④ MA-LIO</a:t>
            </a:r>
            <a:endParaRPr lang="en-US" sz="1240" dirty="0"/>
          </a:p>
        </p:txBody>
      </p:sp>
      <p:sp>
        <p:nvSpPr>
          <p:cNvPr id="23" name="Text 21"/>
          <p:cNvSpPr/>
          <p:nvPr/>
        </p:nvSpPr>
        <p:spPr>
          <a:xfrm>
            <a:off x="5614416" y="1645920"/>
            <a:ext cx="1143000" cy="1353312"/>
          </a:xfrm>
          <a:prstGeom prst="rect">
            <a:avLst/>
          </a:prstGeom>
          <a:noFill/>
          <a:ln/>
        </p:spPr>
        <p:txBody>
          <a:bodyPr wrap="square" lIns="12700" tIns="0" rIns="0" bIns="25400" rtlCol="0" anchor="t">
            <a:normAutofit/>
          </a:bodyPr>
          <a:lstStyle/>
          <a:p>
            <a:pPr marL="0" indent="0">
              <a:buNone/>
            </a:pPr>
            <a:r>
              <a:rPr lang="en-US" sz="1150" dirty="0">
                <a:solidFill>
                  <a:srgbClr val="4D5966"/>
                </a:solidFill>
                <a:latin typeface="Yu Gothic" pitchFamily="34" charset="0"/>
                <a:ea typeface="Yu Gothic" pitchFamily="34" charset="-122"/>
                <a:cs typeface="Yu Gothic" pitchFamily="34" charset="-120"/>
              </a:rPr>
              <a:t>連続時間B-splineでmotion distortion補正</a:t>
            </a:r>
            <a:endParaRPr lang="en-US" sz="1150" dirty="0"/>
          </a:p>
        </p:txBody>
      </p:sp>
      <p:sp>
        <p:nvSpPr>
          <p:cNvPr id="24" name="Shape 22"/>
          <p:cNvSpPr/>
          <p:nvPr/>
        </p:nvSpPr>
        <p:spPr>
          <a:xfrm>
            <a:off x="6885432" y="2084832"/>
            <a:ext cx="164592" cy="0"/>
          </a:xfrm>
          <a:prstGeom prst="line">
            <a:avLst/>
          </a:prstGeom>
          <a:noFill/>
          <a:ln w="12700">
            <a:solidFill>
              <a:srgbClr val="6F7B86"/>
            </a:solidFill>
            <a:prstDash val="solid"/>
            <a:headEnd type="none"/>
            <a:tailEnd type="triangle"/>
          </a:ln>
        </p:spPr>
      </p:sp>
      <p:sp>
        <p:nvSpPr>
          <p:cNvPr id="25" name="Shape 23"/>
          <p:cNvSpPr/>
          <p:nvPr/>
        </p:nvSpPr>
        <p:spPr>
          <a:xfrm>
            <a:off x="7077456" y="1115568"/>
            <a:ext cx="1417320" cy="1975104"/>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6" name="Shape 24"/>
          <p:cNvSpPr/>
          <p:nvPr/>
        </p:nvSpPr>
        <p:spPr>
          <a:xfrm>
            <a:off x="7077456" y="1115568"/>
            <a:ext cx="50292" cy="1975104"/>
          </a:xfrm>
          <a:prstGeom prst="rect">
            <a:avLst/>
          </a:prstGeom>
          <a:solidFill>
            <a:srgbClr val="C94C4C"/>
          </a:solidFill>
          <a:ln w="12700">
            <a:solidFill>
              <a:srgbClr val="C94C4C"/>
            </a:solidFill>
            <a:prstDash val="solid"/>
          </a:ln>
        </p:spPr>
      </p:sp>
      <p:sp>
        <p:nvSpPr>
          <p:cNvPr id="27" name="Text 25"/>
          <p:cNvSpPr/>
          <p:nvPr/>
        </p:nvSpPr>
        <p:spPr>
          <a:xfrm>
            <a:off x="7242048" y="1188720"/>
            <a:ext cx="1143000" cy="411480"/>
          </a:xfrm>
          <a:prstGeom prst="rect">
            <a:avLst/>
          </a:prstGeom>
          <a:noFill/>
          <a:ln/>
        </p:spPr>
        <p:txBody>
          <a:bodyPr wrap="square" lIns="0" tIns="0" rIns="0" bIns="0" rtlCol="0" anchor="t">
            <a:normAutofit/>
          </a:bodyPr>
          <a:lstStyle/>
          <a:p>
            <a:pPr marL="0" indent="0">
              <a:buNone/>
            </a:pPr>
            <a:r>
              <a:rPr lang="en-US" sz="1240" b="1" dirty="0">
                <a:solidFill>
                  <a:srgbClr val="17365D"/>
                </a:solidFill>
                <a:latin typeface="Yu Gothic" pitchFamily="34" charset="0"/>
                <a:ea typeface="Yu Gothic" pitchFamily="34" charset="-122"/>
                <a:cs typeface="Yu Gothic" pitchFamily="34" charset="-120"/>
              </a:rPr>
              <a:t>⑤ Global alignment</a:t>
            </a:r>
            <a:endParaRPr lang="en-US" sz="1240" dirty="0"/>
          </a:p>
        </p:txBody>
      </p:sp>
      <p:sp>
        <p:nvSpPr>
          <p:cNvPr id="28" name="Text 26"/>
          <p:cNvSpPr/>
          <p:nvPr/>
        </p:nvSpPr>
        <p:spPr>
          <a:xfrm>
            <a:off x="7242048" y="1645920"/>
            <a:ext cx="1143000" cy="1353312"/>
          </a:xfrm>
          <a:prstGeom prst="rect">
            <a:avLst/>
          </a:prstGeom>
          <a:noFill/>
          <a:ln/>
        </p:spPr>
        <p:txBody>
          <a:bodyPr wrap="square" lIns="12700" tIns="0" rIns="0" bIns="25400" rtlCol="0" anchor="t">
            <a:normAutofit/>
          </a:bodyPr>
          <a:lstStyle/>
          <a:p>
            <a:pPr marL="0" indent="0">
              <a:buNone/>
            </a:pPr>
            <a:r>
              <a:rPr lang="en-US" sz="1150" dirty="0">
                <a:solidFill>
                  <a:srgbClr val="4D5966"/>
                </a:solidFill>
                <a:latin typeface="Yu Gothic" pitchFamily="34" charset="0"/>
                <a:ea typeface="Yu Gothic" pitchFamily="34" charset="-122"/>
                <a:cs typeface="Yu Gothic" pitchFamily="34" charset="-120"/>
              </a:rPr>
              <a:t>時変extrinsicと残留timestampをオンライン補正</a:t>
            </a:r>
            <a:endParaRPr lang="en-US" sz="1150" dirty="0"/>
          </a:p>
        </p:txBody>
      </p:sp>
      <p:sp>
        <p:nvSpPr>
          <p:cNvPr id="29" name="Shape 27"/>
          <p:cNvSpPr/>
          <p:nvPr/>
        </p:nvSpPr>
        <p:spPr>
          <a:xfrm>
            <a:off x="987552" y="3419856"/>
            <a:ext cx="7168896" cy="493776"/>
          </a:xfrm>
          <a:prstGeom prst="rect">
            <a:avLst/>
          </a:prstGeom>
          <a:solidFill>
            <a:srgbClr val="EAF2F8"/>
          </a:solidFill>
          <a:ln w="12700">
            <a:solidFill>
              <a:srgbClr val="2E75B6"/>
            </a:solidFill>
            <a:prstDash val="solid"/>
          </a:ln>
          <a:effectLst>
            <a:outerShdw blurRad="25400" dist="50800" dir="2700000" algn="bl" rotWithShape="0">
              <a:srgbClr val="000000">
                <a:alpha val="11000"/>
              </a:srgbClr>
            </a:outerShdw>
          </a:effectLst>
        </p:spPr>
      </p:sp>
      <p:sp>
        <p:nvSpPr>
          <p:cNvPr id="30" name="Text 28"/>
          <p:cNvSpPr/>
          <p:nvPr/>
        </p:nvSpPr>
        <p:spPr>
          <a:xfrm>
            <a:off x="1188720" y="3529584"/>
            <a:ext cx="6766560" cy="274320"/>
          </a:xfrm>
          <a:prstGeom prst="rect">
            <a:avLst/>
          </a:prstGeom>
          <a:noFill/>
          <a:ln/>
        </p:spPr>
        <p:txBody>
          <a:bodyPr wrap="square" lIns="0" tIns="0" rIns="0" bIns="0" rtlCol="0" anchor="ctr">
            <a:normAutofit/>
          </a:bodyPr>
          <a:lstStyle/>
          <a:p>
            <a:pPr marL="0" indent="0" algn="ctr">
              <a:buNone/>
            </a:pPr>
            <a:r>
              <a:rPr lang="en-US" sz="1700" b="1" dirty="0">
                <a:solidFill>
                  <a:srgbClr val="17365D"/>
                </a:solidFill>
                <a:latin typeface="Yu Gothic" pitchFamily="34" charset="0"/>
                <a:ea typeface="Yu Gothic" pitchFamily="34" charset="-122"/>
                <a:cs typeface="Yu Gothic" pitchFamily="34" charset="-120"/>
              </a:rPr>
              <a:t>出力：undistorted・global座標系に整列した3 LiDAR点群＋カメラ姿勢</a:t>
            </a:r>
            <a:endParaRPr lang="en-US" sz="1700" dirty="0"/>
          </a:p>
        </p:txBody>
      </p:sp>
      <p:sp>
        <p:nvSpPr>
          <p:cNvPr id="31" name="Shape 29"/>
          <p:cNvSpPr/>
          <p:nvPr/>
        </p:nvSpPr>
        <p:spPr>
          <a:xfrm>
            <a:off x="566928" y="4096512"/>
            <a:ext cx="8010144" cy="347472"/>
          </a:xfrm>
          <a:prstGeom prst="rect">
            <a:avLst/>
          </a:prstGeom>
          <a:solidFill>
            <a:srgbClr val="F8FAFB"/>
          </a:solidFill>
          <a:ln w="12700">
            <a:solidFill>
              <a:srgbClr val="ED7D31"/>
            </a:solidFill>
            <a:prstDash val="solid"/>
          </a:ln>
        </p:spPr>
      </p:sp>
      <p:sp>
        <p:nvSpPr>
          <p:cNvPr id="32" name="Shape 30"/>
          <p:cNvSpPr/>
          <p:nvPr/>
        </p:nvSpPr>
        <p:spPr>
          <a:xfrm>
            <a:off x="566928" y="4096512"/>
            <a:ext cx="64008" cy="347472"/>
          </a:xfrm>
          <a:prstGeom prst="rect">
            <a:avLst/>
          </a:prstGeom>
          <a:solidFill>
            <a:srgbClr val="ED7D31"/>
          </a:solidFill>
          <a:ln w="12700">
            <a:solidFill>
              <a:srgbClr val="ED7D31"/>
            </a:solidFill>
            <a:prstDash val="solid"/>
          </a:ln>
        </p:spPr>
      </p:sp>
      <p:sp>
        <p:nvSpPr>
          <p:cNvPr id="33" name="Text 31"/>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注釈精度はmeshだけでなく、pose・extrinsic・timestampの整合精度にも依存する。</a:t>
            </a:r>
            <a:endParaRPr lang="en-US" sz="1450" dirty="0"/>
          </a:p>
        </p:txBody>
      </p:sp>
      <p:sp>
        <p:nvSpPr>
          <p:cNvPr id="34" name="Text 32"/>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3.1; MA-LIO description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3シーケンスは反射材・視点・入射角の多様性を意図して収集された</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Sequences</a:t>
            </a:r>
            <a:endParaRPr lang="en-US" sz="950" dirty="0"/>
          </a:p>
        </p:txBody>
      </p:sp>
      <p:pic>
        <p:nvPicPr>
          <p:cNvPr id="5" name="Image 0" descr="Seq.1｜鏡・床から天井までの窓"/>
          <p:cNvPicPr>
            <a:picLocks noChangeAspect="1"/>
          </p:cNvPicPr>
          <p:nvPr/>
        </p:nvPicPr>
        <p:blipFill>
          <a:blip r:embed="rId3"/>
          <a:stretch>
            <a:fillRect/>
          </a:stretch>
        </p:blipFill>
        <p:spPr>
          <a:xfrm>
            <a:off x="502920" y="940689"/>
            <a:ext cx="2514600" cy="1885950"/>
          </a:xfrm>
          <a:prstGeom prst="rect">
            <a:avLst/>
          </a:prstGeom>
        </p:spPr>
      </p:pic>
      <p:sp>
        <p:nvSpPr>
          <p:cNvPr id="6" name="Text 3"/>
          <p:cNvSpPr/>
          <p:nvPr/>
        </p:nvSpPr>
        <p:spPr>
          <a:xfrm>
            <a:off x="502920" y="2926080"/>
            <a:ext cx="2514600" cy="347472"/>
          </a:xfrm>
          <a:prstGeom prst="rect">
            <a:avLst/>
          </a:prstGeom>
          <a:noFill/>
          <a:ln/>
        </p:spPr>
        <p:txBody>
          <a:bodyPr wrap="square" lIns="0" tIns="0" rIns="0" bIns="0" rtlCol="0" anchor="ctr">
            <a:normAutofit/>
          </a:bodyPr>
          <a:lstStyle/>
          <a:p>
            <a:pPr marL="0" indent="0" algn="ctr">
              <a:buNone/>
            </a:pPr>
            <a:r>
              <a:rPr lang="en-US" sz="1250" b="1" dirty="0">
                <a:solidFill>
                  <a:srgbClr val="17365D"/>
                </a:solidFill>
                <a:latin typeface="Yu Gothic" pitchFamily="34" charset="0"/>
                <a:ea typeface="Yu Gothic" pitchFamily="34" charset="-122"/>
                <a:cs typeface="Yu Gothic" pitchFamily="34" charset="-120"/>
              </a:rPr>
              <a:t>Seq.1｜鏡・床から天井までの窓</a:t>
            </a:r>
            <a:endParaRPr lang="en-US" sz="1250" dirty="0"/>
          </a:p>
        </p:txBody>
      </p:sp>
      <p:sp>
        <p:nvSpPr>
          <p:cNvPr id="7" name="Shape 4"/>
          <p:cNvSpPr/>
          <p:nvPr/>
        </p:nvSpPr>
        <p:spPr>
          <a:xfrm>
            <a:off x="640080" y="3383280"/>
            <a:ext cx="2240280" cy="292608"/>
          </a:xfrm>
          <a:prstGeom prst="roundRect">
            <a:avLst>
              <a:gd name="adj" fmla="val 15625"/>
            </a:avLst>
          </a:prstGeom>
          <a:solidFill>
            <a:srgbClr val="EAF2F8"/>
          </a:solidFill>
          <a:ln w="12700">
            <a:solidFill>
              <a:srgbClr val="2E75B6"/>
            </a:solidFill>
            <a:prstDash val="solid"/>
          </a:ln>
        </p:spPr>
      </p:sp>
      <p:sp>
        <p:nvSpPr>
          <p:cNvPr id="8" name="Text 5"/>
          <p:cNvSpPr/>
          <p:nvPr/>
        </p:nvSpPr>
        <p:spPr>
          <a:xfrm>
            <a:off x="640080" y="3383280"/>
            <a:ext cx="2240280" cy="292608"/>
          </a:xfrm>
          <a:prstGeom prst="rect">
            <a:avLst/>
          </a:prstGeom>
          <a:noFill/>
          <a:ln/>
        </p:spPr>
        <p:txBody>
          <a:bodyPr wrap="square" lIns="0" tIns="0" rIns="0" bIns="0" rtlCol="0" anchor="ctr">
            <a:normAutofit/>
          </a:bodyPr>
          <a:lstStyle/>
          <a:p>
            <a:pPr marL="0" indent="0" algn="ctr">
              <a:buNone/>
            </a:pPr>
            <a:r>
              <a:rPr lang="en-US" sz="1250" b="1" dirty="0">
                <a:solidFill>
                  <a:srgbClr val="2E75B6"/>
                </a:solidFill>
                <a:latin typeface="Yu Gothic" pitchFamily="34" charset="0"/>
                <a:ea typeface="Yu Gothic" pitchFamily="34" charset="-122"/>
                <a:cs typeface="Yu Gothic" pitchFamily="34" charset="-120"/>
              </a:rPr>
              <a:t>3,732 frames/LiDAR ＋ 541 RGB</a:t>
            </a:r>
            <a:endParaRPr lang="en-US" sz="1250" dirty="0"/>
          </a:p>
        </p:txBody>
      </p:sp>
      <p:pic>
        <p:nvPicPr>
          <p:cNvPr id="9" name="Image 1" descr="Seq.2｜会議室・全面ガラス"/>
          <p:cNvPicPr>
            <a:picLocks noChangeAspect="1"/>
          </p:cNvPicPr>
          <p:nvPr/>
        </p:nvPicPr>
        <p:blipFill>
          <a:blip r:embed="rId4"/>
          <a:stretch>
            <a:fillRect/>
          </a:stretch>
        </p:blipFill>
        <p:spPr>
          <a:xfrm>
            <a:off x="3246120" y="941529"/>
            <a:ext cx="2514600" cy="1884269"/>
          </a:xfrm>
          <a:prstGeom prst="rect">
            <a:avLst/>
          </a:prstGeom>
        </p:spPr>
      </p:pic>
      <p:sp>
        <p:nvSpPr>
          <p:cNvPr id="10" name="Text 6"/>
          <p:cNvSpPr/>
          <p:nvPr/>
        </p:nvSpPr>
        <p:spPr>
          <a:xfrm>
            <a:off x="3246120" y="2926080"/>
            <a:ext cx="2514600" cy="347472"/>
          </a:xfrm>
          <a:prstGeom prst="rect">
            <a:avLst/>
          </a:prstGeom>
          <a:noFill/>
          <a:ln/>
        </p:spPr>
        <p:txBody>
          <a:bodyPr wrap="square" lIns="0" tIns="0" rIns="0" bIns="0" rtlCol="0" anchor="ctr">
            <a:normAutofit/>
          </a:bodyPr>
          <a:lstStyle/>
          <a:p>
            <a:pPr marL="0" indent="0" algn="ctr">
              <a:buNone/>
            </a:pPr>
            <a:r>
              <a:rPr lang="en-US" sz="1250" b="1" dirty="0">
                <a:solidFill>
                  <a:srgbClr val="17365D"/>
                </a:solidFill>
                <a:latin typeface="Yu Gothic" pitchFamily="34" charset="0"/>
                <a:ea typeface="Yu Gothic" pitchFamily="34" charset="-122"/>
                <a:cs typeface="Yu Gothic" pitchFamily="34" charset="-120"/>
              </a:rPr>
              <a:t>Seq.2｜会議室・全面ガラス</a:t>
            </a:r>
            <a:endParaRPr lang="en-US" sz="1250" dirty="0"/>
          </a:p>
        </p:txBody>
      </p:sp>
      <p:sp>
        <p:nvSpPr>
          <p:cNvPr id="11" name="Shape 7"/>
          <p:cNvSpPr/>
          <p:nvPr/>
        </p:nvSpPr>
        <p:spPr>
          <a:xfrm>
            <a:off x="3383280" y="3383280"/>
            <a:ext cx="2240280" cy="292608"/>
          </a:xfrm>
          <a:prstGeom prst="roundRect">
            <a:avLst>
              <a:gd name="adj" fmla="val 15625"/>
            </a:avLst>
          </a:prstGeom>
          <a:solidFill>
            <a:srgbClr val="EAF2F8"/>
          </a:solidFill>
          <a:ln w="12700">
            <a:solidFill>
              <a:srgbClr val="2E75B6"/>
            </a:solidFill>
            <a:prstDash val="solid"/>
          </a:ln>
        </p:spPr>
      </p:sp>
      <p:sp>
        <p:nvSpPr>
          <p:cNvPr id="12" name="Text 8"/>
          <p:cNvSpPr/>
          <p:nvPr/>
        </p:nvSpPr>
        <p:spPr>
          <a:xfrm>
            <a:off x="3383280" y="3383280"/>
            <a:ext cx="2240280" cy="292608"/>
          </a:xfrm>
          <a:prstGeom prst="rect">
            <a:avLst/>
          </a:prstGeom>
          <a:noFill/>
          <a:ln/>
        </p:spPr>
        <p:txBody>
          <a:bodyPr wrap="square" lIns="0" tIns="0" rIns="0" bIns="0" rtlCol="0" anchor="ctr">
            <a:normAutofit/>
          </a:bodyPr>
          <a:lstStyle/>
          <a:p>
            <a:pPr marL="0" indent="0" algn="ctr">
              <a:buNone/>
            </a:pPr>
            <a:r>
              <a:rPr lang="en-US" sz="1250" b="1" dirty="0">
                <a:solidFill>
                  <a:srgbClr val="2E75B6"/>
                </a:solidFill>
                <a:latin typeface="Yu Gothic" pitchFamily="34" charset="0"/>
                <a:ea typeface="Yu Gothic" pitchFamily="34" charset="-122"/>
                <a:cs typeface="Yu Gothic" pitchFamily="34" charset="-120"/>
              </a:rPr>
              <a:t>4,702 frames/LiDAR ＋ 1,716 RGB</a:t>
            </a:r>
            <a:endParaRPr lang="en-US" sz="1250" dirty="0"/>
          </a:p>
        </p:txBody>
      </p:sp>
      <p:pic>
        <p:nvPicPr>
          <p:cNvPr id="13" name="Image 2" descr="Seq.3｜手すり・掲示・TV・白板"/>
          <p:cNvPicPr>
            <a:picLocks noChangeAspect="1"/>
          </p:cNvPicPr>
          <p:nvPr/>
        </p:nvPicPr>
        <p:blipFill>
          <a:blip r:embed="rId5"/>
          <a:stretch>
            <a:fillRect/>
          </a:stretch>
        </p:blipFill>
        <p:spPr>
          <a:xfrm>
            <a:off x="5989320" y="941529"/>
            <a:ext cx="2514600" cy="1884269"/>
          </a:xfrm>
          <a:prstGeom prst="rect">
            <a:avLst/>
          </a:prstGeom>
        </p:spPr>
      </p:pic>
      <p:sp>
        <p:nvSpPr>
          <p:cNvPr id="14" name="Text 9"/>
          <p:cNvSpPr/>
          <p:nvPr/>
        </p:nvSpPr>
        <p:spPr>
          <a:xfrm>
            <a:off x="5989320" y="2926080"/>
            <a:ext cx="2514600" cy="347472"/>
          </a:xfrm>
          <a:prstGeom prst="rect">
            <a:avLst/>
          </a:prstGeom>
          <a:noFill/>
          <a:ln/>
        </p:spPr>
        <p:txBody>
          <a:bodyPr wrap="square" lIns="0" tIns="0" rIns="0" bIns="0" rtlCol="0" anchor="ctr">
            <a:normAutofit/>
          </a:bodyPr>
          <a:lstStyle/>
          <a:p>
            <a:pPr marL="0" indent="0" algn="ctr">
              <a:buNone/>
            </a:pPr>
            <a:r>
              <a:rPr lang="en-US" sz="1250" b="1" dirty="0">
                <a:solidFill>
                  <a:srgbClr val="17365D"/>
                </a:solidFill>
                <a:latin typeface="Yu Gothic" pitchFamily="34" charset="0"/>
                <a:ea typeface="Yu Gothic" pitchFamily="34" charset="-122"/>
                <a:cs typeface="Yu Gothic" pitchFamily="34" charset="-120"/>
              </a:rPr>
              <a:t>Seq.3｜手すり・掲示・TV・白板</a:t>
            </a:r>
            <a:endParaRPr lang="en-US" sz="1250" dirty="0"/>
          </a:p>
        </p:txBody>
      </p:sp>
      <p:sp>
        <p:nvSpPr>
          <p:cNvPr id="15" name="Shape 10"/>
          <p:cNvSpPr/>
          <p:nvPr/>
        </p:nvSpPr>
        <p:spPr>
          <a:xfrm>
            <a:off x="6126480" y="3383280"/>
            <a:ext cx="2240280" cy="292608"/>
          </a:xfrm>
          <a:prstGeom prst="roundRect">
            <a:avLst>
              <a:gd name="adj" fmla="val 15625"/>
            </a:avLst>
          </a:prstGeom>
          <a:solidFill>
            <a:srgbClr val="FCE4D6"/>
          </a:solidFill>
          <a:ln w="12700">
            <a:solidFill>
              <a:srgbClr val="ED7D31"/>
            </a:solidFill>
            <a:prstDash val="solid"/>
          </a:ln>
        </p:spPr>
      </p:sp>
      <p:sp>
        <p:nvSpPr>
          <p:cNvPr id="16" name="Text 11"/>
          <p:cNvSpPr/>
          <p:nvPr/>
        </p:nvSpPr>
        <p:spPr>
          <a:xfrm>
            <a:off x="6126480" y="3383280"/>
            <a:ext cx="2240280" cy="292608"/>
          </a:xfrm>
          <a:prstGeom prst="rect">
            <a:avLst/>
          </a:prstGeom>
          <a:noFill/>
          <a:ln/>
        </p:spPr>
        <p:txBody>
          <a:bodyPr wrap="square" lIns="0" tIns="0" rIns="0" bIns="0" rtlCol="0" anchor="ctr">
            <a:normAutofit/>
          </a:bodyPr>
          <a:lstStyle/>
          <a:p>
            <a:pPr marL="0" indent="0" algn="ctr">
              <a:buNone/>
            </a:pPr>
            <a:r>
              <a:rPr lang="en-US" sz="1250" b="1" dirty="0">
                <a:solidFill>
                  <a:srgbClr val="ED7D31"/>
                </a:solidFill>
                <a:latin typeface="Yu Gothic" pitchFamily="34" charset="0"/>
                <a:ea typeface="Yu Gothic" pitchFamily="34" charset="-122"/>
                <a:cs typeface="Yu Gothic" pitchFamily="34" charset="-120"/>
              </a:rPr>
              <a:t>7,574 frames/LiDAR ＋ 1,542 RGB</a:t>
            </a:r>
            <a:endParaRPr lang="en-US" sz="1250" dirty="0"/>
          </a:p>
        </p:txBody>
      </p:sp>
      <p:sp>
        <p:nvSpPr>
          <p:cNvPr id="17" name="Shape 12"/>
          <p:cNvSpPr/>
          <p:nvPr/>
        </p:nvSpPr>
        <p:spPr>
          <a:xfrm>
            <a:off x="566928" y="4096512"/>
            <a:ext cx="8010144" cy="347472"/>
          </a:xfrm>
          <a:prstGeom prst="rect">
            <a:avLst/>
          </a:prstGeom>
          <a:solidFill>
            <a:srgbClr val="F8FAFB"/>
          </a:solidFill>
          <a:ln w="12700">
            <a:solidFill>
              <a:srgbClr val="2A9D8F"/>
            </a:solidFill>
            <a:prstDash val="solid"/>
          </a:ln>
        </p:spPr>
      </p:sp>
      <p:sp>
        <p:nvSpPr>
          <p:cNvPr id="18" name="Shape 13"/>
          <p:cNvSpPr/>
          <p:nvPr/>
        </p:nvSpPr>
        <p:spPr>
          <a:xfrm>
            <a:off x="566928" y="4096512"/>
            <a:ext cx="64008" cy="347472"/>
          </a:xfrm>
          <a:prstGeom prst="rect">
            <a:avLst/>
          </a:prstGeom>
          <a:solidFill>
            <a:srgbClr val="2A9D8F"/>
          </a:solidFill>
          <a:ln w="12700">
            <a:solidFill>
              <a:srgbClr val="2A9D8F"/>
            </a:solidFill>
            <a:prstDash val="solid"/>
          </a:ln>
        </p:spPr>
      </p:sp>
      <p:sp>
        <p:nvSpPr>
          <p:cNvPr id="19" name="Text 14"/>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同じ場所を複数回・複数方向から通過し、距離と入射角を変えて観測する。</a:t>
            </a:r>
            <a:endParaRPr lang="en-US" sz="1450" dirty="0"/>
          </a:p>
        </p:txBody>
      </p:sp>
      <p:sp>
        <p:nvSpPr>
          <p:cNvPr id="20" name="Text 15"/>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Figs. 4–6; Sec. 3.1,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正解の中心は、反射部を手修正・色分けした高精度3D meshである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Ground truth</a:t>
            </a:r>
            <a:endParaRPr lang="en-US" sz="950" dirty="0"/>
          </a:p>
        </p:txBody>
      </p:sp>
      <p:pic>
        <p:nvPicPr>
          <p:cNvPr id="5" name="Image 0" descr="3DRef overview and labeled mesh"/>
          <p:cNvPicPr>
            <a:picLocks noChangeAspect="1"/>
          </p:cNvPicPr>
          <p:nvPr/>
        </p:nvPicPr>
        <p:blipFill>
          <a:blip r:embed="rId3"/>
          <a:stretch>
            <a:fillRect/>
          </a:stretch>
        </p:blipFill>
        <p:spPr>
          <a:xfrm>
            <a:off x="944726" y="850392"/>
            <a:ext cx="2920292" cy="3438144"/>
          </a:xfrm>
          <a:prstGeom prst="rect">
            <a:avLst/>
          </a:prstGeom>
        </p:spPr>
      </p:pic>
      <p:sp>
        <p:nvSpPr>
          <p:cNvPr id="6" name="Shape 3"/>
          <p:cNvSpPr/>
          <p:nvPr/>
        </p:nvSpPr>
        <p:spPr>
          <a:xfrm>
            <a:off x="4553712" y="932688"/>
            <a:ext cx="3913632" cy="822960"/>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7" name="Shape 4"/>
          <p:cNvSpPr/>
          <p:nvPr/>
        </p:nvSpPr>
        <p:spPr>
          <a:xfrm>
            <a:off x="4553712" y="932688"/>
            <a:ext cx="50292" cy="822960"/>
          </a:xfrm>
          <a:prstGeom prst="rect">
            <a:avLst/>
          </a:prstGeom>
          <a:solidFill>
            <a:srgbClr val="2E75B6"/>
          </a:solidFill>
          <a:ln w="12700">
            <a:solidFill>
              <a:srgbClr val="2E75B6"/>
            </a:solidFill>
            <a:prstDash val="solid"/>
          </a:ln>
        </p:spPr>
      </p:sp>
      <p:sp>
        <p:nvSpPr>
          <p:cNvPr id="8" name="Text 5"/>
          <p:cNvSpPr/>
          <p:nvPr/>
        </p:nvSpPr>
        <p:spPr>
          <a:xfrm>
            <a:off x="4718304" y="1005840"/>
            <a:ext cx="3639312"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① Polar scannerでtextured mesh生成</a:t>
            </a:r>
            <a:endParaRPr lang="en-US" sz="1400" dirty="0"/>
          </a:p>
        </p:txBody>
      </p:sp>
      <p:sp>
        <p:nvSpPr>
          <p:cNvPr id="9" name="Text 6"/>
          <p:cNvSpPr/>
          <p:nvPr/>
        </p:nvSpPr>
        <p:spPr>
          <a:xfrm>
            <a:off x="4718304" y="1353312"/>
            <a:ext cx="3639312" cy="31089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Ouster＋camera＋IMUの計測から、環境の幾何とtextureを再構成。</a:t>
            </a:r>
            <a:endParaRPr lang="en-US" sz="1250" dirty="0"/>
          </a:p>
        </p:txBody>
      </p:sp>
      <p:sp>
        <p:nvSpPr>
          <p:cNvPr id="10" name="Shape 7"/>
          <p:cNvSpPr/>
          <p:nvPr/>
        </p:nvSpPr>
        <p:spPr>
          <a:xfrm>
            <a:off x="4553712" y="1920240"/>
            <a:ext cx="3913632" cy="822960"/>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11" name="Shape 8"/>
          <p:cNvSpPr/>
          <p:nvPr/>
        </p:nvSpPr>
        <p:spPr>
          <a:xfrm>
            <a:off x="4553712" y="1920240"/>
            <a:ext cx="50292" cy="822960"/>
          </a:xfrm>
          <a:prstGeom prst="rect">
            <a:avLst/>
          </a:prstGeom>
          <a:solidFill>
            <a:srgbClr val="ED7D31"/>
          </a:solidFill>
          <a:ln w="12700">
            <a:solidFill>
              <a:srgbClr val="ED7D31"/>
            </a:solidFill>
            <a:prstDash val="solid"/>
          </a:ln>
        </p:spPr>
      </p:sp>
      <p:sp>
        <p:nvSpPr>
          <p:cNvPr id="12" name="Text 9"/>
          <p:cNvSpPr/>
          <p:nvPr/>
        </p:nvSpPr>
        <p:spPr>
          <a:xfrm>
            <a:off x="4718304" y="1993392"/>
            <a:ext cx="3639312"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② 反射・ガラス由来の穴を手修正</a:t>
            </a:r>
            <a:endParaRPr lang="en-US" sz="1400" dirty="0"/>
          </a:p>
        </p:txBody>
      </p:sp>
      <p:sp>
        <p:nvSpPr>
          <p:cNvPr id="13" name="Text 10"/>
          <p:cNvSpPr/>
          <p:nvPr/>
        </p:nvSpPr>
        <p:spPr>
          <a:xfrm>
            <a:off x="4718304" y="2340864"/>
            <a:ext cx="3639312" cy="31089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meshの欠損や誤形状を人手でcleaningし、正解幾何を補完。</a:t>
            </a:r>
            <a:endParaRPr lang="en-US" sz="1250" dirty="0"/>
          </a:p>
        </p:txBody>
      </p:sp>
      <p:sp>
        <p:nvSpPr>
          <p:cNvPr id="14" name="Shape 11"/>
          <p:cNvSpPr/>
          <p:nvPr/>
        </p:nvSpPr>
        <p:spPr>
          <a:xfrm>
            <a:off x="4553712" y="2907792"/>
            <a:ext cx="3913632" cy="822960"/>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15" name="Shape 12"/>
          <p:cNvSpPr/>
          <p:nvPr/>
        </p:nvSpPr>
        <p:spPr>
          <a:xfrm>
            <a:off x="4553712" y="2907792"/>
            <a:ext cx="50292" cy="822960"/>
          </a:xfrm>
          <a:prstGeom prst="rect">
            <a:avLst/>
          </a:prstGeom>
          <a:solidFill>
            <a:srgbClr val="2A9D8F"/>
          </a:solidFill>
          <a:ln w="12700">
            <a:solidFill>
              <a:srgbClr val="2A9D8F"/>
            </a:solidFill>
            <a:prstDash val="solid"/>
          </a:ln>
        </p:spPr>
      </p:sp>
      <p:sp>
        <p:nvSpPr>
          <p:cNvPr id="16" name="Text 13"/>
          <p:cNvSpPr/>
          <p:nvPr/>
        </p:nvSpPr>
        <p:spPr>
          <a:xfrm>
            <a:off x="4718304" y="2980944"/>
            <a:ext cx="3639312"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③ texture上で反射材料を色分け</a:t>
            </a:r>
            <a:endParaRPr lang="en-US" sz="1400" dirty="0"/>
          </a:p>
        </p:txBody>
      </p:sp>
      <p:sp>
        <p:nvSpPr>
          <p:cNvPr id="17" name="Text 14"/>
          <p:cNvSpPr/>
          <p:nvPr/>
        </p:nvSpPr>
        <p:spPr>
          <a:xfrm>
            <a:off x="4718304" y="3328416"/>
            <a:ext cx="3639312" cy="31089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glass / mirror / other reflectiveを手作業で領域指定。</a:t>
            </a:r>
            <a:endParaRPr lang="en-US" sz="1250" dirty="0"/>
          </a:p>
        </p:txBody>
      </p:sp>
      <p:sp>
        <p:nvSpPr>
          <p:cNvPr id="18" name="Shape 15"/>
          <p:cNvSpPr/>
          <p:nvPr/>
        </p:nvSpPr>
        <p:spPr>
          <a:xfrm>
            <a:off x="566928" y="4096512"/>
            <a:ext cx="8010144" cy="347472"/>
          </a:xfrm>
          <a:prstGeom prst="rect">
            <a:avLst/>
          </a:prstGeom>
          <a:solidFill>
            <a:srgbClr val="F8FAFB"/>
          </a:solidFill>
          <a:ln w="12700">
            <a:solidFill>
              <a:srgbClr val="2E75B6"/>
            </a:solidFill>
            <a:prstDash val="solid"/>
          </a:ln>
        </p:spPr>
      </p:sp>
      <p:sp>
        <p:nvSpPr>
          <p:cNvPr id="19" name="Shape 16"/>
          <p:cNvSpPr/>
          <p:nvPr/>
        </p:nvSpPr>
        <p:spPr>
          <a:xfrm>
            <a:off x="566928" y="4096512"/>
            <a:ext cx="64008" cy="347472"/>
          </a:xfrm>
          <a:prstGeom prst="rect">
            <a:avLst/>
          </a:prstGeom>
          <a:solidFill>
            <a:srgbClr val="2E75B6"/>
          </a:solidFill>
          <a:ln w="12700">
            <a:solidFill>
              <a:srgbClr val="2E75B6"/>
            </a:solidFill>
            <a:prstDash val="solid"/>
          </a:ln>
        </p:spPr>
      </p:sp>
      <p:sp>
        <p:nvSpPr>
          <p:cNvPr id="20" name="Text 17"/>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点ごとの人手注釈ではなく、1つの3D scene modelを全modalitiesの正解源にする。</a:t>
            </a:r>
            <a:endParaRPr lang="en-US" sz="1450" dirty="0"/>
          </a:p>
        </p:txBody>
      </p:sp>
      <p:sp>
        <p:nvSpPr>
          <p:cNvPr id="21" name="Text 18"/>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Fig. 1; Sec. 3.2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LiDAR点は『センサ原点→観測点』のrayとmeshの交点で自動ラベル化する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Point labeling</a:t>
            </a:r>
            <a:endParaRPr lang="en-US" sz="950" dirty="0"/>
          </a:p>
        </p:txBody>
      </p:sp>
      <p:sp>
        <p:nvSpPr>
          <p:cNvPr id="5" name="Shape 3"/>
          <p:cNvSpPr/>
          <p:nvPr/>
        </p:nvSpPr>
        <p:spPr>
          <a:xfrm>
            <a:off x="658368" y="1901952"/>
            <a:ext cx="347472" cy="347472"/>
          </a:xfrm>
          <a:prstGeom prst="ellipse">
            <a:avLst/>
          </a:prstGeom>
          <a:solidFill>
            <a:srgbClr val="17365D"/>
          </a:solidFill>
          <a:ln w="12700">
            <a:solidFill>
              <a:srgbClr val="17365D"/>
            </a:solidFill>
            <a:prstDash val="solid"/>
          </a:ln>
        </p:spPr>
      </p:sp>
      <p:sp>
        <p:nvSpPr>
          <p:cNvPr id="6" name="Text 4"/>
          <p:cNvSpPr/>
          <p:nvPr/>
        </p:nvSpPr>
        <p:spPr>
          <a:xfrm>
            <a:off x="475488" y="2331720"/>
            <a:ext cx="713232" cy="256032"/>
          </a:xfrm>
          <a:prstGeom prst="rect">
            <a:avLst/>
          </a:prstGeom>
          <a:noFill/>
          <a:ln/>
        </p:spPr>
        <p:txBody>
          <a:bodyPr wrap="square" lIns="0" tIns="0" rIns="0" bIns="0" rtlCol="0" anchor="ctr">
            <a:normAutofit/>
          </a:bodyPr>
          <a:lstStyle/>
          <a:p>
            <a:pPr marL="0" indent="0" algn="ctr">
              <a:buNone/>
            </a:pPr>
            <a:r>
              <a:rPr lang="en-US" sz="1250" b="1" dirty="0">
                <a:solidFill>
                  <a:srgbClr val="17365D"/>
                </a:solidFill>
                <a:latin typeface="Yu Gothic" pitchFamily="34" charset="0"/>
                <a:ea typeface="Yu Gothic" pitchFamily="34" charset="-122"/>
                <a:cs typeface="Yu Gothic" pitchFamily="34" charset="-120"/>
              </a:rPr>
              <a:t>LiDAR pose</a:t>
            </a:r>
            <a:endParaRPr lang="en-US" sz="1250" dirty="0"/>
          </a:p>
        </p:txBody>
      </p:sp>
      <p:sp>
        <p:nvSpPr>
          <p:cNvPr id="7" name="Shape 5"/>
          <p:cNvSpPr/>
          <p:nvPr/>
        </p:nvSpPr>
        <p:spPr>
          <a:xfrm>
            <a:off x="3794760" y="932688"/>
            <a:ext cx="0" cy="2852928"/>
          </a:xfrm>
          <a:prstGeom prst="line">
            <a:avLst/>
          </a:prstGeom>
          <a:noFill/>
          <a:ln w="12700">
            <a:solidFill>
              <a:srgbClr val="2E75B6"/>
            </a:solidFill>
            <a:prstDash val="solid"/>
            <a:headEnd type="none"/>
            <a:tailEnd type="none"/>
          </a:ln>
        </p:spPr>
      </p:sp>
      <p:sp>
        <p:nvSpPr>
          <p:cNvPr id="8" name="Text 6"/>
          <p:cNvSpPr/>
          <p:nvPr/>
        </p:nvSpPr>
        <p:spPr>
          <a:xfrm>
            <a:off x="3246120" y="3858768"/>
            <a:ext cx="1097280" cy="256032"/>
          </a:xfrm>
          <a:prstGeom prst="rect">
            <a:avLst/>
          </a:prstGeom>
          <a:noFill/>
          <a:ln/>
        </p:spPr>
        <p:txBody>
          <a:bodyPr wrap="square" lIns="0" tIns="0" rIns="0" bIns="0" rtlCol="0" anchor="ctr">
            <a:normAutofit/>
          </a:bodyPr>
          <a:lstStyle/>
          <a:p>
            <a:pPr marL="0" indent="0" algn="ctr">
              <a:buNone/>
            </a:pPr>
            <a:r>
              <a:rPr lang="en-US" sz="1250" b="1" dirty="0">
                <a:solidFill>
                  <a:srgbClr val="2E75B6"/>
                </a:solidFill>
                <a:latin typeface="Yu Gothic" pitchFamily="34" charset="0"/>
                <a:ea typeface="Yu Gothic" pitchFamily="34" charset="-122"/>
                <a:cs typeface="Yu Gothic" pitchFamily="34" charset="-120"/>
              </a:rPr>
              <a:t>labeled mesh</a:t>
            </a:r>
            <a:endParaRPr lang="en-US" sz="1250" dirty="0"/>
          </a:p>
        </p:txBody>
      </p:sp>
      <p:sp>
        <p:nvSpPr>
          <p:cNvPr id="9" name="Shape 7"/>
          <p:cNvSpPr/>
          <p:nvPr/>
        </p:nvSpPr>
        <p:spPr>
          <a:xfrm>
            <a:off x="5559552" y="2487168"/>
            <a:ext cx="256032" cy="256032"/>
          </a:xfrm>
          <a:prstGeom prst="ellipse">
            <a:avLst/>
          </a:prstGeom>
          <a:solidFill>
            <a:srgbClr val="ED7D31"/>
          </a:solidFill>
          <a:ln w="12700">
            <a:solidFill>
              <a:srgbClr val="ED7D31"/>
            </a:solidFill>
            <a:prstDash val="solid"/>
          </a:ln>
        </p:spPr>
      </p:sp>
      <p:sp>
        <p:nvSpPr>
          <p:cNvPr id="10" name="Text 8"/>
          <p:cNvSpPr/>
          <p:nvPr/>
        </p:nvSpPr>
        <p:spPr>
          <a:xfrm>
            <a:off x="5065776" y="2834640"/>
            <a:ext cx="1243584" cy="256032"/>
          </a:xfrm>
          <a:prstGeom prst="rect">
            <a:avLst/>
          </a:prstGeom>
          <a:noFill/>
          <a:ln/>
        </p:spPr>
        <p:txBody>
          <a:bodyPr wrap="square" lIns="0" tIns="0" rIns="0" bIns="0" rtlCol="0" anchor="ctr">
            <a:normAutofit/>
          </a:bodyPr>
          <a:lstStyle/>
          <a:p>
            <a:pPr marL="0" indent="0" algn="ctr">
              <a:buNone/>
            </a:pPr>
            <a:r>
              <a:rPr lang="en-US" sz="1250" b="1" dirty="0">
                <a:solidFill>
                  <a:srgbClr val="ED7D31"/>
                </a:solidFill>
                <a:latin typeface="Yu Gothic" pitchFamily="34" charset="0"/>
                <a:ea typeface="Yu Gothic" pitchFamily="34" charset="-122"/>
                <a:cs typeface="Yu Gothic" pitchFamily="34" charset="-120"/>
              </a:rPr>
              <a:t>measured point</a:t>
            </a:r>
            <a:endParaRPr lang="en-US" sz="1250" dirty="0"/>
          </a:p>
        </p:txBody>
      </p:sp>
      <p:sp>
        <p:nvSpPr>
          <p:cNvPr id="11" name="Shape 9"/>
          <p:cNvSpPr/>
          <p:nvPr/>
        </p:nvSpPr>
        <p:spPr>
          <a:xfrm>
            <a:off x="987552" y="2066544"/>
            <a:ext cx="4590288" cy="548640"/>
          </a:xfrm>
          <a:prstGeom prst="line">
            <a:avLst/>
          </a:prstGeom>
          <a:noFill/>
          <a:ln w="12700">
            <a:solidFill>
              <a:srgbClr val="ED7D31"/>
            </a:solidFill>
            <a:prstDash val="solid"/>
            <a:headEnd type="none"/>
            <a:tailEnd type="triangle"/>
          </a:ln>
        </p:spPr>
      </p:sp>
      <p:sp>
        <p:nvSpPr>
          <p:cNvPr id="12" name="Shape 10"/>
          <p:cNvSpPr/>
          <p:nvPr/>
        </p:nvSpPr>
        <p:spPr>
          <a:xfrm>
            <a:off x="3675888" y="2359152"/>
            <a:ext cx="237744" cy="237744"/>
          </a:xfrm>
          <a:prstGeom prst="ellipse">
            <a:avLst/>
          </a:prstGeom>
          <a:solidFill>
            <a:srgbClr val="2A9D8F"/>
          </a:solidFill>
          <a:ln w="12700">
            <a:solidFill>
              <a:srgbClr val="2A9D8F"/>
            </a:solidFill>
            <a:prstDash val="solid"/>
          </a:ln>
        </p:spPr>
      </p:sp>
      <p:sp>
        <p:nvSpPr>
          <p:cNvPr id="13" name="Shape 11"/>
          <p:cNvSpPr/>
          <p:nvPr/>
        </p:nvSpPr>
        <p:spPr>
          <a:xfrm>
            <a:off x="2980944" y="2670048"/>
            <a:ext cx="1627632" cy="292608"/>
          </a:xfrm>
          <a:prstGeom prst="roundRect">
            <a:avLst>
              <a:gd name="adj" fmla="val 15625"/>
            </a:avLst>
          </a:prstGeom>
          <a:solidFill>
            <a:srgbClr val="E7F4F2"/>
          </a:solidFill>
          <a:ln w="12700">
            <a:solidFill>
              <a:srgbClr val="2A9D8F"/>
            </a:solidFill>
            <a:prstDash val="solid"/>
          </a:ln>
        </p:spPr>
      </p:sp>
      <p:sp>
        <p:nvSpPr>
          <p:cNvPr id="14" name="Text 12"/>
          <p:cNvSpPr/>
          <p:nvPr/>
        </p:nvSpPr>
        <p:spPr>
          <a:xfrm>
            <a:off x="2980944" y="2670048"/>
            <a:ext cx="1627632" cy="292608"/>
          </a:xfrm>
          <a:prstGeom prst="rect">
            <a:avLst/>
          </a:prstGeom>
          <a:noFill/>
          <a:ln/>
        </p:spPr>
        <p:txBody>
          <a:bodyPr wrap="square" lIns="0" tIns="0" rIns="0" bIns="0" rtlCol="0" anchor="ctr">
            <a:normAutofit/>
          </a:bodyPr>
          <a:lstStyle/>
          <a:p>
            <a:pPr marL="0" indent="0" algn="ctr">
              <a:buNone/>
            </a:pPr>
            <a:r>
              <a:rPr lang="en-US" sz="1250" b="1" dirty="0">
                <a:solidFill>
                  <a:srgbClr val="2A9D8F"/>
                </a:solidFill>
                <a:latin typeface="Yu Gothic" pitchFamily="34" charset="0"/>
                <a:ea typeface="Yu Gothic" pitchFamily="34" charset="-122"/>
                <a:cs typeface="Yu Gothic" pitchFamily="34" charset="-120"/>
              </a:rPr>
              <a:t>first mesh intersection</a:t>
            </a:r>
            <a:endParaRPr lang="en-US" sz="1250" dirty="0"/>
          </a:p>
        </p:txBody>
      </p:sp>
      <p:sp>
        <p:nvSpPr>
          <p:cNvPr id="15" name="Shape 13"/>
          <p:cNvSpPr/>
          <p:nvPr/>
        </p:nvSpPr>
        <p:spPr>
          <a:xfrm>
            <a:off x="6291072" y="987552"/>
            <a:ext cx="2157984" cy="1097280"/>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16" name="Shape 14"/>
          <p:cNvSpPr/>
          <p:nvPr/>
        </p:nvSpPr>
        <p:spPr>
          <a:xfrm>
            <a:off x="6291072" y="987552"/>
            <a:ext cx="50292" cy="1097280"/>
          </a:xfrm>
          <a:prstGeom prst="rect">
            <a:avLst/>
          </a:prstGeom>
          <a:solidFill>
            <a:srgbClr val="2E75B6"/>
          </a:solidFill>
          <a:ln w="12700">
            <a:solidFill>
              <a:srgbClr val="2E75B6"/>
            </a:solidFill>
            <a:prstDash val="solid"/>
          </a:ln>
        </p:spPr>
      </p:sp>
      <p:sp>
        <p:nvSpPr>
          <p:cNvPr id="17" name="Text 15"/>
          <p:cNvSpPr/>
          <p:nvPr/>
        </p:nvSpPr>
        <p:spPr>
          <a:xfrm>
            <a:off x="6455664" y="1060704"/>
            <a:ext cx="1883664"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入力</a:t>
            </a:r>
            <a:endParaRPr lang="en-US" sz="1600" dirty="0"/>
          </a:p>
        </p:txBody>
      </p:sp>
      <p:sp>
        <p:nvSpPr>
          <p:cNvPr id="18" name="Text 16"/>
          <p:cNvSpPr/>
          <p:nvPr/>
        </p:nvSpPr>
        <p:spPr>
          <a:xfrm>
            <a:off x="6455664" y="1408176"/>
            <a:ext cx="1883664" cy="58521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点座標・LiDAR pose・色付きmesh</a:t>
            </a:r>
            <a:endParaRPr lang="en-US" sz="1250" dirty="0"/>
          </a:p>
        </p:txBody>
      </p:sp>
      <p:sp>
        <p:nvSpPr>
          <p:cNvPr id="19" name="Shape 17"/>
          <p:cNvSpPr/>
          <p:nvPr/>
        </p:nvSpPr>
        <p:spPr>
          <a:xfrm>
            <a:off x="6291072" y="2340864"/>
            <a:ext cx="2157984" cy="1097280"/>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20" name="Shape 18"/>
          <p:cNvSpPr/>
          <p:nvPr/>
        </p:nvSpPr>
        <p:spPr>
          <a:xfrm>
            <a:off x="6291072" y="2340864"/>
            <a:ext cx="50292" cy="1097280"/>
          </a:xfrm>
          <a:prstGeom prst="rect">
            <a:avLst/>
          </a:prstGeom>
          <a:solidFill>
            <a:srgbClr val="2A9D8F"/>
          </a:solidFill>
          <a:ln w="12700">
            <a:solidFill>
              <a:srgbClr val="2A9D8F"/>
            </a:solidFill>
            <a:prstDash val="solid"/>
          </a:ln>
        </p:spPr>
      </p:sp>
      <p:sp>
        <p:nvSpPr>
          <p:cNvPr id="21" name="Text 19"/>
          <p:cNvSpPr/>
          <p:nvPr/>
        </p:nvSpPr>
        <p:spPr>
          <a:xfrm>
            <a:off x="6455664" y="2414016"/>
            <a:ext cx="1883664"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出力</a:t>
            </a:r>
            <a:endParaRPr lang="en-US" sz="1600" dirty="0"/>
          </a:p>
        </p:txBody>
      </p:sp>
      <p:sp>
        <p:nvSpPr>
          <p:cNvPr id="22" name="Text 20"/>
          <p:cNvSpPr/>
          <p:nvPr/>
        </p:nvSpPr>
        <p:spPr>
          <a:xfrm>
            <a:off x="6455664" y="2761488"/>
            <a:ext cx="1883664" cy="58521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交差面の材料＋点の実在性に基づくclass ID</a:t>
            </a:r>
            <a:endParaRPr lang="en-US" sz="1250" dirty="0"/>
          </a:p>
        </p:txBody>
      </p:sp>
      <p:sp>
        <p:nvSpPr>
          <p:cNvPr id="23" name="Shape 21"/>
          <p:cNvSpPr/>
          <p:nvPr/>
        </p:nvSpPr>
        <p:spPr>
          <a:xfrm>
            <a:off x="566928" y="4096512"/>
            <a:ext cx="8010144" cy="347472"/>
          </a:xfrm>
          <a:prstGeom prst="rect">
            <a:avLst/>
          </a:prstGeom>
          <a:solidFill>
            <a:srgbClr val="F8FAFB"/>
          </a:solidFill>
          <a:ln w="12700">
            <a:solidFill>
              <a:srgbClr val="2E75B6"/>
            </a:solidFill>
            <a:prstDash val="solid"/>
          </a:ln>
        </p:spPr>
      </p:sp>
      <p:sp>
        <p:nvSpPr>
          <p:cNvPr id="24" name="Shape 22"/>
          <p:cNvSpPr/>
          <p:nvPr/>
        </p:nvSpPr>
        <p:spPr>
          <a:xfrm>
            <a:off x="566928" y="4096512"/>
            <a:ext cx="64008" cy="347472"/>
          </a:xfrm>
          <a:prstGeom prst="rect">
            <a:avLst/>
          </a:prstGeom>
          <a:solidFill>
            <a:srgbClr val="2E75B6"/>
          </a:solidFill>
          <a:ln w="12700">
            <a:solidFill>
              <a:srgbClr val="2E75B6"/>
            </a:solidFill>
            <a:prstDash val="solid"/>
          </a:ln>
        </p:spPr>
      </p:sp>
      <p:sp>
        <p:nvSpPr>
          <p:cNvPr id="25" name="Text 23"/>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Open3D ray castingにより、全フレームへ一貫した3Dラベルを展開する。</a:t>
            </a:r>
            <a:endParaRPr lang="en-US" sz="1450" dirty="0"/>
          </a:p>
        </p:txBody>
      </p:sp>
      <p:sp>
        <p:nvSpPr>
          <p:cNvPr id="26" name="Text 24"/>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3.2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RGB maskも同じmeshをcamera viewへrenderして生成する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Image labeling</a:t>
            </a:r>
            <a:endParaRPr lang="en-US" sz="950" dirty="0"/>
          </a:p>
        </p:txBody>
      </p:sp>
      <p:sp>
        <p:nvSpPr>
          <p:cNvPr id="5" name="Shape 3"/>
          <p:cNvSpPr/>
          <p:nvPr/>
        </p:nvSpPr>
        <p:spPr>
          <a:xfrm>
            <a:off x="594360" y="1207008"/>
            <a:ext cx="1417320" cy="11430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594360" y="1207008"/>
            <a:ext cx="50292" cy="1143000"/>
          </a:xfrm>
          <a:prstGeom prst="rect">
            <a:avLst/>
          </a:prstGeom>
          <a:solidFill>
            <a:srgbClr val="2E75B6"/>
          </a:solidFill>
          <a:ln w="12700">
            <a:solidFill>
              <a:srgbClr val="2E75B6"/>
            </a:solidFill>
            <a:prstDash val="solid"/>
          </a:ln>
        </p:spPr>
      </p:sp>
      <p:sp>
        <p:nvSpPr>
          <p:cNvPr id="7" name="Text 5"/>
          <p:cNvSpPr/>
          <p:nvPr/>
        </p:nvSpPr>
        <p:spPr>
          <a:xfrm>
            <a:off x="758952" y="1280160"/>
            <a:ext cx="1143000" cy="402336"/>
          </a:xfrm>
          <a:prstGeom prst="rect">
            <a:avLst/>
          </a:prstGeom>
          <a:noFill/>
          <a:ln/>
        </p:spPr>
        <p:txBody>
          <a:bodyPr wrap="square" lIns="0" tIns="0" rIns="0" bIns="0" rtlCol="0" anchor="t">
            <a:normAutofit/>
          </a:bodyPr>
          <a:lstStyle/>
          <a:p>
            <a:pPr marL="0" indent="0">
              <a:buNone/>
            </a:pPr>
            <a:r>
              <a:rPr lang="en-US" sz="1260" b="1" dirty="0">
                <a:solidFill>
                  <a:srgbClr val="17365D"/>
                </a:solidFill>
                <a:latin typeface="Yu Gothic" pitchFamily="34" charset="0"/>
                <a:ea typeface="Yu Gothic" pitchFamily="34" charset="-122"/>
                <a:cs typeface="Yu Gothic" pitchFamily="34" charset="-120"/>
              </a:rPr>
              <a:t>Camera pose + intrinsics</a:t>
            </a:r>
            <a:endParaRPr lang="en-US" sz="1260" dirty="0"/>
          </a:p>
        </p:txBody>
      </p:sp>
      <p:sp>
        <p:nvSpPr>
          <p:cNvPr id="8" name="Text 6"/>
          <p:cNvSpPr/>
          <p:nvPr/>
        </p:nvSpPr>
        <p:spPr>
          <a:xfrm>
            <a:off x="758952" y="1709928"/>
            <a:ext cx="1143000" cy="548640"/>
          </a:xfrm>
          <a:prstGeom prst="rect">
            <a:avLst/>
          </a:prstGeom>
          <a:noFill/>
          <a:ln/>
        </p:spPr>
        <p:txBody>
          <a:bodyPr wrap="square" lIns="12700" tIns="0" rIns="0" bIns="25400" rtlCol="0" anchor="t">
            <a:normAutofit/>
          </a:bodyPr>
          <a:lstStyle/>
          <a:p>
            <a:pPr marL="0" indent="0">
              <a:buNone/>
            </a:pPr>
            <a:r>
              <a:rPr lang="en-US" sz="1130" dirty="0">
                <a:solidFill>
                  <a:srgbClr val="4D5966"/>
                </a:solidFill>
                <a:latin typeface="Yu Gothic" pitchFamily="34" charset="0"/>
                <a:ea typeface="Yu Gothic" pitchFamily="34" charset="-122"/>
                <a:cs typeface="Yu Gothic" pitchFamily="34" charset="-120"/>
              </a:rPr>
              <a:t>各frameの姿勢・内部パラメータ</a:t>
            </a:r>
            <a:endParaRPr lang="en-US" sz="1130" dirty="0"/>
          </a:p>
        </p:txBody>
      </p:sp>
      <p:sp>
        <p:nvSpPr>
          <p:cNvPr id="9" name="Shape 7"/>
          <p:cNvSpPr/>
          <p:nvPr/>
        </p:nvSpPr>
        <p:spPr>
          <a:xfrm>
            <a:off x="2039112" y="1783080"/>
            <a:ext cx="310896" cy="0"/>
          </a:xfrm>
          <a:prstGeom prst="line">
            <a:avLst/>
          </a:prstGeom>
          <a:noFill/>
          <a:ln w="12700">
            <a:solidFill>
              <a:srgbClr val="6F7B86"/>
            </a:solidFill>
            <a:prstDash val="solid"/>
            <a:headEnd type="none"/>
            <a:tailEnd type="triangle"/>
          </a:ln>
        </p:spPr>
      </p:sp>
      <p:sp>
        <p:nvSpPr>
          <p:cNvPr id="10" name="Shape 8"/>
          <p:cNvSpPr/>
          <p:nvPr/>
        </p:nvSpPr>
        <p:spPr>
          <a:xfrm>
            <a:off x="2395728" y="1207008"/>
            <a:ext cx="1417320" cy="11430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1" name="Shape 9"/>
          <p:cNvSpPr/>
          <p:nvPr/>
        </p:nvSpPr>
        <p:spPr>
          <a:xfrm>
            <a:off x="2395728" y="1207008"/>
            <a:ext cx="50292" cy="1143000"/>
          </a:xfrm>
          <a:prstGeom prst="rect">
            <a:avLst/>
          </a:prstGeom>
          <a:solidFill>
            <a:srgbClr val="2A9D8F"/>
          </a:solidFill>
          <a:ln w="12700">
            <a:solidFill>
              <a:srgbClr val="2A9D8F"/>
            </a:solidFill>
            <a:prstDash val="solid"/>
          </a:ln>
        </p:spPr>
      </p:sp>
      <p:sp>
        <p:nvSpPr>
          <p:cNvPr id="12" name="Text 10"/>
          <p:cNvSpPr/>
          <p:nvPr/>
        </p:nvSpPr>
        <p:spPr>
          <a:xfrm>
            <a:off x="2560320" y="1280160"/>
            <a:ext cx="1143000" cy="402336"/>
          </a:xfrm>
          <a:prstGeom prst="rect">
            <a:avLst/>
          </a:prstGeom>
          <a:noFill/>
          <a:ln/>
        </p:spPr>
        <p:txBody>
          <a:bodyPr wrap="square" lIns="0" tIns="0" rIns="0" bIns="0" rtlCol="0" anchor="t">
            <a:normAutofit/>
          </a:bodyPr>
          <a:lstStyle/>
          <a:p>
            <a:pPr marL="0" indent="0">
              <a:buNone/>
            </a:pPr>
            <a:r>
              <a:rPr lang="en-US" sz="1260" b="1" dirty="0">
                <a:solidFill>
                  <a:srgbClr val="17365D"/>
                </a:solidFill>
                <a:latin typeface="Yu Gothic" pitchFamily="34" charset="0"/>
                <a:ea typeface="Yu Gothic" pitchFamily="34" charset="-122"/>
                <a:cs typeface="Yu Gothic" pitchFamily="34" charset="-120"/>
              </a:rPr>
              <a:t>Labeled 3D mesh</a:t>
            </a:r>
            <a:endParaRPr lang="en-US" sz="1260" dirty="0"/>
          </a:p>
        </p:txBody>
      </p:sp>
      <p:sp>
        <p:nvSpPr>
          <p:cNvPr id="13" name="Text 11"/>
          <p:cNvSpPr/>
          <p:nvPr/>
        </p:nvSpPr>
        <p:spPr>
          <a:xfrm>
            <a:off x="2560320" y="1709928"/>
            <a:ext cx="1143000" cy="548640"/>
          </a:xfrm>
          <a:prstGeom prst="rect">
            <a:avLst/>
          </a:prstGeom>
          <a:noFill/>
          <a:ln/>
        </p:spPr>
        <p:txBody>
          <a:bodyPr wrap="square" lIns="12700" tIns="0" rIns="0" bIns="25400" rtlCol="0" anchor="t">
            <a:normAutofit/>
          </a:bodyPr>
          <a:lstStyle/>
          <a:p>
            <a:pPr marL="0" indent="0">
              <a:buNone/>
            </a:pPr>
            <a:r>
              <a:rPr lang="en-US" sz="1130" dirty="0">
                <a:solidFill>
                  <a:srgbClr val="4D5966"/>
                </a:solidFill>
                <a:latin typeface="Yu Gothic" pitchFamily="34" charset="0"/>
                <a:ea typeface="Yu Gothic" pitchFamily="34" charset="-122"/>
                <a:cs typeface="Yu Gothic" pitchFamily="34" charset="-120"/>
              </a:rPr>
              <a:t>材料classをtextureへ符号化</a:t>
            </a:r>
            <a:endParaRPr lang="en-US" sz="1130" dirty="0"/>
          </a:p>
        </p:txBody>
      </p:sp>
      <p:sp>
        <p:nvSpPr>
          <p:cNvPr id="14" name="Shape 12"/>
          <p:cNvSpPr/>
          <p:nvPr/>
        </p:nvSpPr>
        <p:spPr>
          <a:xfrm>
            <a:off x="3840480" y="1783080"/>
            <a:ext cx="310896" cy="0"/>
          </a:xfrm>
          <a:prstGeom prst="line">
            <a:avLst/>
          </a:prstGeom>
          <a:noFill/>
          <a:ln w="12700">
            <a:solidFill>
              <a:srgbClr val="6F7B86"/>
            </a:solidFill>
            <a:prstDash val="solid"/>
            <a:headEnd type="none"/>
            <a:tailEnd type="triangle"/>
          </a:ln>
        </p:spPr>
      </p:sp>
      <p:sp>
        <p:nvSpPr>
          <p:cNvPr id="15" name="Shape 13"/>
          <p:cNvSpPr/>
          <p:nvPr/>
        </p:nvSpPr>
        <p:spPr>
          <a:xfrm>
            <a:off x="4197096" y="1207008"/>
            <a:ext cx="1417320" cy="11430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6" name="Shape 14"/>
          <p:cNvSpPr/>
          <p:nvPr/>
        </p:nvSpPr>
        <p:spPr>
          <a:xfrm>
            <a:off x="4197096" y="1207008"/>
            <a:ext cx="50292" cy="1143000"/>
          </a:xfrm>
          <a:prstGeom prst="rect">
            <a:avLst/>
          </a:prstGeom>
          <a:solidFill>
            <a:srgbClr val="8064A2"/>
          </a:solidFill>
          <a:ln w="12700">
            <a:solidFill>
              <a:srgbClr val="8064A2"/>
            </a:solidFill>
            <a:prstDash val="solid"/>
          </a:ln>
        </p:spPr>
      </p:sp>
      <p:sp>
        <p:nvSpPr>
          <p:cNvPr id="17" name="Text 15"/>
          <p:cNvSpPr/>
          <p:nvPr/>
        </p:nvSpPr>
        <p:spPr>
          <a:xfrm>
            <a:off x="4361688" y="1280160"/>
            <a:ext cx="1143000" cy="402336"/>
          </a:xfrm>
          <a:prstGeom prst="rect">
            <a:avLst/>
          </a:prstGeom>
          <a:noFill/>
          <a:ln/>
        </p:spPr>
        <p:txBody>
          <a:bodyPr wrap="square" lIns="0" tIns="0" rIns="0" bIns="0" rtlCol="0" anchor="t">
            <a:normAutofit/>
          </a:bodyPr>
          <a:lstStyle/>
          <a:p>
            <a:pPr marL="0" indent="0">
              <a:buNone/>
            </a:pPr>
            <a:r>
              <a:rPr lang="en-US" sz="1260" b="1" dirty="0">
                <a:solidFill>
                  <a:srgbClr val="17365D"/>
                </a:solidFill>
                <a:latin typeface="Yu Gothic" pitchFamily="34" charset="0"/>
                <a:ea typeface="Yu Gothic" pitchFamily="34" charset="-122"/>
                <a:cs typeface="Yu Gothic" pitchFamily="34" charset="-120"/>
              </a:rPr>
              <a:t>View rendering</a:t>
            </a:r>
            <a:endParaRPr lang="en-US" sz="1260" dirty="0"/>
          </a:p>
        </p:txBody>
      </p:sp>
      <p:sp>
        <p:nvSpPr>
          <p:cNvPr id="18" name="Text 16"/>
          <p:cNvSpPr/>
          <p:nvPr/>
        </p:nvSpPr>
        <p:spPr>
          <a:xfrm>
            <a:off x="4361688" y="1709928"/>
            <a:ext cx="1143000" cy="548640"/>
          </a:xfrm>
          <a:prstGeom prst="rect">
            <a:avLst/>
          </a:prstGeom>
          <a:noFill/>
          <a:ln/>
        </p:spPr>
        <p:txBody>
          <a:bodyPr wrap="square" lIns="12700" tIns="0" rIns="0" bIns="25400" rtlCol="0" anchor="t">
            <a:normAutofit/>
          </a:bodyPr>
          <a:lstStyle/>
          <a:p>
            <a:pPr marL="0" indent="0">
              <a:buNone/>
            </a:pPr>
            <a:r>
              <a:rPr lang="en-US" sz="1130" dirty="0">
                <a:solidFill>
                  <a:srgbClr val="4D5966"/>
                </a:solidFill>
                <a:latin typeface="Yu Gothic" pitchFamily="34" charset="0"/>
                <a:ea typeface="Yu Gothic" pitchFamily="34" charset="-122"/>
                <a:cs typeface="Yu Gothic" pitchFamily="34" charset="-120"/>
              </a:rPr>
              <a:t>camera視点へ投影</a:t>
            </a:r>
            <a:endParaRPr lang="en-US" sz="1130" dirty="0"/>
          </a:p>
        </p:txBody>
      </p:sp>
      <p:sp>
        <p:nvSpPr>
          <p:cNvPr id="19" name="Shape 17"/>
          <p:cNvSpPr/>
          <p:nvPr/>
        </p:nvSpPr>
        <p:spPr>
          <a:xfrm>
            <a:off x="5641848" y="1783080"/>
            <a:ext cx="310896" cy="0"/>
          </a:xfrm>
          <a:prstGeom prst="line">
            <a:avLst/>
          </a:prstGeom>
          <a:noFill/>
          <a:ln w="12700">
            <a:solidFill>
              <a:srgbClr val="6F7B86"/>
            </a:solidFill>
            <a:prstDash val="solid"/>
            <a:headEnd type="none"/>
            <a:tailEnd type="triangle"/>
          </a:ln>
        </p:spPr>
      </p:sp>
      <p:sp>
        <p:nvSpPr>
          <p:cNvPr id="20" name="Shape 18"/>
          <p:cNvSpPr/>
          <p:nvPr/>
        </p:nvSpPr>
        <p:spPr>
          <a:xfrm>
            <a:off x="5998464" y="1207008"/>
            <a:ext cx="1417320" cy="11430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1" name="Shape 19"/>
          <p:cNvSpPr/>
          <p:nvPr/>
        </p:nvSpPr>
        <p:spPr>
          <a:xfrm>
            <a:off x="5998464" y="1207008"/>
            <a:ext cx="50292" cy="1143000"/>
          </a:xfrm>
          <a:prstGeom prst="rect">
            <a:avLst/>
          </a:prstGeom>
          <a:solidFill>
            <a:srgbClr val="ED7D31"/>
          </a:solidFill>
          <a:ln w="12700">
            <a:solidFill>
              <a:srgbClr val="ED7D31"/>
            </a:solidFill>
            <a:prstDash val="solid"/>
          </a:ln>
        </p:spPr>
      </p:sp>
      <p:sp>
        <p:nvSpPr>
          <p:cNvPr id="22" name="Text 20"/>
          <p:cNvSpPr/>
          <p:nvPr/>
        </p:nvSpPr>
        <p:spPr>
          <a:xfrm>
            <a:off x="6163056" y="1280160"/>
            <a:ext cx="1143000" cy="402336"/>
          </a:xfrm>
          <a:prstGeom prst="rect">
            <a:avLst/>
          </a:prstGeom>
          <a:noFill/>
          <a:ln/>
        </p:spPr>
        <p:txBody>
          <a:bodyPr wrap="square" lIns="0" tIns="0" rIns="0" bIns="0" rtlCol="0" anchor="t">
            <a:normAutofit/>
          </a:bodyPr>
          <a:lstStyle/>
          <a:p>
            <a:pPr marL="0" indent="0">
              <a:buNone/>
            </a:pPr>
            <a:r>
              <a:rPr lang="en-US" sz="1260" b="1" dirty="0">
                <a:solidFill>
                  <a:srgbClr val="17365D"/>
                </a:solidFill>
                <a:latin typeface="Yu Gothic" pitchFamily="34" charset="0"/>
                <a:ea typeface="Yu Gothic" pitchFamily="34" charset="-122"/>
                <a:cs typeface="Yu Gothic" pitchFamily="34" charset="-120"/>
              </a:rPr>
              <a:t>Class masks</a:t>
            </a:r>
            <a:endParaRPr lang="en-US" sz="1260" dirty="0"/>
          </a:p>
        </p:txBody>
      </p:sp>
      <p:sp>
        <p:nvSpPr>
          <p:cNvPr id="23" name="Text 21"/>
          <p:cNvSpPr/>
          <p:nvPr/>
        </p:nvSpPr>
        <p:spPr>
          <a:xfrm>
            <a:off x="6163056" y="1709928"/>
            <a:ext cx="1143000" cy="548640"/>
          </a:xfrm>
          <a:prstGeom prst="rect">
            <a:avLst/>
          </a:prstGeom>
          <a:noFill/>
          <a:ln/>
        </p:spPr>
        <p:txBody>
          <a:bodyPr wrap="square" lIns="12700" tIns="0" rIns="0" bIns="25400" rtlCol="0" anchor="t">
            <a:normAutofit/>
          </a:bodyPr>
          <a:lstStyle/>
          <a:p>
            <a:pPr marL="0" indent="0">
              <a:buNone/>
            </a:pPr>
            <a:r>
              <a:rPr lang="en-US" sz="1130" dirty="0">
                <a:solidFill>
                  <a:srgbClr val="4D5966"/>
                </a:solidFill>
                <a:latin typeface="Yu Gothic" pitchFamily="34" charset="0"/>
                <a:ea typeface="Yu Gothic" pitchFamily="34" charset="-122"/>
                <a:cs typeface="Yu Gothic" pitchFamily="34" charset="-120"/>
              </a:rPr>
              <a:t>glass / mirror / other / all</a:t>
            </a:r>
            <a:endParaRPr lang="en-US" sz="1130" dirty="0"/>
          </a:p>
        </p:txBody>
      </p:sp>
      <p:sp>
        <p:nvSpPr>
          <p:cNvPr id="24" name="Shape 22"/>
          <p:cNvSpPr/>
          <p:nvPr/>
        </p:nvSpPr>
        <p:spPr>
          <a:xfrm>
            <a:off x="1005840" y="2834640"/>
            <a:ext cx="3246120" cy="914400"/>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25" name="Shape 23"/>
          <p:cNvSpPr/>
          <p:nvPr/>
        </p:nvSpPr>
        <p:spPr>
          <a:xfrm>
            <a:off x="1005840" y="2834640"/>
            <a:ext cx="50292" cy="914400"/>
          </a:xfrm>
          <a:prstGeom prst="rect">
            <a:avLst/>
          </a:prstGeom>
          <a:solidFill>
            <a:srgbClr val="ED7D31"/>
          </a:solidFill>
          <a:ln w="12700">
            <a:solidFill>
              <a:srgbClr val="ED7D31"/>
            </a:solidFill>
            <a:prstDash val="solid"/>
          </a:ln>
        </p:spPr>
      </p:sp>
      <p:sp>
        <p:nvSpPr>
          <p:cNvPr id="26" name="Text 24"/>
          <p:cNvSpPr/>
          <p:nvPr/>
        </p:nvSpPr>
        <p:spPr>
          <a:xfrm>
            <a:off x="1170432" y="2907792"/>
            <a:ext cx="297180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魚眼画像の扱い</a:t>
            </a:r>
            <a:endParaRPr lang="en-US" sz="1600" dirty="0"/>
          </a:p>
        </p:txBody>
      </p:sp>
      <p:sp>
        <p:nvSpPr>
          <p:cNvPr id="27" name="Text 25"/>
          <p:cNvSpPr/>
          <p:nvPr/>
        </p:nvSpPr>
        <p:spPr>
          <a:xfrm>
            <a:off x="1170432" y="3255264"/>
            <a:ext cx="2971800" cy="402336"/>
          </a:xfrm>
          <a:prstGeom prst="rect">
            <a:avLst/>
          </a:prstGeom>
          <a:noFill/>
          <a:ln/>
        </p:spPr>
        <p:txBody>
          <a:bodyPr wrap="square" lIns="12700" tIns="0" rIns="0" bIns="25400" rtlCol="0" anchor="t">
            <a:normAutofit/>
          </a:bodyPr>
          <a:lstStyle/>
          <a:p>
            <a:pPr marL="0" indent="0">
              <a:buNone/>
            </a:pPr>
            <a:r>
              <a:rPr lang="en-US" sz="1300" dirty="0">
                <a:solidFill>
                  <a:srgbClr val="4D5966"/>
                </a:solidFill>
                <a:latin typeface="Yu Gothic" pitchFamily="34" charset="0"/>
                <a:ea typeface="Yu Gothic" pitchFamily="34" charset="-122"/>
                <a:cs typeface="Yu Gothic" pitchFamily="34" charset="-120"/>
              </a:rPr>
              <a:t>既存RGB segmentation手法と互換にするため、fisheyeをpinhole画像へundistort。</a:t>
            </a:r>
            <a:endParaRPr lang="en-US" sz="1300" dirty="0"/>
          </a:p>
        </p:txBody>
      </p:sp>
      <p:sp>
        <p:nvSpPr>
          <p:cNvPr id="28" name="Shape 26"/>
          <p:cNvSpPr/>
          <p:nvPr/>
        </p:nvSpPr>
        <p:spPr>
          <a:xfrm>
            <a:off x="4892040" y="2834640"/>
            <a:ext cx="3246120" cy="914400"/>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29" name="Shape 27"/>
          <p:cNvSpPr/>
          <p:nvPr/>
        </p:nvSpPr>
        <p:spPr>
          <a:xfrm>
            <a:off x="4892040" y="2834640"/>
            <a:ext cx="50292" cy="914400"/>
          </a:xfrm>
          <a:prstGeom prst="rect">
            <a:avLst/>
          </a:prstGeom>
          <a:solidFill>
            <a:srgbClr val="2A9D8F"/>
          </a:solidFill>
          <a:ln w="12700">
            <a:solidFill>
              <a:srgbClr val="2A9D8F"/>
            </a:solidFill>
            <a:prstDash val="solid"/>
          </a:ln>
        </p:spPr>
      </p:sp>
      <p:sp>
        <p:nvSpPr>
          <p:cNvPr id="30" name="Text 28"/>
          <p:cNvSpPr/>
          <p:nvPr/>
        </p:nvSpPr>
        <p:spPr>
          <a:xfrm>
            <a:off x="5056632" y="2907792"/>
            <a:ext cx="297180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modalities間の一貫性</a:t>
            </a:r>
            <a:endParaRPr lang="en-US" sz="1600" dirty="0"/>
          </a:p>
        </p:txBody>
      </p:sp>
      <p:sp>
        <p:nvSpPr>
          <p:cNvPr id="31" name="Text 29"/>
          <p:cNvSpPr/>
          <p:nvPr/>
        </p:nvSpPr>
        <p:spPr>
          <a:xfrm>
            <a:off x="5056632" y="3255264"/>
            <a:ext cx="2971800" cy="402336"/>
          </a:xfrm>
          <a:prstGeom prst="rect">
            <a:avLst/>
          </a:prstGeom>
          <a:noFill/>
          <a:ln/>
        </p:spPr>
        <p:txBody>
          <a:bodyPr wrap="square" lIns="12700" tIns="0" rIns="0" bIns="25400" rtlCol="0" anchor="t">
            <a:normAutofit/>
          </a:bodyPr>
          <a:lstStyle/>
          <a:p>
            <a:pPr marL="0" indent="0">
              <a:buNone/>
            </a:pPr>
            <a:r>
              <a:rPr lang="en-US" sz="1300" dirty="0">
                <a:solidFill>
                  <a:srgbClr val="4D5966"/>
                </a:solidFill>
                <a:latin typeface="Yu Gothic" pitchFamily="34" charset="0"/>
                <a:ea typeface="Yu Gothic" pitchFamily="34" charset="-122"/>
                <a:cs typeface="Yu Gothic" pitchFamily="34" charset="-120"/>
              </a:rPr>
              <a:t>点群と画像が同じ3D mesh由来のため、class定義と空間位置を共有。</a:t>
            </a:r>
            <a:endParaRPr lang="en-US" sz="1300" dirty="0"/>
          </a:p>
        </p:txBody>
      </p:sp>
      <p:sp>
        <p:nvSpPr>
          <p:cNvPr id="32" name="Shape 30"/>
          <p:cNvSpPr/>
          <p:nvPr/>
        </p:nvSpPr>
        <p:spPr>
          <a:xfrm>
            <a:off x="566928" y="4096512"/>
            <a:ext cx="8010144" cy="347472"/>
          </a:xfrm>
          <a:prstGeom prst="rect">
            <a:avLst/>
          </a:prstGeom>
          <a:solidFill>
            <a:srgbClr val="F8FAFB"/>
          </a:solidFill>
          <a:ln w="12700">
            <a:solidFill>
              <a:srgbClr val="2E75B6"/>
            </a:solidFill>
            <a:prstDash val="solid"/>
          </a:ln>
        </p:spPr>
      </p:sp>
      <p:sp>
        <p:nvSpPr>
          <p:cNvPr id="33" name="Shape 31"/>
          <p:cNvSpPr/>
          <p:nvPr/>
        </p:nvSpPr>
        <p:spPr>
          <a:xfrm>
            <a:off x="566928" y="4096512"/>
            <a:ext cx="64008" cy="347472"/>
          </a:xfrm>
          <a:prstGeom prst="rect">
            <a:avLst/>
          </a:prstGeom>
          <a:solidFill>
            <a:srgbClr val="2E75B6"/>
          </a:solidFill>
          <a:ln w="12700">
            <a:solidFill>
              <a:srgbClr val="2E75B6"/>
            </a:solidFill>
            <a:prstDash val="solid"/>
          </a:ln>
        </p:spPr>
      </p:sp>
      <p:sp>
        <p:nvSpPr>
          <p:cNvPr id="34" name="Text 32"/>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本論文の本質は、meshを介してRGBとLiDARの正解を同じ世界座標に結びつけた点。</a:t>
            </a:r>
            <a:endParaRPr lang="en-US" sz="1450" dirty="0"/>
          </a:p>
        </p:txBody>
      </p:sp>
      <p:sp>
        <p:nvSpPr>
          <p:cNvPr id="35" name="Text 33"/>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3.2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7個のIDのうち、0を除く6クラスが意味のある評価対象となる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Label taxonomy</a:t>
            </a:r>
            <a:endParaRPr lang="en-US" sz="950" dirty="0"/>
          </a:p>
        </p:txBody>
      </p:sp>
      <p:sp>
        <p:nvSpPr>
          <p:cNvPr id="5" name="Shape 3"/>
          <p:cNvSpPr/>
          <p:nvPr/>
        </p:nvSpPr>
        <p:spPr>
          <a:xfrm>
            <a:off x="685800" y="932688"/>
            <a:ext cx="256032" cy="256032"/>
          </a:xfrm>
          <a:prstGeom prst="ellipse">
            <a:avLst/>
          </a:prstGeom>
          <a:solidFill>
            <a:srgbClr val="8C8C8C"/>
          </a:solidFill>
          <a:ln w="12700">
            <a:solidFill>
              <a:srgbClr val="8C8C8C"/>
            </a:solidFill>
            <a:prstDash val="solid"/>
          </a:ln>
        </p:spPr>
      </p:sp>
      <p:sp>
        <p:nvSpPr>
          <p:cNvPr id="6" name="Text 4"/>
          <p:cNvSpPr/>
          <p:nvPr/>
        </p:nvSpPr>
        <p:spPr>
          <a:xfrm>
            <a:off x="685800" y="932688"/>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0</a:t>
            </a:r>
            <a:endParaRPr lang="en-US" sz="1100" dirty="0"/>
          </a:p>
        </p:txBody>
      </p:sp>
      <p:sp>
        <p:nvSpPr>
          <p:cNvPr id="7" name="Text 5"/>
          <p:cNvSpPr/>
          <p:nvPr/>
        </p:nvSpPr>
        <p:spPr>
          <a:xfrm>
            <a:off x="1115568" y="877824"/>
            <a:ext cx="1874520" cy="347472"/>
          </a:xfrm>
          <a:prstGeom prst="rect">
            <a:avLst/>
          </a:prstGeom>
          <a:noFill/>
          <a:ln/>
        </p:spPr>
        <p:txBody>
          <a:bodyPr wrap="square" lIns="0" tIns="0" rIns="0" bIns="0" rtlCol="0" anchor="ctr">
            <a:normAutofit/>
          </a:bodyPr>
          <a:lstStyle/>
          <a:p>
            <a:pPr marL="0" indent="0">
              <a:buNone/>
            </a:pPr>
            <a:r>
              <a:rPr lang="en-US" sz="1400" b="1" dirty="0">
                <a:solidFill>
                  <a:srgbClr val="8C8C8C"/>
                </a:solidFill>
                <a:latin typeface="Yu Gothic" pitchFamily="34" charset="0"/>
                <a:ea typeface="Yu Gothic" pitchFamily="34" charset="-122"/>
                <a:cs typeface="Yu Gothic" pitchFamily="34" charset="-120"/>
              </a:rPr>
              <a:t>Unlabeled</a:t>
            </a:r>
            <a:endParaRPr lang="en-US" sz="1400" dirty="0"/>
          </a:p>
        </p:txBody>
      </p:sp>
      <p:sp>
        <p:nvSpPr>
          <p:cNvPr id="8" name="Text 6"/>
          <p:cNvSpPr/>
          <p:nvPr/>
        </p:nvSpPr>
        <p:spPr>
          <a:xfrm>
            <a:off x="3090672" y="877824"/>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mesh外・正解なし</a:t>
            </a:r>
            <a:endParaRPr lang="en-US" sz="1320" dirty="0"/>
          </a:p>
        </p:txBody>
      </p:sp>
      <p:sp>
        <p:nvSpPr>
          <p:cNvPr id="9" name="Shape 7"/>
          <p:cNvSpPr/>
          <p:nvPr/>
        </p:nvSpPr>
        <p:spPr>
          <a:xfrm>
            <a:off x="1097280" y="1271016"/>
            <a:ext cx="7242048" cy="0"/>
          </a:xfrm>
          <a:prstGeom prst="line">
            <a:avLst/>
          </a:prstGeom>
          <a:noFill/>
          <a:ln w="12700">
            <a:solidFill>
              <a:srgbClr val="D5DCE3"/>
            </a:solidFill>
            <a:prstDash val="solid"/>
            <a:headEnd type="none"/>
            <a:tailEnd type="none"/>
          </a:ln>
        </p:spPr>
      </p:sp>
      <p:sp>
        <p:nvSpPr>
          <p:cNvPr id="10" name="Shape 8"/>
          <p:cNvSpPr/>
          <p:nvPr/>
        </p:nvSpPr>
        <p:spPr>
          <a:xfrm>
            <a:off x="685800" y="1362456"/>
            <a:ext cx="256032" cy="256032"/>
          </a:xfrm>
          <a:prstGeom prst="ellipse">
            <a:avLst/>
          </a:prstGeom>
          <a:solidFill>
            <a:srgbClr val="17365D"/>
          </a:solidFill>
          <a:ln w="12700">
            <a:solidFill>
              <a:srgbClr val="17365D"/>
            </a:solidFill>
            <a:prstDash val="solid"/>
          </a:ln>
        </p:spPr>
      </p:sp>
      <p:sp>
        <p:nvSpPr>
          <p:cNvPr id="11" name="Text 9"/>
          <p:cNvSpPr/>
          <p:nvPr/>
        </p:nvSpPr>
        <p:spPr>
          <a:xfrm>
            <a:off x="685800" y="1362456"/>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1</a:t>
            </a:r>
            <a:endParaRPr lang="en-US" sz="1100" dirty="0"/>
          </a:p>
        </p:txBody>
      </p:sp>
      <p:sp>
        <p:nvSpPr>
          <p:cNvPr id="12" name="Text 10"/>
          <p:cNvSpPr/>
          <p:nvPr/>
        </p:nvSpPr>
        <p:spPr>
          <a:xfrm>
            <a:off x="1115568" y="1307592"/>
            <a:ext cx="1874520" cy="347472"/>
          </a:xfrm>
          <a:prstGeom prst="rect">
            <a:avLst/>
          </a:prstGeom>
          <a:noFill/>
          <a:ln/>
        </p:spPr>
        <p:txBody>
          <a:bodyPr wrap="square" lIns="0" tIns="0" rIns="0" bIns="0" rtlCol="0" anchor="ctr">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Normal</a:t>
            </a:r>
            <a:endParaRPr lang="en-US" sz="1400" dirty="0"/>
          </a:p>
        </p:txBody>
      </p:sp>
      <p:sp>
        <p:nvSpPr>
          <p:cNvPr id="13" name="Text 11"/>
          <p:cNvSpPr/>
          <p:nvPr/>
        </p:nvSpPr>
        <p:spPr>
          <a:xfrm>
            <a:off x="3090672" y="1307592"/>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通常の実表面</a:t>
            </a:r>
            <a:endParaRPr lang="en-US" sz="1320" dirty="0"/>
          </a:p>
        </p:txBody>
      </p:sp>
      <p:sp>
        <p:nvSpPr>
          <p:cNvPr id="14" name="Shape 12"/>
          <p:cNvSpPr/>
          <p:nvPr/>
        </p:nvSpPr>
        <p:spPr>
          <a:xfrm>
            <a:off x="1097280" y="1700784"/>
            <a:ext cx="7242048" cy="0"/>
          </a:xfrm>
          <a:prstGeom prst="line">
            <a:avLst/>
          </a:prstGeom>
          <a:noFill/>
          <a:ln w="12700">
            <a:solidFill>
              <a:srgbClr val="D5DCE3"/>
            </a:solidFill>
            <a:prstDash val="solid"/>
            <a:headEnd type="none"/>
            <a:tailEnd type="none"/>
          </a:ln>
        </p:spPr>
      </p:sp>
      <p:sp>
        <p:nvSpPr>
          <p:cNvPr id="15" name="Shape 13"/>
          <p:cNvSpPr/>
          <p:nvPr/>
        </p:nvSpPr>
        <p:spPr>
          <a:xfrm>
            <a:off x="685800" y="1792224"/>
            <a:ext cx="256032" cy="256032"/>
          </a:xfrm>
          <a:prstGeom prst="ellipse">
            <a:avLst/>
          </a:prstGeom>
          <a:solidFill>
            <a:srgbClr val="2E75B6"/>
          </a:solidFill>
          <a:ln w="12700">
            <a:solidFill>
              <a:srgbClr val="2E75B6"/>
            </a:solidFill>
            <a:prstDash val="solid"/>
          </a:ln>
        </p:spPr>
      </p:sp>
      <p:sp>
        <p:nvSpPr>
          <p:cNvPr id="16" name="Text 14"/>
          <p:cNvSpPr/>
          <p:nvPr/>
        </p:nvSpPr>
        <p:spPr>
          <a:xfrm>
            <a:off x="685800" y="1792224"/>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2</a:t>
            </a:r>
            <a:endParaRPr lang="en-US" sz="1100" dirty="0"/>
          </a:p>
        </p:txBody>
      </p:sp>
      <p:sp>
        <p:nvSpPr>
          <p:cNvPr id="17" name="Text 15"/>
          <p:cNvSpPr/>
          <p:nvPr/>
        </p:nvSpPr>
        <p:spPr>
          <a:xfrm>
            <a:off x="1115568" y="1737360"/>
            <a:ext cx="1874520" cy="347472"/>
          </a:xfrm>
          <a:prstGeom prst="rect">
            <a:avLst/>
          </a:prstGeom>
          <a:noFill/>
          <a:ln/>
        </p:spPr>
        <p:txBody>
          <a:bodyPr wrap="square" lIns="0" tIns="0" rIns="0" bIns="0" rtlCol="0" anchor="ctr">
            <a:normAutofit/>
          </a:bodyPr>
          <a:lstStyle/>
          <a:p>
            <a:pPr marL="0" indent="0">
              <a:buNone/>
            </a:pPr>
            <a:r>
              <a:rPr lang="en-US" sz="1400" b="1" dirty="0">
                <a:solidFill>
                  <a:srgbClr val="2E75B6"/>
                </a:solidFill>
                <a:latin typeface="Yu Gothic" pitchFamily="34" charset="0"/>
                <a:ea typeface="Yu Gothic" pitchFamily="34" charset="-122"/>
                <a:cs typeface="Yu Gothic" pitchFamily="34" charset="-120"/>
              </a:rPr>
              <a:t>Glass</a:t>
            </a:r>
            <a:endParaRPr lang="en-US" sz="1400" dirty="0"/>
          </a:p>
        </p:txBody>
      </p:sp>
      <p:sp>
        <p:nvSpPr>
          <p:cNvPr id="18" name="Text 16"/>
          <p:cNvSpPr/>
          <p:nvPr/>
        </p:nvSpPr>
        <p:spPr>
          <a:xfrm>
            <a:off x="3090672" y="1737360"/>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ガラス面</a:t>
            </a:r>
            <a:endParaRPr lang="en-US" sz="1320" dirty="0"/>
          </a:p>
        </p:txBody>
      </p:sp>
      <p:sp>
        <p:nvSpPr>
          <p:cNvPr id="19" name="Shape 17"/>
          <p:cNvSpPr/>
          <p:nvPr/>
        </p:nvSpPr>
        <p:spPr>
          <a:xfrm>
            <a:off x="1097280" y="2130552"/>
            <a:ext cx="7242048" cy="0"/>
          </a:xfrm>
          <a:prstGeom prst="line">
            <a:avLst/>
          </a:prstGeom>
          <a:noFill/>
          <a:ln w="12700">
            <a:solidFill>
              <a:srgbClr val="D5DCE3"/>
            </a:solidFill>
            <a:prstDash val="solid"/>
            <a:headEnd type="none"/>
            <a:tailEnd type="none"/>
          </a:ln>
        </p:spPr>
      </p:sp>
      <p:sp>
        <p:nvSpPr>
          <p:cNvPr id="20" name="Shape 18"/>
          <p:cNvSpPr/>
          <p:nvPr/>
        </p:nvSpPr>
        <p:spPr>
          <a:xfrm>
            <a:off x="685800" y="2221992"/>
            <a:ext cx="256032" cy="256032"/>
          </a:xfrm>
          <a:prstGeom prst="ellipse">
            <a:avLst/>
          </a:prstGeom>
          <a:solidFill>
            <a:srgbClr val="8064A2"/>
          </a:solidFill>
          <a:ln w="12700">
            <a:solidFill>
              <a:srgbClr val="8064A2"/>
            </a:solidFill>
            <a:prstDash val="solid"/>
          </a:ln>
        </p:spPr>
      </p:sp>
      <p:sp>
        <p:nvSpPr>
          <p:cNvPr id="21" name="Text 19"/>
          <p:cNvSpPr/>
          <p:nvPr/>
        </p:nvSpPr>
        <p:spPr>
          <a:xfrm>
            <a:off x="685800" y="2221992"/>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3</a:t>
            </a:r>
            <a:endParaRPr lang="en-US" sz="1100" dirty="0"/>
          </a:p>
        </p:txBody>
      </p:sp>
      <p:sp>
        <p:nvSpPr>
          <p:cNvPr id="22" name="Text 20"/>
          <p:cNvSpPr/>
          <p:nvPr/>
        </p:nvSpPr>
        <p:spPr>
          <a:xfrm>
            <a:off x="1115568" y="2167128"/>
            <a:ext cx="1874520" cy="347472"/>
          </a:xfrm>
          <a:prstGeom prst="rect">
            <a:avLst/>
          </a:prstGeom>
          <a:noFill/>
          <a:ln/>
        </p:spPr>
        <p:txBody>
          <a:bodyPr wrap="square" lIns="0" tIns="0" rIns="0" bIns="0" rtlCol="0" anchor="ctr">
            <a:normAutofit/>
          </a:bodyPr>
          <a:lstStyle/>
          <a:p>
            <a:pPr marL="0" indent="0">
              <a:buNone/>
            </a:pPr>
            <a:r>
              <a:rPr lang="en-US" sz="1400" b="1" dirty="0">
                <a:solidFill>
                  <a:srgbClr val="8064A2"/>
                </a:solidFill>
                <a:latin typeface="Yu Gothic" pitchFamily="34" charset="0"/>
                <a:ea typeface="Yu Gothic" pitchFamily="34" charset="-122"/>
                <a:cs typeface="Yu Gothic" pitchFamily="34" charset="-120"/>
              </a:rPr>
              <a:t>Mirror</a:t>
            </a:r>
            <a:endParaRPr lang="en-US" sz="1400" dirty="0"/>
          </a:p>
        </p:txBody>
      </p:sp>
      <p:sp>
        <p:nvSpPr>
          <p:cNvPr id="23" name="Text 21"/>
          <p:cNvSpPr/>
          <p:nvPr/>
        </p:nvSpPr>
        <p:spPr>
          <a:xfrm>
            <a:off x="3090672" y="2167128"/>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鏡面</a:t>
            </a:r>
            <a:endParaRPr lang="en-US" sz="1320" dirty="0"/>
          </a:p>
        </p:txBody>
      </p:sp>
      <p:sp>
        <p:nvSpPr>
          <p:cNvPr id="24" name="Shape 22"/>
          <p:cNvSpPr/>
          <p:nvPr/>
        </p:nvSpPr>
        <p:spPr>
          <a:xfrm>
            <a:off x="1097280" y="2560320"/>
            <a:ext cx="7242048" cy="0"/>
          </a:xfrm>
          <a:prstGeom prst="line">
            <a:avLst/>
          </a:prstGeom>
          <a:noFill/>
          <a:ln w="12700">
            <a:solidFill>
              <a:srgbClr val="D5DCE3"/>
            </a:solidFill>
            <a:prstDash val="solid"/>
            <a:headEnd type="none"/>
            <a:tailEnd type="none"/>
          </a:ln>
        </p:spPr>
      </p:sp>
      <p:sp>
        <p:nvSpPr>
          <p:cNvPr id="25" name="Shape 23"/>
          <p:cNvSpPr/>
          <p:nvPr/>
        </p:nvSpPr>
        <p:spPr>
          <a:xfrm>
            <a:off x="685800" y="2651760"/>
            <a:ext cx="256032" cy="256032"/>
          </a:xfrm>
          <a:prstGeom prst="ellipse">
            <a:avLst/>
          </a:prstGeom>
          <a:solidFill>
            <a:srgbClr val="2A9D8F"/>
          </a:solidFill>
          <a:ln w="12700">
            <a:solidFill>
              <a:srgbClr val="2A9D8F"/>
            </a:solidFill>
            <a:prstDash val="solid"/>
          </a:ln>
        </p:spPr>
      </p:sp>
      <p:sp>
        <p:nvSpPr>
          <p:cNvPr id="26" name="Text 24"/>
          <p:cNvSpPr/>
          <p:nvPr/>
        </p:nvSpPr>
        <p:spPr>
          <a:xfrm>
            <a:off x="685800" y="2651760"/>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4</a:t>
            </a:r>
            <a:endParaRPr lang="en-US" sz="1100" dirty="0"/>
          </a:p>
        </p:txBody>
      </p:sp>
      <p:sp>
        <p:nvSpPr>
          <p:cNvPr id="27" name="Text 25"/>
          <p:cNvSpPr/>
          <p:nvPr/>
        </p:nvSpPr>
        <p:spPr>
          <a:xfrm>
            <a:off x="1115568" y="2596896"/>
            <a:ext cx="1874520" cy="347472"/>
          </a:xfrm>
          <a:prstGeom prst="rect">
            <a:avLst/>
          </a:prstGeom>
          <a:noFill/>
          <a:ln/>
        </p:spPr>
        <p:txBody>
          <a:bodyPr wrap="square" lIns="0" tIns="0" rIns="0" bIns="0" rtlCol="0" anchor="ctr">
            <a:normAutofit/>
          </a:bodyPr>
          <a:lstStyle/>
          <a:p>
            <a:pPr marL="0" indent="0">
              <a:buNone/>
            </a:pPr>
            <a:r>
              <a:rPr lang="en-US" sz="1400" b="1" dirty="0">
                <a:solidFill>
                  <a:srgbClr val="2A9D8F"/>
                </a:solidFill>
                <a:latin typeface="Yu Gothic" pitchFamily="34" charset="0"/>
                <a:ea typeface="Yu Gothic" pitchFamily="34" charset="-122"/>
                <a:cs typeface="Yu Gothic" pitchFamily="34" charset="-120"/>
              </a:rPr>
              <a:t>Other reflective</a:t>
            </a:r>
            <a:endParaRPr lang="en-US" sz="1400" dirty="0"/>
          </a:p>
        </p:txBody>
      </p:sp>
      <p:sp>
        <p:nvSpPr>
          <p:cNvPr id="28" name="Text 26"/>
          <p:cNvSpPr/>
          <p:nvPr/>
        </p:nvSpPr>
        <p:spPr>
          <a:xfrm>
            <a:off x="3090672" y="2596896"/>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アクリル、白板、TV、monitor、glazed tile等</a:t>
            </a:r>
            <a:endParaRPr lang="en-US" sz="1320" dirty="0"/>
          </a:p>
        </p:txBody>
      </p:sp>
      <p:sp>
        <p:nvSpPr>
          <p:cNvPr id="29" name="Shape 27"/>
          <p:cNvSpPr/>
          <p:nvPr/>
        </p:nvSpPr>
        <p:spPr>
          <a:xfrm>
            <a:off x="1097280" y="2990088"/>
            <a:ext cx="7242048" cy="0"/>
          </a:xfrm>
          <a:prstGeom prst="line">
            <a:avLst/>
          </a:prstGeom>
          <a:noFill/>
          <a:ln w="12700">
            <a:solidFill>
              <a:srgbClr val="D5DCE3"/>
            </a:solidFill>
            <a:prstDash val="solid"/>
            <a:headEnd type="none"/>
            <a:tailEnd type="none"/>
          </a:ln>
        </p:spPr>
      </p:sp>
      <p:sp>
        <p:nvSpPr>
          <p:cNvPr id="30" name="Shape 28"/>
          <p:cNvSpPr/>
          <p:nvPr/>
        </p:nvSpPr>
        <p:spPr>
          <a:xfrm>
            <a:off x="685800" y="3081528"/>
            <a:ext cx="256032" cy="256032"/>
          </a:xfrm>
          <a:prstGeom prst="ellipse">
            <a:avLst/>
          </a:prstGeom>
          <a:solidFill>
            <a:srgbClr val="ED7D31"/>
          </a:solidFill>
          <a:ln w="12700">
            <a:solidFill>
              <a:srgbClr val="ED7D31"/>
            </a:solidFill>
            <a:prstDash val="solid"/>
          </a:ln>
        </p:spPr>
      </p:sp>
      <p:sp>
        <p:nvSpPr>
          <p:cNvPr id="31" name="Text 29"/>
          <p:cNvSpPr/>
          <p:nvPr/>
        </p:nvSpPr>
        <p:spPr>
          <a:xfrm>
            <a:off x="685800" y="3081528"/>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5</a:t>
            </a:r>
            <a:endParaRPr lang="en-US" sz="1100" dirty="0"/>
          </a:p>
        </p:txBody>
      </p:sp>
      <p:sp>
        <p:nvSpPr>
          <p:cNvPr id="32" name="Text 30"/>
          <p:cNvSpPr/>
          <p:nvPr/>
        </p:nvSpPr>
        <p:spPr>
          <a:xfrm>
            <a:off x="1115568" y="3026664"/>
            <a:ext cx="1874520" cy="347472"/>
          </a:xfrm>
          <a:prstGeom prst="rect">
            <a:avLst/>
          </a:prstGeom>
          <a:noFill/>
          <a:ln/>
        </p:spPr>
        <p:txBody>
          <a:bodyPr wrap="square" lIns="0" tIns="0" rIns="0" bIns="0" rtlCol="0" anchor="ctr">
            <a:normAutofit/>
          </a:bodyPr>
          <a:lstStyle/>
          <a:p>
            <a:pPr marL="0" indent="0">
              <a:buNone/>
            </a:pPr>
            <a:r>
              <a:rPr lang="en-US" sz="1400" b="1" dirty="0">
                <a:solidFill>
                  <a:srgbClr val="ED7D31"/>
                </a:solidFill>
                <a:latin typeface="Yu Gothic" pitchFamily="34" charset="0"/>
                <a:ea typeface="Yu Gothic" pitchFamily="34" charset="-122"/>
                <a:cs typeface="Yu Gothic" pitchFamily="34" charset="-120"/>
              </a:rPr>
              <a:t>Reflection point</a:t>
            </a:r>
            <a:endParaRPr lang="en-US" sz="1400" dirty="0"/>
          </a:p>
        </p:txBody>
      </p:sp>
      <p:sp>
        <p:nvSpPr>
          <p:cNvPr id="33" name="Text 31"/>
          <p:cNvSpPr/>
          <p:nvPr/>
        </p:nvSpPr>
        <p:spPr>
          <a:xfrm>
            <a:off x="3090672" y="3026664"/>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反射経路で生じた虚像点（実在表面ではない）</a:t>
            </a:r>
            <a:endParaRPr lang="en-US" sz="1320" dirty="0"/>
          </a:p>
        </p:txBody>
      </p:sp>
      <p:sp>
        <p:nvSpPr>
          <p:cNvPr id="34" name="Shape 32"/>
          <p:cNvSpPr/>
          <p:nvPr/>
        </p:nvSpPr>
        <p:spPr>
          <a:xfrm>
            <a:off x="1097280" y="3419856"/>
            <a:ext cx="7242048" cy="0"/>
          </a:xfrm>
          <a:prstGeom prst="line">
            <a:avLst/>
          </a:prstGeom>
          <a:noFill/>
          <a:ln w="12700">
            <a:solidFill>
              <a:srgbClr val="D5DCE3"/>
            </a:solidFill>
            <a:prstDash val="solid"/>
            <a:headEnd type="none"/>
            <a:tailEnd type="none"/>
          </a:ln>
        </p:spPr>
      </p:sp>
      <p:sp>
        <p:nvSpPr>
          <p:cNvPr id="35" name="Shape 33"/>
          <p:cNvSpPr/>
          <p:nvPr/>
        </p:nvSpPr>
        <p:spPr>
          <a:xfrm>
            <a:off x="685800" y="3511296"/>
            <a:ext cx="256032" cy="256032"/>
          </a:xfrm>
          <a:prstGeom prst="ellipse">
            <a:avLst/>
          </a:prstGeom>
          <a:solidFill>
            <a:srgbClr val="C94C4C"/>
          </a:solidFill>
          <a:ln w="12700">
            <a:solidFill>
              <a:srgbClr val="C94C4C"/>
            </a:solidFill>
            <a:prstDash val="solid"/>
          </a:ln>
        </p:spPr>
      </p:sp>
      <p:sp>
        <p:nvSpPr>
          <p:cNvPr id="36" name="Text 34"/>
          <p:cNvSpPr/>
          <p:nvPr/>
        </p:nvSpPr>
        <p:spPr>
          <a:xfrm>
            <a:off x="685800" y="3511296"/>
            <a:ext cx="256032"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Yu Gothic" pitchFamily="34" charset="0"/>
                <a:ea typeface="Yu Gothic" pitchFamily="34" charset="-122"/>
                <a:cs typeface="Yu Gothic" pitchFamily="34" charset="-120"/>
              </a:rPr>
              <a:t>6</a:t>
            </a:r>
            <a:endParaRPr lang="en-US" sz="1100" dirty="0"/>
          </a:p>
        </p:txBody>
      </p:sp>
      <p:sp>
        <p:nvSpPr>
          <p:cNvPr id="37" name="Text 35"/>
          <p:cNvSpPr/>
          <p:nvPr/>
        </p:nvSpPr>
        <p:spPr>
          <a:xfrm>
            <a:off x="1115568" y="3456432"/>
            <a:ext cx="1874520" cy="347472"/>
          </a:xfrm>
          <a:prstGeom prst="rect">
            <a:avLst/>
          </a:prstGeom>
          <a:noFill/>
          <a:ln/>
        </p:spPr>
        <p:txBody>
          <a:bodyPr wrap="square" lIns="0" tIns="0" rIns="0" bIns="0" rtlCol="0" anchor="ctr">
            <a:normAutofit/>
          </a:bodyPr>
          <a:lstStyle/>
          <a:p>
            <a:pPr marL="0" indent="0">
              <a:buNone/>
            </a:pPr>
            <a:r>
              <a:rPr lang="en-US" sz="1400" b="1" dirty="0">
                <a:solidFill>
                  <a:srgbClr val="C94C4C"/>
                </a:solidFill>
                <a:latin typeface="Yu Gothic" pitchFamily="34" charset="0"/>
                <a:ea typeface="Yu Gothic" pitchFamily="34" charset="-122"/>
                <a:cs typeface="Yu Gothic" pitchFamily="34" charset="-120"/>
              </a:rPr>
              <a:t>Obstacle behind glass</a:t>
            </a:r>
            <a:endParaRPr lang="en-US" sz="1400" dirty="0"/>
          </a:p>
        </p:txBody>
      </p:sp>
      <p:sp>
        <p:nvSpPr>
          <p:cNvPr id="38" name="Text 36"/>
          <p:cNvSpPr/>
          <p:nvPr/>
        </p:nvSpPr>
        <p:spPr>
          <a:xfrm>
            <a:off x="3090672" y="3456432"/>
            <a:ext cx="5230368" cy="347472"/>
          </a:xfrm>
          <a:prstGeom prst="rect">
            <a:avLst/>
          </a:prstGeom>
          <a:noFill/>
          <a:ln/>
        </p:spPr>
        <p:txBody>
          <a:bodyPr wrap="square" lIns="0" tIns="0" rIns="0" bIns="0" rtlCol="0" anchor="ctr">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透明ガラスを透過して得た背後障害物</a:t>
            </a:r>
            <a:endParaRPr lang="en-US" sz="1320" dirty="0"/>
          </a:p>
        </p:txBody>
      </p:sp>
      <p:sp>
        <p:nvSpPr>
          <p:cNvPr id="39" name="Shape 37"/>
          <p:cNvSpPr/>
          <p:nvPr/>
        </p:nvSpPr>
        <p:spPr>
          <a:xfrm>
            <a:off x="566928" y="4096512"/>
            <a:ext cx="8010144" cy="347472"/>
          </a:xfrm>
          <a:prstGeom prst="rect">
            <a:avLst/>
          </a:prstGeom>
          <a:solidFill>
            <a:srgbClr val="F8FAFB"/>
          </a:solidFill>
          <a:ln w="12700">
            <a:solidFill>
              <a:srgbClr val="ED7D31"/>
            </a:solidFill>
            <a:prstDash val="solid"/>
          </a:ln>
        </p:spPr>
      </p:sp>
      <p:sp>
        <p:nvSpPr>
          <p:cNvPr id="40" name="Shape 38"/>
          <p:cNvSpPr/>
          <p:nvPr/>
        </p:nvSpPr>
        <p:spPr>
          <a:xfrm>
            <a:off x="566928" y="4096512"/>
            <a:ext cx="64008" cy="347472"/>
          </a:xfrm>
          <a:prstGeom prst="rect">
            <a:avLst/>
          </a:prstGeom>
          <a:solidFill>
            <a:srgbClr val="ED7D31"/>
          </a:solidFill>
          <a:ln w="12700">
            <a:solidFill>
              <a:srgbClr val="ED7D31"/>
            </a:solidFill>
            <a:prstDash val="solid"/>
          </a:ln>
        </p:spPr>
      </p:sp>
      <p:sp>
        <p:nvSpPr>
          <p:cNvPr id="41" name="Text 39"/>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“6 classes”と説明する場合も、配布ラベルにはID 0（Unlabeled）が含まれる。</a:t>
            </a:r>
            <a:endParaRPr lang="en-US" sz="1450" dirty="0"/>
          </a:p>
        </p:txBody>
      </p:sp>
      <p:sp>
        <p:nvSpPr>
          <p:cNvPr id="42" name="Text 40"/>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3.2; dataset label definition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48,024点群と3,799画像を、raw・RGB・SemanticKITTI形式で公開する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Dataset scale</a:t>
            </a:r>
            <a:endParaRPr lang="en-US" sz="950" dirty="0"/>
          </a:p>
        </p:txBody>
      </p:sp>
      <p:sp>
        <p:nvSpPr>
          <p:cNvPr id="5" name="Shape 3"/>
          <p:cNvSpPr/>
          <p:nvPr/>
        </p:nvSpPr>
        <p:spPr>
          <a:xfrm>
            <a:off x="658368" y="941832"/>
            <a:ext cx="2240280" cy="1389888"/>
          </a:xfrm>
          <a:prstGeom prst="roundRect">
            <a:avLst>
              <a:gd name="adj" fmla="val 3289"/>
            </a:avLst>
          </a:prstGeom>
          <a:solidFill>
            <a:srgbClr val="FFFFFF"/>
          </a:solidFill>
          <a:ln w="12700">
            <a:solidFill>
              <a:srgbClr val="D5DCE3"/>
            </a:solidFill>
            <a:prstDash val="solid"/>
          </a:ln>
          <a:effectLst>
            <a:outerShdw blurRad="25400" dist="50800" dir="2700000" algn="bl" rotWithShape="0">
              <a:srgbClr val="000000">
                <a:alpha val="11000"/>
              </a:srgbClr>
            </a:outerShdw>
          </a:effectLst>
        </p:spPr>
      </p:sp>
      <p:sp>
        <p:nvSpPr>
          <p:cNvPr id="6" name="Text 4"/>
          <p:cNvSpPr/>
          <p:nvPr/>
        </p:nvSpPr>
        <p:spPr>
          <a:xfrm>
            <a:off x="731520" y="1051560"/>
            <a:ext cx="2093976" cy="502920"/>
          </a:xfrm>
          <a:prstGeom prst="rect">
            <a:avLst/>
          </a:prstGeom>
          <a:noFill/>
          <a:ln/>
        </p:spPr>
        <p:txBody>
          <a:bodyPr wrap="square" lIns="0" tIns="0" rIns="0" bIns="0" rtlCol="0" anchor="ctr">
            <a:normAutofit/>
          </a:bodyPr>
          <a:lstStyle/>
          <a:p>
            <a:pPr marL="0" indent="0" algn="ctr">
              <a:buNone/>
            </a:pPr>
            <a:r>
              <a:rPr lang="en-US" sz="3100" b="1" dirty="0">
                <a:solidFill>
                  <a:srgbClr val="2E75B6"/>
                </a:solidFill>
                <a:latin typeface="Yu Gothic" pitchFamily="34" charset="0"/>
                <a:ea typeface="Yu Gothic" pitchFamily="34" charset="-122"/>
                <a:cs typeface="Yu Gothic" pitchFamily="34" charset="-120"/>
              </a:rPr>
              <a:t>48,024</a:t>
            </a:r>
            <a:endParaRPr lang="en-US" sz="3100" dirty="0"/>
          </a:p>
        </p:txBody>
      </p:sp>
      <p:sp>
        <p:nvSpPr>
          <p:cNvPr id="7" name="Text 5"/>
          <p:cNvSpPr/>
          <p:nvPr/>
        </p:nvSpPr>
        <p:spPr>
          <a:xfrm>
            <a:off x="749808" y="1600200"/>
            <a:ext cx="2057400" cy="658368"/>
          </a:xfrm>
          <a:prstGeom prst="rect">
            <a:avLst/>
          </a:prstGeom>
          <a:noFill/>
          <a:ln/>
        </p:spPr>
        <p:txBody>
          <a:bodyPr wrap="square" lIns="0" tIns="0" rIns="0" bIns="0" rtlCol="0" anchor="t">
            <a:normAutofit/>
          </a:bodyPr>
          <a:lstStyle/>
          <a:p>
            <a:pPr marL="0" indent="0" algn="ctr">
              <a:buNone/>
            </a:pPr>
            <a:r>
              <a:rPr lang="en-US" sz="1250" dirty="0">
                <a:solidFill>
                  <a:srgbClr val="4D5966"/>
                </a:solidFill>
                <a:latin typeface="Yu Gothic" pitchFamily="34" charset="0"/>
                <a:ea typeface="Yu Gothic" pitchFamily="34" charset="-122"/>
                <a:cs typeface="Yu Gothic" pitchFamily="34" charset="-120"/>
              </a:rPr>
              <a:t>labeled point clouds</a:t>
            </a:r>
            <a:endParaRPr lang="en-US" sz="1250" dirty="0"/>
          </a:p>
          <a:p>
            <a:pPr marL="0" indent="0" algn="ctr">
              <a:buNone/>
            </a:pPr>
            <a:r>
              <a:rPr lang="en-US" sz="1250" dirty="0">
                <a:solidFill>
                  <a:srgbClr val="4D5966"/>
                </a:solidFill>
                <a:latin typeface="Yu Gothic" pitchFamily="34" charset="0"/>
                <a:ea typeface="Yu Gothic" pitchFamily="34" charset="-122"/>
                <a:cs typeface="Yu Gothic" pitchFamily="34" charset="-120"/>
              </a:rPr>
              <a:t>= 16,008 × 3 LiDAR</a:t>
            </a:r>
            <a:endParaRPr lang="en-US" sz="1250" dirty="0"/>
          </a:p>
        </p:txBody>
      </p:sp>
      <p:sp>
        <p:nvSpPr>
          <p:cNvPr id="8" name="Shape 6"/>
          <p:cNvSpPr/>
          <p:nvPr/>
        </p:nvSpPr>
        <p:spPr>
          <a:xfrm>
            <a:off x="3127248" y="941832"/>
            <a:ext cx="2011680" cy="1389888"/>
          </a:xfrm>
          <a:prstGeom prst="roundRect">
            <a:avLst>
              <a:gd name="adj" fmla="val 3289"/>
            </a:avLst>
          </a:prstGeom>
          <a:solidFill>
            <a:srgbClr val="FFFFFF"/>
          </a:solidFill>
          <a:ln w="12700">
            <a:solidFill>
              <a:srgbClr val="D5DCE3"/>
            </a:solidFill>
            <a:prstDash val="solid"/>
          </a:ln>
          <a:effectLst>
            <a:outerShdw blurRad="25400" dist="50800" dir="2700000" algn="bl" rotWithShape="0">
              <a:srgbClr val="000000">
                <a:alpha val="11000"/>
              </a:srgbClr>
            </a:outerShdw>
          </a:effectLst>
        </p:spPr>
      </p:sp>
      <p:sp>
        <p:nvSpPr>
          <p:cNvPr id="9" name="Text 7"/>
          <p:cNvSpPr/>
          <p:nvPr/>
        </p:nvSpPr>
        <p:spPr>
          <a:xfrm>
            <a:off x="3200400" y="1051560"/>
            <a:ext cx="1865376" cy="502920"/>
          </a:xfrm>
          <a:prstGeom prst="rect">
            <a:avLst/>
          </a:prstGeom>
          <a:noFill/>
          <a:ln/>
        </p:spPr>
        <p:txBody>
          <a:bodyPr wrap="square" lIns="0" tIns="0" rIns="0" bIns="0" rtlCol="0" anchor="ctr">
            <a:normAutofit/>
          </a:bodyPr>
          <a:lstStyle/>
          <a:p>
            <a:pPr marL="0" indent="0" algn="ctr">
              <a:buNone/>
            </a:pPr>
            <a:r>
              <a:rPr lang="en-US" sz="3100" b="1" dirty="0">
                <a:solidFill>
                  <a:srgbClr val="2A9D8F"/>
                </a:solidFill>
                <a:latin typeface="Yu Gothic" pitchFamily="34" charset="0"/>
                <a:ea typeface="Yu Gothic" pitchFamily="34" charset="-122"/>
                <a:cs typeface="Yu Gothic" pitchFamily="34" charset="-120"/>
              </a:rPr>
              <a:t>3,799</a:t>
            </a:r>
            <a:endParaRPr lang="en-US" sz="3100" dirty="0"/>
          </a:p>
        </p:txBody>
      </p:sp>
      <p:sp>
        <p:nvSpPr>
          <p:cNvPr id="10" name="Text 8"/>
          <p:cNvSpPr/>
          <p:nvPr/>
        </p:nvSpPr>
        <p:spPr>
          <a:xfrm>
            <a:off x="3218688" y="1600200"/>
            <a:ext cx="1828800" cy="658368"/>
          </a:xfrm>
          <a:prstGeom prst="rect">
            <a:avLst/>
          </a:prstGeom>
          <a:noFill/>
          <a:ln/>
        </p:spPr>
        <p:txBody>
          <a:bodyPr wrap="square" lIns="0" tIns="0" rIns="0" bIns="0" rtlCol="0" anchor="t">
            <a:normAutofit/>
          </a:bodyPr>
          <a:lstStyle/>
          <a:p>
            <a:pPr marL="0" indent="0" algn="ctr">
              <a:buNone/>
            </a:pPr>
            <a:r>
              <a:rPr lang="en-US" sz="1250" dirty="0">
                <a:solidFill>
                  <a:srgbClr val="4D5966"/>
                </a:solidFill>
                <a:latin typeface="Yu Gothic" pitchFamily="34" charset="0"/>
                <a:ea typeface="Yu Gothic" pitchFamily="34" charset="-122"/>
                <a:cs typeface="Yu Gothic" pitchFamily="34" charset="-120"/>
              </a:rPr>
              <a:t>labeled RGB images</a:t>
            </a:r>
            <a:endParaRPr lang="en-US" sz="1250" dirty="0"/>
          </a:p>
        </p:txBody>
      </p:sp>
      <p:sp>
        <p:nvSpPr>
          <p:cNvPr id="11" name="Shape 9"/>
          <p:cNvSpPr/>
          <p:nvPr/>
        </p:nvSpPr>
        <p:spPr>
          <a:xfrm>
            <a:off x="5367528" y="941832"/>
            <a:ext cx="1325880" cy="1389888"/>
          </a:xfrm>
          <a:prstGeom prst="roundRect">
            <a:avLst>
              <a:gd name="adj" fmla="val 3448"/>
            </a:avLst>
          </a:prstGeom>
          <a:solidFill>
            <a:srgbClr val="FFFFFF"/>
          </a:solidFill>
          <a:ln w="12700">
            <a:solidFill>
              <a:srgbClr val="D5DCE3"/>
            </a:solidFill>
            <a:prstDash val="solid"/>
          </a:ln>
          <a:effectLst>
            <a:outerShdw blurRad="25400" dist="50800" dir="2700000" algn="bl" rotWithShape="0">
              <a:srgbClr val="000000">
                <a:alpha val="11000"/>
              </a:srgbClr>
            </a:outerShdw>
          </a:effectLst>
        </p:spPr>
      </p:sp>
      <p:sp>
        <p:nvSpPr>
          <p:cNvPr id="12" name="Text 10"/>
          <p:cNvSpPr/>
          <p:nvPr/>
        </p:nvSpPr>
        <p:spPr>
          <a:xfrm>
            <a:off x="5440680" y="1051560"/>
            <a:ext cx="1179576" cy="502920"/>
          </a:xfrm>
          <a:prstGeom prst="rect">
            <a:avLst/>
          </a:prstGeom>
          <a:noFill/>
          <a:ln/>
        </p:spPr>
        <p:txBody>
          <a:bodyPr wrap="square" lIns="0" tIns="0" rIns="0" bIns="0" rtlCol="0" anchor="ctr">
            <a:normAutofit/>
          </a:bodyPr>
          <a:lstStyle/>
          <a:p>
            <a:pPr marL="0" indent="0" algn="ctr">
              <a:buNone/>
            </a:pPr>
            <a:r>
              <a:rPr lang="en-US" sz="3100" b="1" dirty="0">
                <a:solidFill>
                  <a:srgbClr val="ED7D31"/>
                </a:solidFill>
                <a:latin typeface="Yu Gothic" pitchFamily="34" charset="0"/>
                <a:ea typeface="Yu Gothic" pitchFamily="34" charset="-122"/>
                <a:cs typeface="Yu Gothic" pitchFamily="34" charset="-120"/>
              </a:rPr>
              <a:t>3</a:t>
            </a:r>
            <a:endParaRPr lang="en-US" sz="3100" dirty="0"/>
          </a:p>
        </p:txBody>
      </p:sp>
      <p:sp>
        <p:nvSpPr>
          <p:cNvPr id="13" name="Text 11"/>
          <p:cNvSpPr/>
          <p:nvPr/>
        </p:nvSpPr>
        <p:spPr>
          <a:xfrm>
            <a:off x="5458968" y="1600200"/>
            <a:ext cx="1143000" cy="658368"/>
          </a:xfrm>
          <a:prstGeom prst="rect">
            <a:avLst/>
          </a:prstGeom>
          <a:noFill/>
          <a:ln/>
        </p:spPr>
        <p:txBody>
          <a:bodyPr wrap="square" lIns="0" tIns="0" rIns="0" bIns="0" rtlCol="0" anchor="t">
            <a:normAutofit/>
          </a:bodyPr>
          <a:lstStyle/>
          <a:p>
            <a:pPr marL="0" indent="0" algn="ctr">
              <a:buNone/>
            </a:pPr>
            <a:r>
              <a:rPr lang="en-US" sz="1250" dirty="0">
                <a:solidFill>
                  <a:srgbClr val="4D5966"/>
                </a:solidFill>
                <a:latin typeface="Yu Gothic" pitchFamily="34" charset="0"/>
                <a:ea typeface="Yu Gothic" pitchFamily="34" charset="-122"/>
                <a:cs typeface="Yu Gothic" pitchFamily="34" charset="-120"/>
              </a:rPr>
              <a:t>indoor sequences</a:t>
            </a:r>
            <a:endParaRPr lang="en-US" sz="1250" dirty="0"/>
          </a:p>
        </p:txBody>
      </p:sp>
      <p:sp>
        <p:nvSpPr>
          <p:cNvPr id="14" name="Shape 12"/>
          <p:cNvSpPr/>
          <p:nvPr/>
        </p:nvSpPr>
        <p:spPr>
          <a:xfrm>
            <a:off x="6922008" y="941832"/>
            <a:ext cx="1572768" cy="1389888"/>
          </a:xfrm>
          <a:prstGeom prst="roundRect">
            <a:avLst>
              <a:gd name="adj" fmla="val 3289"/>
            </a:avLst>
          </a:prstGeom>
          <a:solidFill>
            <a:srgbClr val="FFFFFF"/>
          </a:solidFill>
          <a:ln w="12700">
            <a:solidFill>
              <a:srgbClr val="D5DCE3"/>
            </a:solidFill>
            <a:prstDash val="solid"/>
          </a:ln>
          <a:effectLst>
            <a:outerShdw blurRad="25400" dist="50800" dir="2700000" algn="bl" rotWithShape="0">
              <a:srgbClr val="000000">
                <a:alpha val="11000"/>
              </a:srgbClr>
            </a:outerShdw>
          </a:effectLst>
        </p:spPr>
      </p:sp>
      <p:sp>
        <p:nvSpPr>
          <p:cNvPr id="15" name="Text 13"/>
          <p:cNvSpPr/>
          <p:nvPr/>
        </p:nvSpPr>
        <p:spPr>
          <a:xfrm>
            <a:off x="6995160" y="1051560"/>
            <a:ext cx="1426464" cy="502920"/>
          </a:xfrm>
          <a:prstGeom prst="rect">
            <a:avLst/>
          </a:prstGeom>
          <a:noFill/>
          <a:ln/>
        </p:spPr>
        <p:txBody>
          <a:bodyPr wrap="square" lIns="0" tIns="0" rIns="0" bIns="0" rtlCol="0" anchor="ctr">
            <a:normAutofit/>
          </a:bodyPr>
          <a:lstStyle/>
          <a:p>
            <a:pPr marL="0" indent="0" algn="ctr">
              <a:buNone/>
            </a:pPr>
            <a:r>
              <a:rPr lang="en-US" sz="3100" b="1" dirty="0">
                <a:solidFill>
                  <a:srgbClr val="8064A2"/>
                </a:solidFill>
                <a:latin typeface="Yu Gothic" pitchFamily="34" charset="0"/>
                <a:ea typeface="Yu Gothic" pitchFamily="34" charset="-122"/>
                <a:cs typeface="Yu Gothic" pitchFamily="34" charset="-120"/>
              </a:rPr>
              <a:t>7 IDs</a:t>
            </a:r>
            <a:endParaRPr lang="en-US" sz="3100" dirty="0"/>
          </a:p>
        </p:txBody>
      </p:sp>
      <p:sp>
        <p:nvSpPr>
          <p:cNvPr id="16" name="Text 14"/>
          <p:cNvSpPr/>
          <p:nvPr/>
        </p:nvSpPr>
        <p:spPr>
          <a:xfrm>
            <a:off x="7013448" y="1600200"/>
            <a:ext cx="1389888" cy="658368"/>
          </a:xfrm>
          <a:prstGeom prst="rect">
            <a:avLst/>
          </a:prstGeom>
          <a:noFill/>
          <a:ln/>
        </p:spPr>
        <p:txBody>
          <a:bodyPr wrap="square" lIns="0" tIns="0" rIns="0" bIns="0" rtlCol="0" anchor="t">
            <a:normAutofit/>
          </a:bodyPr>
          <a:lstStyle/>
          <a:p>
            <a:pPr marL="0" indent="0" algn="ctr">
              <a:buNone/>
            </a:pPr>
            <a:r>
              <a:rPr lang="en-US" sz="1250" dirty="0">
                <a:solidFill>
                  <a:srgbClr val="4D5966"/>
                </a:solidFill>
                <a:latin typeface="Yu Gothic" pitchFamily="34" charset="0"/>
                <a:ea typeface="Yu Gothic" pitchFamily="34" charset="-122"/>
                <a:cs typeface="Yu Gothic" pitchFamily="34" charset="-120"/>
              </a:rPr>
              <a:t>0 unlabeled + 6 classes</a:t>
            </a:r>
            <a:endParaRPr lang="en-US" sz="1250" dirty="0"/>
          </a:p>
        </p:txBody>
      </p:sp>
      <p:sp>
        <p:nvSpPr>
          <p:cNvPr id="17" name="Shape 15"/>
          <p:cNvSpPr/>
          <p:nvPr/>
        </p:nvSpPr>
        <p:spPr>
          <a:xfrm>
            <a:off x="658368" y="2615184"/>
            <a:ext cx="1565453" cy="259690"/>
          </a:xfrm>
          <a:prstGeom prst="rect">
            <a:avLst/>
          </a:prstGeom>
          <a:solidFill>
            <a:srgbClr val="17365D"/>
          </a:solidFill>
          <a:ln w="12700">
            <a:solidFill>
              <a:srgbClr val="FFFFFF"/>
            </a:solidFill>
            <a:prstDash val="solid"/>
          </a:ln>
        </p:spPr>
      </p:sp>
      <p:sp>
        <p:nvSpPr>
          <p:cNvPr id="18" name="Text 16"/>
          <p:cNvSpPr/>
          <p:nvPr/>
        </p:nvSpPr>
        <p:spPr>
          <a:xfrm>
            <a:off x="685800" y="2633472"/>
            <a:ext cx="1510589" cy="223114"/>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Package</a:t>
            </a:r>
            <a:endParaRPr lang="en-US" sz="1150" dirty="0"/>
          </a:p>
        </p:txBody>
      </p:sp>
      <p:sp>
        <p:nvSpPr>
          <p:cNvPr id="19" name="Shape 17"/>
          <p:cNvSpPr/>
          <p:nvPr/>
        </p:nvSpPr>
        <p:spPr>
          <a:xfrm>
            <a:off x="2223821" y="2615184"/>
            <a:ext cx="4070177" cy="259690"/>
          </a:xfrm>
          <a:prstGeom prst="rect">
            <a:avLst/>
          </a:prstGeom>
          <a:solidFill>
            <a:srgbClr val="17365D"/>
          </a:solidFill>
          <a:ln w="12700">
            <a:solidFill>
              <a:srgbClr val="FFFFFF"/>
            </a:solidFill>
            <a:prstDash val="solid"/>
          </a:ln>
        </p:spPr>
      </p:sp>
      <p:sp>
        <p:nvSpPr>
          <p:cNvPr id="20" name="Text 18"/>
          <p:cNvSpPr/>
          <p:nvPr/>
        </p:nvSpPr>
        <p:spPr>
          <a:xfrm>
            <a:off x="2251253" y="2633472"/>
            <a:ext cx="4015313" cy="223114"/>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Contents</a:t>
            </a:r>
            <a:endParaRPr lang="en-US" sz="1150" dirty="0"/>
          </a:p>
        </p:txBody>
      </p:sp>
      <p:sp>
        <p:nvSpPr>
          <p:cNvPr id="21" name="Shape 19"/>
          <p:cNvSpPr/>
          <p:nvPr/>
        </p:nvSpPr>
        <p:spPr>
          <a:xfrm>
            <a:off x="6293998" y="2615184"/>
            <a:ext cx="2191634" cy="259690"/>
          </a:xfrm>
          <a:prstGeom prst="rect">
            <a:avLst/>
          </a:prstGeom>
          <a:solidFill>
            <a:srgbClr val="17365D"/>
          </a:solidFill>
          <a:ln w="12700">
            <a:solidFill>
              <a:srgbClr val="FFFFFF"/>
            </a:solidFill>
            <a:prstDash val="solid"/>
          </a:ln>
        </p:spPr>
      </p:sp>
      <p:sp>
        <p:nvSpPr>
          <p:cNvPr id="22" name="Text 20"/>
          <p:cNvSpPr/>
          <p:nvPr/>
        </p:nvSpPr>
        <p:spPr>
          <a:xfrm>
            <a:off x="6321430" y="2633472"/>
            <a:ext cx="2136770" cy="223114"/>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Purpose</a:t>
            </a:r>
            <a:endParaRPr lang="en-US" sz="1150" dirty="0"/>
          </a:p>
        </p:txBody>
      </p:sp>
      <p:sp>
        <p:nvSpPr>
          <p:cNvPr id="23" name="Shape 21"/>
          <p:cNvSpPr/>
          <p:nvPr/>
        </p:nvSpPr>
        <p:spPr>
          <a:xfrm>
            <a:off x="658368" y="2874874"/>
            <a:ext cx="1565453" cy="259690"/>
          </a:xfrm>
          <a:prstGeom prst="rect">
            <a:avLst/>
          </a:prstGeom>
          <a:solidFill>
            <a:srgbClr val="FFFFFF"/>
          </a:solidFill>
          <a:ln w="12700">
            <a:solidFill>
              <a:srgbClr val="D5DCE3"/>
            </a:solidFill>
            <a:prstDash val="solid"/>
          </a:ln>
        </p:spPr>
      </p:sp>
      <p:sp>
        <p:nvSpPr>
          <p:cNvPr id="24" name="Text 22"/>
          <p:cNvSpPr/>
          <p:nvPr/>
        </p:nvSpPr>
        <p:spPr>
          <a:xfrm>
            <a:off x="685800" y="2893162"/>
            <a:ext cx="1510589" cy="223114"/>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Raw</a:t>
            </a:r>
            <a:endParaRPr lang="en-US" sz="1020" dirty="0"/>
          </a:p>
        </p:txBody>
      </p:sp>
      <p:sp>
        <p:nvSpPr>
          <p:cNvPr id="25" name="Shape 23"/>
          <p:cNvSpPr/>
          <p:nvPr/>
        </p:nvSpPr>
        <p:spPr>
          <a:xfrm>
            <a:off x="2223821" y="2874874"/>
            <a:ext cx="4070177" cy="259690"/>
          </a:xfrm>
          <a:prstGeom prst="rect">
            <a:avLst/>
          </a:prstGeom>
          <a:solidFill>
            <a:srgbClr val="FFFFFF"/>
          </a:solidFill>
          <a:ln w="12700">
            <a:solidFill>
              <a:srgbClr val="D5DCE3"/>
            </a:solidFill>
            <a:prstDash val="solid"/>
          </a:ln>
        </p:spPr>
      </p:sp>
      <p:sp>
        <p:nvSpPr>
          <p:cNvPr id="26" name="Text 24"/>
          <p:cNvSpPr/>
          <p:nvPr/>
        </p:nvSpPr>
        <p:spPr>
          <a:xfrm>
            <a:off x="2251253" y="2893162"/>
            <a:ext cx="4015313"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poses, images, meshes, calibration, labeled clouds</a:t>
            </a:r>
            <a:endParaRPr lang="en-US" sz="1020" dirty="0"/>
          </a:p>
        </p:txBody>
      </p:sp>
      <p:sp>
        <p:nvSpPr>
          <p:cNvPr id="27" name="Shape 25"/>
          <p:cNvSpPr/>
          <p:nvPr/>
        </p:nvSpPr>
        <p:spPr>
          <a:xfrm>
            <a:off x="6293998" y="2874874"/>
            <a:ext cx="2191634" cy="259690"/>
          </a:xfrm>
          <a:prstGeom prst="rect">
            <a:avLst/>
          </a:prstGeom>
          <a:solidFill>
            <a:srgbClr val="FFFFFF"/>
          </a:solidFill>
          <a:ln w="12700">
            <a:solidFill>
              <a:srgbClr val="D5DCE3"/>
            </a:solidFill>
            <a:prstDash val="solid"/>
          </a:ln>
        </p:spPr>
      </p:sp>
      <p:sp>
        <p:nvSpPr>
          <p:cNvPr id="28" name="Text 26"/>
          <p:cNvSpPr/>
          <p:nvPr/>
        </p:nvSpPr>
        <p:spPr>
          <a:xfrm>
            <a:off x="6321430" y="2893162"/>
            <a:ext cx="2136770"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再現・再処理</a:t>
            </a:r>
            <a:endParaRPr lang="en-US" sz="1020" dirty="0"/>
          </a:p>
        </p:txBody>
      </p:sp>
      <p:sp>
        <p:nvSpPr>
          <p:cNvPr id="29" name="Shape 27"/>
          <p:cNvSpPr/>
          <p:nvPr/>
        </p:nvSpPr>
        <p:spPr>
          <a:xfrm>
            <a:off x="658368" y="3134563"/>
            <a:ext cx="1565453" cy="259690"/>
          </a:xfrm>
          <a:prstGeom prst="rect">
            <a:avLst/>
          </a:prstGeom>
          <a:solidFill>
            <a:srgbClr val="F5F7FA"/>
          </a:solidFill>
          <a:ln w="12700">
            <a:solidFill>
              <a:srgbClr val="D5DCE3"/>
            </a:solidFill>
            <a:prstDash val="solid"/>
          </a:ln>
        </p:spPr>
      </p:sp>
      <p:sp>
        <p:nvSpPr>
          <p:cNvPr id="30" name="Text 28"/>
          <p:cNvSpPr/>
          <p:nvPr/>
        </p:nvSpPr>
        <p:spPr>
          <a:xfrm>
            <a:off x="685800" y="3152851"/>
            <a:ext cx="1510589" cy="223114"/>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RGB</a:t>
            </a:r>
            <a:endParaRPr lang="en-US" sz="1020" dirty="0"/>
          </a:p>
        </p:txBody>
      </p:sp>
      <p:sp>
        <p:nvSpPr>
          <p:cNvPr id="31" name="Shape 29"/>
          <p:cNvSpPr/>
          <p:nvPr/>
        </p:nvSpPr>
        <p:spPr>
          <a:xfrm>
            <a:off x="2223821" y="3134563"/>
            <a:ext cx="4070177" cy="259690"/>
          </a:xfrm>
          <a:prstGeom prst="rect">
            <a:avLst/>
          </a:prstGeom>
          <a:solidFill>
            <a:srgbClr val="F5F7FA"/>
          </a:solidFill>
          <a:ln w="12700">
            <a:solidFill>
              <a:srgbClr val="D5DCE3"/>
            </a:solidFill>
            <a:prstDash val="solid"/>
          </a:ln>
        </p:spPr>
      </p:sp>
      <p:sp>
        <p:nvSpPr>
          <p:cNvPr id="32" name="Text 30"/>
          <p:cNvSpPr/>
          <p:nvPr/>
        </p:nvSpPr>
        <p:spPr>
          <a:xfrm>
            <a:off x="2251253" y="3152851"/>
            <a:ext cx="4015313"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glass / mirror / other / all masks, train/test</a:t>
            </a:r>
            <a:endParaRPr lang="en-US" sz="1020" dirty="0"/>
          </a:p>
        </p:txBody>
      </p:sp>
      <p:sp>
        <p:nvSpPr>
          <p:cNvPr id="33" name="Shape 31"/>
          <p:cNvSpPr/>
          <p:nvPr/>
        </p:nvSpPr>
        <p:spPr>
          <a:xfrm>
            <a:off x="6293998" y="3134563"/>
            <a:ext cx="2191634" cy="259690"/>
          </a:xfrm>
          <a:prstGeom prst="rect">
            <a:avLst/>
          </a:prstGeom>
          <a:solidFill>
            <a:srgbClr val="F5F7FA"/>
          </a:solidFill>
          <a:ln w="12700">
            <a:solidFill>
              <a:srgbClr val="D5DCE3"/>
            </a:solidFill>
            <a:prstDash val="solid"/>
          </a:ln>
        </p:spPr>
      </p:sp>
      <p:sp>
        <p:nvSpPr>
          <p:cNvPr id="34" name="Text 32"/>
          <p:cNvSpPr/>
          <p:nvPr/>
        </p:nvSpPr>
        <p:spPr>
          <a:xfrm>
            <a:off x="6321430" y="3152851"/>
            <a:ext cx="2136770"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2D benchmark</a:t>
            </a:r>
            <a:endParaRPr lang="en-US" sz="1020" dirty="0"/>
          </a:p>
        </p:txBody>
      </p:sp>
      <p:sp>
        <p:nvSpPr>
          <p:cNvPr id="35" name="Shape 33"/>
          <p:cNvSpPr/>
          <p:nvPr/>
        </p:nvSpPr>
        <p:spPr>
          <a:xfrm>
            <a:off x="658368" y="3394253"/>
            <a:ext cx="1565453" cy="259690"/>
          </a:xfrm>
          <a:prstGeom prst="rect">
            <a:avLst/>
          </a:prstGeom>
          <a:solidFill>
            <a:srgbClr val="FFFFFF"/>
          </a:solidFill>
          <a:ln w="12700">
            <a:solidFill>
              <a:srgbClr val="D5DCE3"/>
            </a:solidFill>
            <a:prstDash val="solid"/>
          </a:ln>
        </p:spPr>
      </p:sp>
      <p:sp>
        <p:nvSpPr>
          <p:cNvPr id="36" name="Text 34"/>
          <p:cNvSpPr/>
          <p:nvPr/>
        </p:nvSpPr>
        <p:spPr>
          <a:xfrm>
            <a:off x="685800" y="3412541"/>
            <a:ext cx="1510589" cy="223114"/>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SemanticKITTI</a:t>
            </a:r>
            <a:endParaRPr lang="en-US" sz="1020" dirty="0"/>
          </a:p>
        </p:txBody>
      </p:sp>
      <p:sp>
        <p:nvSpPr>
          <p:cNvPr id="37" name="Shape 35"/>
          <p:cNvSpPr/>
          <p:nvPr/>
        </p:nvSpPr>
        <p:spPr>
          <a:xfrm>
            <a:off x="2223821" y="3394253"/>
            <a:ext cx="4070177" cy="259690"/>
          </a:xfrm>
          <a:prstGeom prst="rect">
            <a:avLst/>
          </a:prstGeom>
          <a:solidFill>
            <a:srgbClr val="FFFFFF"/>
          </a:solidFill>
          <a:ln w="12700">
            <a:solidFill>
              <a:srgbClr val="D5DCE3"/>
            </a:solidFill>
            <a:prstDash val="solid"/>
          </a:ln>
        </p:spPr>
      </p:sp>
      <p:sp>
        <p:nvSpPr>
          <p:cNvPr id="38" name="Text 36"/>
          <p:cNvSpPr/>
          <p:nvPr/>
        </p:nvSpPr>
        <p:spPr>
          <a:xfrm>
            <a:off x="2251253" y="3412541"/>
            <a:ext cx="4015313"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XYZI (4ch), XYZIR (5ch)</a:t>
            </a:r>
            <a:endParaRPr lang="en-US" sz="1020" dirty="0"/>
          </a:p>
        </p:txBody>
      </p:sp>
      <p:sp>
        <p:nvSpPr>
          <p:cNvPr id="39" name="Shape 37"/>
          <p:cNvSpPr/>
          <p:nvPr/>
        </p:nvSpPr>
        <p:spPr>
          <a:xfrm>
            <a:off x="6293998" y="3394253"/>
            <a:ext cx="2191634" cy="259690"/>
          </a:xfrm>
          <a:prstGeom prst="rect">
            <a:avLst/>
          </a:prstGeom>
          <a:solidFill>
            <a:srgbClr val="FFFFFF"/>
          </a:solidFill>
          <a:ln w="12700">
            <a:solidFill>
              <a:srgbClr val="D5DCE3"/>
            </a:solidFill>
            <a:prstDash val="solid"/>
          </a:ln>
        </p:spPr>
      </p:sp>
      <p:sp>
        <p:nvSpPr>
          <p:cNvPr id="40" name="Text 38"/>
          <p:cNvSpPr/>
          <p:nvPr/>
        </p:nvSpPr>
        <p:spPr>
          <a:xfrm>
            <a:off x="6321430" y="3412541"/>
            <a:ext cx="2136770"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3D segmentation</a:t>
            </a:r>
            <a:endParaRPr lang="en-US" sz="1020" dirty="0"/>
          </a:p>
        </p:txBody>
      </p:sp>
      <p:sp>
        <p:nvSpPr>
          <p:cNvPr id="41" name="Shape 39"/>
          <p:cNvSpPr/>
          <p:nvPr/>
        </p:nvSpPr>
        <p:spPr>
          <a:xfrm>
            <a:off x="658368" y="3653942"/>
            <a:ext cx="1565453" cy="259690"/>
          </a:xfrm>
          <a:prstGeom prst="rect">
            <a:avLst/>
          </a:prstGeom>
          <a:solidFill>
            <a:srgbClr val="F5F7FA"/>
          </a:solidFill>
          <a:ln w="12700">
            <a:solidFill>
              <a:srgbClr val="D5DCE3"/>
            </a:solidFill>
            <a:prstDash val="solid"/>
          </a:ln>
        </p:spPr>
      </p:sp>
      <p:sp>
        <p:nvSpPr>
          <p:cNvPr id="42" name="Text 40"/>
          <p:cNvSpPr/>
          <p:nvPr/>
        </p:nvSpPr>
        <p:spPr>
          <a:xfrm>
            <a:off x="685800" y="3672230"/>
            <a:ext cx="1510589" cy="223114"/>
          </a:xfrm>
          <a:prstGeom prst="rect">
            <a:avLst/>
          </a:prstGeom>
          <a:noFill/>
          <a:ln/>
        </p:spPr>
        <p:txBody>
          <a:bodyPr wrap="square" lIns="0" tIns="0" rIns="0" bIns="0" rtlCol="0" anchor="ctr">
            <a:normAutofit/>
          </a:bodyPr>
          <a:lstStyle/>
          <a:p>
            <a:pPr marL="0" indent="0" algn="l">
              <a:buNone/>
            </a:pPr>
            <a:r>
              <a:rPr lang="en-US" sz="1020" dirty="0">
                <a:solidFill>
                  <a:srgbClr val="20242A"/>
                </a:solidFill>
                <a:latin typeface="Yu Gothic" pitchFamily="34" charset="0"/>
                <a:ea typeface="Yu Gothic" pitchFamily="34" charset="-122"/>
                <a:cs typeface="Yu Gothic" pitchFamily="34" charset="-120"/>
              </a:rPr>
              <a:t>Scripts / Networks</a:t>
            </a:r>
            <a:endParaRPr lang="en-US" sz="1020" dirty="0"/>
          </a:p>
        </p:txBody>
      </p:sp>
      <p:sp>
        <p:nvSpPr>
          <p:cNvPr id="43" name="Shape 41"/>
          <p:cNvSpPr/>
          <p:nvPr/>
        </p:nvSpPr>
        <p:spPr>
          <a:xfrm>
            <a:off x="2223821" y="3653942"/>
            <a:ext cx="4070177" cy="259690"/>
          </a:xfrm>
          <a:prstGeom prst="rect">
            <a:avLst/>
          </a:prstGeom>
          <a:solidFill>
            <a:srgbClr val="F5F7FA"/>
          </a:solidFill>
          <a:ln w="12700">
            <a:solidFill>
              <a:srgbClr val="D5DCE3"/>
            </a:solidFill>
            <a:prstDash val="solid"/>
          </a:ln>
        </p:spPr>
      </p:sp>
      <p:sp>
        <p:nvSpPr>
          <p:cNvPr id="44" name="Text 42"/>
          <p:cNvSpPr/>
          <p:nvPr/>
        </p:nvSpPr>
        <p:spPr>
          <a:xfrm>
            <a:off x="2251253" y="3672230"/>
            <a:ext cx="4015313"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ray tracing, stats, eval, code/weights</a:t>
            </a:r>
            <a:endParaRPr lang="en-US" sz="1020" dirty="0"/>
          </a:p>
        </p:txBody>
      </p:sp>
      <p:sp>
        <p:nvSpPr>
          <p:cNvPr id="45" name="Shape 43"/>
          <p:cNvSpPr/>
          <p:nvPr/>
        </p:nvSpPr>
        <p:spPr>
          <a:xfrm>
            <a:off x="6293998" y="3653942"/>
            <a:ext cx="2191634" cy="259690"/>
          </a:xfrm>
          <a:prstGeom prst="rect">
            <a:avLst/>
          </a:prstGeom>
          <a:solidFill>
            <a:srgbClr val="F5F7FA"/>
          </a:solidFill>
          <a:ln w="12700">
            <a:solidFill>
              <a:srgbClr val="D5DCE3"/>
            </a:solidFill>
            <a:prstDash val="solid"/>
          </a:ln>
        </p:spPr>
      </p:sp>
      <p:sp>
        <p:nvSpPr>
          <p:cNvPr id="46" name="Text 44"/>
          <p:cNvSpPr/>
          <p:nvPr/>
        </p:nvSpPr>
        <p:spPr>
          <a:xfrm>
            <a:off x="6321430" y="3672230"/>
            <a:ext cx="2136770" cy="223114"/>
          </a:xfrm>
          <a:prstGeom prst="rect">
            <a:avLst/>
          </a:prstGeom>
          <a:noFill/>
          <a:ln/>
        </p:spPr>
        <p:txBody>
          <a:bodyPr wrap="square" lIns="0" tIns="0" rIns="0" bIns="0" rtlCol="0" anchor="ctr">
            <a:normAutofit/>
          </a:bodyPr>
          <a:lstStyle/>
          <a:p>
            <a:pPr marL="0" indent="0" algn="ctr">
              <a:buNone/>
            </a:pPr>
            <a:r>
              <a:rPr lang="en-US" sz="1020" dirty="0">
                <a:solidFill>
                  <a:srgbClr val="20242A"/>
                </a:solidFill>
                <a:latin typeface="Yu Gothic" pitchFamily="34" charset="0"/>
                <a:ea typeface="Yu Gothic" pitchFamily="34" charset="-122"/>
                <a:cs typeface="Yu Gothic" pitchFamily="34" charset="-120"/>
              </a:rPr>
              <a:t>再現性</a:t>
            </a:r>
            <a:endParaRPr lang="en-US" sz="1020" dirty="0"/>
          </a:p>
        </p:txBody>
      </p:sp>
      <p:sp>
        <p:nvSpPr>
          <p:cNvPr id="47" name="Shape 45"/>
          <p:cNvSpPr/>
          <p:nvPr/>
        </p:nvSpPr>
        <p:spPr>
          <a:xfrm>
            <a:off x="566928" y="4096512"/>
            <a:ext cx="8010144" cy="347472"/>
          </a:xfrm>
          <a:prstGeom prst="rect">
            <a:avLst/>
          </a:prstGeom>
          <a:solidFill>
            <a:srgbClr val="F8FAFB"/>
          </a:solidFill>
          <a:ln w="12700">
            <a:solidFill>
              <a:srgbClr val="ED7D31"/>
            </a:solidFill>
            <a:prstDash val="solid"/>
          </a:ln>
        </p:spPr>
      </p:sp>
      <p:sp>
        <p:nvSpPr>
          <p:cNvPr id="48" name="Shape 46"/>
          <p:cNvSpPr/>
          <p:nvPr/>
        </p:nvSpPr>
        <p:spPr>
          <a:xfrm>
            <a:off x="566928" y="4096512"/>
            <a:ext cx="64008" cy="347472"/>
          </a:xfrm>
          <a:prstGeom prst="rect">
            <a:avLst/>
          </a:prstGeom>
          <a:solidFill>
            <a:srgbClr val="ED7D31"/>
          </a:solidFill>
          <a:ln w="12700">
            <a:solidFill>
              <a:srgbClr val="ED7D31"/>
            </a:solidFill>
            <a:prstDash val="solid"/>
          </a:ln>
        </p:spPr>
      </p:sp>
      <p:sp>
        <p:nvSpPr>
          <p:cNvPr id="49" name="Text 47"/>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点群数は3 LiDARの同時系列を含むため、独立scene数ではなくframe×sensor数として解釈する。</a:t>
            </a:r>
            <a:endParaRPr lang="en-US" sz="1450" dirty="0"/>
          </a:p>
        </p:txBody>
      </p:sp>
      <p:sp>
        <p:nvSpPr>
          <p:cNvPr id="50" name="Text 48"/>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3.3; project release structure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class分布はLiDAR機種とsequenceに大きく依存する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Dataset analysis</a:t>
            </a:r>
            <a:endParaRPr lang="en-US" sz="950" dirty="0"/>
          </a:p>
        </p:txBody>
      </p:sp>
      <p:graphicFrame>
        <p:nvGraphicFramePr>
          <p:cNvPr id="5" name="Chart 0"/>
          <p:cNvGraphicFramePr/>
          <p:nvPr/>
        </p:nvGraphicFramePr>
        <p:xfrm>
          <a:off x="530352" y="932688"/>
          <a:ext cx="5623560" cy="2980944"/>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355080" y="950976"/>
            <a:ext cx="2157984" cy="1078992"/>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7" name="Shape 4"/>
          <p:cNvSpPr/>
          <p:nvPr/>
        </p:nvSpPr>
        <p:spPr>
          <a:xfrm>
            <a:off x="6355080" y="950976"/>
            <a:ext cx="50292" cy="1078992"/>
          </a:xfrm>
          <a:prstGeom prst="rect">
            <a:avLst/>
          </a:prstGeom>
          <a:solidFill>
            <a:srgbClr val="ED7D31"/>
          </a:solidFill>
          <a:ln w="12700">
            <a:solidFill>
              <a:srgbClr val="ED7D31"/>
            </a:solidFill>
            <a:prstDash val="solid"/>
          </a:ln>
        </p:spPr>
      </p:sp>
      <p:sp>
        <p:nvSpPr>
          <p:cNvPr id="8" name="Text 5"/>
          <p:cNvSpPr/>
          <p:nvPr/>
        </p:nvSpPr>
        <p:spPr>
          <a:xfrm>
            <a:off x="6519672" y="1024128"/>
            <a:ext cx="1883664"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Livox Seq.1</a:t>
            </a:r>
            <a:endParaRPr lang="en-US" sz="1600" dirty="0"/>
          </a:p>
        </p:txBody>
      </p:sp>
      <p:sp>
        <p:nvSpPr>
          <p:cNvPr id="9" name="Text 6"/>
          <p:cNvSpPr/>
          <p:nvPr/>
        </p:nvSpPr>
        <p:spPr>
          <a:xfrm>
            <a:off x="6519672" y="1371600"/>
            <a:ext cx="1883664" cy="566928"/>
          </a:xfrm>
          <a:prstGeom prst="rect">
            <a:avLst/>
          </a:prstGeom>
          <a:noFill/>
          <a:ln/>
        </p:spPr>
        <p:txBody>
          <a:bodyPr wrap="square" lIns="12700" tIns="0" rIns="0" bIns="25400" rtlCol="0" anchor="t">
            <a:normAutofit/>
          </a:bodyPr>
          <a:lstStyle/>
          <a:p>
            <a:pPr marL="0" indent="0">
              <a:buNone/>
            </a:pPr>
            <a:r>
              <a:rPr lang="en-US" sz="1350" dirty="0">
                <a:solidFill>
                  <a:srgbClr val="4D5966"/>
                </a:solidFill>
                <a:latin typeface="Yu Gothic" pitchFamily="34" charset="0"/>
                <a:ea typeface="Yu Gothic" pitchFamily="34" charset="-122"/>
                <a:cs typeface="Yu Gothic" pitchFamily="34" charset="-120"/>
              </a:rPr>
              <a:t>Reflection 29.22%</a:t>
            </a:r>
            <a:endParaRPr lang="en-US" sz="1350" dirty="0"/>
          </a:p>
          <a:p>
            <a:pPr marL="0" indent="0">
              <a:buNone/>
            </a:pPr>
            <a:r>
              <a:rPr lang="en-US" sz="1350" dirty="0">
                <a:solidFill>
                  <a:srgbClr val="4D5966"/>
                </a:solidFill>
                <a:latin typeface="Yu Gothic" pitchFamily="34" charset="0"/>
                <a:ea typeface="Yu Gothic" pitchFamily="34" charset="-122"/>
                <a:cs typeface="Yu Gothic" pitchFamily="34" charset="-120"/>
              </a:rPr>
              <a:t>Obstacle 7.62%</a:t>
            </a:r>
            <a:endParaRPr lang="en-US" sz="1350" dirty="0"/>
          </a:p>
        </p:txBody>
      </p:sp>
      <p:sp>
        <p:nvSpPr>
          <p:cNvPr id="10" name="Shape 7"/>
          <p:cNvSpPr/>
          <p:nvPr/>
        </p:nvSpPr>
        <p:spPr>
          <a:xfrm>
            <a:off x="6355080" y="2267712"/>
            <a:ext cx="2157984" cy="1078992"/>
          </a:xfrm>
          <a:prstGeom prst="rect">
            <a:avLst/>
          </a:prstGeom>
          <a:solidFill>
            <a:srgbClr val="F9E7E7"/>
          </a:solidFill>
          <a:ln w="12700">
            <a:solidFill>
              <a:srgbClr val="D5DCE3"/>
            </a:solidFill>
            <a:prstDash val="solid"/>
          </a:ln>
          <a:effectLst>
            <a:outerShdw blurRad="25400" dist="50800" dir="2700000" algn="bl" rotWithShape="0">
              <a:srgbClr val="000000">
                <a:alpha val="11000"/>
              </a:srgbClr>
            </a:outerShdw>
          </a:effectLst>
        </p:spPr>
      </p:sp>
      <p:sp>
        <p:nvSpPr>
          <p:cNvPr id="11" name="Shape 8"/>
          <p:cNvSpPr/>
          <p:nvPr/>
        </p:nvSpPr>
        <p:spPr>
          <a:xfrm>
            <a:off x="6355080" y="2267712"/>
            <a:ext cx="50292" cy="1078992"/>
          </a:xfrm>
          <a:prstGeom prst="rect">
            <a:avLst/>
          </a:prstGeom>
          <a:solidFill>
            <a:srgbClr val="C94C4C"/>
          </a:solidFill>
          <a:ln w="12700">
            <a:solidFill>
              <a:srgbClr val="C94C4C"/>
            </a:solidFill>
            <a:prstDash val="solid"/>
          </a:ln>
        </p:spPr>
      </p:sp>
      <p:sp>
        <p:nvSpPr>
          <p:cNvPr id="12" name="Text 9"/>
          <p:cNvSpPr/>
          <p:nvPr/>
        </p:nvSpPr>
        <p:spPr>
          <a:xfrm>
            <a:off x="6519672" y="2340864"/>
            <a:ext cx="1883664"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Livox Seq.3</a:t>
            </a:r>
            <a:endParaRPr lang="en-US" sz="1600" dirty="0"/>
          </a:p>
        </p:txBody>
      </p:sp>
      <p:sp>
        <p:nvSpPr>
          <p:cNvPr id="13" name="Text 10"/>
          <p:cNvSpPr/>
          <p:nvPr/>
        </p:nvSpPr>
        <p:spPr>
          <a:xfrm>
            <a:off x="6519672" y="2688336"/>
            <a:ext cx="1883664" cy="566928"/>
          </a:xfrm>
          <a:prstGeom prst="rect">
            <a:avLst/>
          </a:prstGeom>
          <a:noFill/>
          <a:ln/>
        </p:spPr>
        <p:txBody>
          <a:bodyPr wrap="square" lIns="12700" tIns="0" rIns="0" bIns="25400" rtlCol="0" anchor="t">
            <a:normAutofit/>
          </a:bodyPr>
          <a:lstStyle/>
          <a:p>
            <a:pPr marL="0" indent="0">
              <a:buNone/>
            </a:pPr>
            <a:r>
              <a:rPr lang="en-US" sz="1350" dirty="0">
                <a:solidFill>
                  <a:srgbClr val="4D5966"/>
                </a:solidFill>
                <a:latin typeface="Yu Gothic" pitchFamily="34" charset="0"/>
                <a:ea typeface="Yu Gothic" pitchFamily="34" charset="-122"/>
                <a:cs typeface="Yu Gothic" pitchFamily="34" charset="-120"/>
              </a:rPr>
              <a:t>Reflection 14.34%</a:t>
            </a:r>
            <a:endParaRPr lang="en-US" sz="1350" dirty="0"/>
          </a:p>
          <a:p>
            <a:pPr marL="0" indent="0">
              <a:buNone/>
            </a:pPr>
            <a:r>
              <a:rPr lang="en-US" sz="1350" dirty="0">
                <a:solidFill>
                  <a:srgbClr val="4D5966"/>
                </a:solidFill>
                <a:latin typeface="Yu Gothic" pitchFamily="34" charset="0"/>
                <a:ea typeface="Yu Gothic" pitchFamily="34" charset="-122"/>
                <a:cs typeface="Yu Gothic" pitchFamily="34" charset="-120"/>
              </a:rPr>
              <a:t>Obstacle 19.28%</a:t>
            </a:r>
            <a:endParaRPr lang="en-US" sz="1350" dirty="0"/>
          </a:p>
        </p:txBody>
      </p:sp>
      <p:sp>
        <p:nvSpPr>
          <p:cNvPr id="14" name="Shape 11"/>
          <p:cNvSpPr/>
          <p:nvPr/>
        </p:nvSpPr>
        <p:spPr>
          <a:xfrm>
            <a:off x="566928" y="4096512"/>
            <a:ext cx="8010144" cy="347472"/>
          </a:xfrm>
          <a:prstGeom prst="rect">
            <a:avLst/>
          </a:prstGeom>
          <a:solidFill>
            <a:srgbClr val="F8FAFB"/>
          </a:solidFill>
          <a:ln w="12700">
            <a:solidFill>
              <a:srgbClr val="ED7D31"/>
            </a:solidFill>
            <a:prstDash val="solid"/>
          </a:ln>
        </p:spPr>
      </p:sp>
      <p:sp>
        <p:nvSpPr>
          <p:cNvPr id="15" name="Shape 12"/>
          <p:cNvSpPr/>
          <p:nvPr/>
        </p:nvSpPr>
        <p:spPr>
          <a:xfrm>
            <a:off x="566928" y="4096512"/>
            <a:ext cx="64008" cy="347472"/>
          </a:xfrm>
          <a:prstGeom prst="rect">
            <a:avLst/>
          </a:prstGeom>
          <a:solidFill>
            <a:srgbClr val="ED7D31"/>
          </a:solidFill>
          <a:ln w="12700">
            <a:solidFill>
              <a:srgbClr val="ED7D31"/>
            </a:solidFill>
            <a:prstDash val="solid"/>
          </a:ln>
        </p:spPr>
      </p:sp>
      <p:sp>
        <p:nvSpPr>
          <p:cNvPr id="16" name="Text 13"/>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モデル比較だけでなく、sensor-specific return policyとclass priorの影響を考える必要がある。</a:t>
            </a:r>
            <a:endParaRPr lang="en-US" sz="1450" dirty="0"/>
          </a:p>
        </p:txBody>
      </p:sp>
      <p:sp>
        <p:nvSpPr>
          <p:cNvPr id="17" name="Text 14"/>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3（抜粋）</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late returnはReflection / Obstacleに選択的だが、完全な識別子ではない</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Multi-return</a:t>
            </a:r>
            <a:endParaRPr lang="en-US" sz="950" dirty="0"/>
          </a:p>
        </p:txBody>
      </p:sp>
      <p:sp>
        <p:nvSpPr>
          <p:cNvPr id="5" name="Shape 3"/>
          <p:cNvSpPr/>
          <p:nvPr/>
        </p:nvSpPr>
        <p:spPr>
          <a:xfrm>
            <a:off x="658368" y="932688"/>
            <a:ext cx="1747236" cy="415399"/>
          </a:xfrm>
          <a:prstGeom prst="rect">
            <a:avLst/>
          </a:prstGeom>
          <a:solidFill>
            <a:srgbClr val="17365D"/>
          </a:solidFill>
          <a:ln w="12700">
            <a:solidFill>
              <a:srgbClr val="FFFFFF"/>
            </a:solidFill>
            <a:prstDash val="solid"/>
          </a:ln>
        </p:spPr>
      </p:sp>
      <p:sp>
        <p:nvSpPr>
          <p:cNvPr id="6" name="Text 4"/>
          <p:cNvSpPr/>
          <p:nvPr/>
        </p:nvSpPr>
        <p:spPr>
          <a:xfrm>
            <a:off x="685800" y="950976"/>
            <a:ext cx="1692372" cy="378823"/>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Class</a:t>
            </a:r>
            <a:endParaRPr lang="en-US" sz="1150" dirty="0"/>
          </a:p>
        </p:txBody>
      </p:sp>
      <p:sp>
        <p:nvSpPr>
          <p:cNvPr id="7" name="Shape 5"/>
          <p:cNvSpPr/>
          <p:nvPr/>
        </p:nvSpPr>
        <p:spPr>
          <a:xfrm>
            <a:off x="2405604" y="932688"/>
            <a:ext cx="1130564" cy="415399"/>
          </a:xfrm>
          <a:prstGeom prst="rect">
            <a:avLst/>
          </a:prstGeom>
          <a:solidFill>
            <a:srgbClr val="17365D"/>
          </a:solidFill>
          <a:ln w="12700">
            <a:solidFill>
              <a:srgbClr val="FFFFFF"/>
            </a:solidFill>
            <a:prstDash val="solid"/>
          </a:ln>
        </p:spPr>
      </p:sp>
      <p:sp>
        <p:nvSpPr>
          <p:cNvPr id="8" name="Text 6"/>
          <p:cNvSpPr/>
          <p:nvPr/>
        </p:nvSpPr>
        <p:spPr>
          <a:xfrm>
            <a:off x="2433036" y="950976"/>
            <a:ext cx="1075700" cy="378823"/>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1st return</a:t>
            </a:r>
            <a:endParaRPr lang="en-US" sz="1150" dirty="0"/>
          </a:p>
        </p:txBody>
      </p:sp>
      <p:sp>
        <p:nvSpPr>
          <p:cNvPr id="9" name="Shape 7"/>
          <p:cNvSpPr/>
          <p:nvPr/>
        </p:nvSpPr>
        <p:spPr>
          <a:xfrm>
            <a:off x="3536168" y="932688"/>
            <a:ext cx="1130564" cy="415399"/>
          </a:xfrm>
          <a:prstGeom prst="rect">
            <a:avLst/>
          </a:prstGeom>
          <a:solidFill>
            <a:srgbClr val="17365D"/>
          </a:solidFill>
          <a:ln w="12700">
            <a:solidFill>
              <a:srgbClr val="FFFFFF"/>
            </a:solidFill>
            <a:prstDash val="solid"/>
          </a:ln>
        </p:spPr>
      </p:sp>
      <p:sp>
        <p:nvSpPr>
          <p:cNvPr id="10" name="Text 8"/>
          <p:cNvSpPr/>
          <p:nvPr/>
        </p:nvSpPr>
        <p:spPr>
          <a:xfrm>
            <a:off x="3563600" y="950976"/>
            <a:ext cx="1075700" cy="378823"/>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2nd return</a:t>
            </a:r>
            <a:endParaRPr lang="en-US" sz="1150" dirty="0"/>
          </a:p>
        </p:txBody>
      </p:sp>
      <p:sp>
        <p:nvSpPr>
          <p:cNvPr id="11" name="Shape 9"/>
          <p:cNvSpPr/>
          <p:nvPr/>
        </p:nvSpPr>
        <p:spPr>
          <a:xfrm>
            <a:off x="4666732" y="932688"/>
            <a:ext cx="1130564" cy="415399"/>
          </a:xfrm>
          <a:prstGeom prst="rect">
            <a:avLst/>
          </a:prstGeom>
          <a:solidFill>
            <a:srgbClr val="17365D"/>
          </a:solidFill>
          <a:ln w="12700">
            <a:solidFill>
              <a:srgbClr val="FFFFFF"/>
            </a:solidFill>
            <a:prstDash val="solid"/>
          </a:ln>
        </p:spPr>
      </p:sp>
      <p:sp>
        <p:nvSpPr>
          <p:cNvPr id="12" name="Text 10"/>
          <p:cNvSpPr/>
          <p:nvPr/>
        </p:nvSpPr>
        <p:spPr>
          <a:xfrm>
            <a:off x="4694164" y="950976"/>
            <a:ext cx="1075700" cy="378823"/>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3rd return</a:t>
            </a:r>
            <a:endParaRPr lang="en-US" sz="1150" dirty="0"/>
          </a:p>
        </p:txBody>
      </p:sp>
      <p:sp>
        <p:nvSpPr>
          <p:cNvPr id="13" name="Shape 11"/>
          <p:cNvSpPr/>
          <p:nvPr/>
        </p:nvSpPr>
        <p:spPr>
          <a:xfrm>
            <a:off x="658368" y="1348087"/>
            <a:ext cx="1747236" cy="415399"/>
          </a:xfrm>
          <a:prstGeom prst="rect">
            <a:avLst/>
          </a:prstGeom>
          <a:solidFill>
            <a:srgbClr val="FFFFFF"/>
          </a:solidFill>
          <a:ln w="12700">
            <a:solidFill>
              <a:srgbClr val="D5DCE3"/>
            </a:solidFill>
            <a:prstDash val="solid"/>
          </a:ln>
        </p:spPr>
      </p:sp>
      <p:sp>
        <p:nvSpPr>
          <p:cNvPr id="14" name="Text 12"/>
          <p:cNvSpPr/>
          <p:nvPr/>
        </p:nvSpPr>
        <p:spPr>
          <a:xfrm>
            <a:off x="685800" y="1366375"/>
            <a:ext cx="1692372" cy="378823"/>
          </a:xfrm>
          <a:prstGeom prst="rect">
            <a:avLst/>
          </a:prstGeom>
          <a:noFill/>
          <a:ln/>
        </p:spPr>
        <p:txBody>
          <a:bodyPr wrap="square" lIns="0" tIns="0" rIns="0" bIns="0" rtlCol="0" anchor="ctr">
            <a:normAutofit/>
          </a:bodyPr>
          <a:lstStyle/>
          <a:p>
            <a:pPr marL="0" indent="0" algn="l">
              <a:buNone/>
            </a:pPr>
            <a:r>
              <a:rPr lang="en-US" sz="1130" dirty="0">
                <a:solidFill>
                  <a:srgbClr val="20242A"/>
                </a:solidFill>
                <a:latin typeface="Yu Gothic" pitchFamily="34" charset="0"/>
                <a:ea typeface="Yu Gothic" pitchFamily="34" charset="-122"/>
                <a:cs typeface="Yu Gothic" pitchFamily="34" charset="-120"/>
              </a:rPr>
              <a:t>Normal</a:t>
            </a:r>
            <a:endParaRPr lang="en-US" sz="1130" dirty="0"/>
          </a:p>
        </p:txBody>
      </p:sp>
      <p:sp>
        <p:nvSpPr>
          <p:cNvPr id="15" name="Shape 13"/>
          <p:cNvSpPr/>
          <p:nvPr/>
        </p:nvSpPr>
        <p:spPr>
          <a:xfrm>
            <a:off x="2405604" y="1348087"/>
            <a:ext cx="1130564" cy="415399"/>
          </a:xfrm>
          <a:prstGeom prst="rect">
            <a:avLst/>
          </a:prstGeom>
          <a:solidFill>
            <a:srgbClr val="FFFFFF"/>
          </a:solidFill>
          <a:ln w="12700">
            <a:solidFill>
              <a:srgbClr val="D5DCE3"/>
            </a:solidFill>
            <a:prstDash val="solid"/>
          </a:ln>
        </p:spPr>
      </p:sp>
      <p:sp>
        <p:nvSpPr>
          <p:cNvPr id="16" name="Text 14"/>
          <p:cNvSpPr/>
          <p:nvPr/>
        </p:nvSpPr>
        <p:spPr>
          <a:xfrm>
            <a:off x="2433036" y="1366375"/>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99.02</a:t>
            </a:r>
            <a:endParaRPr lang="en-US" sz="1130" dirty="0"/>
          </a:p>
        </p:txBody>
      </p:sp>
      <p:sp>
        <p:nvSpPr>
          <p:cNvPr id="17" name="Shape 15"/>
          <p:cNvSpPr/>
          <p:nvPr/>
        </p:nvSpPr>
        <p:spPr>
          <a:xfrm>
            <a:off x="3536168" y="1348087"/>
            <a:ext cx="1130564" cy="415399"/>
          </a:xfrm>
          <a:prstGeom prst="rect">
            <a:avLst/>
          </a:prstGeom>
          <a:solidFill>
            <a:srgbClr val="FFFFFF"/>
          </a:solidFill>
          <a:ln w="12700">
            <a:solidFill>
              <a:srgbClr val="D5DCE3"/>
            </a:solidFill>
            <a:prstDash val="solid"/>
          </a:ln>
        </p:spPr>
      </p:sp>
      <p:sp>
        <p:nvSpPr>
          <p:cNvPr id="18" name="Text 16"/>
          <p:cNvSpPr/>
          <p:nvPr/>
        </p:nvSpPr>
        <p:spPr>
          <a:xfrm>
            <a:off x="3563600" y="1366375"/>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0.97</a:t>
            </a:r>
            <a:endParaRPr lang="en-US" sz="1130" dirty="0"/>
          </a:p>
        </p:txBody>
      </p:sp>
      <p:sp>
        <p:nvSpPr>
          <p:cNvPr id="19" name="Shape 17"/>
          <p:cNvSpPr/>
          <p:nvPr/>
        </p:nvSpPr>
        <p:spPr>
          <a:xfrm>
            <a:off x="4666732" y="1348087"/>
            <a:ext cx="1130564" cy="415399"/>
          </a:xfrm>
          <a:prstGeom prst="rect">
            <a:avLst/>
          </a:prstGeom>
          <a:solidFill>
            <a:srgbClr val="FFFFFF"/>
          </a:solidFill>
          <a:ln w="12700">
            <a:solidFill>
              <a:srgbClr val="D5DCE3"/>
            </a:solidFill>
            <a:prstDash val="solid"/>
          </a:ln>
        </p:spPr>
      </p:sp>
      <p:sp>
        <p:nvSpPr>
          <p:cNvPr id="20" name="Text 18"/>
          <p:cNvSpPr/>
          <p:nvPr/>
        </p:nvSpPr>
        <p:spPr>
          <a:xfrm>
            <a:off x="4694164" y="1366375"/>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0.01</a:t>
            </a:r>
            <a:endParaRPr lang="en-US" sz="1130" dirty="0"/>
          </a:p>
        </p:txBody>
      </p:sp>
      <p:sp>
        <p:nvSpPr>
          <p:cNvPr id="21" name="Shape 19"/>
          <p:cNvSpPr/>
          <p:nvPr/>
        </p:nvSpPr>
        <p:spPr>
          <a:xfrm>
            <a:off x="658368" y="1763486"/>
            <a:ext cx="1747236" cy="415399"/>
          </a:xfrm>
          <a:prstGeom prst="rect">
            <a:avLst/>
          </a:prstGeom>
          <a:solidFill>
            <a:srgbClr val="F5F7FA"/>
          </a:solidFill>
          <a:ln w="12700">
            <a:solidFill>
              <a:srgbClr val="D5DCE3"/>
            </a:solidFill>
            <a:prstDash val="solid"/>
          </a:ln>
        </p:spPr>
      </p:sp>
      <p:sp>
        <p:nvSpPr>
          <p:cNvPr id="22" name="Text 20"/>
          <p:cNvSpPr/>
          <p:nvPr/>
        </p:nvSpPr>
        <p:spPr>
          <a:xfrm>
            <a:off x="685800" y="1781774"/>
            <a:ext cx="1692372" cy="378823"/>
          </a:xfrm>
          <a:prstGeom prst="rect">
            <a:avLst/>
          </a:prstGeom>
          <a:noFill/>
          <a:ln/>
        </p:spPr>
        <p:txBody>
          <a:bodyPr wrap="square" lIns="0" tIns="0" rIns="0" bIns="0" rtlCol="0" anchor="ctr">
            <a:normAutofit/>
          </a:bodyPr>
          <a:lstStyle/>
          <a:p>
            <a:pPr marL="0" indent="0" algn="l">
              <a:buNone/>
            </a:pPr>
            <a:r>
              <a:rPr lang="en-US" sz="1130" dirty="0">
                <a:solidFill>
                  <a:srgbClr val="20242A"/>
                </a:solidFill>
                <a:latin typeface="Yu Gothic" pitchFamily="34" charset="0"/>
                <a:ea typeface="Yu Gothic" pitchFamily="34" charset="-122"/>
                <a:cs typeface="Yu Gothic" pitchFamily="34" charset="-120"/>
              </a:rPr>
              <a:t>Glass</a:t>
            </a:r>
            <a:endParaRPr lang="en-US" sz="1130" dirty="0"/>
          </a:p>
        </p:txBody>
      </p:sp>
      <p:sp>
        <p:nvSpPr>
          <p:cNvPr id="23" name="Shape 21"/>
          <p:cNvSpPr/>
          <p:nvPr/>
        </p:nvSpPr>
        <p:spPr>
          <a:xfrm>
            <a:off x="2405604" y="1763486"/>
            <a:ext cx="1130564" cy="415399"/>
          </a:xfrm>
          <a:prstGeom prst="rect">
            <a:avLst/>
          </a:prstGeom>
          <a:solidFill>
            <a:srgbClr val="F5F7FA"/>
          </a:solidFill>
          <a:ln w="12700">
            <a:solidFill>
              <a:srgbClr val="D5DCE3"/>
            </a:solidFill>
            <a:prstDash val="solid"/>
          </a:ln>
        </p:spPr>
      </p:sp>
      <p:sp>
        <p:nvSpPr>
          <p:cNvPr id="24" name="Text 22"/>
          <p:cNvSpPr/>
          <p:nvPr/>
        </p:nvSpPr>
        <p:spPr>
          <a:xfrm>
            <a:off x="2433036" y="1781774"/>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99.61</a:t>
            </a:r>
            <a:endParaRPr lang="en-US" sz="1130" dirty="0"/>
          </a:p>
        </p:txBody>
      </p:sp>
      <p:sp>
        <p:nvSpPr>
          <p:cNvPr id="25" name="Shape 23"/>
          <p:cNvSpPr/>
          <p:nvPr/>
        </p:nvSpPr>
        <p:spPr>
          <a:xfrm>
            <a:off x="3536168" y="1763486"/>
            <a:ext cx="1130564" cy="415399"/>
          </a:xfrm>
          <a:prstGeom prst="rect">
            <a:avLst/>
          </a:prstGeom>
          <a:solidFill>
            <a:srgbClr val="F5F7FA"/>
          </a:solidFill>
          <a:ln w="12700">
            <a:solidFill>
              <a:srgbClr val="D5DCE3"/>
            </a:solidFill>
            <a:prstDash val="solid"/>
          </a:ln>
        </p:spPr>
      </p:sp>
      <p:sp>
        <p:nvSpPr>
          <p:cNvPr id="26" name="Text 24"/>
          <p:cNvSpPr/>
          <p:nvPr/>
        </p:nvSpPr>
        <p:spPr>
          <a:xfrm>
            <a:off x="3563600" y="1781774"/>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0.39</a:t>
            </a:r>
            <a:endParaRPr lang="en-US" sz="1130" dirty="0"/>
          </a:p>
        </p:txBody>
      </p:sp>
      <p:sp>
        <p:nvSpPr>
          <p:cNvPr id="27" name="Shape 25"/>
          <p:cNvSpPr/>
          <p:nvPr/>
        </p:nvSpPr>
        <p:spPr>
          <a:xfrm>
            <a:off x="4666732" y="1763486"/>
            <a:ext cx="1130564" cy="415399"/>
          </a:xfrm>
          <a:prstGeom prst="rect">
            <a:avLst/>
          </a:prstGeom>
          <a:solidFill>
            <a:srgbClr val="F5F7FA"/>
          </a:solidFill>
          <a:ln w="12700">
            <a:solidFill>
              <a:srgbClr val="D5DCE3"/>
            </a:solidFill>
            <a:prstDash val="solid"/>
          </a:ln>
        </p:spPr>
      </p:sp>
      <p:sp>
        <p:nvSpPr>
          <p:cNvPr id="28" name="Text 26"/>
          <p:cNvSpPr/>
          <p:nvPr/>
        </p:nvSpPr>
        <p:spPr>
          <a:xfrm>
            <a:off x="4694164" y="1781774"/>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0.00</a:t>
            </a:r>
            <a:endParaRPr lang="en-US" sz="1130" dirty="0"/>
          </a:p>
        </p:txBody>
      </p:sp>
      <p:sp>
        <p:nvSpPr>
          <p:cNvPr id="29" name="Shape 27"/>
          <p:cNvSpPr/>
          <p:nvPr/>
        </p:nvSpPr>
        <p:spPr>
          <a:xfrm>
            <a:off x="658368" y="2178885"/>
            <a:ext cx="1747236" cy="415399"/>
          </a:xfrm>
          <a:prstGeom prst="rect">
            <a:avLst/>
          </a:prstGeom>
          <a:solidFill>
            <a:srgbClr val="FFFFFF"/>
          </a:solidFill>
          <a:ln w="12700">
            <a:solidFill>
              <a:srgbClr val="D5DCE3"/>
            </a:solidFill>
            <a:prstDash val="solid"/>
          </a:ln>
        </p:spPr>
      </p:sp>
      <p:sp>
        <p:nvSpPr>
          <p:cNvPr id="30" name="Text 28"/>
          <p:cNvSpPr/>
          <p:nvPr/>
        </p:nvSpPr>
        <p:spPr>
          <a:xfrm>
            <a:off x="685800" y="2197173"/>
            <a:ext cx="1692372" cy="378823"/>
          </a:xfrm>
          <a:prstGeom prst="rect">
            <a:avLst/>
          </a:prstGeom>
          <a:noFill/>
          <a:ln/>
        </p:spPr>
        <p:txBody>
          <a:bodyPr wrap="square" lIns="0" tIns="0" rIns="0" bIns="0" rtlCol="0" anchor="ctr">
            <a:normAutofit/>
          </a:bodyPr>
          <a:lstStyle/>
          <a:p>
            <a:pPr marL="0" indent="0" algn="l">
              <a:buNone/>
            </a:pPr>
            <a:r>
              <a:rPr lang="en-US" sz="1130" dirty="0">
                <a:solidFill>
                  <a:srgbClr val="20242A"/>
                </a:solidFill>
                <a:latin typeface="Yu Gothic" pitchFamily="34" charset="0"/>
                <a:ea typeface="Yu Gothic" pitchFamily="34" charset="-122"/>
                <a:cs typeface="Yu Gothic" pitchFamily="34" charset="-120"/>
              </a:rPr>
              <a:t>Mirror</a:t>
            </a:r>
            <a:endParaRPr lang="en-US" sz="1130" dirty="0"/>
          </a:p>
        </p:txBody>
      </p:sp>
      <p:sp>
        <p:nvSpPr>
          <p:cNvPr id="31" name="Shape 29"/>
          <p:cNvSpPr/>
          <p:nvPr/>
        </p:nvSpPr>
        <p:spPr>
          <a:xfrm>
            <a:off x="2405604" y="2178885"/>
            <a:ext cx="1130564" cy="415399"/>
          </a:xfrm>
          <a:prstGeom prst="rect">
            <a:avLst/>
          </a:prstGeom>
          <a:solidFill>
            <a:srgbClr val="FFFFFF"/>
          </a:solidFill>
          <a:ln w="12700">
            <a:solidFill>
              <a:srgbClr val="D5DCE3"/>
            </a:solidFill>
            <a:prstDash val="solid"/>
          </a:ln>
        </p:spPr>
      </p:sp>
      <p:sp>
        <p:nvSpPr>
          <p:cNvPr id="32" name="Text 30"/>
          <p:cNvSpPr/>
          <p:nvPr/>
        </p:nvSpPr>
        <p:spPr>
          <a:xfrm>
            <a:off x="2433036" y="2197173"/>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98.74</a:t>
            </a:r>
            <a:endParaRPr lang="en-US" sz="1130" dirty="0"/>
          </a:p>
        </p:txBody>
      </p:sp>
      <p:sp>
        <p:nvSpPr>
          <p:cNvPr id="33" name="Shape 31"/>
          <p:cNvSpPr/>
          <p:nvPr/>
        </p:nvSpPr>
        <p:spPr>
          <a:xfrm>
            <a:off x="3536168" y="2178885"/>
            <a:ext cx="1130564" cy="415399"/>
          </a:xfrm>
          <a:prstGeom prst="rect">
            <a:avLst/>
          </a:prstGeom>
          <a:solidFill>
            <a:srgbClr val="FFFFFF"/>
          </a:solidFill>
          <a:ln w="12700">
            <a:solidFill>
              <a:srgbClr val="D5DCE3"/>
            </a:solidFill>
            <a:prstDash val="solid"/>
          </a:ln>
        </p:spPr>
      </p:sp>
      <p:sp>
        <p:nvSpPr>
          <p:cNvPr id="34" name="Text 32"/>
          <p:cNvSpPr/>
          <p:nvPr/>
        </p:nvSpPr>
        <p:spPr>
          <a:xfrm>
            <a:off x="3563600" y="2197173"/>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1.26</a:t>
            </a:r>
            <a:endParaRPr lang="en-US" sz="1130" dirty="0"/>
          </a:p>
        </p:txBody>
      </p:sp>
      <p:sp>
        <p:nvSpPr>
          <p:cNvPr id="35" name="Shape 33"/>
          <p:cNvSpPr/>
          <p:nvPr/>
        </p:nvSpPr>
        <p:spPr>
          <a:xfrm>
            <a:off x="4666732" y="2178885"/>
            <a:ext cx="1130564" cy="415399"/>
          </a:xfrm>
          <a:prstGeom prst="rect">
            <a:avLst/>
          </a:prstGeom>
          <a:solidFill>
            <a:srgbClr val="FFFFFF"/>
          </a:solidFill>
          <a:ln w="12700">
            <a:solidFill>
              <a:srgbClr val="D5DCE3"/>
            </a:solidFill>
            <a:prstDash val="solid"/>
          </a:ln>
        </p:spPr>
      </p:sp>
      <p:sp>
        <p:nvSpPr>
          <p:cNvPr id="36" name="Text 34"/>
          <p:cNvSpPr/>
          <p:nvPr/>
        </p:nvSpPr>
        <p:spPr>
          <a:xfrm>
            <a:off x="4694164" y="2197173"/>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0.00</a:t>
            </a:r>
            <a:endParaRPr lang="en-US" sz="1130" dirty="0"/>
          </a:p>
        </p:txBody>
      </p:sp>
      <p:sp>
        <p:nvSpPr>
          <p:cNvPr id="37" name="Shape 35"/>
          <p:cNvSpPr/>
          <p:nvPr/>
        </p:nvSpPr>
        <p:spPr>
          <a:xfrm>
            <a:off x="658368" y="2594283"/>
            <a:ext cx="1747236" cy="415399"/>
          </a:xfrm>
          <a:prstGeom prst="rect">
            <a:avLst/>
          </a:prstGeom>
          <a:solidFill>
            <a:srgbClr val="F5F7FA"/>
          </a:solidFill>
          <a:ln w="12700">
            <a:solidFill>
              <a:srgbClr val="D5DCE3"/>
            </a:solidFill>
            <a:prstDash val="solid"/>
          </a:ln>
        </p:spPr>
      </p:sp>
      <p:sp>
        <p:nvSpPr>
          <p:cNvPr id="38" name="Text 36"/>
          <p:cNvSpPr/>
          <p:nvPr/>
        </p:nvSpPr>
        <p:spPr>
          <a:xfrm>
            <a:off x="685800" y="2612571"/>
            <a:ext cx="1692372" cy="378823"/>
          </a:xfrm>
          <a:prstGeom prst="rect">
            <a:avLst/>
          </a:prstGeom>
          <a:noFill/>
          <a:ln/>
        </p:spPr>
        <p:txBody>
          <a:bodyPr wrap="square" lIns="0" tIns="0" rIns="0" bIns="0" rtlCol="0" anchor="ctr">
            <a:normAutofit/>
          </a:bodyPr>
          <a:lstStyle/>
          <a:p>
            <a:pPr marL="0" indent="0" algn="l">
              <a:buNone/>
            </a:pPr>
            <a:r>
              <a:rPr lang="en-US" sz="1130" dirty="0">
                <a:solidFill>
                  <a:srgbClr val="20242A"/>
                </a:solidFill>
                <a:latin typeface="Yu Gothic" pitchFamily="34" charset="0"/>
                <a:ea typeface="Yu Gothic" pitchFamily="34" charset="-122"/>
                <a:cs typeface="Yu Gothic" pitchFamily="34" charset="-120"/>
              </a:rPr>
              <a:t>Other reflective</a:t>
            </a:r>
            <a:endParaRPr lang="en-US" sz="1130" dirty="0"/>
          </a:p>
        </p:txBody>
      </p:sp>
      <p:sp>
        <p:nvSpPr>
          <p:cNvPr id="39" name="Shape 37"/>
          <p:cNvSpPr/>
          <p:nvPr/>
        </p:nvSpPr>
        <p:spPr>
          <a:xfrm>
            <a:off x="2405604" y="2594283"/>
            <a:ext cx="1130564" cy="415399"/>
          </a:xfrm>
          <a:prstGeom prst="rect">
            <a:avLst/>
          </a:prstGeom>
          <a:solidFill>
            <a:srgbClr val="F5F7FA"/>
          </a:solidFill>
          <a:ln w="12700">
            <a:solidFill>
              <a:srgbClr val="D5DCE3"/>
            </a:solidFill>
            <a:prstDash val="solid"/>
          </a:ln>
        </p:spPr>
      </p:sp>
      <p:sp>
        <p:nvSpPr>
          <p:cNvPr id="40" name="Text 38"/>
          <p:cNvSpPr/>
          <p:nvPr/>
        </p:nvSpPr>
        <p:spPr>
          <a:xfrm>
            <a:off x="2433036" y="2612571"/>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99.82</a:t>
            </a:r>
            <a:endParaRPr lang="en-US" sz="1130" dirty="0"/>
          </a:p>
        </p:txBody>
      </p:sp>
      <p:sp>
        <p:nvSpPr>
          <p:cNvPr id="41" name="Shape 39"/>
          <p:cNvSpPr/>
          <p:nvPr/>
        </p:nvSpPr>
        <p:spPr>
          <a:xfrm>
            <a:off x="3536168" y="2594283"/>
            <a:ext cx="1130564" cy="415399"/>
          </a:xfrm>
          <a:prstGeom prst="rect">
            <a:avLst/>
          </a:prstGeom>
          <a:solidFill>
            <a:srgbClr val="F5F7FA"/>
          </a:solidFill>
          <a:ln w="12700">
            <a:solidFill>
              <a:srgbClr val="D5DCE3"/>
            </a:solidFill>
            <a:prstDash val="solid"/>
          </a:ln>
        </p:spPr>
      </p:sp>
      <p:sp>
        <p:nvSpPr>
          <p:cNvPr id="42" name="Text 40"/>
          <p:cNvSpPr/>
          <p:nvPr/>
        </p:nvSpPr>
        <p:spPr>
          <a:xfrm>
            <a:off x="3563600" y="2612571"/>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0.18</a:t>
            </a:r>
            <a:endParaRPr lang="en-US" sz="1130" dirty="0"/>
          </a:p>
        </p:txBody>
      </p:sp>
      <p:sp>
        <p:nvSpPr>
          <p:cNvPr id="43" name="Shape 41"/>
          <p:cNvSpPr/>
          <p:nvPr/>
        </p:nvSpPr>
        <p:spPr>
          <a:xfrm>
            <a:off x="4666732" y="2594283"/>
            <a:ext cx="1130564" cy="415399"/>
          </a:xfrm>
          <a:prstGeom prst="rect">
            <a:avLst/>
          </a:prstGeom>
          <a:solidFill>
            <a:srgbClr val="F5F7FA"/>
          </a:solidFill>
          <a:ln w="12700">
            <a:solidFill>
              <a:srgbClr val="D5DCE3"/>
            </a:solidFill>
            <a:prstDash val="solid"/>
          </a:ln>
        </p:spPr>
      </p:sp>
      <p:sp>
        <p:nvSpPr>
          <p:cNvPr id="44" name="Text 42"/>
          <p:cNvSpPr/>
          <p:nvPr/>
        </p:nvSpPr>
        <p:spPr>
          <a:xfrm>
            <a:off x="4694164" y="2612571"/>
            <a:ext cx="1075700" cy="378823"/>
          </a:xfrm>
          <a:prstGeom prst="rect">
            <a:avLst/>
          </a:prstGeom>
          <a:noFill/>
          <a:ln/>
        </p:spPr>
        <p:txBody>
          <a:bodyPr wrap="square" lIns="0" tIns="0" rIns="0" bIns="0" rtlCol="0" anchor="ctr">
            <a:normAutofit/>
          </a:bodyPr>
          <a:lstStyle/>
          <a:p>
            <a:pPr marL="0" indent="0" algn="ctr">
              <a:buNone/>
            </a:pPr>
            <a:r>
              <a:rPr lang="en-US" sz="1130" dirty="0">
                <a:solidFill>
                  <a:srgbClr val="20242A"/>
                </a:solidFill>
                <a:latin typeface="Yu Gothic" pitchFamily="34" charset="0"/>
                <a:ea typeface="Yu Gothic" pitchFamily="34" charset="-122"/>
                <a:cs typeface="Yu Gothic" pitchFamily="34" charset="-120"/>
              </a:rPr>
              <a:t>0.00</a:t>
            </a:r>
            <a:endParaRPr lang="en-US" sz="1130" dirty="0"/>
          </a:p>
        </p:txBody>
      </p:sp>
      <p:sp>
        <p:nvSpPr>
          <p:cNvPr id="45" name="Shape 43"/>
          <p:cNvSpPr/>
          <p:nvPr/>
        </p:nvSpPr>
        <p:spPr>
          <a:xfrm>
            <a:off x="658368" y="3009682"/>
            <a:ext cx="1747236" cy="415399"/>
          </a:xfrm>
          <a:prstGeom prst="rect">
            <a:avLst/>
          </a:prstGeom>
          <a:solidFill>
            <a:srgbClr val="FFFFFF"/>
          </a:solidFill>
          <a:ln w="12700">
            <a:solidFill>
              <a:srgbClr val="D5DCE3"/>
            </a:solidFill>
            <a:prstDash val="solid"/>
          </a:ln>
        </p:spPr>
      </p:sp>
      <p:sp>
        <p:nvSpPr>
          <p:cNvPr id="46" name="Text 44"/>
          <p:cNvSpPr/>
          <p:nvPr/>
        </p:nvSpPr>
        <p:spPr>
          <a:xfrm>
            <a:off x="685800" y="3027970"/>
            <a:ext cx="1692372" cy="378823"/>
          </a:xfrm>
          <a:prstGeom prst="rect">
            <a:avLst/>
          </a:prstGeom>
          <a:noFill/>
          <a:ln/>
        </p:spPr>
        <p:txBody>
          <a:bodyPr wrap="square" lIns="0" tIns="0" rIns="0" bIns="0" rtlCol="0" anchor="ctr">
            <a:normAutofit/>
          </a:bodyPr>
          <a:lstStyle/>
          <a:p>
            <a:pPr marL="0" indent="0" algn="l">
              <a:buNone/>
            </a:pPr>
            <a:r>
              <a:rPr lang="en-US" sz="1130" b="1" dirty="0">
                <a:solidFill>
                  <a:srgbClr val="ED7D31"/>
                </a:solidFill>
                <a:latin typeface="Yu Gothic" pitchFamily="34" charset="0"/>
                <a:ea typeface="Yu Gothic" pitchFamily="34" charset="-122"/>
                <a:cs typeface="Yu Gothic" pitchFamily="34" charset="-120"/>
              </a:rPr>
              <a:t>Reflection</a:t>
            </a:r>
            <a:endParaRPr lang="en-US" sz="1130" dirty="0"/>
          </a:p>
        </p:txBody>
      </p:sp>
      <p:sp>
        <p:nvSpPr>
          <p:cNvPr id="47" name="Shape 45"/>
          <p:cNvSpPr/>
          <p:nvPr/>
        </p:nvSpPr>
        <p:spPr>
          <a:xfrm>
            <a:off x="2405604" y="3009682"/>
            <a:ext cx="1130564" cy="415399"/>
          </a:xfrm>
          <a:prstGeom prst="rect">
            <a:avLst/>
          </a:prstGeom>
          <a:solidFill>
            <a:srgbClr val="FFFFFF"/>
          </a:solidFill>
          <a:ln w="12700">
            <a:solidFill>
              <a:srgbClr val="D5DCE3"/>
            </a:solidFill>
            <a:prstDash val="solid"/>
          </a:ln>
        </p:spPr>
      </p:sp>
      <p:sp>
        <p:nvSpPr>
          <p:cNvPr id="48" name="Text 46"/>
          <p:cNvSpPr/>
          <p:nvPr/>
        </p:nvSpPr>
        <p:spPr>
          <a:xfrm>
            <a:off x="2433036" y="3027970"/>
            <a:ext cx="1075700" cy="378823"/>
          </a:xfrm>
          <a:prstGeom prst="rect">
            <a:avLst/>
          </a:prstGeom>
          <a:noFill/>
          <a:ln/>
        </p:spPr>
        <p:txBody>
          <a:bodyPr wrap="square" lIns="0" tIns="0" rIns="0" bIns="0" rtlCol="0" anchor="ctr">
            <a:normAutofit/>
          </a:bodyPr>
          <a:lstStyle/>
          <a:p>
            <a:pPr marL="0" indent="0" algn="ctr">
              <a:buNone/>
            </a:pPr>
            <a:r>
              <a:rPr lang="en-US" sz="1130" b="1" dirty="0">
                <a:solidFill>
                  <a:srgbClr val="20242A"/>
                </a:solidFill>
                <a:latin typeface="Yu Gothic" pitchFamily="34" charset="0"/>
                <a:ea typeface="Yu Gothic" pitchFamily="34" charset="-122"/>
                <a:cs typeface="Yu Gothic" pitchFamily="34" charset="-120"/>
              </a:rPr>
              <a:t>77.16</a:t>
            </a:r>
            <a:endParaRPr lang="en-US" sz="1130" dirty="0"/>
          </a:p>
        </p:txBody>
      </p:sp>
      <p:sp>
        <p:nvSpPr>
          <p:cNvPr id="49" name="Shape 47"/>
          <p:cNvSpPr/>
          <p:nvPr/>
        </p:nvSpPr>
        <p:spPr>
          <a:xfrm>
            <a:off x="3536168" y="3009682"/>
            <a:ext cx="1130564" cy="415399"/>
          </a:xfrm>
          <a:prstGeom prst="rect">
            <a:avLst/>
          </a:prstGeom>
          <a:solidFill>
            <a:srgbClr val="FFFFFF"/>
          </a:solidFill>
          <a:ln w="12700">
            <a:solidFill>
              <a:srgbClr val="D5DCE3"/>
            </a:solidFill>
            <a:prstDash val="solid"/>
          </a:ln>
        </p:spPr>
      </p:sp>
      <p:sp>
        <p:nvSpPr>
          <p:cNvPr id="50" name="Text 48"/>
          <p:cNvSpPr/>
          <p:nvPr/>
        </p:nvSpPr>
        <p:spPr>
          <a:xfrm>
            <a:off x="3563600" y="3027970"/>
            <a:ext cx="1075700" cy="378823"/>
          </a:xfrm>
          <a:prstGeom prst="rect">
            <a:avLst/>
          </a:prstGeom>
          <a:noFill/>
          <a:ln/>
        </p:spPr>
        <p:txBody>
          <a:bodyPr wrap="square" lIns="0" tIns="0" rIns="0" bIns="0" rtlCol="0" anchor="ctr">
            <a:normAutofit/>
          </a:bodyPr>
          <a:lstStyle/>
          <a:p>
            <a:pPr marL="0" indent="0" algn="ctr">
              <a:buNone/>
            </a:pPr>
            <a:r>
              <a:rPr lang="en-US" sz="1130" b="1" dirty="0">
                <a:solidFill>
                  <a:srgbClr val="ED7D31"/>
                </a:solidFill>
                <a:latin typeface="Yu Gothic" pitchFamily="34" charset="0"/>
                <a:ea typeface="Yu Gothic" pitchFamily="34" charset="-122"/>
                <a:cs typeface="Yu Gothic" pitchFamily="34" charset="-120"/>
              </a:rPr>
              <a:t>22.07</a:t>
            </a:r>
            <a:endParaRPr lang="en-US" sz="1130" dirty="0"/>
          </a:p>
        </p:txBody>
      </p:sp>
      <p:sp>
        <p:nvSpPr>
          <p:cNvPr id="51" name="Shape 49"/>
          <p:cNvSpPr/>
          <p:nvPr/>
        </p:nvSpPr>
        <p:spPr>
          <a:xfrm>
            <a:off x="4666732" y="3009682"/>
            <a:ext cx="1130564" cy="415399"/>
          </a:xfrm>
          <a:prstGeom prst="rect">
            <a:avLst/>
          </a:prstGeom>
          <a:solidFill>
            <a:srgbClr val="FFFFFF"/>
          </a:solidFill>
          <a:ln w="12700">
            <a:solidFill>
              <a:srgbClr val="D5DCE3"/>
            </a:solidFill>
            <a:prstDash val="solid"/>
          </a:ln>
        </p:spPr>
      </p:sp>
      <p:sp>
        <p:nvSpPr>
          <p:cNvPr id="52" name="Text 50"/>
          <p:cNvSpPr/>
          <p:nvPr/>
        </p:nvSpPr>
        <p:spPr>
          <a:xfrm>
            <a:off x="4694164" y="3027970"/>
            <a:ext cx="1075700" cy="378823"/>
          </a:xfrm>
          <a:prstGeom prst="rect">
            <a:avLst/>
          </a:prstGeom>
          <a:noFill/>
          <a:ln/>
        </p:spPr>
        <p:txBody>
          <a:bodyPr wrap="square" lIns="0" tIns="0" rIns="0" bIns="0" rtlCol="0" anchor="ctr">
            <a:normAutofit/>
          </a:bodyPr>
          <a:lstStyle/>
          <a:p>
            <a:pPr marL="0" indent="0" algn="ctr">
              <a:buNone/>
            </a:pPr>
            <a:r>
              <a:rPr lang="en-US" sz="1130" b="1" dirty="0">
                <a:solidFill>
                  <a:srgbClr val="ED7D31"/>
                </a:solidFill>
                <a:latin typeface="Yu Gothic" pitchFamily="34" charset="0"/>
                <a:ea typeface="Yu Gothic" pitchFamily="34" charset="-122"/>
                <a:cs typeface="Yu Gothic" pitchFamily="34" charset="-120"/>
              </a:rPr>
              <a:t>0.77</a:t>
            </a:r>
            <a:endParaRPr lang="en-US" sz="1130" dirty="0"/>
          </a:p>
        </p:txBody>
      </p:sp>
      <p:sp>
        <p:nvSpPr>
          <p:cNvPr id="53" name="Shape 51"/>
          <p:cNvSpPr/>
          <p:nvPr/>
        </p:nvSpPr>
        <p:spPr>
          <a:xfrm>
            <a:off x="658368" y="3425081"/>
            <a:ext cx="1747236" cy="415399"/>
          </a:xfrm>
          <a:prstGeom prst="rect">
            <a:avLst/>
          </a:prstGeom>
          <a:solidFill>
            <a:srgbClr val="F5F7FA"/>
          </a:solidFill>
          <a:ln w="12700">
            <a:solidFill>
              <a:srgbClr val="D5DCE3"/>
            </a:solidFill>
            <a:prstDash val="solid"/>
          </a:ln>
        </p:spPr>
      </p:sp>
      <p:sp>
        <p:nvSpPr>
          <p:cNvPr id="54" name="Text 52"/>
          <p:cNvSpPr/>
          <p:nvPr/>
        </p:nvSpPr>
        <p:spPr>
          <a:xfrm>
            <a:off x="685800" y="3443369"/>
            <a:ext cx="1692372" cy="378823"/>
          </a:xfrm>
          <a:prstGeom prst="rect">
            <a:avLst/>
          </a:prstGeom>
          <a:noFill/>
          <a:ln/>
        </p:spPr>
        <p:txBody>
          <a:bodyPr wrap="square" lIns="0" tIns="0" rIns="0" bIns="0" rtlCol="0" anchor="ctr">
            <a:normAutofit/>
          </a:bodyPr>
          <a:lstStyle/>
          <a:p>
            <a:pPr marL="0" indent="0" algn="l">
              <a:buNone/>
            </a:pPr>
            <a:r>
              <a:rPr lang="en-US" sz="1130" b="1" dirty="0">
                <a:solidFill>
                  <a:srgbClr val="C94C4C"/>
                </a:solidFill>
                <a:latin typeface="Yu Gothic" pitchFamily="34" charset="0"/>
                <a:ea typeface="Yu Gothic" pitchFamily="34" charset="-122"/>
                <a:cs typeface="Yu Gothic" pitchFamily="34" charset="-120"/>
              </a:rPr>
              <a:t>Obstacle</a:t>
            </a:r>
            <a:endParaRPr lang="en-US" sz="1130" dirty="0"/>
          </a:p>
        </p:txBody>
      </p:sp>
      <p:sp>
        <p:nvSpPr>
          <p:cNvPr id="55" name="Shape 53"/>
          <p:cNvSpPr/>
          <p:nvPr/>
        </p:nvSpPr>
        <p:spPr>
          <a:xfrm>
            <a:off x="2405604" y="3425081"/>
            <a:ext cx="1130564" cy="415399"/>
          </a:xfrm>
          <a:prstGeom prst="rect">
            <a:avLst/>
          </a:prstGeom>
          <a:solidFill>
            <a:srgbClr val="F5F7FA"/>
          </a:solidFill>
          <a:ln w="12700">
            <a:solidFill>
              <a:srgbClr val="D5DCE3"/>
            </a:solidFill>
            <a:prstDash val="solid"/>
          </a:ln>
        </p:spPr>
      </p:sp>
      <p:sp>
        <p:nvSpPr>
          <p:cNvPr id="56" name="Text 54"/>
          <p:cNvSpPr/>
          <p:nvPr/>
        </p:nvSpPr>
        <p:spPr>
          <a:xfrm>
            <a:off x="2433036" y="3443369"/>
            <a:ext cx="1075700" cy="378823"/>
          </a:xfrm>
          <a:prstGeom prst="rect">
            <a:avLst/>
          </a:prstGeom>
          <a:noFill/>
          <a:ln/>
        </p:spPr>
        <p:txBody>
          <a:bodyPr wrap="square" lIns="0" tIns="0" rIns="0" bIns="0" rtlCol="0" anchor="ctr">
            <a:normAutofit/>
          </a:bodyPr>
          <a:lstStyle/>
          <a:p>
            <a:pPr marL="0" indent="0" algn="ctr">
              <a:buNone/>
            </a:pPr>
            <a:r>
              <a:rPr lang="en-US" sz="1130" b="1" dirty="0">
                <a:solidFill>
                  <a:srgbClr val="20242A"/>
                </a:solidFill>
                <a:latin typeface="Yu Gothic" pitchFamily="34" charset="0"/>
                <a:ea typeface="Yu Gothic" pitchFamily="34" charset="-122"/>
                <a:cs typeface="Yu Gothic" pitchFamily="34" charset="-120"/>
              </a:rPr>
              <a:t>62.20</a:t>
            </a:r>
            <a:endParaRPr lang="en-US" sz="1130" dirty="0"/>
          </a:p>
        </p:txBody>
      </p:sp>
      <p:sp>
        <p:nvSpPr>
          <p:cNvPr id="57" name="Shape 55"/>
          <p:cNvSpPr/>
          <p:nvPr/>
        </p:nvSpPr>
        <p:spPr>
          <a:xfrm>
            <a:off x="3536168" y="3425081"/>
            <a:ext cx="1130564" cy="415399"/>
          </a:xfrm>
          <a:prstGeom prst="rect">
            <a:avLst/>
          </a:prstGeom>
          <a:solidFill>
            <a:srgbClr val="F5F7FA"/>
          </a:solidFill>
          <a:ln w="12700">
            <a:solidFill>
              <a:srgbClr val="D5DCE3"/>
            </a:solidFill>
            <a:prstDash val="solid"/>
          </a:ln>
        </p:spPr>
      </p:sp>
      <p:sp>
        <p:nvSpPr>
          <p:cNvPr id="58" name="Text 56"/>
          <p:cNvSpPr/>
          <p:nvPr/>
        </p:nvSpPr>
        <p:spPr>
          <a:xfrm>
            <a:off x="3563600" y="3443369"/>
            <a:ext cx="1075700" cy="378823"/>
          </a:xfrm>
          <a:prstGeom prst="rect">
            <a:avLst/>
          </a:prstGeom>
          <a:noFill/>
          <a:ln/>
        </p:spPr>
        <p:txBody>
          <a:bodyPr wrap="square" lIns="0" tIns="0" rIns="0" bIns="0" rtlCol="0" anchor="ctr">
            <a:normAutofit/>
          </a:bodyPr>
          <a:lstStyle/>
          <a:p>
            <a:pPr marL="0" indent="0" algn="ctr">
              <a:buNone/>
            </a:pPr>
            <a:r>
              <a:rPr lang="en-US" sz="1130" b="1" dirty="0">
                <a:solidFill>
                  <a:srgbClr val="C94C4C"/>
                </a:solidFill>
                <a:latin typeface="Yu Gothic" pitchFamily="34" charset="0"/>
                <a:ea typeface="Yu Gothic" pitchFamily="34" charset="-122"/>
                <a:cs typeface="Yu Gothic" pitchFamily="34" charset="-120"/>
              </a:rPr>
              <a:t>33.38</a:t>
            </a:r>
            <a:endParaRPr lang="en-US" sz="1130" dirty="0"/>
          </a:p>
        </p:txBody>
      </p:sp>
      <p:sp>
        <p:nvSpPr>
          <p:cNvPr id="59" name="Shape 57"/>
          <p:cNvSpPr/>
          <p:nvPr/>
        </p:nvSpPr>
        <p:spPr>
          <a:xfrm>
            <a:off x="4666732" y="3425081"/>
            <a:ext cx="1130564" cy="415399"/>
          </a:xfrm>
          <a:prstGeom prst="rect">
            <a:avLst/>
          </a:prstGeom>
          <a:solidFill>
            <a:srgbClr val="F5F7FA"/>
          </a:solidFill>
          <a:ln w="12700">
            <a:solidFill>
              <a:srgbClr val="D5DCE3"/>
            </a:solidFill>
            <a:prstDash val="solid"/>
          </a:ln>
        </p:spPr>
      </p:sp>
      <p:sp>
        <p:nvSpPr>
          <p:cNvPr id="60" name="Text 58"/>
          <p:cNvSpPr/>
          <p:nvPr/>
        </p:nvSpPr>
        <p:spPr>
          <a:xfrm>
            <a:off x="4694164" y="3443369"/>
            <a:ext cx="1075700" cy="378823"/>
          </a:xfrm>
          <a:prstGeom prst="rect">
            <a:avLst/>
          </a:prstGeom>
          <a:noFill/>
          <a:ln/>
        </p:spPr>
        <p:txBody>
          <a:bodyPr wrap="square" lIns="0" tIns="0" rIns="0" bIns="0" rtlCol="0" anchor="ctr">
            <a:normAutofit/>
          </a:bodyPr>
          <a:lstStyle/>
          <a:p>
            <a:pPr marL="0" indent="0" algn="ctr">
              <a:buNone/>
            </a:pPr>
            <a:r>
              <a:rPr lang="en-US" sz="1130" b="1" dirty="0">
                <a:solidFill>
                  <a:srgbClr val="C94C4C"/>
                </a:solidFill>
                <a:latin typeface="Yu Gothic" pitchFamily="34" charset="0"/>
                <a:ea typeface="Yu Gothic" pitchFamily="34" charset="-122"/>
                <a:cs typeface="Yu Gothic" pitchFamily="34" charset="-120"/>
              </a:rPr>
              <a:t>4.43</a:t>
            </a:r>
            <a:endParaRPr lang="en-US" sz="1130" dirty="0"/>
          </a:p>
        </p:txBody>
      </p:sp>
      <p:sp>
        <p:nvSpPr>
          <p:cNvPr id="61" name="Shape 59"/>
          <p:cNvSpPr/>
          <p:nvPr/>
        </p:nvSpPr>
        <p:spPr>
          <a:xfrm>
            <a:off x="6053328" y="1005840"/>
            <a:ext cx="2432304" cy="1170432"/>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62" name="Shape 60"/>
          <p:cNvSpPr/>
          <p:nvPr/>
        </p:nvSpPr>
        <p:spPr>
          <a:xfrm>
            <a:off x="6053328" y="1005840"/>
            <a:ext cx="50292" cy="1170432"/>
          </a:xfrm>
          <a:prstGeom prst="rect">
            <a:avLst/>
          </a:prstGeom>
          <a:solidFill>
            <a:srgbClr val="2A9D8F"/>
          </a:solidFill>
          <a:ln w="12700">
            <a:solidFill>
              <a:srgbClr val="2A9D8F"/>
            </a:solidFill>
            <a:prstDash val="solid"/>
          </a:ln>
        </p:spPr>
      </p:sp>
      <p:sp>
        <p:nvSpPr>
          <p:cNvPr id="63" name="Text 61"/>
          <p:cNvSpPr/>
          <p:nvPr/>
        </p:nvSpPr>
        <p:spPr>
          <a:xfrm>
            <a:off x="6217920" y="1078992"/>
            <a:ext cx="2157984"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2nd+3rdの比率</a:t>
            </a:r>
            <a:endParaRPr lang="en-US" sz="1600" dirty="0"/>
          </a:p>
        </p:txBody>
      </p:sp>
      <p:sp>
        <p:nvSpPr>
          <p:cNvPr id="64" name="Text 62"/>
          <p:cNvSpPr/>
          <p:nvPr/>
        </p:nvSpPr>
        <p:spPr>
          <a:xfrm>
            <a:off x="6217920" y="1426464"/>
            <a:ext cx="2157984" cy="658368"/>
          </a:xfrm>
          <a:prstGeom prst="rect">
            <a:avLst/>
          </a:prstGeom>
          <a:noFill/>
          <a:ln/>
        </p:spPr>
        <p:txBody>
          <a:bodyPr wrap="square" lIns="12700" tIns="0" rIns="0" bIns="25400" rtlCol="0" anchor="t">
            <a:normAutofit/>
          </a:bodyPr>
          <a:lstStyle/>
          <a:p>
            <a:pPr marL="0" indent="0">
              <a:buNone/>
            </a:pPr>
            <a:r>
              <a:rPr lang="en-US" sz="1400" dirty="0">
                <a:solidFill>
                  <a:srgbClr val="4D5966"/>
                </a:solidFill>
                <a:latin typeface="Yu Gothic" pitchFamily="34" charset="0"/>
                <a:ea typeface="Yu Gothic" pitchFamily="34" charset="-122"/>
                <a:cs typeface="Yu Gothic" pitchFamily="34" charset="-120"/>
              </a:rPr>
              <a:t>Normal 0.98%</a:t>
            </a:r>
            <a:endParaRPr lang="en-US" sz="1400" dirty="0"/>
          </a:p>
          <a:p>
            <a:pPr marL="0" indent="0">
              <a:buNone/>
            </a:pPr>
            <a:r>
              <a:rPr lang="en-US" sz="1400" dirty="0">
                <a:solidFill>
                  <a:srgbClr val="4D5966"/>
                </a:solidFill>
                <a:latin typeface="Yu Gothic" pitchFamily="34" charset="0"/>
                <a:ea typeface="Yu Gothic" pitchFamily="34" charset="-122"/>
                <a:cs typeface="Yu Gothic" pitchFamily="34" charset="-120"/>
              </a:rPr>
              <a:t>Reflection 22.84%</a:t>
            </a:r>
            <a:endParaRPr lang="en-US" sz="1400" dirty="0"/>
          </a:p>
          <a:p>
            <a:pPr marL="0" indent="0">
              <a:buNone/>
            </a:pPr>
            <a:r>
              <a:rPr lang="en-US" sz="1400" dirty="0">
                <a:solidFill>
                  <a:srgbClr val="4D5966"/>
                </a:solidFill>
                <a:latin typeface="Yu Gothic" pitchFamily="34" charset="0"/>
                <a:ea typeface="Yu Gothic" pitchFamily="34" charset="-122"/>
                <a:cs typeface="Yu Gothic" pitchFamily="34" charset="-120"/>
              </a:rPr>
              <a:t>Obstacle 37.81%</a:t>
            </a:r>
            <a:endParaRPr lang="en-US" sz="1400" dirty="0"/>
          </a:p>
        </p:txBody>
      </p:sp>
      <p:sp>
        <p:nvSpPr>
          <p:cNvPr id="65" name="Shape 63"/>
          <p:cNvSpPr/>
          <p:nvPr/>
        </p:nvSpPr>
        <p:spPr>
          <a:xfrm>
            <a:off x="6053328" y="2450592"/>
            <a:ext cx="2432304" cy="1170432"/>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66" name="Shape 64"/>
          <p:cNvSpPr/>
          <p:nvPr/>
        </p:nvSpPr>
        <p:spPr>
          <a:xfrm>
            <a:off x="6053328" y="2450592"/>
            <a:ext cx="50292" cy="1170432"/>
          </a:xfrm>
          <a:prstGeom prst="rect">
            <a:avLst/>
          </a:prstGeom>
          <a:solidFill>
            <a:srgbClr val="ED7D31"/>
          </a:solidFill>
          <a:ln w="12700">
            <a:solidFill>
              <a:srgbClr val="ED7D31"/>
            </a:solidFill>
            <a:prstDash val="solid"/>
          </a:ln>
        </p:spPr>
      </p:sp>
      <p:sp>
        <p:nvSpPr>
          <p:cNvPr id="67" name="Text 65"/>
          <p:cNvSpPr/>
          <p:nvPr/>
        </p:nvSpPr>
        <p:spPr>
          <a:xfrm>
            <a:off x="6217920" y="2523744"/>
            <a:ext cx="2157984"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解釈</a:t>
            </a:r>
            <a:endParaRPr lang="en-US" sz="1600" dirty="0"/>
          </a:p>
        </p:txBody>
      </p:sp>
      <p:sp>
        <p:nvSpPr>
          <p:cNvPr id="68" name="Text 66"/>
          <p:cNvSpPr/>
          <p:nvPr/>
        </p:nvSpPr>
        <p:spPr>
          <a:xfrm>
            <a:off x="6217920" y="2871216"/>
            <a:ext cx="2157984" cy="658368"/>
          </a:xfrm>
          <a:prstGeom prst="rect">
            <a:avLst/>
          </a:prstGeom>
          <a:noFill/>
          <a:ln/>
        </p:spPr>
        <p:txBody>
          <a:bodyPr wrap="square" lIns="12700" tIns="0" rIns="0" bIns="25400" rtlCol="0" anchor="t">
            <a:normAutofit/>
          </a:bodyPr>
          <a:lstStyle/>
          <a:p>
            <a:pPr marL="0" indent="0">
              <a:buNone/>
            </a:pPr>
            <a:r>
              <a:rPr lang="en-US" sz="1340" dirty="0">
                <a:solidFill>
                  <a:srgbClr val="4D5966"/>
                </a:solidFill>
                <a:latin typeface="Yu Gothic" pitchFamily="34" charset="0"/>
                <a:ea typeface="Yu Gothic" pitchFamily="34" charset="-122"/>
                <a:cs typeface="Yu Gothic" pitchFamily="34" charset="-120"/>
              </a:rPr>
              <a:t>late returnは反射現象に濃縮されるが、1stにも多数残る。</a:t>
            </a:r>
            <a:endParaRPr lang="en-US" sz="1340" dirty="0"/>
          </a:p>
        </p:txBody>
      </p:sp>
      <p:sp>
        <p:nvSpPr>
          <p:cNvPr id="69" name="Shape 67"/>
          <p:cNvSpPr/>
          <p:nvPr/>
        </p:nvSpPr>
        <p:spPr>
          <a:xfrm>
            <a:off x="566928" y="4096512"/>
            <a:ext cx="8010144" cy="347472"/>
          </a:xfrm>
          <a:prstGeom prst="rect">
            <a:avLst/>
          </a:prstGeom>
          <a:solidFill>
            <a:srgbClr val="F8FAFB"/>
          </a:solidFill>
          <a:ln w="12700">
            <a:solidFill>
              <a:srgbClr val="2E75B6"/>
            </a:solidFill>
            <a:prstDash val="solid"/>
          </a:ln>
        </p:spPr>
      </p:sp>
      <p:sp>
        <p:nvSpPr>
          <p:cNvPr id="70" name="Shape 68"/>
          <p:cNvSpPr/>
          <p:nvPr/>
        </p:nvSpPr>
        <p:spPr>
          <a:xfrm>
            <a:off x="566928" y="4096512"/>
            <a:ext cx="64008" cy="347472"/>
          </a:xfrm>
          <a:prstGeom prst="rect">
            <a:avLst/>
          </a:prstGeom>
          <a:solidFill>
            <a:srgbClr val="2E75B6"/>
          </a:solidFill>
          <a:ln w="12700">
            <a:solidFill>
              <a:srgbClr val="2E75B6"/>
            </a:solidFill>
            <a:prstDash val="solid"/>
          </a:ln>
        </p:spPr>
      </p:sp>
      <p:sp>
        <p:nvSpPr>
          <p:cNvPr id="71" name="Text 69"/>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return番号は有用な補助特徴だが、番号だけでclassを決定できない。</a:t>
            </a:r>
            <a:endParaRPr lang="en-US" sz="1450" dirty="0"/>
          </a:p>
        </p:txBody>
      </p:sp>
      <p:sp>
        <p:nvSpPr>
          <p:cNvPr id="72" name="Text 70"/>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入射角により直接反射・透過・多重反射の割合が変化する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Incidence angle</a:t>
            </a:r>
            <a:endParaRPr lang="en-US" sz="950" dirty="0"/>
          </a:p>
        </p:txBody>
      </p:sp>
      <p:pic>
        <p:nvPicPr>
          <p:cNvPr id="5" name="Image 0" descr="Incident-angle distribution by class"/>
          <p:cNvPicPr>
            <a:picLocks noChangeAspect="1"/>
          </p:cNvPicPr>
          <p:nvPr/>
        </p:nvPicPr>
        <p:blipFill>
          <a:blip r:embed="rId3"/>
          <a:stretch>
            <a:fillRect/>
          </a:stretch>
        </p:blipFill>
        <p:spPr>
          <a:xfrm>
            <a:off x="911515" y="914400"/>
            <a:ext cx="4157147" cy="3310128"/>
          </a:xfrm>
          <a:prstGeom prst="rect">
            <a:avLst/>
          </a:prstGeom>
        </p:spPr>
      </p:pic>
      <p:sp>
        <p:nvSpPr>
          <p:cNvPr id="6" name="Shape 3"/>
          <p:cNvSpPr/>
          <p:nvPr/>
        </p:nvSpPr>
        <p:spPr>
          <a:xfrm>
            <a:off x="5577840" y="969264"/>
            <a:ext cx="2880360" cy="896112"/>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7" name="Shape 4"/>
          <p:cNvSpPr/>
          <p:nvPr/>
        </p:nvSpPr>
        <p:spPr>
          <a:xfrm>
            <a:off x="5577840" y="969264"/>
            <a:ext cx="50292" cy="896112"/>
          </a:xfrm>
          <a:prstGeom prst="rect">
            <a:avLst/>
          </a:prstGeom>
          <a:solidFill>
            <a:srgbClr val="2E75B6"/>
          </a:solidFill>
          <a:ln w="12700">
            <a:solidFill>
              <a:srgbClr val="2E75B6"/>
            </a:solidFill>
            <a:prstDash val="solid"/>
          </a:ln>
        </p:spPr>
      </p:sp>
      <p:sp>
        <p:nvSpPr>
          <p:cNvPr id="8" name="Text 5"/>
          <p:cNvSpPr/>
          <p:nvPr/>
        </p:nvSpPr>
        <p:spPr>
          <a:xfrm>
            <a:off x="5742432" y="1042416"/>
            <a:ext cx="260604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計算方法</a:t>
            </a:r>
            <a:endParaRPr lang="en-US" sz="1600" dirty="0"/>
          </a:p>
        </p:txBody>
      </p:sp>
      <p:sp>
        <p:nvSpPr>
          <p:cNvPr id="9" name="Text 6"/>
          <p:cNvSpPr/>
          <p:nvPr/>
        </p:nvSpPr>
        <p:spPr>
          <a:xfrm>
            <a:off x="5742432" y="1389888"/>
            <a:ext cx="2606040" cy="384048"/>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mesh法線とbeam方向から入射角を計算し、角度bin内を100%に正規化。</a:t>
            </a:r>
            <a:endParaRPr lang="en-US" sz="1250" dirty="0"/>
          </a:p>
        </p:txBody>
      </p:sp>
      <p:sp>
        <p:nvSpPr>
          <p:cNvPr id="10" name="Shape 7"/>
          <p:cNvSpPr/>
          <p:nvPr/>
        </p:nvSpPr>
        <p:spPr>
          <a:xfrm>
            <a:off x="5577840" y="2029968"/>
            <a:ext cx="2880360" cy="896112"/>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11" name="Shape 8"/>
          <p:cNvSpPr/>
          <p:nvPr/>
        </p:nvSpPr>
        <p:spPr>
          <a:xfrm>
            <a:off x="5577840" y="2029968"/>
            <a:ext cx="50292" cy="896112"/>
          </a:xfrm>
          <a:prstGeom prst="rect">
            <a:avLst/>
          </a:prstGeom>
          <a:solidFill>
            <a:srgbClr val="2A9D8F"/>
          </a:solidFill>
          <a:ln w="12700">
            <a:solidFill>
              <a:srgbClr val="2A9D8F"/>
            </a:solidFill>
            <a:prstDash val="solid"/>
          </a:ln>
        </p:spPr>
      </p:sp>
      <p:sp>
        <p:nvSpPr>
          <p:cNvPr id="12" name="Text 9"/>
          <p:cNvSpPr/>
          <p:nvPr/>
        </p:nvSpPr>
        <p:spPr>
          <a:xfrm>
            <a:off x="5742432" y="2103120"/>
            <a:ext cx="260604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観察</a:t>
            </a:r>
            <a:endParaRPr lang="en-US" sz="1600" dirty="0"/>
          </a:p>
        </p:txBody>
      </p:sp>
      <p:sp>
        <p:nvSpPr>
          <p:cNvPr id="13" name="Text 10"/>
          <p:cNvSpPr/>
          <p:nvPr/>
        </p:nvSpPr>
        <p:spPr>
          <a:xfrm>
            <a:off x="5742432" y="2450592"/>
            <a:ext cx="2606040" cy="384048"/>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glass / mirrorの直接returnは低角度で多く、角度増加とともに減少。</a:t>
            </a:r>
            <a:endParaRPr lang="en-US" sz="1250" dirty="0"/>
          </a:p>
        </p:txBody>
      </p:sp>
      <p:sp>
        <p:nvSpPr>
          <p:cNvPr id="14" name="Shape 11"/>
          <p:cNvSpPr/>
          <p:nvPr/>
        </p:nvSpPr>
        <p:spPr>
          <a:xfrm>
            <a:off x="5577840" y="3090672"/>
            <a:ext cx="2880360" cy="896112"/>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15" name="Shape 12"/>
          <p:cNvSpPr/>
          <p:nvPr/>
        </p:nvSpPr>
        <p:spPr>
          <a:xfrm>
            <a:off x="5577840" y="3090672"/>
            <a:ext cx="50292" cy="896112"/>
          </a:xfrm>
          <a:prstGeom prst="rect">
            <a:avLst/>
          </a:prstGeom>
          <a:solidFill>
            <a:srgbClr val="ED7D31"/>
          </a:solidFill>
          <a:ln w="12700">
            <a:solidFill>
              <a:srgbClr val="ED7D31"/>
            </a:solidFill>
            <a:prstDash val="solid"/>
          </a:ln>
        </p:spPr>
      </p:sp>
      <p:sp>
        <p:nvSpPr>
          <p:cNvPr id="16" name="Text 13"/>
          <p:cNvSpPr/>
          <p:nvPr/>
        </p:nvSpPr>
        <p:spPr>
          <a:xfrm>
            <a:off x="5742432" y="3163824"/>
            <a:ext cx="260604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含意</a:t>
            </a:r>
            <a:endParaRPr lang="en-US" sz="1600" dirty="0"/>
          </a:p>
        </p:txBody>
      </p:sp>
      <p:sp>
        <p:nvSpPr>
          <p:cNvPr id="17" name="Text 14"/>
          <p:cNvSpPr/>
          <p:nvPr/>
        </p:nvSpPr>
        <p:spPr>
          <a:xfrm>
            <a:off x="5742432" y="3511296"/>
            <a:ext cx="2606040" cy="384048"/>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材料・角度・視点が結合するため、複数方向からの収集が不可欠。</a:t>
            </a:r>
            <a:endParaRPr lang="en-US" sz="1250" dirty="0"/>
          </a:p>
        </p:txBody>
      </p:sp>
      <p:sp>
        <p:nvSpPr>
          <p:cNvPr id="18" name="Text 15"/>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Fig. 7; Sec.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ベンチマークはLiDAR segmentationとRGB segmentationを別々に評価する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Benchmark setup</a:t>
            </a:r>
            <a:endParaRPr lang="en-US" sz="950" dirty="0"/>
          </a:p>
        </p:txBody>
      </p:sp>
      <p:sp>
        <p:nvSpPr>
          <p:cNvPr id="5" name="Shape 3"/>
          <p:cNvSpPr/>
          <p:nvPr/>
        </p:nvSpPr>
        <p:spPr>
          <a:xfrm>
            <a:off x="594360" y="914400"/>
            <a:ext cx="3794760" cy="2578608"/>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594360" y="914400"/>
            <a:ext cx="50292" cy="2578608"/>
          </a:xfrm>
          <a:prstGeom prst="rect">
            <a:avLst/>
          </a:prstGeom>
          <a:solidFill>
            <a:srgbClr val="2E75B6"/>
          </a:solidFill>
          <a:ln w="12700">
            <a:solidFill>
              <a:srgbClr val="2E75B6"/>
            </a:solidFill>
            <a:prstDash val="solid"/>
          </a:ln>
        </p:spPr>
      </p:sp>
      <p:sp>
        <p:nvSpPr>
          <p:cNvPr id="7" name="Text 5"/>
          <p:cNvSpPr/>
          <p:nvPr/>
        </p:nvSpPr>
        <p:spPr>
          <a:xfrm>
            <a:off x="758952" y="987552"/>
            <a:ext cx="352044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LiDAR｜PCSeg codebase</a:t>
            </a:r>
            <a:endParaRPr lang="en-US" sz="1600" dirty="0"/>
          </a:p>
        </p:txBody>
      </p:sp>
      <p:sp>
        <p:nvSpPr>
          <p:cNvPr id="8" name="Text 6"/>
          <p:cNvSpPr/>
          <p:nvPr/>
        </p:nvSpPr>
        <p:spPr>
          <a:xfrm>
            <a:off x="758952" y="1335024"/>
            <a:ext cx="3520440" cy="2066544"/>
          </a:xfrm>
          <a:prstGeom prst="rect">
            <a:avLst/>
          </a:prstGeom>
          <a:noFill/>
          <a:ln/>
        </p:spPr>
        <p:txBody>
          <a:bodyPr wrap="square" lIns="12700" tIns="0" rIns="0" bIns="25400" rtlCol="0" anchor="t">
            <a:normAutofit/>
          </a:bodyPr>
          <a:lstStyle/>
          <a:p>
            <a:pPr marL="0" indent="0">
              <a:buNone/>
            </a:pPr>
            <a:r>
              <a:rPr lang="en-US" sz="1500" dirty="0">
                <a:solidFill>
                  <a:srgbClr val="4D5966"/>
                </a:solidFill>
                <a:latin typeface="Yu Gothic" pitchFamily="34" charset="0"/>
                <a:ea typeface="Yu Gothic" pitchFamily="34" charset="-122"/>
                <a:cs typeface="Yu Gothic" pitchFamily="34" charset="-120"/>
              </a:rPr>
              <a:t>Models：MinkowskiNet / SPVCNN / Cylinder3D</a:t>
            </a:r>
            <a:endParaRPr lang="en-US" sz="1500" dirty="0"/>
          </a:p>
          <a:p>
            <a:pPr marL="0" indent="0">
              <a:buNone/>
            </a:pPr>
            <a:r>
              <a:rPr lang="en-US" sz="1500" dirty="0">
                <a:solidFill>
                  <a:srgbClr val="4D5966"/>
                </a:solidFill>
                <a:latin typeface="Yu Gothic" pitchFamily="34" charset="0"/>
                <a:ea typeface="Yu Gothic" pitchFamily="34" charset="-122"/>
                <a:cs typeface="Yu Gothic" pitchFamily="34" charset="-120"/>
              </a:rPr>
              <a:t>Input A：XYZI（4ch）</a:t>
            </a:r>
            <a:endParaRPr lang="en-US" sz="1500" dirty="0"/>
          </a:p>
          <a:p>
            <a:pPr marL="0" indent="0">
              <a:buNone/>
            </a:pPr>
            <a:r>
              <a:rPr lang="en-US" sz="1500" dirty="0">
                <a:solidFill>
                  <a:srgbClr val="4D5966"/>
                </a:solidFill>
                <a:latin typeface="Yu Gothic" pitchFamily="34" charset="0"/>
                <a:ea typeface="Yu Gothic" pitchFamily="34" charset="-122"/>
                <a:cs typeface="Yu Gothic" pitchFamily="34" charset="-120"/>
              </a:rPr>
              <a:t>Input B：XYZIR（5ch, return番号追加）</a:t>
            </a:r>
            <a:endParaRPr lang="en-US" sz="1500" dirty="0"/>
          </a:p>
          <a:p>
            <a:pPr marL="0" indent="0">
              <a:buNone/>
            </a:pPr>
            <a:r>
              <a:rPr lang="en-US" sz="1500" dirty="0">
                <a:solidFill>
                  <a:srgbClr val="4D5966"/>
                </a:solidFill>
                <a:latin typeface="Yu Gothic" pitchFamily="34" charset="0"/>
                <a:ea typeface="Yu Gothic" pitchFamily="34" charset="-122"/>
                <a:cs typeface="Yu Gothic" pitchFamily="34" charset="-120"/>
              </a:rPr>
              <a:t>Metric：class-wise IoU / mIoU</a:t>
            </a:r>
            <a:endParaRPr lang="en-US" sz="1500" dirty="0"/>
          </a:p>
        </p:txBody>
      </p:sp>
      <p:sp>
        <p:nvSpPr>
          <p:cNvPr id="9" name="Shape 7"/>
          <p:cNvSpPr/>
          <p:nvPr/>
        </p:nvSpPr>
        <p:spPr>
          <a:xfrm>
            <a:off x="4754880" y="914400"/>
            <a:ext cx="3794760" cy="2578608"/>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10" name="Shape 8"/>
          <p:cNvSpPr/>
          <p:nvPr/>
        </p:nvSpPr>
        <p:spPr>
          <a:xfrm>
            <a:off x="4754880" y="914400"/>
            <a:ext cx="50292" cy="2578608"/>
          </a:xfrm>
          <a:prstGeom prst="rect">
            <a:avLst/>
          </a:prstGeom>
          <a:solidFill>
            <a:srgbClr val="2A9D8F"/>
          </a:solidFill>
          <a:ln w="12700">
            <a:solidFill>
              <a:srgbClr val="2A9D8F"/>
            </a:solidFill>
            <a:prstDash val="solid"/>
          </a:ln>
        </p:spPr>
      </p:sp>
      <p:sp>
        <p:nvSpPr>
          <p:cNvPr id="11" name="Text 9"/>
          <p:cNvSpPr/>
          <p:nvPr/>
        </p:nvSpPr>
        <p:spPr>
          <a:xfrm>
            <a:off x="4919472" y="987552"/>
            <a:ext cx="352044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RGB｜既存glass / mirror手法</a:t>
            </a:r>
            <a:endParaRPr lang="en-US" sz="1600" dirty="0"/>
          </a:p>
        </p:txBody>
      </p:sp>
      <p:sp>
        <p:nvSpPr>
          <p:cNvPr id="12" name="Text 10"/>
          <p:cNvSpPr/>
          <p:nvPr/>
        </p:nvSpPr>
        <p:spPr>
          <a:xfrm>
            <a:off x="4919472" y="1335024"/>
            <a:ext cx="3520440" cy="2066544"/>
          </a:xfrm>
          <a:prstGeom prst="rect">
            <a:avLst/>
          </a:prstGeom>
          <a:noFill/>
          <a:ln/>
        </p:spPr>
        <p:txBody>
          <a:bodyPr wrap="square" lIns="12700" tIns="0" rIns="0" bIns="25400" rtlCol="0" anchor="t">
            <a:normAutofit/>
          </a:bodyPr>
          <a:lstStyle/>
          <a:p>
            <a:pPr marL="0" indent="0">
              <a:buNone/>
            </a:pPr>
            <a:r>
              <a:rPr lang="en-US" sz="1500" dirty="0">
                <a:solidFill>
                  <a:srgbClr val="4D5966"/>
                </a:solidFill>
                <a:latin typeface="Yu Gothic" pitchFamily="34" charset="0"/>
                <a:ea typeface="Yu Gothic" pitchFamily="34" charset="-122"/>
                <a:cs typeface="Yu Gothic" pitchFamily="34" charset="-120"/>
              </a:rPr>
              <a:t>Glass：GlassSemNet / EBLNet</a:t>
            </a:r>
            <a:endParaRPr lang="en-US" sz="1500" dirty="0"/>
          </a:p>
          <a:p>
            <a:pPr marL="0" indent="0">
              <a:buNone/>
            </a:pPr>
            <a:r>
              <a:rPr lang="en-US" sz="1500" dirty="0">
                <a:solidFill>
                  <a:srgbClr val="4D5966"/>
                </a:solidFill>
                <a:latin typeface="Yu Gothic" pitchFamily="34" charset="0"/>
                <a:ea typeface="Yu Gothic" pitchFamily="34" charset="-122"/>
                <a:cs typeface="Yu Gothic" pitchFamily="34" charset="-120"/>
              </a:rPr>
              <a:t>Mirror：HetNet / SATNet</a:t>
            </a:r>
            <a:endParaRPr lang="en-US" sz="1500" dirty="0"/>
          </a:p>
          <a:p>
            <a:pPr marL="0" indent="0">
              <a:buNone/>
            </a:pPr>
            <a:r>
              <a:rPr lang="en-US" sz="1500" dirty="0">
                <a:solidFill>
                  <a:srgbClr val="4D5966"/>
                </a:solidFill>
                <a:latin typeface="Yu Gothic" pitchFamily="34" charset="0"/>
                <a:ea typeface="Yu Gothic" pitchFamily="34" charset="-122"/>
                <a:cs typeface="Yu Gothic" pitchFamily="34" charset="-120"/>
              </a:rPr>
              <a:t>Pretrained modelを3DRefへ直接適用</a:t>
            </a:r>
            <a:endParaRPr lang="en-US" sz="1500" dirty="0"/>
          </a:p>
          <a:p>
            <a:pPr marL="0" indent="0">
              <a:buNone/>
            </a:pPr>
            <a:r>
              <a:rPr lang="en-US" sz="1500" dirty="0">
                <a:solidFill>
                  <a:srgbClr val="4D5966"/>
                </a:solidFill>
                <a:latin typeface="Yu Gothic" pitchFamily="34" charset="0"/>
                <a:ea typeface="Yu Gothic" pitchFamily="34" charset="-122"/>
                <a:cs typeface="Yu Gothic" pitchFamily="34" charset="-120"/>
              </a:rPr>
              <a:t>SATNet・EBLNetは3DRefで再学習</a:t>
            </a:r>
            <a:endParaRPr lang="en-US" sz="1500" dirty="0"/>
          </a:p>
        </p:txBody>
      </p:sp>
      <p:sp>
        <p:nvSpPr>
          <p:cNvPr id="13" name="Shape 11"/>
          <p:cNvSpPr/>
          <p:nvPr/>
        </p:nvSpPr>
        <p:spPr>
          <a:xfrm>
            <a:off x="2258568" y="3703320"/>
            <a:ext cx="4617720" cy="292608"/>
          </a:xfrm>
          <a:prstGeom prst="roundRect">
            <a:avLst>
              <a:gd name="adj" fmla="val 15625"/>
            </a:avLst>
          </a:prstGeom>
          <a:solidFill>
            <a:srgbClr val="EEE9F3"/>
          </a:solidFill>
          <a:ln w="12700">
            <a:solidFill>
              <a:srgbClr val="8064A2"/>
            </a:solidFill>
            <a:prstDash val="solid"/>
          </a:ln>
        </p:spPr>
      </p:sp>
      <p:sp>
        <p:nvSpPr>
          <p:cNvPr id="14" name="Text 12"/>
          <p:cNvSpPr/>
          <p:nvPr/>
        </p:nvSpPr>
        <p:spPr>
          <a:xfrm>
            <a:off x="2258568" y="3703320"/>
            <a:ext cx="4617720" cy="292608"/>
          </a:xfrm>
          <a:prstGeom prst="rect">
            <a:avLst/>
          </a:prstGeom>
          <a:noFill/>
          <a:ln/>
        </p:spPr>
        <p:txBody>
          <a:bodyPr wrap="square" lIns="0" tIns="0" rIns="0" bIns="0" rtlCol="0" anchor="ctr">
            <a:normAutofit/>
          </a:bodyPr>
          <a:lstStyle/>
          <a:p>
            <a:pPr marL="0" indent="0" algn="ctr">
              <a:buNone/>
            </a:pPr>
            <a:r>
              <a:rPr lang="en-US" sz="1250" b="1" dirty="0">
                <a:solidFill>
                  <a:srgbClr val="8064A2"/>
                </a:solidFill>
                <a:latin typeface="Yu Gothic" pitchFamily="34" charset="0"/>
                <a:ea typeface="Yu Gothic" pitchFamily="34" charset="-122"/>
                <a:cs typeface="Yu Gothic" pitchFamily="34" charset="-120"/>
              </a:rPr>
              <a:t>Hardware：dual NVIDIA RTX 3090（24 GB ×2）</a:t>
            </a:r>
            <a:endParaRPr lang="en-US" sz="1250" dirty="0"/>
          </a:p>
        </p:txBody>
      </p:sp>
      <p:sp>
        <p:nvSpPr>
          <p:cNvPr id="15" name="Shape 13"/>
          <p:cNvSpPr/>
          <p:nvPr/>
        </p:nvSpPr>
        <p:spPr>
          <a:xfrm>
            <a:off x="566928" y="4096512"/>
            <a:ext cx="8010144" cy="347472"/>
          </a:xfrm>
          <a:prstGeom prst="rect">
            <a:avLst/>
          </a:prstGeom>
          <a:solidFill>
            <a:srgbClr val="F8FAFB"/>
          </a:solidFill>
          <a:ln w="12700">
            <a:solidFill>
              <a:srgbClr val="ED7D31"/>
            </a:solidFill>
            <a:prstDash val="solid"/>
          </a:ln>
        </p:spPr>
      </p:sp>
      <p:sp>
        <p:nvSpPr>
          <p:cNvPr id="16" name="Shape 14"/>
          <p:cNvSpPr/>
          <p:nvPr/>
        </p:nvSpPr>
        <p:spPr>
          <a:xfrm>
            <a:off x="566928" y="4096512"/>
            <a:ext cx="64008" cy="347472"/>
          </a:xfrm>
          <a:prstGeom prst="rect">
            <a:avLst/>
          </a:prstGeom>
          <a:solidFill>
            <a:srgbClr val="ED7D31"/>
          </a:solidFill>
          <a:ln w="12700">
            <a:solidFill>
              <a:srgbClr val="ED7D31"/>
            </a:solidFill>
            <a:prstDash val="solid"/>
          </a:ln>
        </p:spPr>
      </p:sp>
      <p:sp>
        <p:nvSpPr>
          <p:cNvPr id="17" name="Text 15"/>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この論文はmultimodal fusionを実験していない。RGBとLiDARの単独baselineを提示する。</a:t>
            </a:r>
            <a:endParaRPr lang="en-US" sz="1450" dirty="0"/>
          </a:p>
        </p:txBody>
      </p:sp>
      <p:sp>
        <p:nvSpPr>
          <p:cNvPr id="18" name="Text 16"/>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LiDARではCylinder3Dが最高、return追加の全体改善は小さい</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LiDAR results</a:t>
            </a:r>
            <a:endParaRPr lang="en-US" sz="950" dirty="0"/>
          </a:p>
        </p:txBody>
      </p:sp>
      <p:sp>
        <p:nvSpPr>
          <p:cNvPr id="5" name="Shape 3"/>
          <p:cNvSpPr/>
          <p:nvPr/>
        </p:nvSpPr>
        <p:spPr>
          <a:xfrm>
            <a:off x="475488" y="914400"/>
            <a:ext cx="1310884" cy="372291"/>
          </a:xfrm>
          <a:prstGeom prst="rect">
            <a:avLst/>
          </a:prstGeom>
          <a:solidFill>
            <a:srgbClr val="17365D"/>
          </a:solidFill>
          <a:ln w="12700">
            <a:solidFill>
              <a:srgbClr val="FFFFFF"/>
            </a:solidFill>
            <a:prstDash val="solid"/>
          </a:ln>
        </p:spPr>
      </p:sp>
      <p:sp>
        <p:nvSpPr>
          <p:cNvPr id="6" name="Text 4"/>
          <p:cNvSpPr/>
          <p:nvPr/>
        </p:nvSpPr>
        <p:spPr>
          <a:xfrm>
            <a:off x="502920" y="932688"/>
            <a:ext cx="1256020"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Method</a:t>
            </a:r>
            <a:endParaRPr lang="en-US" sz="920" dirty="0"/>
          </a:p>
        </p:txBody>
      </p:sp>
      <p:sp>
        <p:nvSpPr>
          <p:cNvPr id="7" name="Shape 5"/>
          <p:cNvSpPr/>
          <p:nvPr/>
        </p:nvSpPr>
        <p:spPr>
          <a:xfrm>
            <a:off x="1786372" y="914400"/>
            <a:ext cx="737372" cy="372291"/>
          </a:xfrm>
          <a:prstGeom prst="rect">
            <a:avLst/>
          </a:prstGeom>
          <a:solidFill>
            <a:srgbClr val="17365D"/>
          </a:solidFill>
          <a:ln w="12700">
            <a:solidFill>
              <a:srgbClr val="FFFFFF"/>
            </a:solidFill>
            <a:prstDash val="solid"/>
          </a:ln>
        </p:spPr>
      </p:sp>
      <p:sp>
        <p:nvSpPr>
          <p:cNvPr id="8" name="Text 6"/>
          <p:cNvSpPr/>
          <p:nvPr/>
        </p:nvSpPr>
        <p:spPr>
          <a:xfrm>
            <a:off x="1813804" y="932688"/>
            <a:ext cx="682508"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Return</a:t>
            </a:r>
            <a:endParaRPr lang="en-US" sz="920" dirty="0"/>
          </a:p>
        </p:txBody>
      </p:sp>
      <p:sp>
        <p:nvSpPr>
          <p:cNvPr id="9" name="Shape 7"/>
          <p:cNvSpPr/>
          <p:nvPr/>
        </p:nvSpPr>
        <p:spPr>
          <a:xfrm>
            <a:off x="2523744" y="914400"/>
            <a:ext cx="819302" cy="372291"/>
          </a:xfrm>
          <a:prstGeom prst="rect">
            <a:avLst/>
          </a:prstGeom>
          <a:solidFill>
            <a:srgbClr val="17365D"/>
          </a:solidFill>
          <a:ln w="12700">
            <a:solidFill>
              <a:srgbClr val="FFFFFF"/>
            </a:solidFill>
            <a:prstDash val="solid"/>
          </a:ln>
        </p:spPr>
      </p:sp>
      <p:sp>
        <p:nvSpPr>
          <p:cNvPr id="10" name="Text 8"/>
          <p:cNvSpPr/>
          <p:nvPr/>
        </p:nvSpPr>
        <p:spPr>
          <a:xfrm>
            <a:off x="2551176" y="932688"/>
            <a:ext cx="764438"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mIoU</a:t>
            </a:r>
            <a:endParaRPr lang="en-US" sz="920" dirty="0"/>
          </a:p>
        </p:txBody>
      </p:sp>
      <p:sp>
        <p:nvSpPr>
          <p:cNvPr id="11" name="Shape 9"/>
          <p:cNvSpPr/>
          <p:nvPr/>
        </p:nvSpPr>
        <p:spPr>
          <a:xfrm>
            <a:off x="3343046" y="914400"/>
            <a:ext cx="901233" cy="372291"/>
          </a:xfrm>
          <a:prstGeom prst="rect">
            <a:avLst/>
          </a:prstGeom>
          <a:solidFill>
            <a:srgbClr val="17365D"/>
          </a:solidFill>
          <a:ln w="12700">
            <a:solidFill>
              <a:srgbClr val="FFFFFF"/>
            </a:solidFill>
            <a:prstDash val="solid"/>
          </a:ln>
        </p:spPr>
      </p:sp>
      <p:sp>
        <p:nvSpPr>
          <p:cNvPr id="12" name="Text 10"/>
          <p:cNvSpPr/>
          <p:nvPr/>
        </p:nvSpPr>
        <p:spPr>
          <a:xfrm>
            <a:off x="3370478" y="932688"/>
            <a:ext cx="846369"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Normal</a:t>
            </a:r>
            <a:endParaRPr lang="en-US" sz="920" dirty="0"/>
          </a:p>
        </p:txBody>
      </p:sp>
      <p:sp>
        <p:nvSpPr>
          <p:cNvPr id="13" name="Shape 11"/>
          <p:cNvSpPr/>
          <p:nvPr/>
        </p:nvSpPr>
        <p:spPr>
          <a:xfrm>
            <a:off x="4244279" y="914400"/>
            <a:ext cx="819302" cy="372291"/>
          </a:xfrm>
          <a:prstGeom prst="rect">
            <a:avLst/>
          </a:prstGeom>
          <a:solidFill>
            <a:srgbClr val="17365D"/>
          </a:solidFill>
          <a:ln w="12700">
            <a:solidFill>
              <a:srgbClr val="FFFFFF"/>
            </a:solidFill>
            <a:prstDash val="solid"/>
          </a:ln>
        </p:spPr>
      </p:sp>
      <p:sp>
        <p:nvSpPr>
          <p:cNvPr id="14" name="Text 12"/>
          <p:cNvSpPr/>
          <p:nvPr/>
        </p:nvSpPr>
        <p:spPr>
          <a:xfrm>
            <a:off x="4271711" y="932688"/>
            <a:ext cx="764438"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Glass</a:t>
            </a:r>
            <a:endParaRPr lang="en-US" sz="920" dirty="0"/>
          </a:p>
        </p:txBody>
      </p:sp>
      <p:sp>
        <p:nvSpPr>
          <p:cNvPr id="15" name="Shape 13"/>
          <p:cNvSpPr/>
          <p:nvPr/>
        </p:nvSpPr>
        <p:spPr>
          <a:xfrm>
            <a:off x="5063581" y="914400"/>
            <a:ext cx="819302" cy="372291"/>
          </a:xfrm>
          <a:prstGeom prst="rect">
            <a:avLst/>
          </a:prstGeom>
          <a:solidFill>
            <a:srgbClr val="17365D"/>
          </a:solidFill>
          <a:ln w="12700">
            <a:solidFill>
              <a:srgbClr val="FFFFFF"/>
            </a:solidFill>
            <a:prstDash val="solid"/>
          </a:ln>
        </p:spPr>
      </p:sp>
      <p:sp>
        <p:nvSpPr>
          <p:cNvPr id="16" name="Text 14"/>
          <p:cNvSpPr/>
          <p:nvPr/>
        </p:nvSpPr>
        <p:spPr>
          <a:xfrm>
            <a:off x="5091013" y="932688"/>
            <a:ext cx="764438"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Mirror</a:t>
            </a:r>
            <a:endParaRPr lang="en-US" sz="920" dirty="0"/>
          </a:p>
        </p:txBody>
      </p:sp>
      <p:sp>
        <p:nvSpPr>
          <p:cNvPr id="17" name="Shape 15"/>
          <p:cNvSpPr/>
          <p:nvPr/>
        </p:nvSpPr>
        <p:spPr>
          <a:xfrm>
            <a:off x="5882884" y="914400"/>
            <a:ext cx="901233" cy="372291"/>
          </a:xfrm>
          <a:prstGeom prst="rect">
            <a:avLst/>
          </a:prstGeom>
          <a:solidFill>
            <a:srgbClr val="17365D"/>
          </a:solidFill>
          <a:ln w="12700">
            <a:solidFill>
              <a:srgbClr val="FFFFFF"/>
            </a:solidFill>
            <a:prstDash val="solid"/>
          </a:ln>
        </p:spPr>
      </p:sp>
      <p:sp>
        <p:nvSpPr>
          <p:cNvPr id="18" name="Text 16"/>
          <p:cNvSpPr/>
          <p:nvPr/>
        </p:nvSpPr>
        <p:spPr>
          <a:xfrm>
            <a:off x="5910316" y="932688"/>
            <a:ext cx="846369"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Other</a:t>
            </a:r>
            <a:endParaRPr lang="en-US" sz="920" dirty="0"/>
          </a:p>
        </p:txBody>
      </p:sp>
      <p:sp>
        <p:nvSpPr>
          <p:cNvPr id="19" name="Shape 17"/>
          <p:cNvSpPr/>
          <p:nvPr/>
        </p:nvSpPr>
        <p:spPr>
          <a:xfrm>
            <a:off x="6784116" y="914400"/>
            <a:ext cx="901233" cy="372291"/>
          </a:xfrm>
          <a:prstGeom prst="rect">
            <a:avLst/>
          </a:prstGeom>
          <a:solidFill>
            <a:srgbClr val="17365D"/>
          </a:solidFill>
          <a:ln w="12700">
            <a:solidFill>
              <a:srgbClr val="FFFFFF"/>
            </a:solidFill>
            <a:prstDash val="solid"/>
          </a:ln>
        </p:spPr>
      </p:sp>
      <p:sp>
        <p:nvSpPr>
          <p:cNvPr id="20" name="Text 18"/>
          <p:cNvSpPr/>
          <p:nvPr/>
        </p:nvSpPr>
        <p:spPr>
          <a:xfrm>
            <a:off x="6811548" y="932688"/>
            <a:ext cx="846369"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Reflect.</a:t>
            </a:r>
            <a:endParaRPr lang="en-US" sz="920" dirty="0"/>
          </a:p>
        </p:txBody>
      </p:sp>
      <p:sp>
        <p:nvSpPr>
          <p:cNvPr id="21" name="Shape 19"/>
          <p:cNvSpPr/>
          <p:nvPr/>
        </p:nvSpPr>
        <p:spPr>
          <a:xfrm>
            <a:off x="7685349" y="914400"/>
            <a:ext cx="983163" cy="372291"/>
          </a:xfrm>
          <a:prstGeom prst="rect">
            <a:avLst/>
          </a:prstGeom>
          <a:solidFill>
            <a:srgbClr val="17365D"/>
          </a:solidFill>
          <a:ln w="12700">
            <a:solidFill>
              <a:srgbClr val="FFFFFF"/>
            </a:solidFill>
            <a:prstDash val="solid"/>
          </a:ln>
        </p:spPr>
      </p:sp>
      <p:sp>
        <p:nvSpPr>
          <p:cNvPr id="22" name="Text 20"/>
          <p:cNvSpPr/>
          <p:nvPr/>
        </p:nvSpPr>
        <p:spPr>
          <a:xfrm>
            <a:off x="7712781" y="932688"/>
            <a:ext cx="928299" cy="335715"/>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Yu Gothic" pitchFamily="34" charset="0"/>
                <a:ea typeface="Yu Gothic" pitchFamily="34" charset="-122"/>
                <a:cs typeface="Yu Gothic" pitchFamily="34" charset="-120"/>
              </a:rPr>
              <a:t>Obstacle</a:t>
            </a:r>
            <a:endParaRPr lang="en-US" sz="920" dirty="0"/>
          </a:p>
        </p:txBody>
      </p:sp>
      <p:sp>
        <p:nvSpPr>
          <p:cNvPr id="23" name="Shape 21"/>
          <p:cNvSpPr/>
          <p:nvPr/>
        </p:nvSpPr>
        <p:spPr>
          <a:xfrm>
            <a:off x="475488" y="1286691"/>
            <a:ext cx="1310884" cy="372291"/>
          </a:xfrm>
          <a:prstGeom prst="rect">
            <a:avLst/>
          </a:prstGeom>
          <a:solidFill>
            <a:srgbClr val="FFFFFF"/>
          </a:solidFill>
          <a:ln w="12700">
            <a:solidFill>
              <a:srgbClr val="D5DCE3"/>
            </a:solidFill>
            <a:prstDash val="solid"/>
          </a:ln>
        </p:spPr>
      </p:sp>
      <p:sp>
        <p:nvSpPr>
          <p:cNvPr id="24" name="Text 22"/>
          <p:cNvSpPr/>
          <p:nvPr/>
        </p:nvSpPr>
        <p:spPr>
          <a:xfrm>
            <a:off x="502920" y="1304979"/>
            <a:ext cx="1256020" cy="335715"/>
          </a:xfrm>
          <a:prstGeom prst="rect">
            <a:avLst/>
          </a:prstGeom>
          <a:noFill/>
          <a:ln/>
        </p:spPr>
        <p:txBody>
          <a:bodyPr wrap="square" lIns="0" tIns="0" rIns="0" bIns="0" rtlCol="0" anchor="ctr">
            <a:normAutofit/>
          </a:bodyPr>
          <a:lstStyle/>
          <a:p>
            <a:pPr marL="0" indent="0" algn="l">
              <a:buNone/>
            </a:pPr>
            <a:r>
              <a:rPr lang="en-US" sz="860" dirty="0">
                <a:solidFill>
                  <a:srgbClr val="20242A"/>
                </a:solidFill>
                <a:latin typeface="Yu Gothic" pitchFamily="34" charset="0"/>
                <a:ea typeface="Yu Gothic" pitchFamily="34" charset="-122"/>
                <a:cs typeface="Yu Gothic" pitchFamily="34" charset="-120"/>
              </a:rPr>
              <a:t>Minkowski</a:t>
            </a:r>
            <a:endParaRPr lang="en-US" sz="860" dirty="0"/>
          </a:p>
        </p:txBody>
      </p:sp>
      <p:sp>
        <p:nvSpPr>
          <p:cNvPr id="25" name="Shape 23"/>
          <p:cNvSpPr/>
          <p:nvPr/>
        </p:nvSpPr>
        <p:spPr>
          <a:xfrm>
            <a:off x="1786372" y="1286691"/>
            <a:ext cx="737372" cy="372291"/>
          </a:xfrm>
          <a:prstGeom prst="rect">
            <a:avLst/>
          </a:prstGeom>
          <a:solidFill>
            <a:srgbClr val="FFFFFF"/>
          </a:solidFill>
          <a:ln w="12700">
            <a:solidFill>
              <a:srgbClr val="D5DCE3"/>
            </a:solidFill>
            <a:prstDash val="solid"/>
          </a:ln>
        </p:spPr>
      </p:sp>
      <p:sp>
        <p:nvSpPr>
          <p:cNvPr id="26" name="Text 24"/>
          <p:cNvSpPr/>
          <p:nvPr/>
        </p:nvSpPr>
        <p:spPr>
          <a:xfrm>
            <a:off x="1813804" y="1304979"/>
            <a:ext cx="68250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No</a:t>
            </a:r>
            <a:endParaRPr lang="en-US" sz="860" dirty="0"/>
          </a:p>
        </p:txBody>
      </p:sp>
      <p:sp>
        <p:nvSpPr>
          <p:cNvPr id="27" name="Shape 25"/>
          <p:cNvSpPr/>
          <p:nvPr/>
        </p:nvSpPr>
        <p:spPr>
          <a:xfrm>
            <a:off x="2523744" y="1286691"/>
            <a:ext cx="819302" cy="372291"/>
          </a:xfrm>
          <a:prstGeom prst="rect">
            <a:avLst/>
          </a:prstGeom>
          <a:solidFill>
            <a:srgbClr val="FFFFFF"/>
          </a:solidFill>
          <a:ln w="12700">
            <a:solidFill>
              <a:srgbClr val="D5DCE3"/>
            </a:solidFill>
            <a:prstDash val="solid"/>
          </a:ln>
        </p:spPr>
      </p:sp>
      <p:sp>
        <p:nvSpPr>
          <p:cNvPr id="28" name="Text 26"/>
          <p:cNvSpPr/>
          <p:nvPr/>
        </p:nvSpPr>
        <p:spPr>
          <a:xfrm>
            <a:off x="2551176" y="1304979"/>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81.55</a:t>
            </a:r>
            <a:endParaRPr lang="en-US" sz="860" dirty="0"/>
          </a:p>
        </p:txBody>
      </p:sp>
      <p:sp>
        <p:nvSpPr>
          <p:cNvPr id="29" name="Shape 27"/>
          <p:cNvSpPr/>
          <p:nvPr/>
        </p:nvSpPr>
        <p:spPr>
          <a:xfrm>
            <a:off x="3343046" y="1286691"/>
            <a:ext cx="901233" cy="372291"/>
          </a:xfrm>
          <a:prstGeom prst="rect">
            <a:avLst/>
          </a:prstGeom>
          <a:solidFill>
            <a:srgbClr val="FFFFFF"/>
          </a:solidFill>
          <a:ln w="12700">
            <a:solidFill>
              <a:srgbClr val="D5DCE3"/>
            </a:solidFill>
            <a:prstDash val="solid"/>
          </a:ln>
        </p:spPr>
      </p:sp>
      <p:sp>
        <p:nvSpPr>
          <p:cNvPr id="30" name="Text 28"/>
          <p:cNvSpPr/>
          <p:nvPr/>
        </p:nvSpPr>
        <p:spPr>
          <a:xfrm>
            <a:off x="3370478" y="1304979"/>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96.52</a:t>
            </a:r>
            <a:endParaRPr lang="en-US" sz="860" dirty="0"/>
          </a:p>
        </p:txBody>
      </p:sp>
      <p:sp>
        <p:nvSpPr>
          <p:cNvPr id="31" name="Shape 29"/>
          <p:cNvSpPr/>
          <p:nvPr/>
        </p:nvSpPr>
        <p:spPr>
          <a:xfrm>
            <a:off x="4244279" y="1286691"/>
            <a:ext cx="819302" cy="372291"/>
          </a:xfrm>
          <a:prstGeom prst="rect">
            <a:avLst/>
          </a:prstGeom>
          <a:solidFill>
            <a:srgbClr val="FFFFFF"/>
          </a:solidFill>
          <a:ln w="12700">
            <a:solidFill>
              <a:srgbClr val="D5DCE3"/>
            </a:solidFill>
            <a:prstDash val="solid"/>
          </a:ln>
        </p:spPr>
      </p:sp>
      <p:sp>
        <p:nvSpPr>
          <p:cNvPr id="32" name="Text 30"/>
          <p:cNvSpPr/>
          <p:nvPr/>
        </p:nvSpPr>
        <p:spPr>
          <a:xfrm>
            <a:off x="4271711" y="1304979"/>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69.40</a:t>
            </a:r>
            <a:endParaRPr lang="en-US" sz="860" dirty="0"/>
          </a:p>
        </p:txBody>
      </p:sp>
      <p:sp>
        <p:nvSpPr>
          <p:cNvPr id="33" name="Shape 31"/>
          <p:cNvSpPr/>
          <p:nvPr/>
        </p:nvSpPr>
        <p:spPr>
          <a:xfrm>
            <a:off x="5063581" y="1286691"/>
            <a:ext cx="819302" cy="372291"/>
          </a:xfrm>
          <a:prstGeom prst="rect">
            <a:avLst/>
          </a:prstGeom>
          <a:solidFill>
            <a:srgbClr val="FFFFFF"/>
          </a:solidFill>
          <a:ln w="12700">
            <a:solidFill>
              <a:srgbClr val="D5DCE3"/>
            </a:solidFill>
            <a:prstDash val="solid"/>
          </a:ln>
        </p:spPr>
      </p:sp>
      <p:sp>
        <p:nvSpPr>
          <p:cNvPr id="34" name="Text 32"/>
          <p:cNvSpPr/>
          <p:nvPr/>
        </p:nvSpPr>
        <p:spPr>
          <a:xfrm>
            <a:off x="5091013" y="1304979"/>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76.51</a:t>
            </a:r>
            <a:endParaRPr lang="en-US" sz="860" dirty="0"/>
          </a:p>
        </p:txBody>
      </p:sp>
      <p:sp>
        <p:nvSpPr>
          <p:cNvPr id="35" name="Shape 33"/>
          <p:cNvSpPr/>
          <p:nvPr/>
        </p:nvSpPr>
        <p:spPr>
          <a:xfrm>
            <a:off x="5882884" y="1286691"/>
            <a:ext cx="901233" cy="372291"/>
          </a:xfrm>
          <a:prstGeom prst="rect">
            <a:avLst/>
          </a:prstGeom>
          <a:solidFill>
            <a:srgbClr val="FFFFFF"/>
          </a:solidFill>
          <a:ln w="12700">
            <a:solidFill>
              <a:srgbClr val="D5DCE3"/>
            </a:solidFill>
            <a:prstDash val="solid"/>
          </a:ln>
        </p:spPr>
      </p:sp>
      <p:sp>
        <p:nvSpPr>
          <p:cNvPr id="36" name="Text 34"/>
          <p:cNvSpPr/>
          <p:nvPr/>
        </p:nvSpPr>
        <p:spPr>
          <a:xfrm>
            <a:off x="5910316" y="1304979"/>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84.96</a:t>
            </a:r>
            <a:endParaRPr lang="en-US" sz="860" dirty="0"/>
          </a:p>
        </p:txBody>
      </p:sp>
      <p:sp>
        <p:nvSpPr>
          <p:cNvPr id="37" name="Shape 35"/>
          <p:cNvSpPr/>
          <p:nvPr/>
        </p:nvSpPr>
        <p:spPr>
          <a:xfrm>
            <a:off x="6784116" y="1286691"/>
            <a:ext cx="901233" cy="372291"/>
          </a:xfrm>
          <a:prstGeom prst="rect">
            <a:avLst/>
          </a:prstGeom>
          <a:solidFill>
            <a:srgbClr val="FFFFFF"/>
          </a:solidFill>
          <a:ln w="12700">
            <a:solidFill>
              <a:srgbClr val="D5DCE3"/>
            </a:solidFill>
            <a:prstDash val="solid"/>
          </a:ln>
        </p:spPr>
      </p:sp>
      <p:sp>
        <p:nvSpPr>
          <p:cNvPr id="38" name="Text 36"/>
          <p:cNvSpPr/>
          <p:nvPr/>
        </p:nvSpPr>
        <p:spPr>
          <a:xfrm>
            <a:off x="6811548" y="1304979"/>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84.45</a:t>
            </a:r>
            <a:endParaRPr lang="en-US" sz="860" dirty="0"/>
          </a:p>
        </p:txBody>
      </p:sp>
      <p:sp>
        <p:nvSpPr>
          <p:cNvPr id="39" name="Shape 37"/>
          <p:cNvSpPr/>
          <p:nvPr/>
        </p:nvSpPr>
        <p:spPr>
          <a:xfrm>
            <a:off x="7685349" y="1286691"/>
            <a:ext cx="983163" cy="372291"/>
          </a:xfrm>
          <a:prstGeom prst="rect">
            <a:avLst/>
          </a:prstGeom>
          <a:solidFill>
            <a:srgbClr val="FFFFFF"/>
          </a:solidFill>
          <a:ln w="12700">
            <a:solidFill>
              <a:srgbClr val="D5DCE3"/>
            </a:solidFill>
            <a:prstDash val="solid"/>
          </a:ln>
        </p:spPr>
      </p:sp>
      <p:sp>
        <p:nvSpPr>
          <p:cNvPr id="40" name="Text 38"/>
          <p:cNvSpPr/>
          <p:nvPr/>
        </p:nvSpPr>
        <p:spPr>
          <a:xfrm>
            <a:off x="7712781" y="1304979"/>
            <a:ext cx="92829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77.45</a:t>
            </a:r>
            <a:endParaRPr lang="en-US" sz="860" dirty="0"/>
          </a:p>
        </p:txBody>
      </p:sp>
      <p:sp>
        <p:nvSpPr>
          <p:cNvPr id="41" name="Shape 39"/>
          <p:cNvSpPr/>
          <p:nvPr/>
        </p:nvSpPr>
        <p:spPr>
          <a:xfrm>
            <a:off x="475488" y="1658983"/>
            <a:ext cx="1310884" cy="372291"/>
          </a:xfrm>
          <a:prstGeom prst="rect">
            <a:avLst/>
          </a:prstGeom>
          <a:solidFill>
            <a:srgbClr val="F5F7FA"/>
          </a:solidFill>
          <a:ln w="12700">
            <a:solidFill>
              <a:srgbClr val="D5DCE3"/>
            </a:solidFill>
            <a:prstDash val="solid"/>
          </a:ln>
        </p:spPr>
      </p:sp>
      <p:sp>
        <p:nvSpPr>
          <p:cNvPr id="42" name="Text 40"/>
          <p:cNvSpPr/>
          <p:nvPr/>
        </p:nvSpPr>
        <p:spPr>
          <a:xfrm>
            <a:off x="502920" y="1677271"/>
            <a:ext cx="1256020" cy="335715"/>
          </a:xfrm>
          <a:prstGeom prst="rect">
            <a:avLst/>
          </a:prstGeom>
          <a:noFill/>
          <a:ln/>
        </p:spPr>
        <p:txBody>
          <a:bodyPr wrap="square" lIns="0" tIns="0" rIns="0" bIns="0" rtlCol="0" anchor="ctr">
            <a:normAutofit/>
          </a:bodyPr>
          <a:lstStyle/>
          <a:p>
            <a:pPr marL="0" indent="0" algn="l">
              <a:buNone/>
            </a:pPr>
            <a:r>
              <a:rPr lang="en-US" sz="860" dirty="0">
                <a:solidFill>
                  <a:srgbClr val="20242A"/>
                </a:solidFill>
                <a:latin typeface="Yu Gothic" pitchFamily="34" charset="0"/>
                <a:ea typeface="Yu Gothic" pitchFamily="34" charset="-122"/>
                <a:cs typeface="Yu Gothic" pitchFamily="34" charset="-120"/>
              </a:rPr>
              <a:t>Minkowski</a:t>
            </a:r>
            <a:endParaRPr lang="en-US" sz="860" dirty="0"/>
          </a:p>
        </p:txBody>
      </p:sp>
      <p:sp>
        <p:nvSpPr>
          <p:cNvPr id="43" name="Shape 41"/>
          <p:cNvSpPr/>
          <p:nvPr/>
        </p:nvSpPr>
        <p:spPr>
          <a:xfrm>
            <a:off x="1786372" y="1658983"/>
            <a:ext cx="737372" cy="372291"/>
          </a:xfrm>
          <a:prstGeom prst="rect">
            <a:avLst/>
          </a:prstGeom>
          <a:solidFill>
            <a:srgbClr val="F5F7FA"/>
          </a:solidFill>
          <a:ln w="12700">
            <a:solidFill>
              <a:srgbClr val="D5DCE3"/>
            </a:solidFill>
            <a:prstDash val="solid"/>
          </a:ln>
        </p:spPr>
      </p:sp>
      <p:sp>
        <p:nvSpPr>
          <p:cNvPr id="44" name="Text 42"/>
          <p:cNvSpPr/>
          <p:nvPr/>
        </p:nvSpPr>
        <p:spPr>
          <a:xfrm>
            <a:off x="1813804" y="1677271"/>
            <a:ext cx="68250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Yes</a:t>
            </a:r>
            <a:endParaRPr lang="en-US" sz="860" dirty="0"/>
          </a:p>
        </p:txBody>
      </p:sp>
      <p:sp>
        <p:nvSpPr>
          <p:cNvPr id="45" name="Shape 43"/>
          <p:cNvSpPr/>
          <p:nvPr/>
        </p:nvSpPr>
        <p:spPr>
          <a:xfrm>
            <a:off x="2523744" y="1658983"/>
            <a:ext cx="819302" cy="372291"/>
          </a:xfrm>
          <a:prstGeom prst="rect">
            <a:avLst/>
          </a:prstGeom>
          <a:solidFill>
            <a:srgbClr val="F5F7FA"/>
          </a:solidFill>
          <a:ln w="12700">
            <a:solidFill>
              <a:srgbClr val="D5DCE3"/>
            </a:solidFill>
            <a:prstDash val="solid"/>
          </a:ln>
        </p:spPr>
      </p:sp>
      <p:sp>
        <p:nvSpPr>
          <p:cNvPr id="46" name="Text 44"/>
          <p:cNvSpPr/>
          <p:nvPr/>
        </p:nvSpPr>
        <p:spPr>
          <a:xfrm>
            <a:off x="2551176" y="1677271"/>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82.11</a:t>
            </a:r>
            <a:endParaRPr lang="en-US" sz="860" dirty="0"/>
          </a:p>
        </p:txBody>
      </p:sp>
      <p:sp>
        <p:nvSpPr>
          <p:cNvPr id="47" name="Shape 45"/>
          <p:cNvSpPr/>
          <p:nvPr/>
        </p:nvSpPr>
        <p:spPr>
          <a:xfrm>
            <a:off x="3343046" y="1658983"/>
            <a:ext cx="901233" cy="372291"/>
          </a:xfrm>
          <a:prstGeom prst="rect">
            <a:avLst/>
          </a:prstGeom>
          <a:solidFill>
            <a:srgbClr val="F5F7FA"/>
          </a:solidFill>
          <a:ln w="12700">
            <a:solidFill>
              <a:srgbClr val="D5DCE3"/>
            </a:solidFill>
            <a:prstDash val="solid"/>
          </a:ln>
        </p:spPr>
      </p:sp>
      <p:sp>
        <p:nvSpPr>
          <p:cNvPr id="48" name="Text 46"/>
          <p:cNvSpPr/>
          <p:nvPr/>
        </p:nvSpPr>
        <p:spPr>
          <a:xfrm>
            <a:off x="3370478" y="1677271"/>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96.75</a:t>
            </a:r>
            <a:endParaRPr lang="en-US" sz="860" dirty="0"/>
          </a:p>
        </p:txBody>
      </p:sp>
      <p:sp>
        <p:nvSpPr>
          <p:cNvPr id="49" name="Shape 47"/>
          <p:cNvSpPr/>
          <p:nvPr/>
        </p:nvSpPr>
        <p:spPr>
          <a:xfrm>
            <a:off x="4244279" y="1658983"/>
            <a:ext cx="819302" cy="372291"/>
          </a:xfrm>
          <a:prstGeom prst="rect">
            <a:avLst/>
          </a:prstGeom>
          <a:solidFill>
            <a:srgbClr val="F5F7FA"/>
          </a:solidFill>
          <a:ln w="12700">
            <a:solidFill>
              <a:srgbClr val="D5DCE3"/>
            </a:solidFill>
            <a:prstDash val="solid"/>
          </a:ln>
        </p:spPr>
      </p:sp>
      <p:sp>
        <p:nvSpPr>
          <p:cNvPr id="50" name="Text 48"/>
          <p:cNvSpPr/>
          <p:nvPr/>
        </p:nvSpPr>
        <p:spPr>
          <a:xfrm>
            <a:off x="4271711" y="1677271"/>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70.27</a:t>
            </a:r>
            <a:endParaRPr lang="en-US" sz="860" dirty="0"/>
          </a:p>
        </p:txBody>
      </p:sp>
      <p:sp>
        <p:nvSpPr>
          <p:cNvPr id="51" name="Shape 49"/>
          <p:cNvSpPr/>
          <p:nvPr/>
        </p:nvSpPr>
        <p:spPr>
          <a:xfrm>
            <a:off x="5063581" y="1658983"/>
            <a:ext cx="819302" cy="372291"/>
          </a:xfrm>
          <a:prstGeom prst="rect">
            <a:avLst/>
          </a:prstGeom>
          <a:solidFill>
            <a:srgbClr val="F5F7FA"/>
          </a:solidFill>
          <a:ln w="12700">
            <a:solidFill>
              <a:srgbClr val="D5DCE3"/>
            </a:solidFill>
            <a:prstDash val="solid"/>
          </a:ln>
        </p:spPr>
      </p:sp>
      <p:sp>
        <p:nvSpPr>
          <p:cNvPr id="52" name="Text 50"/>
          <p:cNvSpPr/>
          <p:nvPr/>
        </p:nvSpPr>
        <p:spPr>
          <a:xfrm>
            <a:off x="5091013" y="1677271"/>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74.38</a:t>
            </a:r>
            <a:endParaRPr lang="en-US" sz="860" dirty="0"/>
          </a:p>
        </p:txBody>
      </p:sp>
      <p:sp>
        <p:nvSpPr>
          <p:cNvPr id="53" name="Shape 51"/>
          <p:cNvSpPr/>
          <p:nvPr/>
        </p:nvSpPr>
        <p:spPr>
          <a:xfrm>
            <a:off x="5882884" y="1658983"/>
            <a:ext cx="901233" cy="372291"/>
          </a:xfrm>
          <a:prstGeom prst="rect">
            <a:avLst/>
          </a:prstGeom>
          <a:solidFill>
            <a:srgbClr val="F5F7FA"/>
          </a:solidFill>
          <a:ln w="12700">
            <a:solidFill>
              <a:srgbClr val="D5DCE3"/>
            </a:solidFill>
            <a:prstDash val="solid"/>
          </a:ln>
        </p:spPr>
      </p:sp>
      <p:sp>
        <p:nvSpPr>
          <p:cNvPr id="54" name="Text 52"/>
          <p:cNvSpPr/>
          <p:nvPr/>
        </p:nvSpPr>
        <p:spPr>
          <a:xfrm>
            <a:off x="5910316" y="1677271"/>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84.95</a:t>
            </a:r>
            <a:endParaRPr lang="en-US" sz="860" dirty="0"/>
          </a:p>
        </p:txBody>
      </p:sp>
      <p:sp>
        <p:nvSpPr>
          <p:cNvPr id="55" name="Shape 53"/>
          <p:cNvSpPr/>
          <p:nvPr/>
        </p:nvSpPr>
        <p:spPr>
          <a:xfrm>
            <a:off x="6784116" y="1658983"/>
            <a:ext cx="901233" cy="372291"/>
          </a:xfrm>
          <a:prstGeom prst="rect">
            <a:avLst/>
          </a:prstGeom>
          <a:solidFill>
            <a:srgbClr val="F5F7FA"/>
          </a:solidFill>
          <a:ln w="12700">
            <a:solidFill>
              <a:srgbClr val="D5DCE3"/>
            </a:solidFill>
            <a:prstDash val="solid"/>
          </a:ln>
        </p:spPr>
      </p:sp>
      <p:sp>
        <p:nvSpPr>
          <p:cNvPr id="56" name="Text 54"/>
          <p:cNvSpPr/>
          <p:nvPr/>
        </p:nvSpPr>
        <p:spPr>
          <a:xfrm>
            <a:off x="6811548" y="1677271"/>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86.44</a:t>
            </a:r>
            <a:endParaRPr lang="en-US" sz="860" dirty="0"/>
          </a:p>
        </p:txBody>
      </p:sp>
      <p:sp>
        <p:nvSpPr>
          <p:cNvPr id="57" name="Shape 55"/>
          <p:cNvSpPr/>
          <p:nvPr/>
        </p:nvSpPr>
        <p:spPr>
          <a:xfrm>
            <a:off x="7685349" y="1658983"/>
            <a:ext cx="983163" cy="372291"/>
          </a:xfrm>
          <a:prstGeom prst="rect">
            <a:avLst/>
          </a:prstGeom>
          <a:solidFill>
            <a:srgbClr val="F5F7FA"/>
          </a:solidFill>
          <a:ln w="12700">
            <a:solidFill>
              <a:srgbClr val="D5DCE3"/>
            </a:solidFill>
            <a:prstDash val="solid"/>
          </a:ln>
        </p:spPr>
      </p:sp>
      <p:sp>
        <p:nvSpPr>
          <p:cNvPr id="58" name="Text 56"/>
          <p:cNvSpPr/>
          <p:nvPr/>
        </p:nvSpPr>
        <p:spPr>
          <a:xfrm>
            <a:off x="7712781" y="1677271"/>
            <a:ext cx="92829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79.90</a:t>
            </a:r>
            <a:endParaRPr lang="en-US" sz="860" dirty="0"/>
          </a:p>
        </p:txBody>
      </p:sp>
      <p:sp>
        <p:nvSpPr>
          <p:cNvPr id="59" name="Shape 57"/>
          <p:cNvSpPr/>
          <p:nvPr/>
        </p:nvSpPr>
        <p:spPr>
          <a:xfrm>
            <a:off x="475488" y="2031274"/>
            <a:ext cx="1310884" cy="372291"/>
          </a:xfrm>
          <a:prstGeom prst="rect">
            <a:avLst/>
          </a:prstGeom>
          <a:solidFill>
            <a:srgbClr val="FFFFFF"/>
          </a:solidFill>
          <a:ln w="12700">
            <a:solidFill>
              <a:srgbClr val="D5DCE3"/>
            </a:solidFill>
            <a:prstDash val="solid"/>
          </a:ln>
        </p:spPr>
      </p:sp>
      <p:sp>
        <p:nvSpPr>
          <p:cNvPr id="60" name="Text 58"/>
          <p:cNvSpPr/>
          <p:nvPr/>
        </p:nvSpPr>
        <p:spPr>
          <a:xfrm>
            <a:off x="502920" y="2049562"/>
            <a:ext cx="1256020" cy="335715"/>
          </a:xfrm>
          <a:prstGeom prst="rect">
            <a:avLst/>
          </a:prstGeom>
          <a:noFill/>
          <a:ln/>
        </p:spPr>
        <p:txBody>
          <a:bodyPr wrap="square" lIns="0" tIns="0" rIns="0" bIns="0" rtlCol="0" anchor="ctr">
            <a:normAutofit/>
          </a:bodyPr>
          <a:lstStyle/>
          <a:p>
            <a:pPr marL="0" indent="0" algn="l">
              <a:buNone/>
            </a:pPr>
            <a:r>
              <a:rPr lang="en-US" sz="860" dirty="0">
                <a:solidFill>
                  <a:srgbClr val="20242A"/>
                </a:solidFill>
                <a:latin typeface="Yu Gothic" pitchFamily="34" charset="0"/>
                <a:ea typeface="Yu Gothic" pitchFamily="34" charset="-122"/>
                <a:cs typeface="Yu Gothic" pitchFamily="34" charset="-120"/>
              </a:rPr>
              <a:t>SPVCNN</a:t>
            </a:r>
            <a:endParaRPr lang="en-US" sz="860" dirty="0"/>
          </a:p>
        </p:txBody>
      </p:sp>
      <p:sp>
        <p:nvSpPr>
          <p:cNvPr id="61" name="Shape 59"/>
          <p:cNvSpPr/>
          <p:nvPr/>
        </p:nvSpPr>
        <p:spPr>
          <a:xfrm>
            <a:off x="1786372" y="2031274"/>
            <a:ext cx="737372" cy="372291"/>
          </a:xfrm>
          <a:prstGeom prst="rect">
            <a:avLst/>
          </a:prstGeom>
          <a:solidFill>
            <a:srgbClr val="FFFFFF"/>
          </a:solidFill>
          <a:ln w="12700">
            <a:solidFill>
              <a:srgbClr val="D5DCE3"/>
            </a:solidFill>
            <a:prstDash val="solid"/>
          </a:ln>
        </p:spPr>
      </p:sp>
      <p:sp>
        <p:nvSpPr>
          <p:cNvPr id="62" name="Text 60"/>
          <p:cNvSpPr/>
          <p:nvPr/>
        </p:nvSpPr>
        <p:spPr>
          <a:xfrm>
            <a:off x="1813804" y="2049562"/>
            <a:ext cx="68250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No</a:t>
            </a:r>
            <a:endParaRPr lang="en-US" sz="860" dirty="0"/>
          </a:p>
        </p:txBody>
      </p:sp>
      <p:sp>
        <p:nvSpPr>
          <p:cNvPr id="63" name="Shape 61"/>
          <p:cNvSpPr/>
          <p:nvPr/>
        </p:nvSpPr>
        <p:spPr>
          <a:xfrm>
            <a:off x="2523744" y="2031274"/>
            <a:ext cx="819302" cy="372291"/>
          </a:xfrm>
          <a:prstGeom prst="rect">
            <a:avLst/>
          </a:prstGeom>
          <a:solidFill>
            <a:srgbClr val="FFFFFF"/>
          </a:solidFill>
          <a:ln w="12700">
            <a:solidFill>
              <a:srgbClr val="D5DCE3"/>
            </a:solidFill>
            <a:prstDash val="solid"/>
          </a:ln>
        </p:spPr>
      </p:sp>
      <p:sp>
        <p:nvSpPr>
          <p:cNvPr id="64" name="Text 62"/>
          <p:cNvSpPr/>
          <p:nvPr/>
        </p:nvSpPr>
        <p:spPr>
          <a:xfrm>
            <a:off x="2551176" y="2049562"/>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81.85</a:t>
            </a:r>
            <a:endParaRPr lang="en-US" sz="860" dirty="0"/>
          </a:p>
        </p:txBody>
      </p:sp>
      <p:sp>
        <p:nvSpPr>
          <p:cNvPr id="65" name="Shape 63"/>
          <p:cNvSpPr/>
          <p:nvPr/>
        </p:nvSpPr>
        <p:spPr>
          <a:xfrm>
            <a:off x="3343046" y="2031274"/>
            <a:ext cx="901233" cy="372291"/>
          </a:xfrm>
          <a:prstGeom prst="rect">
            <a:avLst/>
          </a:prstGeom>
          <a:solidFill>
            <a:srgbClr val="FFFFFF"/>
          </a:solidFill>
          <a:ln w="12700">
            <a:solidFill>
              <a:srgbClr val="D5DCE3"/>
            </a:solidFill>
            <a:prstDash val="solid"/>
          </a:ln>
        </p:spPr>
      </p:sp>
      <p:sp>
        <p:nvSpPr>
          <p:cNvPr id="66" name="Text 64"/>
          <p:cNvSpPr/>
          <p:nvPr/>
        </p:nvSpPr>
        <p:spPr>
          <a:xfrm>
            <a:off x="3370478" y="2049562"/>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96.53</a:t>
            </a:r>
            <a:endParaRPr lang="en-US" sz="860" dirty="0"/>
          </a:p>
        </p:txBody>
      </p:sp>
      <p:sp>
        <p:nvSpPr>
          <p:cNvPr id="67" name="Shape 65"/>
          <p:cNvSpPr/>
          <p:nvPr/>
        </p:nvSpPr>
        <p:spPr>
          <a:xfrm>
            <a:off x="4244279" y="2031274"/>
            <a:ext cx="819302" cy="372291"/>
          </a:xfrm>
          <a:prstGeom prst="rect">
            <a:avLst/>
          </a:prstGeom>
          <a:solidFill>
            <a:srgbClr val="FFFFFF"/>
          </a:solidFill>
          <a:ln w="12700">
            <a:solidFill>
              <a:srgbClr val="D5DCE3"/>
            </a:solidFill>
            <a:prstDash val="solid"/>
          </a:ln>
        </p:spPr>
      </p:sp>
      <p:sp>
        <p:nvSpPr>
          <p:cNvPr id="68" name="Text 66"/>
          <p:cNvSpPr/>
          <p:nvPr/>
        </p:nvSpPr>
        <p:spPr>
          <a:xfrm>
            <a:off x="4271711" y="2049562"/>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69.77</a:t>
            </a:r>
            <a:endParaRPr lang="en-US" sz="860" dirty="0"/>
          </a:p>
        </p:txBody>
      </p:sp>
      <p:sp>
        <p:nvSpPr>
          <p:cNvPr id="69" name="Shape 67"/>
          <p:cNvSpPr/>
          <p:nvPr/>
        </p:nvSpPr>
        <p:spPr>
          <a:xfrm>
            <a:off x="5063581" y="2031274"/>
            <a:ext cx="819302" cy="372291"/>
          </a:xfrm>
          <a:prstGeom prst="rect">
            <a:avLst/>
          </a:prstGeom>
          <a:solidFill>
            <a:srgbClr val="FFFFFF"/>
          </a:solidFill>
          <a:ln w="12700">
            <a:solidFill>
              <a:srgbClr val="D5DCE3"/>
            </a:solidFill>
            <a:prstDash val="solid"/>
          </a:ln>
        </p:spPr>
      </p:sp>
      <p:sp>
        <p:nvSpPr>
          <p:cNvPr id="70" name="Text 68"/>
          <p:cNvSpPr/>
          <p:nvPr/>
        </p:nvSpPr>
        <p:spPr>
          <a:xfrm>
            <a:off x="5091013" y="2049562"/>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77.77</a:t>
            </a:r>
            <a:endParaRPr lang="en-US" sz="860" dirty="0"/>
          </a:p>
        </p:txBody>
      </p:sp>
      <p:sp>
        <p:nvSpPr>
          <p:cNvPr id="71" name="Shape 69"/>
          <p:cNvSpPr/>
          <p:nvPr/>
        </p:nvSpPr>
        <p:spPr>
          <a:xfrm>
            <a:off x="5882884" y="2031274"/>
            <a:ext cx="901233" cy="372291"/>
          </a:xfrm>
          <a:prstGeom prst="rect">
            <a:avLst/>
          </a:prstGeom>
          <a:solidFill>
            <a:srgbClr val="FFFFFF"/>
          </a:solidFill>
          <a:ln w="12700">
            <a:solidFill>
              <a:srgbClr val="D5DCE3"/>
            </a:solidFill>
            <a:prstDash val="solid"/>
          </a:ln>
        </p:spPr>
      </p:sp>
      <p:sp>
        <p:nvSpPr>
          <p:cNvPr id="72" name="Text 70"/>
          <p:cNvSpPr/>
          <p:nvPr/>
        </p:nvSpPr>
        <p:spPr>
          <a:xfrm>
            <a:off x="5910316" y="2049562"/>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84.15</a:t>
            </a:r>
            <a:endParaRPr lang="en-US" sz="860" dirty="0"/>
          </a:p>
        </p:txBody>
      </p:sp>
      <p:sp>
        <p:nvSpPr>
          <p:cNvPr id="73" name="Shape 71"/>
          <p:cNvSpPr/>
          <p:nvPr/>
        </p:nvSpPr>
        <p:spPr>
          <a:xfrm>
            <a:off x="6784116" y="2031274"/>
            <a:ext cx="901233" cy="372291"/>
          </a:xfrm>
          <a:prstGeom prst="rect">
            <a:avLst/>
          </a:prstGeom>
          <a:solidFill>
            <a:srgbClr val="FFFFFF"/>
          </a:solidFill>
          <a:ln w="12700">
            <a:solidFill>
              <a:srgbClr val="D5DCE3"/>
            </a:solidFill>
            <a:prstDash val="solid"/>
          </a:ln>
        </p:spPr>
      </p:sp>
      <p:sp>
        <p:nvSpPr>
          <p:cNvPr id="74" name="Text 72"/>
          <p:cNvSpPr/>
          <p:nvPr/>
        </p:nvSpPr>
        <p:spPr>
          <a:xfrm>
            <a:off x="6811548" y="2049562"/>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84.72</a:t>
            </a:r>
            <a:endParaRPr lang="en-US" sz="860" dirty="0"/>
          </a:p>
        </p:txBody>
      </p:sp>
      <p:sp>
        <p:nvSpPr>
          <p:cNvPr id="75" name="Shape 73"/>
          <p:cNvSpPr/>
          <p:nvPr/>
        </p:nvSpPr>
        <p:spPr>
          <a:xfrm>
            <a:off x="7685349" y="2031274"/>
            <a:ext cx="983163" cy="372291"/>
          </a:xfrm>
          <a:prstGeom prst="rect">
            <a:avLst/>
          </a:prstGeom>
          <a:solidFill>
            <a:srgbClr val="FFFFFF"/>
          </a:solidFill>
          <a:ln w="12700">
            <a:solidFill>
              <a:srgbClr val="D5DCE3"/>
            </a:solidFill>
            <a:prstDash val="solid"/>
          </a:ln>
        </p:spPr>
      </p:sp>
      <p:sp>
        <p:nvSpPr>
          <p:cNvPr id="76" name="Text 74"/>
          <p:cNvSpPr/>
          <p:nvPr/>
        </p:nvSpPr>
        <p:spPr>
          <a:xfrm>
            <a:off x="7712781" y="2049562"/>
            <a:ext cx="92829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78.16</a:t>
            </a:r>
            <a:endParaRPr lang="en-US" sz="860" dirty="0"/>
          </a:p>
        </p:txBody>
      </p:sp>
      <p:sp>
        <p:nvSpPr>
          <p:cNvPr id="77" name="Shape 75"/>
          <p:cNvSpPr/>
          <p:nvPr/>
        </p:nvSpPr>
        <p:spPr>
          <a:xfrm>
            <a:off x="475488" y="2403566"/>
            <a:ext cx="1310884" cy="372291"/>
          </a:xfrm>
          <a:prstGeom prst="rect">
            <a:avLst/>
          </a:prstGeom>
          <a:solidFill>
            <a:srgbClr val="F5F7FA"/>
          </a:solidFill>
          <a:ln w="12700">
            <a:solidFill>
              <a:srgbClr val="D5DCE3"/>
            </a:solidFill>
            <a:prstDash val="solid"/>
          </a:ln>
        </p:spPr>
      </p:sp>
      <p:sp>
        <p:nvSpPr>
          <p:cNvPr id="78" name="Text 76"/>
          <p:cNvSpPr/>
          <p:nvPr/>
        </p:nvSpPr>
        <p:spPr>
          <a:xfrm>
            <a:off x="502920" y="2421854"/>
            <a:ext cx="1256020" cy="335715"/>
          </a:xfrm>
          <a:prstGeom prst="rect">
            <a:avLst/>
          </a:prstGeom>
          <a:noFill/>
          <a:ln/>
        </p:spPr>
        <p:txBody>
          <a:bodyPr wrap="square" lIns="0" tIns="0" rIns="0" bIns="0" rtlCol="0" anchor="ctr">
            <a:normAutofit/>
          </a:bodyPr>
          <a:lstStyle/>
          <a:p>
            <a:pPr marL="0" indent="0" algn="l">
              <a:buNone/>
            </a:pPr>
            <a:r>
              <a:rPr lang="en-US" sz="860" dirty="0">
                <a:solidFill>
                  <a:srgbClr val="20242A"/>
                </a:solidFill>
                <a:latin typeface="Yu Gothic" pitchFamily="34" charset="0"/>
                <a:ea typeface="Yu Gothic" pitchFamily="34" charset="-122"/>
                <a:cs typeface="Yu Gothic" pitchFamily="34" charset="-120"/>
              </a:rPr>
              <a:t>SPVCNN</a:t>
            </a:r>
            <a:endParaRPr lang="en-US" sz="860" dirty="0"/>
          </a:p>
        </p:txBody>
      </p:sp>
      <p:sp>
        <p:nvSpPr>
          <p:cNvPr id="79" name="Shape 77"/>
          <p:cNvSpPr/>
          <p:nvPr/>
        </p:nvSpPr>
        <p:spPr>
          <a:xfrm>
            <a:off x="1786372" y="2403566"/>
            <a:ext cx="737372" cy="372291"/>
          </a:xfrm>
          <a:prstGeom prst="rect">
            <a:avLst/>
          </a:prstGeom>
          <a:solidFill>
            <a:srgbClr val="F5F7FA"/>
          </a:solidFill>
          <a:ln w="12700">
            <a:solidFill>
              <a:srgbClr val="D5DCE3"/>
            </a:solidFill>
            <a:prstDash val="solid"/>
          </a:ln>
        </p:spPr>
      </p:sp>
      <p:sp>
        <p:nvSpPr>
          <p:cNvPr id="80" name="Text 78"/>
          <p:cNvSpPr/>
          <p:nvPr/>
        </p:nvSpPr>
        <p:spPr>
          <a:xfrm>
            <a:off x="1813804" y="2421854"/>
            <a:ext cx="68250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Yes</a:t>
            </a:r>
            <a:endParaRPr lang="en-US" sz="860" dirty="0"/>
          </a:p>
        </p:txBody>
      </p:sp>
      <p:sp>
        <p:nvSpPr>
          <p:cNvPr id="81" name="Shape 79"/>
          <p:cNvSpPr/>
          <p:nvPr/>
        </p:nvSpPr>
        <p:spPr>
          <a:xfrm>
            <a:off x="2523744" y="2403566"/>
            <a:ext cx="819302" cy="372291"/>
          </a:xfrm>
          <a:prstGeom prst="rect">
            <a:avLst/>
          </a:prstGeom>
          <a:solidFill>
            <a:srgbClr val="F5F7FA"/>
          </a:solidFill>
          <a:ln w="12700">
            <a:solidFill>
              <a:srgbClr val="D5DCE3"/>
            </a:solidFill>
            <a:prstDash val="solid"/>
          </a:ln>
        </p:spPr>
      </p:sp>
      <p:sp>
        <p:nvSpPr>
          <p:cNvPr id="82" name="Text 80"/>
          <p:cNvSpPr/>
          <p:nvPr/>
        </p:nvSpPr>
        <p:spPr>
          <a:xfrm>
            <a:off x="2551176" y="2421854"/>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82.14</a:t>
            </a:r>
            <a:endParaRPr lang="en-US" sz="860" dirty="0"/>
          </a:p>
        </p:txBody>
      </p:sp>
      <p:sp>
        <p:nvSpPr>
          <p:cNvPr id="83" name="Shape 81"/>
          <p:cNvSpPr/>
          <p:nvPr/>
        </p:nvSpPr>
        <p:spPr>
          <a:xfrm>
            <a:off x="3343046" y="2403566"/>
            <a:ext cx="901233" cy="372291"/>
          </a:xfrm>
          <a:prstGeom prst="rect">
            <a:avLst/>
          </a:prstGeom>
          <a:solidFill>
            <a:srgbClr val="F5F7FA"/>
          </a:solidFill>
          <a:ln w="12700">
            <a:solidFill>
              <a:srgbClr val="D5DCE3"/>
            </a:solidFill>
            <a:prstDash val="solid"/>
          </a:ln>
        </p:spPr>
      </p:sp>
      <p:sp>
        <p:nvSpPr>
          <p:cNvPr id="84" name="Text 82"/>
          <p:cNvSpPr/>
          <p:nvPr/>
        </p:nvSpPr>
        <p:spPr>
          <a:xfrm>
            <a:off x="3370478" y="2421854"/>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96.67</a:t>
            </a:r>
            <a:endParaRPr lang="en-US" sz="860" dirty="0"/>
          </a:p>
        </p:txBody>
      </p:sp>
      <p:sp>
        <p:nvSpPr>
          <p:cNvPr id="85" name="Shape 83"/>
          <p:cNvSpPr/>
          <p:nvPr/>
        </p:nvSpPr>
        <p:spPr>
          <a:xfrm>
            <a:off x="4244279" y="2403566"/>
            <a:ext cx="819302" cy="372291"/>
          </a:xfrm>
          <a:prstGeom prst="rect">
            <a:avLst/>
          </a:prstGeom>
          <a:solidFill>
            <a:srgbClr val="F5F7FA"/>
          </a:solidFill>
          <a:ln w="12700">
            <a:solidFill>
              <a:srgbClr val="D5DCE3"/>
            </a:solidFill>
            <a:prstDash val="solid"/>
          </a:ln>
        </p:spPr>
      </p:sp>
      <p:sp>
        <p:nvSpPr>
          <p:cNvPr id="86" name="Text 84"/>
          <p:cNvSpPr/>
          <p:nvPr/>
        </p:nvSpPr>
        <p:spPr>
          <a:xfrm>
            <a:off x="4271711" y="2421854"/>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69.42</a:t>
            </a:r>
            <a:endParaRPr lang="en-US" sz="860" dirty="0"/>
          </a:p>
        </p:txBody>
      </p:sp>
      <p:sp>
        <p:nvSpPr>
          <p:cNvPr id="87" name="Shape 85"/>
          <p:cNvSpPr/>
          <p:nvPr/>
        </p:nvSpPr>
        <p:spPr>
          <a:xfrm>
            <a:off x="5063581" y="2403566"/>
            <a:ext cx="819302" cy="372291"/>
          </a:xfrm>
          <a:prstGeom prst="rect">
            <a:avLst/>
          </a:prstGeom>
          <a:solidFill>
            <a:srgbClr val="F5F7FA"/>
          </a:solidFill>
          <a:ln w="12700">
            <a:solidFill>
              <a:srgbClr val="D5DCE3"/>
            </a:solidFill>
            <a:prstDash val="solid"/>
          </a:ln>
        </p:spPr>
      </p:sp>
      <p:sp>
        <p:nvSpPr>
          <p:cNvPr id="88" name="Text 86"/>
          <p:cNvSpPr/>
          <p:nvPr/>
        </p:nvSpPr>
        <p:spPr>
          <a:xfrm>
            <a:off x="5091013" y="2421854"/>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77.60</a:t>
            </a:r>
            <a:endParaRPr lang="en-US" sz="860" dirty="0"/>
          </a:p>
        </p:txBody>
      </p:sp>
      <p:sp>
        <p:nvSpPr>
          <p:cNvPr id="89" name="Shape 87"/>
          <p:cNvSpPr/>
          <p:nvPr/>
        </p:nvSpPr>
        <p:spPr>
          <a:xfrm>
            <a:off x="5882884" y="2403566"/>
            <a:ext cx="901233" cy="372291"/>
          </a:xfrm>
          <a:prstGeom prst="rect">
            <a:avLst/>
          </a:prstGeom>
          <a:solidFill>
            <a:srgbClr val="F5F7FA"/>
          </a:solidFill>
          <a:ln w="12700">
            <a:solidFill>
              <a:srgbClr val="D5DCE3"/>
            </a:solidFill>
            <a:prstDash val="solid"/>
          </a:ln>
        </p:spPr>
      </p:sp>
      <p:sp>
        <p:nvSpPr>
          <p:cNvPr id="90" name="Text 88"/>
          <p:cNvSpPr/>
          <p:nvPr/>
        </p:nvSpPr>
        <p:spPr>
          <a:xfrm>
            <a:off x="5910316" y="2421854"/>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86.42</a:t>
            </a:r>
            <a:endParaRPr lang="en-US" sz="860" dirty="0"/>
          </a:p>
        </p:txBody>
      </p:sp>
      <p:sp>
        <p:nvSpPr>
          <p:cNvPr id="91" name="Shape 89"/>
          <p:cNvSpPr/>
          <p:nvPr/>
        </p:nvSpPr>
        <p:spPr>
          <a:xfrm>
            <a:off x="6784116" y="2403566"/>
            <a:ext cx="901233" cy="372291"/>
          </a:xfrm>
          <a:prstGeom prst="rect">
            <a:avLst/>
          </a:prstGeom>
          <a:solidFill>
            <a:srgbClr val="F5F7FA"/>
          </a:solidFill>
          <a:ln w="12700">
            <a:solidFill>
              <a:srgbClr val="D5DCE3"/>
            </a:solidFill>
            <a:prstDash val="solid"/>
          </a:ln>
        </p:spPr>
      </p:sp>
      <p:sp>
        <p:nvSpPr>
          <p:cNvPr id="92" name="Text 90"/>
          <p:cNvSpPr/>
          <p:nvPr/>
        </p:nvSpPr>
        <p:spPr>
          <a:xfrm>
            <a:off x="6811548" y="2421854"/>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84.89</a:t>
            </a:r>
            <a:endParaRPr lang="en-US" sz="860" dirty="0"/>
          </a:p>
        </p:txBody>
      </p:sp>
      <p:sp>
        <p:nvSpPr>
          <p:cNvPr id="93" name="Shape 91"/>
          <p:cNvSpPr/>
          <p:nvPr/>
        </p:nvSpPr>
        <p:spPr>
          <a:xfrm>
            <a:off x="7685349" y="2403566"/>
            <a:ext cx="983163" cy="372291"/>
          </a:xfrm>
          <a:prstGeom prst="rect">
            <a:avLst/>
          </a:prstGeom>
          <a:solidFill>
            <a:srgbClr val="F5F7FA"/>
          </a:solidFill>
          <a:ln w="12700">
            <a:solidFill>
              <a:srgbClr val="D5DCE3"/>
            </a:solidFill>
            <a:prstDash val="solid"/>
          </a:ln>
        </p:spPr>
      </p:sp>
      <p:sp>
        <p:nvSpPr>
          <p:cNvPr id="94" name="Text 92"/>
          <p:cNvSpPr/>
          <p:nvPr/>
        </p:nvSpPr>
        <p:spPr>
          <a:xfrm>
            <a:off x="7712781" y="2421854"/>
            <a:ext cx="92829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77.86</a:t>
            </a:r>
            <a:endParaRPr lang="en-US" sz="860" dirty="0"/>
          </a:p>
        </p:txBody>
      </p:sp>
      <p:sp>
        <p:nvSpPr>
          <p:cNvPr id="95" name="Shape 93"/>
          <p:cNvSpPr/>
          <p:nvPr/>
        </p:nvSpPr>
        <p:spPr>
          <a:xfrm>
            <a:off x="475488" y="2775857"/>
            <a:ext cx="1310884" cy="372291"/>
          </a:xfrm>
          <a:prstGeom prst="rect">
            <a:avLst/>
          </a:prstGeom>
          <a:solidFill>
            <a:srgbClr val="FFFFFF"/>
          </a:solidFill>
          <a:ln w="12700">
            <a:solidFill>
              <a:srgbClr val="D5DCE3"/>
            </a:solidFill>
            <a:prstDash val="solid"/>
          </a:ln>
        </p:spPr>
      </p:sp>
      <p:sp>
        <p:nvSpPr>
          <p:cNvPr id="96" name="Text 94"/>
          <p:cNvSpPr/>
          <p:nvPr/>
        </p:nvSpPr>
        <p:spPr>
          <a:xfrm>
            <a:off x="502920" y="2794145"/>
            <a:ext cx="1256020" cy="335715"/>
          </a:xfrm>
          <a:prstGeom prst="rect">
            <a:avLst/>
          </a:prstGeom>
          <a:noFill/>
          <a:ln/>
        </p:spPr>
        <p:txBody>
          <a:bodyPr wrap="square" lIns="0" tIns="0" rIns="0" bIns="0" rtlCol="0" anchor="ctr">
            <a:normAutofit/>
          </a:bodyPr>
          <a:lstStyle/>
          <a:p>
            <a:pPr marL="0" indent="0" algn="l">
              <a:buNone/>
            </a:pPr>
            <a:r>
              <a:rPr lang="en-US" sz="860" b="1" dirty="0">
                <a:solidFill>
                  <a:srgbClr val="2E75B6"/>
                </a:solidFill>
                <a:latin typeface="Yu Gothic" pitchFamily="34" charset="0"/>
                <a:ea typeface="Yu Gothic" pitchFamily="34" charset="-122"/>
                <a:cs typeface="Yu Gothic" pitchFamily="34" charset="-120"/>
              </a:rPr>
              <a:t>Cylinder3D</a:t>
            </a:r>
            <a:endParaRPr lang="en-US" sz="860" dirty="0"/>
          </a:p>
        </p:txBody>
      </p:sp>
      <p:sp>
        <p:nvSpPr>
          <p:cNvPr id="97" name="Shape 95"/>
          <p:cNvSpPr/>
          <p:nvPr/>
        </p:nvSpPr>
        <p:spPr>
          <a:xfrm>
            <a:off x="1786372" y="2775857"/>
            <a:ext cx="737372" cy="372291"/>
          </a:xfrm>
          <a:prstGeom prst="rect">
            <a:avLst/>
          </a:prstGeom>
          <a:solidFill>
            <a:srgbClr val="FFFFFF"/>
          </a:solidFill>
          <a:ln w="12700">
            <a:solidFill>
              <a:srgbClr val="D5DCE3"/>
            </a:solidFill>
            <a:prstDash val="solid"/>
          </a:ln>
        </p:spPr>
      </p:sp>
      <p:sp>
        <p:nvSpPr>
          <p:cNvPr id="98" name="Text 96"/>
          <p:cNvSpPr/>
          <p:nvPr/>
        </p:nvSpPr>
        <p:spPr>
          <a:xfrm>
            <a:off x="1813804" y="2794145"/>
            <a:ext cx="68250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No</a:t>
            </a:r>
            <a:endParaRPr lang="en-US" sz="860" dirty="0"/>
          </a:p>
        </p:txBody>
      </p:sp>
      <p:sp>
        <p:nvSpPr>
          <p:cNvPr id="99" name="Shape 97"/>
          <p:cNvSpPr/>
          <p:nvPr/>
        </p:nvSpPr>
        <p:spPr>
          <a:xfrm>
            <a:off x="2523744" y="2775857"/>
            <a:ext cx="819302" cy="372291"/>
          </a:xfrm>
          <a:prstGeom prst="rect">
            <a:avLst/>
          </a:prstGeom>
          <a:solidFill>
            <a:srgbClr val="FFFFFF"/>
          </a:solidFill>
          <a:ln w="12700">
            <a:solidFill>
              <a:srgbClr val="D5DCE3"/>
            </a:solidFill>
            <a:prstDash val="solid"/>
          </a:ln>
        </p:spPr>
      </p:sp>
      <p:sp>
        <p:nvSpPr>
          <p:cNvPr id="100" name="Text 98"/>
          <p:cNvSpPr/>
          <p:nvPr/>
        </p:nvSpPr>
        <p:spPr>
          <a:xfrm>
            <a:off x="2551176" y="2794145"/>
            <a:ext cx="764438" cy="335715"/>
          </a:xfrm>
          <a:prstGeom prst="rect">
            <a:avLst/>
          </a:prstGeom>
          <a:noFill/>
          <a:ln/>
        </p:spPr>
        <p:txBody>
          <a:bodyPr wrap="square" lIns="0" tIns="0" rIns="0" bIns="0" rtlCol="0" anchor="ctr">
            <a:normAutofit/>
          </a:bodyPr>
          <a:lstStyle/>
          <a:p>
            <a:pPr marL="0" indent="0" algn="ctr">
              <a:buNone/>
            </a:pPr>
            <a:r>
              <a:rPr lang="en-US" sz="860" b="1" dirty="0">
                <a:solidFill>
                  <a:srgbClr val="20242A"/>
                </a:solidFill>
                <a:latin typeface="Yu Gothic" pitchFamily="34" charset="0"/>
                <a:ea typeface="Yu Gothic" pitchFamily="34" charset="-122"/>
                <a:cs typeface="Yu Gothic" pitchFamily="34" charset="-120"/>
              </a:rPr>
              <a:t>83.72</a:t>
            </a:r>
            <a:endParaRPr lang="en-US" sz="860" dirty="0"/>
          </a:p>
        </p:txBody>
      </p:sp>
      <p:sp>
        <p:nvSpPr>
          <p:cNvPr id="101" name="Shape 99"/>
          <p:cNvSpPr/>
          <p:nvPr/>
        </p:nvSpPr>
        <p:spPr>
          <a:xfrm>
            <a:off x="3343046" y="2775857"/>
            <a:ext cx="901233" cy="372291"/>
          </a:xfrm>
          <a:prstGeom prst="rect">
            <a:avLst/>
          </a:prstGeom>
          <a:solidFill>
            <a:srgbClr val="FFFFFF"/>
          </a:solidFill>
          <a:ln w="12700">
            <a:solidFill>
              <a:srgbClr val="D5DCE3"/>
            </a:solidFill>
            <a:prstDash val="solid"/>
          </a:ln>
        </p:spPr>
      </p:sp>
      <p:sp>
        <p:nvSpPr>
          <p:cNvPr id="102" name="Text 100"/>
          <p:cNvSpPr/>
          <p:nvPr/>
        </p:nvSpPr>
        <p:spPr>
          <a:xfrm>
            <a:off x="3370478" y="2794145"/>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96.84</a:t>
            </a:r>
            <a:endParaRPr lang="en-US" sz="860" dirty="0"/>
          </a:p>
        </p:txBody>
      </p:sp>
      <p:sp>
        <p:nvSpPr>
          <p:cNvPr id="103" name="Shape 101"/>
          <p:cNvSpPr/>
          <p:nvPr/>
        </p:nvSpPr>
        <p:spPr>
          <a:xfrm>
            <a:off x="4244279" y="2775857"/>
            <a:ext cx="819302" cy="372291"/>
          </a:xfrm>
          <a:prstGeom prst="rect">
            <a:avLst/>
          </a:prstGeom>
          <a:solidFill>
            <a:srgbClr val="FFFFFF"/>
          </a:solidFill>
          <a:ln w="12700">
            <a:solidFill>
              <a:srgbClr val="D5DCE3"/>
            </a:solidFill>
            <a:prstDash val="solid"/>
          </a:ln>
        </p:spPr>
      </p:sp>
      <p:sp>
        <p:nvSpPr>
          <p:cNvPr id="104" name="Text 102"/>
          <p:cNvSpPr/>
          <p:nvPr/>
        </p:nvSpPr>
        <p:spPr>
          <a:xfrm>
            <a:off x="4271711" y="2794145"/>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69.78</a:t>
            </a:r>
            <a:endParaRPr lang="en-US" sz="860" dirty="0"/>
          </a:p>
        </p:txBody>
      </p:sp>
      <p:sp>
        <p:nvSpPr>
          <p:cNvPr id="105" name="Shape 103"/>
          <p:cNvSpPr/>
          <p:nvPr/>
        </p:nvSpPr>
        <p:spPr>
          <a:xfrm>
            <a:off x="5063581" y="2775857"/>
            <a:ext cx="819302" cy="372291"/>
          </a:xfrm>
          <a:prstGeom prst="rect">
            <a:avLst/>
          </a:prstGeom>
          <a:solidFill>
            <a:srgbClr val="FFFFFF"/>
          </a:solidFill>
          <a:ln w="12700">
            <a:solidFill>
              <a:srgbClr val="D5DCE3"/>
            </a:solidFill>
            <a:prstDash val="solid"/>
          </a:ln>
        </p:spPr>
      </p:sp>
      <p:sp>
        <p:nvSpPr>
          <p:cNvPr id="106" name="Text 104"/>
          <p:cNvSpPr/>
          <p:nvPr/>
        </p:nvSpPr>
        <p:spPr>
          <a:xfrm>
            <a:off x="5091013" y="2794145"/>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79.87</a:t>
            </a:r>
            <a:endParaRPr lang="en-US" sz="860" dirty="0"/>
          </a:p>
        </p:txBody>
      </p:sp>
      <p:sp>
        <p:nvSpPr>
          <p:cNvPr id="107" name="Shape 105"/>
          <p:cNvSpPr/>
          <p:nvPr/>
        </p:nvSpPr>
        <p:spPr>
          <a:xfrm>
            <a:off x="5882884" y="2775857"/>
            <a:ext cx="901233" cy="372291"/>
          </a:xfrm>
          <a:prstGeom prst="rect">
            <a:avLst/>
          </a:prstGeom>
          <a:solidFill>
            <a:srgbClr val="FFFFFF"/>
          </a:solidFill>
          <a:ln w="12700">
            <a:solidFill>
              <a:srgbClr val="D5DCE3"/>
            </a:solidFill>
            <a:prstDash val="solid"/>
          </a:ln>
        </p:spPr>
      </p:sp>
      <p:sp>
        <p:nvSpPr>
          <p:cNvPr id="108" name="Text 106"/>
          <p:cNvSpPr/>
          <p:nvPr/>
        </p:nvSpPr>
        <p:spPr>
          <a:xfrm>
            <a:off x="5910316" y="2794145"/>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83.76</a:t>
            </a:r>
            <a:endParaRPr lang="en-US" sz="860" dirty="0"/>
          </a:p>
        </p:txBody>
      </p:sp>
      <p:sp>
        <p:nvSpPr>
          <p:cNvPr id="109" name="Shape 107"/>
          <p:cNvSpPr/>
          <p:nvPr/>
        </p:nvSpPr>
        <p:spPr>
          <a:xfrm>
            <a:off x="6784116" y="2775857"/>
            <a:ext cx="901233" cy="372291"/>
          </a:xfrm>
          <a:prstGeom prst="rect">
            <a:avLst/>
          </a:prstGeom>
          <a:solidFill>
            <a:srgbClr val="FFFFFF"/>
          </a:solidFill>
          <a:ln w="12700">
            <a:solidFill>
              <a:srgbClr val="D5DCE3"/>
            </a:solidFill>
            <a:prstDash val="solid"/>
          </a:ln>
        </p:spPr>
      </p:sp>
      <p:sp>
        <p:nvSpPr>
          <p:cNvPr id="110" name="Text 108"/>
          <p:cNvSpPr/>
          <p:nvPr/>
        </p:nvSpPr>
        <p:spPr>
          <a:xfrm>
            <a:off x="6811548" y="2794145"/>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88.58</a:t>
            </a:r>
            <a:endParaRPr lang="en-US" sz="860" dirty="0"/>
          </a:p>
        </p:txBody>
      </p:sp>
      <p:sp>
        <p:nvSpPr>
          <p:cNvPr id="111" name="Shape 109"/>
          <p:cNvSpPr/>
          <p:nvPr/>
        </p:nvSpPr>
        <p:spPr>
          <a:xfrm>
            <a:off x="7685349" y="2775857"/>
            <a:ext cx="983163" cy="372291"/>
          </a:xfrm>
          <a:prstGeom prst="rect">
            <a:avLst/>
          </a:prstGeom>
          <a:solidFill>
            <a:srgbClr val="FFFFFF"/>
          </a:solidFill>
          <a:ln w="12700">
            <a:solidFill>
              <a:srgbClr val="D5DCE3"/>
            </a:solidFill>
            <a:prstDash val="solid"/>
          </a:ln>
        </p:spPr>
      </p:sp>
      <p:sp>
        <p:nvSpPr>
          <p:cNvPr id="112" name="Text 110"/>
          <p:cNvSpPr/>
          <p:nvPr/>
        </p:nvSpPr>
        <p:spPr>
          <a:xfrm>
            <a:off x="7712781" y="2794145"/>
            <a:ext cx="92829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83.49</a:t>
            </a:r>
            <a:endParaRPr lang="en-US" sz="860" dirty="0"/>
          </a:p>
        </p:txBody>
      </p:sp>
      <p:sp>
        <p:nvSpPr>
          <p:cNvPr id="113" name="Shape 111"/>
          <p:cNvSpPr/>
          <p:nvPr/>
        </p:nvSpPr>
        <p:spPr>
          <a:xfrm>
            <a:off x="475488" y="3148149"/>
            <a:ext cx="1310884" cy="372291"/>
          </a:xfrm>
          <a:prstGeom prst="rect">
            <a:avLst/>
          </a:prstGeom>
          <a:solidFill>
            <a:srgbClr val="F5F7FA"/>
          </a:solidFill>
          <a:ln w="12700">
            <a:solidFill>
              <a:srgbClr val="D5DCE3"/>
            </a:solidFill>
            <a:prstDash val="solid"/>
          </a:ln>
        </p:spPr>
      </p:sp>
      <p:sp>
        <p:nvSpPr>
          <p:cNvPr id="114" name="Text 112"/>
          <p:cNvSpPr/>
          <p:nvPr/>
        </p:nvSpPr>
        <p:spPr>
          <a:xfrm>
            <a:off x="502920" y="3166437"/>
            <a:ext cx="1256020" cy="335715"/>
          </a:xfrm>
          <a:prstGeom prst="rect">
            <a:avLst/>
          </a:prstGeom>
          <a:noFill/>
          <a:ln/>
        </p:spPr>
        <p:txBody>
          <a:bodyPr wrap="square" lIns="0" tIns="0" rIns="0" bIns="0" rtlCol="0" anchor="ctr">
            <a:normAutofit/>
          </a:bodyPr>
          <a:lstStyle/>
          <a:p>
            <a:pPr marL="0" indent="0" algn="l">
              <a:buNone/>
            </a:pPr>
            <a:r>
              <a:rPr lang="en-US" sz="860" b="1" dirty="0">
                <a:solidFill>
                  <a:srgbClr val="2E75B6"/>
                </a:solidFill>
                <a:latin typeface="Yu Gothic" pitchFamily="34" charset="0"/>
                <a:ea typeface="Yu Gothic" pitchFamily="34" charset="-122"/>
                <a:cs typeface="Yu Gothic" pitchFamily="34" charset="-120"/>
              </a:rPr>
              <a:t>Cylinder3D</a:t>
            </a:r>
            <a:endParaRPr lang="en-US" sz="860" dirty="0"/>
          </a:p>
        </p:txBody>
      </p:sp>
      <p:sp>
        <p:nvSpPr>
          <p:cNvPr id="115" name="Shape 113"/>
          <p:cNvSpPr/>
          <p:nvPr/>
        </p:nvSpPr>
        <p:spPr>
          <a:xfrm>
            <a:off x="1786372" y="3148149"/>
            <a:ext cx="737372" cy="372291"/>
          </a:xfrm>
          <a:prstGeom prst="rect">
            <a:avLst/>
          </a:prstGeom>
          <a:solidFill>
            <a:srgbClr val="F5F7FA"/>
          </a:solidFill>
          <a:ln w="12700">
            <a:solidFill>
              <a:srgbClr val="D5DCE3"/>
            </a:solidFill>
            <a:prstDash val="solid"/>
          </a:ln>
        </p:spPr>
      </p:sp>
      <p:sp>
        <p:nvSpPr>
          <p:cNvPr id="116" name="Text 114"/>
          <p:cNvSpPr/>
          <p:nvPr/>
        </p:nvSpPr>
        <p:spPr>
          <a:xfrm>
            <a:off x="1813804" y="3166437"/>
            <a:ext cx="682508" cy="335715"/>
          </a:xfrm>
          <a:prstGeom prst="rect">
            <a:avLst/>
          </a:prstGeom>
          <a:noFill/>
          <a:ln/>
        </p:spPr>
        <p:txBody>
          <a:bodyPr wrap="square" lIns="0" tIns="0" rIns="0" bIns="0" rtlCol="0" anchor="ctr">
            <a:normAutofit/>
          </a:bodyPr>
          <a:lstStyle/>
          <a:p>
            <a:pPr marL="0" indent="0" algn="ctr">
              <a:buNone/>
            </a:pPr>
            <a:r>
              <a:rPr lang="en-US" sz="860" b="1" dirty="0">
                <a:solidFill>
                  <a:srgbClr val="2A9D8F"/>
                </a:solidFill>
                <a:latin typeface="Yu Gothic" pitchFamily="34" charset="0"/>
                <a:ea typeface="Yu Gothic" pitchFamily="34" charset="-122"/>
                <a:cs typeface="Yu Gothic" pitchFamily="34" charset="-120"/>
              </a:rPr>
              <a:t>Yes</a:t>
            </a:r>
            <a:endParaRPr lang="en-US" sz="860" dirty="0"/>
          </a:p>
        </p:txBody>
      </p:sp>
      <p:sp>
        <p:nvSpPr>
          <p:cNvPr id="117" name="Shape 115"/>
          <p:cNvSpPr/>
          <p:nvPr/>
        </p:nvSpPr>
        <p:spPr>
          <a:xfrm>
            <a:off x="2523744" y="3148149"/>
            <a:ext cx="819302" cy="372291"/>
          </a:xfrm>
          <a:prstGeom prst="rect">
            <a:avLst/>
          </a:prstGeom>
          <a:solidFill>
            <a:srgbClr val="F5F7FA"/>
          </a:solidFill>
          <a:ln w="12700">
            <a:solidFill>
              <a:srgbClr val="D5DCE3"/>
            </a:solidFill>
            <a:prstDash val="solid"/>
          </a:ln>
        </p:spPr>
      </p:sp>
      <p:sp>
        <p:nvSpPr>
          <p:cNvPr id="118" name="Text 116"/>
          <p:cNvSpPr/>
          <p:nvPr/>
        </p:nvSpPr>
        <p:spPr>
          <a:xfrm>
            <a:off x="2551176" y="3166437"/>
            <a:ext cx="764438" cy="335715"/>
          </a:xfrm>
          <a:prstGeom prst="rect">
            <a:avLst/>
          </a:prstGeom>
          <a:noFill/>
          <a:ln/>
        </p:spPr>
        <p:txBody>
          <a:bodyPr wrap="square" lIns="0" tIns="0" rIns="0" bIns="0" rtlCol="0" anchor="ctr">
            <a:normAutofit/>
          </a:bodyPr>
          <a:lstStyle/>
          <a:p>
            <a:pPr marL="0" indent="0" algn="ctr">
              <a:buNone/>
            </a:pPr>
            <a:r>
              <a:rPr lang="en-US" sz="860" b="1" dirty="0">
                <a:solidFill>
                  <a:srgbClr val="2A9D8F"/>
                </a:solidFill>
                <a:latin typeface="Yu Gothic" pitchFamily="34" charset="0"/>
                <a:ea typeface="Yu Gothic" pitchFamily="34" charset="-122"/>
                <a:cs typeface="Yu Gothic" pitchFamily="34" charset="-120"/>
              </a:rPr>
              <a:t>83.92</a:t>
            </a:r>
            <a:endParaRPr lang="en-US" sz="860" dirty="0"/>
          </a:p>
        </p:txBody>
      </p:sp>
      <p:sp>
        <p:nvSpPr>
          <p:cNvPr id="119" name="Shape 117"/>
          <p:cNvSpPr/>
          <p:nvPr/>
        </p:nvSpPr>
        <p:spPr>
          <a:xfrm>
            <a:off x="3343046" y="3148149"/>
            <a:ext cx="901233" cy="372291"/>
          </a:xfrm>
          <a:prstGeom prst="rect">
            <a:avLst/>
          </a:prstGeom>
          <a:solidFill>
            <a:srgbClr val="F5F7FA"/>
          </a:solidFill>
          <a:ln w="12700">
            <a:solidFill>
              <a:srgbClr val="D5DCE3"/>
            </a:solidFill>
            <a:prstDash val="solid"/>
          </a:ln>
        </p:spPr>
      </p:sp>
      <p:sp>
        <p:nvSpPr>
          <p:cNvPr id="120" name="Text 118"/>
          <p:cNvSpPr/>
          <p:nvPr/>
        </p:nvSpPr>
        <p:spPr>
          <a:xfrm>
            <a:off x="3370478" y="3166437"/>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96.96</a:t>
            </a:r>
            <a:endParaRPr lang="en-US" sz="860" dirty="0"/>
          </a:p>
        </p:txBody>
      </p:sp>
      <p:sp>
        <p:nvSpPr>
          <p:cNvPr id="121" name="Shape 119"/>
          <p:cNvSpPr/>
          <p:nvPr/>
        </p:nvSpPr>
        <p:spPr>
          <a:xfrm>
            <a:off x="4244279" y="3148149"/>
            <a:ext cx="819302" cy="372291"/>
          </a:xfrm>
          <a:prstGeom prst="rect">
            <a:avLst/>
          </a:prstGeom>
          <a:solidFill>
            <a:srgbClr val="F5F7FA"/>
          </a:solidFill>
          <a:ln w="12700">
            <a:solidFill>
              <a:srgbClr val="D5DCE3"/>
            </a:solidFill>
            <a:prstDash val="solid"/>
          </a:ln>
        </p:spPr>
      </p:sp>
      <p:sp>
        <p:nvSpPr>
          <p:cNvPr id="122" name="Text 120"/>
          <p:cNvSpPr/>
          <p:nvPr/>
        </p:nvSpPr>
        <p:spPr>
          <a:xfrm>
            <a:off x="4271711" y="3166437"/>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70.02</a:t>
            </a:r>
            <a:endParaRPr lang="en-US" sz="860" dirty="0"/>
          </a:p>
        </p:txBody>
      </p:sp>
      <p:sp>
        <p:nvSpPr>
          <p:cNvPr id="123" name="Shape 121"/>
          <p:cNvSpPr/>
          <p:nvPr/>
        </p:nvSpPr>
        <p:spPr>
          <a:xfrm>
            <a:off x="5063581" y="3148149"/>
            <a:ext cx="819302" cy="372291"/>
          </a:xfrm>
          <a:prstGeom prst="rect">
            <a:avLst/>
          </a:prstGeom>
          <a:solidFill>
            <a:srgbClr val="F5F7FA"/>
          </a:solidFill>
          <a:ln w="12700">
            <a:solidFill>
              <a:srgbClr val="D5DCE3"/>
            </a:solidFill>
            <a:prstDash val="solid"/>
          </a:ln>
        </p:spPr>
      </p:sp>
      <p:sp>
        <p:nvSpPr>
          <p:cNvPr id="124" name="Text 122"/>
          <p:cNvSpPr/>
          <p:nvPr/>
        </p:nvSpPr>
        <p:spPr>
          <a:xfrm>
            <a:off x="5091013" y="3166437"/>
            <a:ext cx="764438"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79.68</a:t>
            </a:r>
            <a:endParaRPr lang="en-US" sz="860" dirty="0"/>
          </a:p>
        </p:txBody>
      </p:sp>
      <p:sp>
        <p:nvSpPr>
          <p:cNvPr id="125" name="Shape 123"/>
          <p:cNvSpPr/>
          <p:nvPr/>
        </p:nvSpPr>
        <p:spPr>
          <a:xfrm>
            <a:off x="5882884" y="3148149"/>
            <a:ext cx="901233" cy="372291"/>
          </a:xfrm>
          <a:prstGeom prst="rect">
            <a:avLst/>
          </a:prstGeom>
          <a:solidFill>
            <a:srgbClr val="F5F7FA"/>
          </a:solidFill>
          <a:ln w="12700">
            <a:solidFill>
              <a:srgbClr val="D5DCE3"/>
            </a:solidFill>
            <a:prstDash val="solid"/>
          </a:ln>
        </p:spPr>
      </p:sp>
      <p:sp>
        <p:nvSpPr>
          <p:cNvPr id="126" name="Text 124"/>
          <p:cNvSpPr/>
          <p:nvPr/>
        </p:nvSpPr>
        <p:spPr>
          <a:xfrm>
            <a:off x="5910316" y="3166437"/>
            <a:ext cx="846369" cy="335715"/>
          </a:xfrm>
          <a:prstGeom prst="rect">
            <a:avLst/>
          </a:prstGeom>
          <a:noFill/>
          <a:ln/>
        </p:spPr>
        <p:txBody>
          <a:bodyPr wrap="square" lIns="0" tIns="0" rIns="0" bIns="0" rtlCol="0" anchor="ctr">
            <a:normAutofit/>
          </a:bodyPr>
          <a:lstStyle/>
          <a:p>
            <a:pPr marL="0" indent="0" algn="ctr">
              <a:buNone/>
            </a:pPr>
            <a:r>
              <a:rPr lang="en-US" sz="860" dirty="0">
                <a:solidFill>
                  <a:srgbClr val="20242A"/>
                </a:solidFill>
                <a:latin typeface="Yu Gothic" pitchFamily="34" charset="0"/>
                <a:ea typeface="Yu Gothic" pitchFamily="34" charset="-122"/>
                <a:cs typeface="Yu Gothic" pitchFamily="34" charset="-120"/>
              </a:rPr>
              <a:t>83.58</a:t>
            </a:r>
            <a:endParaRPr lang="en-US" sz="860" dirty="0"/>
          </a:p>
        </p:txBody>
      </p:sp>
      <p:sp>
        <p:nvSpPr>
          <p:cNvPr id="127" name="Shape 125"/>
          <p:cNvSpPr/>
          <p:nvPr/>
        </p:nvSpPr>
        <p:spPr>
          <a:xfrm>
            <a:off x="6784116" y="3148149"/>
            <a:ext cx="901233" cy="372291"/>
          </a:xfrm>
          <a:prstGeom prst="rect">
            <a:avLst/>
          </a:prstGeom>
          <a:solidFill>
            <a:srgbClr val="F5F7FA"/>
          </a:solidFill>
          <a:ln w="12700">
            <a:solidFill>
              <a:srgbClr val="D5DCE3"/>
            </a:solidFill>
            <a:prstDash val="solid"/>
          </a:ln>
        </p:spPr>
      </p:sp>
      <p:sp>
        <p:nvSpPr>
          <p:cNvPr id="128" name="Text 126"/>
          <p:cNvSpPr/>
          <p:nvPr/>
        </p:nvSpPr>
        <p:spPr>
          <a:xfrm>
            <a:off x="6811548" y="3166437"/>
            <a:ext cx="846369" cy="335715"/>
          </a:xfrm>
          <a:prstGeom prst="rect">
            <a:avLst/>
          </a:prstGeom>
          <a:noFill/>
          <a:ln/>
        </p:spPr>
        <p:txBody>
          <a:bodyPr wrap="square" lIns="0" tIns="0" rIns="0" bIns="0" rtlCol="0" anchor="ctr">
            <a:normAutofit/>
          </a:bodyPr>
          <a:lstStyle/>
          <a:p>
            <a:pPr marL="0" indent="0" algn="ctr">
              <a:buNone/>
            </a:pPr>
            <a:r>
              <a:rPr lang="en-US" sz="860" b="1" dirty="0">
                <a:solidFill>
                  <a:srgbClr val="20242A"/>
                </a:solidFill>
                <a:latin typeface="Yu Gothic" pitchFamily="34" charset="0"/>
                <a:ea typeface="Yu Gothic" pitchFamily="34" charset="-122"/>
                <a:cs typeface="Yu Gothic" pitchFamily="34" charset="-120"/>
              </a:rPr>
              <a:t>89.28</a:t>
            </a:r>
            <a:endParaRPr lang="en-US" sz="860" dirty="0"/>
          </a:p>
        </p:txBody>
      </p:sp>
      <p:sp>
        <p:nvSpPr>
          <p:cNvPr id="129" name="Shape 127"/>
          <p:cNvSpPr/>
          <p:nvPr/>
        </p:nvSpPr>
        <p:spPr>
          <a:xfrm>
            <a:off x="7685349" y="3148149"/>
            <a:ext cx="983163" cy="372291"/>
          </a:xfrm>
          <a:prstGeom prst="rect">
            <a:avLst/>
          </a:prstGeom>
          <a:solidFill>
            <a:srgbClr val="F5F7FA"/>
          </a:solidFill>
          <a:ln w="12700">
            <a:solidFill>
              <a:srgbClr val="D5DCE3"/>
            </a:solidFill>
            <a:prstDash val="solid"/>
          </a:ln>
        </p:spPr>
      </p:sp>
      <p:sp>
        <p:nvSpPr>
          <p:cNvPr id="130" name="Text 128"/>
          <p:cNvSpPr/>
          <p:nvPr/>
        </p:nvSpPr>
        <p:spPr>
          <a:xfrm>
            <a:off x="7712781" y="3166437"/>
            <a:ext cx="928299" cy="335715"/>
          </a:xfrm>
          <a:prstGeom prst="rect">
            <a:avLst/>
          </a:prstGeom>
          <a:noFill/>
          <a:ln/>
        </p:spPr>
        <p:txBody>
          <a:bodyPr wrap="square" lIns="0" tIns="0" rIns="0" bIns="0" rtlCol="0" anchor="ctr">
            <a:normAutofit/>
          </a:bodyPr>
          <a:lstStyle/>
          <a:p>
            <a:pPr marL="0" indent="0" algn="ctr">
              <a:buNone/>
            </a:pPr>
            <a:r>
              <a:rPr lang="en-US" sz="860" b="1" dirty="0">
                <a:solidFill>
                  <a:srgbClr val="20242A"/>
                </a:solidFill>
                <a:latin typeface="Yu Gothic" pitchFamily="34" charset="0"/>
                <a:ea typeface="Yu Gothic" pitchFamily="34" charset="-122"/>
                <a:cs typeface="Yu Gothic" pitchFamily="34" charset="-120"/>
              </a:rPr>
              <a:t>83.99</a:t>
            </a:r>
            <a:endParaRPr lang="en-US" sz="860" dirty="0"/>
          </a:p>
        </p:txBody>
      </p:sp>
      <p:sp>
        <p:nvSpPr>
          <p:cNvPr id="131" name="Shape 129"/>
          <p:cNvSpPr/>
          <p:nvPr/>
        </p:nvSpPr>
        <p:spPr>
          <a:xfrm>
            <a:off x="749808" y="3657600"/>
            <a:ext cx="1901952" cy="713232"/>
          </a:xfrm>
          <a:prstGeom prst="roundRect">
            <a:avLst>
              <a:gd name="adj" fmla="val 6410"/>
            </a:avLst>
          </a:prstGeom>
          <a:solidFill>
            <a:srgbClr val="FFFFFF"/>
          </a:solidFill>
          <a:ln w="12700">
            <a:solidFill>
              <a:srgbClr val="D5DCE3"/>
            </a:solidFill>
            <a:prstDash val="solid"/>
          </a:ln>
          <a:effectLst>
            <a:outerShdw blurRad="25400" dist="50800" dir="2700000" algn="bl" rotWithShape="0">
              <a:srgbClr val="000000">
                <a:alpha val="11000"/>
              </a:srgbClr>
            </a:outerShdw>
          </a:effectLst>
        </p:spPr>
      </p:sp>
      <p:sp>
        <p:nvSpPr>
          <p:cNvPr id="132" name="Text 130"/>
          <p:cNvSpPr/>
          <p:nvPr/>
        </p:nvSpPr>
        <p:spPr>
          <a:xfrm>
            <a:off x="822960" y="3767328"/>
            <a:ext cx="1755648" cy="502920"/>
          </a:xfrm>
          <a:prstGeom prst="rect">
            <a:avLst/>
          </a:prstGeom>
          <a:noFill/>
          <a:ln/>
        </p:spPr>
        <p:txBody>
          <a:bodyPr wrap="square" lIns="0" tIns="0" rIns="0" bIns="0" rtlCol="0" anchor="ctr">
            <a:normAutofit/>
          </a:bodyPr>
          <a:lstStyle/>
          <a:p>
            <a:pPr marL="0" indent="0" algn="ctr">
              <a:buNone/>
            </a:pPr>
            <a:r>
              <a:rPr lang="en-US" sz="3100" b="1" dirty="0">
                <a:solidFill>
                  <a:srgbClr val="2A9D8F"/>
                </a:solidFill>
                <a:latin typeface="Yu Gothic" pitchFamily="34" charset="0"/>
                <a:ea typeface="Yu Gothic" pitchFamily="34" charset="-122"/>
                <a:cs typeface="Yu Gothic" pitchFamily="34" charset="-120"/>
              </a:rPr>
              <a:t>83.92</a:t>
            </a:r>
            <a:endParaRPr lang="en-US" sz="3100" dirty="0"/>
          </a:p>
        </p:txBody>
      </p:sp>
      <p:sp>
        <p:nvSpPr>
          <p:cNvPr id="133" name="Text 131"/>
          <p:cNvSpPr/>
          <p:nvPr/>
        </p:nvSpPr>
        <p:spPr>
          <a:xfrm>
            <a:off x="841248" y="4315968"/>
            <a:ext cx="1719072" cy="0"/>
          </a:xfrm>
          <a:prstGeom prst="rect">
            <a:avLst/>
          </a:prstGeom>
          <a:noFill/>
          <a:ln/>
        </p:spPr>
        <p:txBody>
          <a:bodyPr wrap="square" lIns="0" tIns="0" rIns="0" bIns="0" rtlCol="0" anchor="t">
            <a:normAutofit/>
          </a:bodyPr>
          <a:lstStyle/>
          <a:p>
            <a:pPr marL="0" indent="0" algn="ctr">
              <a:buNone/>
            </a:pPr>
            <a:r>
              <a:rPr lang="en-US" sz="1250" dirty="0">
                <a:solidFill>
                  <a:srgbClr val="4D5966"/>
                </a:solidFill>
                <a:latin typeface="Yu Gothic" pitchFamily="34" charset="0"/>
                <a:ea typeface="Yu Gothic" pitchFamily="34" charset="-122"/>
                <a:cs typeface="Yu Gothic" pitchFamily="34" charset="-120"/>
              </a:rPr>
              <a:t>best mIoU</a:t>
            </a:r>
            <a:endParaRPr lang="en-US" sz="1250" dirty="0"/>
          </a:p>
          <a:p>
            <a:pPr marL="0" indent="0" algn="ctr">
              <a:buNone/>
            </a:pPr>
            <a:r>
              <a:rPr lang="en-US" sz="1250" dirty="0">
                <a:solidFill>
                  <a:srgbClr val="4D5966"/>
                </a:solidFill>
                <a:latin typeface="Yu Gothic" pitchFamily="34" charset="0"/>
                <a:ea typeface="Yu Gothic" pitchFamily="34" charset="-122"/>
                <a:cs typeface="Yu Gothic" pitchFamily="34" charset="-120"/>
              </a:rPr>
              <a:t>Cylinder3D + return</a:t>
            </a:r>
            <a:endParaRPr lang="en-US" sz="1250" dirty="0"/>
          </a:p>
        </p:txBody>
      </p:sp>
      <p:sp>
        <p:nvSpPr>
          <p:cNvPr id="134" name="Shape 132"/>
          <p:cNvSpPr/>
          <p:nvPr/>
        </p:nvSpPr>
        <p:spPr>
          <a:xfrm>
            <a:off x="2926080" y="3639312"/>
            <a:ext cx="2514600" cy="749808"/>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135" name="Shape 133"/>
          <p:cNvSpPr/>
          <p:nvPr/>
        </p:nvSpPr>
        <p:spPr>
          <a:xfrm>
            <a:off x="2926080" y="3639312"/>
            <a:ext cx="50292" cy="749808"/>
          </a:xfrm>
          <a:prstGeom prst="rect">
            <a:avLst/>
          </a:prstGeom>
          <a:solidFill>
            <a:srgbClr val="2E75B6"/>
          </a:solidFill>
          <a:ln w="12700">
            <a:solidFill>
              <a:srgbClr val="2E75B6"/>
            </a:solidFill>
            <a:prstDash val="solid"/>
          </a:ln>
        </p:spPr>
      </p:sp>
      <p:sp>
        <p:nvSpPr>
          <p:cNvPr id="136" name="Text 134"/>
          <p:cNvSpPr/>
          <p:nvPr/>
        </p:nvSpPr>
        <p:spPr>
          <a:xfrm>
            <a:off x="3090672" y="3712464"/>
            <a:ext cx="2240280" cy="310896"/>
          </a:xfrm>
          <a:prstGeom prst="rect">
            <a:avLst/>
          </a:prstGeom>
          <a:noFill/>
          <a:ln/>
        </p:spPr>
        <p:txBody>
          <a:bodyPr wrap="square" lIns="0" tIns="0" rIns="0" bIns="0" rtlCol="0" anchor="t">
            <a:normAutofit/>
          </a:bodyPr>
          <a:lstStyle/>
          <a:p>
            <a:pPr marL="0" indent="0">
              <a:buNone/>
            </a:pPr>
            <a:r>
              <a:rPr lang="en-US" sz="1300" b="1" dirty="0">
                <a:solidFill>
                  <a:srgbClr val="17365D"/>
                </a:solidFill>
                <a:latin typeface="Yu Gothic" pitchFamily="34" charset="0"/>
                <a:ea typeface="Yu Gothic" pitchFamily="34" charset="-122"/>
                <a:cs typeface="Yu Gothic" pitchFamily="34" charset="-120"/>
              </a:rPr>
              <a:t>Normalは容易</a:t>
            </a:r>
            <a:endParaRPr lang="en-US" sz="1300" dirty="0"/>
          </a:p>
        </p:txBody>
      </p:sp>
      <p:sp>
        <p:nvSpPr>
          <p:cNvPr id="137" name="Text 135"/>
          <p:cNvSpPr/>
          <p:nvPr/>
        </p:nvSpPr>
        <p:spPr>
          <a:xfrm>
            <a:off x="3090672" y="3986784"/>
            <a:ext cx="2240280" cy="310896"/>
          </a:xfrm>
          <a:prstGeom prst="rect">
            <a:avLst/>
          </a:prstGeom>
          <a:noFill/>
          <a:ln/>
        </p:spPr>
        <p:txBody>
          <a:bodyPr wrap="square" lIns="12700" tIns="0" rIns="0" bIns="25400" rtlCol="0" anchor="t">
            <a:normAutofit/>
          </a:bodyPr>
          <a:lstStyle/>
          <a:p>
            <a:pPr marL="0" indent="0">
              <a:buNone/>
            </a:pPr>
            <a:r>
              <a:rPr lang="en-US" sz="1070" dirty="0">
                <a:solidFill>
                  <a:srgbClr val="4D5966"/>
                </a:solidFill>
                <a:latin typeface="Yu Gothic" pitchFamily="34" charset="0"/>
                <a:ea typeface="Yu Gothic" pitchFamily="34" charset="-122"/>
                <a:cs typeface="Yu Gothic" pitchFamily="34" charset="-120"/>
              </a:rPr>
              <a:t>全手法で96.5%以上。class imbalanceの影響も考慮。</a:t>
            </a:r>
            <a:endParaRPr lang="en-US" sz="1070" dirty="0"/>
          </a:p>
        </p:txBody>
      </p:sp>
      <p:sp>
        <p:nvSpPr>
          <p:cNvPr id="138" name="Shape 136"/>
          <p:cNvSpPr/>
          <p:nvPr/>
        </p:nvSpPr>
        <p:spPr>
          <a:xfrm>
            <a:off x="5715000" y="3639312"/>
            <a:ext cx="2514600" cy="749808"/>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139" name="Shape 137"/>
          <p:cNvSpPr/>
          <p:nvPr/>
        </p:nvSpPr>
        <p:spPr>
          <a:xfrm>
            <a:off x="5715000" y="3639312"/>
            <a:ext cx="50292" cy="749808"/>
          </a:xfrm>
          <a:prstGeom prst="rect">
            <a:avLst/>
          </a:prstGeom>
          <a:solidFill>
            <a:srgbClr val="ED7D31"/>
          </a:solidFill>
          <a:ln w="12700">
            <a:solidFill>
              <a:srgbClr val="ED7D31"/>
            </a:solidFill>
            <a:prstDash val="solid"/>
          </a:ln>
        </p:spPr>
      </p:sp>
      <p:sp>
        <p:nvSpPr>
          <p:cNvPr id="140" name="Text 138"/>
          <p:cNvSpPr/>
          <p:nvPr/>
        </p:nvSpPr>
        <p:spPr>
          <a:xfrm>
            <a:off x="5879592" y="3712464"/>
            <a:ext cx="2240280" cy="310896"/>
          </a:xfrm>
          <a:prstGeom prst="rect">
            <a:avLst/>
          </a:prstGeom>
          <a:noFill/>
          <a:ln/>
        </p:spPr>
        <p:txBody>
          <a:bodyPr wrap="square" lIns="0" tIns="0" rIns="0" bIns="0" rtlCol="0" anchor="t">
            <a:normAutofit/>
          </a:bodyPr>
          <a:lstStyle/>
          <a:p>
            <a:pPr marL="0" indent="0">
              <a:buNone/>
            </a:pPr>
            <a:r>
              <a:rPr lang="en-US" sz="1300" b="1" dirty="0">
                <a:solidFill>
                  <a:srgbClr val="17365D"/>
                </a:solidFill>
                <a:latin typeface="Yu Gothic" pitchFamily="34" charset="0"/>
                <a:ea typeface="Yu Gothic" pitchFamily="34" charset="-122"/>
                <a:cs typeface="Yu Gothic" pitchFamily="34" charset="-120"/>
              </a:rPr>
              <a:t>Glassが難しい</a:t>
            </a:r>
            <a:endParaRPr lang="en-US" sz="1300" dirty="0"/>
          </a:p>
        </p:txBody>
      </p:sp>
      <p:sp>
        <p:nvSpPr>
          <p:cNvPr id="141" name="Text 139"/>
          <p:cNvSpPr/>
          <p:nvPr/>
        </p:nvSpPr>
        <p:spPr>
          <a:xfrm>
            <a:off x="5879592" y="3986784"/>
            <a:ext cx="2240280" cy="310896"/>
          </a:xfrm>
          <a:prstGeom prst="rect">
            <a:avLst/>
          </a:prstGeom>
          <a:noFill/>
          <a:ln/>
        </p:spPr>
        <p:txBody>
          <a:bodyPr wrap="square" lIns="12700" tIns="0" rIns="0" bIns="25400" rtlCol="0" anchor="t">
            <a:normAutofit/>
          </a:bodyPr>
          <a:lstStyle/>
          <a:p>
            <a:pPr marL="0" indent="0">
              <a:buNone/>
            </a:pPr>
            <a:r>
              <a:rPr lang="en-US" sz="1070" dirty="0">
                <a:solidFill>
                  <a:srgbClr val="4D5966"/>
                </a:solidFill>
                <a:latin typeface="Yu Gothic" pitchFamily="34" charset="0"/>
                <a:ea typeface="Yu Gothic" pitchFamily="34" charset="-122"/>
                <a:cs typeface="Yu Gothic" pitchFamily="34" charset="-120"/>
              </a:rPr>
              <a:t>全体評価では約69–70 IoUで頭打ち。</a:t>
            </a:r>
            <a:endParaRPr lang="en-US" sz="1070" dirty="0"/>
          </a:p>
        </p:txBody>
      </p:sp>
      <p:sp>
        <p:nvSpPr>
          <p:cNvPr id="142" name="Text 140"/>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5 (All sensors)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return番号のmIoU改善は+0.20〜+0.57 pointで、クラス別には負の効果もある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Return ablation</a:t>
            </a:r>
            <a:endParaRPr lang="en-US" sz="950" dirty="0"/>
          </a:p>
        </p:txBody>
      </p:sp>
      <p:graphicFrame>
        <p:nvGraphicFramePr>
          <p:cNvPr id="5" name="Chart 0"/>
          <p:cNvGraphicFramePr/>
          <p:nvPr/>
        </p:nvGraphicFramePr>
        <p:xfrm>
          <a:off x="658368" y="987552"/>
          <a:ext cx="4736592" cy="267004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669280" y="1033272"/>
            <a:ext cx="2633472" cy="1234440"/>
          </a:xfrm>
          <a:prstGeom prst="roundRect">
            <a:avLst>
              <a:gd name="adj" fmla="val 3704"/>
            </a:avLst>
          </a:prstGeom>
          <a:solidFill>
            <a:srgbClr val="FFFFFF"/>
          </a:solidFill>
          <a:ln w="12700">
            <a:solidFill>
              <a:srgbClr val="D5DCE3"/>
            </a:solidFill>
            <a:prstDash val="solid"/>
          </a:ln>
          <a:effectLst>
            <a:outerShdw blurRad="25400" dist="50800" dir="2700000" algn="bl" rotWithShape="0">
              <a:srgbClr val="000000">
                <a:alpha val="11000"/>
              </a:srgbClr>
            </a:outerShdw>
          </a:effectLst>
        </p:spPr>
      </p:sp>
      <p:sp>
        <p:nvSpPr>
          <p:cNvPr id="7" name="Text 4"/>
          <p:cNvSpPr/>
          <p:nvPr/>
        </p:nvSpPr>
        <p:spPr>
          <a:xfrm>
            <a:off x="5742432" y="1143000"/>
            <a:ext cx="2487168" cy="502920"/>
          </a:xfrm>
          <a:prstGeom prst="rect">
            <a:avLst/>
          </a:prstGeom>
          <a:noFill/>
          <a:ln/>
        </p:spPr>
        <p:txBody>
          <a:bodyPr wrap="square" lIns="0" tIns="0" rIns="0" bIns="0" rtlCol="0" anchor="ctr">
            <a:normAutofit/>
          </a:bodyPr>
          <a:lstStyle/>
          <a:p>
            <a:pPr marL="0" indent="0" algn="ctr">
              <a:buNone/>
            </a:pPr>
            <a:r>
              <a:rPr lang="en-US" sz="3100" b="1" dirty="0">
                <a:solidFill>
                  <a:srgbClr val="2A9D8F"/>
                </a:solidFill>
                <a:latin typeface="Yu Gothic" pitchFamily="34" charset="0"/>
                <a:ea typeface="Yu Gothic" pitchFamily="34" charset="-122"/>
                <a:cs typeface="Yu Gothic" pitchFamily="34" charset="-120"/>
              </a:rPr>
              <a:t>+0.35</a:t>
            </a:r>
            <a:endParaRPr lang="en-US" sz="3100" dirty="0"/>
          </a:p>
        </p:txBody>
      </p:sp>
      <p:sp>
        <p:nvSpPr>
          <p:cNvPr id="8" name="Text 5"/>
          <p:cNvSpPr/>
          <p:nvPr/>
        </p:nvSpPr>
        <p:spPr>
          <a:xfrm>
            <a:off x="5760720" y="1691640"/>
            <a:ext cx="2450592" cy="502920"/>
          </a:xfrm>
          <a:prstGeom prst="rect">
            <a:avLst/>
          </a:prstGeom>
          <a:noFill/>
          <a:ln/>
        </p:spPr>
        <p:txBody>
          <a:bodyPr wrap="square" lIns="0" tIns="0" rIns="0" bIns="0" rtlCol="0" anchor="t">
            <a:normAutofit/>
          </a:bodyPr>
          <a:lstStyle/>
          <a:p>
            <a:pPr marL="0" indent="0" algn="ctr">
              <a:buNone/>
            </a:pPr>
            <a:r>
              <a:rPr lang="en-US" sz="1250" dirty="0">
                <a:solidFill>
                  <a:srgbClr val="4D5966"/>
                </a:solidFill>
                <a:latin typeface="Yu Gothic" pitchFamily="34" charset="0"/>
                <a:ea typeface="Yu Gothic" pitchFamily="34" charset="-122"/>
                <a:cs typeface="Yu Gothic" pitchFamily="34" charset="-120"/>
              </a:rPr>
              <a:t>table-derived mean</a:t>
            </a:r>
            <a:endParaRPr lang="en-US" sz="1250" dirty="0"/>
          </a:p>
          <a:p>
            <a:pPr marL="0" indent="0" algn="ctr">
              <a:buNone/>
            </a:pPr>
            <a:r>
              <a:rPr lang="en-US" sz="1250" dirty="0">
                <a:solidFill>
                  <a:srgbClr val="4D5966"/>
                </a:solidFill>
                <a:latin typeface="Yu Gothic" pitchFamily="34" charset="0"/>
                <a:ea typeface="Yu Gothic" pitchFamily="34" charset="-122"/>
                <a:cs typeface="Yu Gothic" pitchFamily="34" charset="-120"/>
              </a:rPr>
              <a:t>percentage points</a:t>
            </a:r>
            <a:endParaRPr lang="en-US" sz="1250" dirty="0"/>
          </a:p>
        </p:txBody>
      </p:sp>
      <p:sp>
        <p:nvSpPr>
          <p:cNvPr id="9" name="Shape 6"/>
          <p:cNvSpPr/>
          <p:nvPr/>
        </p:nvSpPr>
        <p:spPr>
          <a:xfrm>
            <a:off x="5669280" y="2496312"/>
            <a:ext cx="2633472" cy="1078992"/>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10" name="Shape 7"/>
          <p:cNvSpPr/>
          <p:nvPr/>
        </p:nvSpPr>
        <p:spPr>
          <a:xfrm>
            <a:off x="5669280" y="2496312"/>
            <a:ext cx="50292" cy="1078992"/>
          </a:xfrm>
          <a:prstGeom prst="rect">
            <a:avLst/>
          </a:prstGeom>
          <a:solidFill>
            <a:srgbClr val="ED7D31"/>
          </a:solidFill>
          <a:ln w="12700">
            <a:solidFill>
              <a:srgbClr val="ED7D31"/>
            </a:solidFill>
            <a:prstDash val="solid"/>
          </a:ln>
        </p:spPr>
      </p:sp>
      <p:sp>
        <p:nvSpPr>
          <p:cNvPr id="11" name="Text 8"/>
          <p:cNvSpPr/>
          <p:nvPr/>
        </p:nvSpPr>
        <p:spPr>
          <a:xfrm>
            <a:off x="5833872" y="2569464"/>
            <a:ext cx="235915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非一様な効果</a:t>
            </a:r>
            <a:endParaRPr lang="en-US" sz="1600" dirty="0"/>
          </a:p>
        </p:txBody>
      </p:sp>
      <p:sp>
        <p:nvSpPr>
          <p:cNvPr id="12" name="Text 9"/>
          <p:cNvSpPr/>
          <p:nvPr/>
        </p:nvSpPr>
        <p:spPr>
          <a:xfrm>
            <a:off x="5833872" y="2916936"/>
            <a:ext cx="2359152" cy="566928"/>
          </a:xfrm>
          <a:prstGeom prst="rect">
            <a:avLst/>
          </a:prstGeom>
          <a:noFill/>
          <a:ln/>
        </p:spPr>
        <p:txBody>
          <a:bodyPr wrap="square" lIns="12700" tIns="0" rIns="0" bIns="25400" rtlCol="0" anchor="t">
            <a:normAutofit/>
          </a:bodyPr>
          <a:lstStyle/>
          <a:p>
            <a:pPr marL="0" indent="0">
              <a:buNone/>
            </a:pPr>
            <a:r>
              <a:rPr lang="en-US" sz="1280" dirty="0">
                <a:solidFill>
                  <a:srgbClr val="4D5966"/>
                </a:solidFill>
                <a:latin typeface="Yu Gothic" pitchFamily="34" charset="0"/>
                <a:ea typeface="Yu Gothic" pitchFamily="34" charset="-122"/>
                <a:cs typeface="Yu Gothic" pitchFamily="34" charset="-120"/>
              </a:rPr>
              <a:t>Minkowski mirror −2.13、SPVCNN glass/obstacleも低下。</a:t>
            </a:r>
            <a:endParaRPr lang="en-US" sz="1280" dirty="0"/>
          </a:p>
        </p:txBody>
      </p:sp>
      <p:sp>
        <p:nvSpPr>
          <p:cNvPr id="13" name="Shape 10"/>
          <p:cNvSpPr/>
          <p:nvPr/>
        </p:nvSpPr>
        <p:spPr>
          <a:xfrm>
            <a:off x="566928" y="4096512"/>
            <a:ext cx="8010144" cy="347472"/>
          </a:xfrm>
          <a:prstGeom prst="rect">
            <a:avLst/>
          </a:prstGeom>
          <a:solidFill>
            <a:srgbClr val="F8FAFB"/>
          </a:solidFill>
          <a:ln w="12700">
            <a:solidFill>
              <a:srgbClr val="ED7D31"/>
            </a:solidFill>
            <a:prstDash val="solid"/>
          </a:ln>
        </p:spPr>
      </p:sp>
      <p:sp>
        <p:nvSpPr>
          <p:cNvPr id="14" name="Shape 11"/>
          <p:cNvSpPr/>
          <p:nvPr/>
        </p:nvSpPr>
        <p:spPr>
          <a:xfrm>
            <a:off x="566928" y="4096512"/>
            <a:ext cx="64008" cy="347472"/>
          </a:xfrm>
          <a:prstGeom prst="rect">
            <a:avLst/>
          </a:prstGeom>
          <a:solidFill>
            <a:srgbClr val="ED7D31"/>
          </a:solidFill>
          <a:ln w="12700">
            <a:solidFill>
              <a:srgbClr val="ED7D31"/>
            </a:solidFill>
            <a:prstDash val="solid"/>
          </a:ln>
        </p:spPr>
      </p:sp>
      <p:sp>
        <p:nvSpPr>
          <p:cNvPr id="15" name="Text 12"/>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本文の“0.5% across methods”は概括表現。Table 5の単純平均は+0.353 point。</a:t>
            </a:r>
            <a:endParaRPr lang="en-US" sz="1450" dirty="0"/>
          </a:p>
        </p:txBody>
      </p:sp>
      <p:sp>
        <p:nvSpPr>
          <p:cNvPr id="16" name="Text 13"/>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5; Sec. 4.1（差分は表から計算）</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同じCylinder3Dでもsensor別mIoUは79.71〜85.96と差がある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Sensor-wise results</a:t>
            </a:r>
            <a:endParaRPr lang="en-US" sz="950" dirty="0"/>
          </a:p>
        </p:txBody>
      </p:sp>
      <p:sp>
        <p:nvSpPr>
          <p:cNvPr id="5" name="Shape 3"/>
          <p:cNvSpPr/>
          <p:nvPr/>
        </p:nvSpPr>
        <p:spPr>
          <a:xfrm>
            <a:off x="658368" y="987552"/>
            <a:ext cx="1252362" cy="393192"/>
          </a:xfrm>
          <a:prstGeom prst="rect">
            <a:avLst/>
          </a:prstGeom>
          <a:solidFill>
            <a:srgbClr val="17365D"/>
          </a:solidFill>
          <a:ln w="12700">
            <a:solidFill>
              <a:srgbClr val="FFFFFF"/>
            </a:solidFill>
            <a:prstDash val="solid"/>
          </a:ln>
        </p:spPr>
      </p:sp>
      <p:sp>
        <p:nvSpPr>
          <p:cNvPr id="6" name="Text 4"/>
          <p:cNvSpPr/>
          <p:nvPr/>
        </p:nvSpPr>
        <p:spPr>
          <a:xfrm>
            <a:off x="685800" y="1005840"/>
            <a:ext cx="1197498"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Sensor</a:t>
            </a:r>
            <a:endParaRPr lang="en-US" sz="1150" dirty="0"/>
          </a:p>
        </p:txBody>
      </p:sp>
      <p:sp>
        <p:nvSpPr>
          <p:cNvPr id="7" name="Shape 5"/>
          <p:cNvSpPr/>
          <p:nvPr/>
        </p:nvSpPr>
        <p:spPr>
          <a:xfrm>
            <a:off x="1910730" y="987552"/>
            <a:ext cx="860999" cy="393192"/>
          </a:xfrm>
          <a:prstGeom prst="rect">
            <a:avLst/>
          </a:prstGeom>
          <a:solidFill>
            <a:srgbClr val="17365D"/>
          </a:solidFill>
          <a:ln w="12700">
            <a:solidFill>
              <a:srgbClr val="FFFFFF"/>
            </a:solidFill>
            <a:prstDash val="solid"/>
          </a:ln>
        </p:spPr>
      </p:sp>
      <p:sp>
        <p:nvSpPr>
          <p:cNvPr id="8" name="Text 6"/>
          <p:cNvSpPr/>
          <p:nvPr/>
        </p:nvSpPr>
        <p:spPr>
          <a:xfrm>
            <a:off x="1938162" y="1005840"/>
            <a:ext cx="806135"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mIoU</a:t>
            </a:r>
            <a:endParaRPr lang="en-US" sz="1150" dirty="0"/>
          </a:p>
        </p:txBody>
      </p:sp>
      <p:sp>
        <p:nvSpPr>
          <p:cNvPr id="9" name="Shape 7"/>
          <p:cNvSpPr/>
          <p:nvPr/>
        </p:nvSpPr>
        <p:spPr>
          <a:xfrm>
            <a:off x="2771729" y="987552"/>
            <a:ext cx="939272" cy="393192"/>
          </a:xfrm>
          <a:prstGeom prst="rect">
            <a:avLst/>
          </a:prstGeom>
          <a:solidFill>
            <a:srgbClr val="17365D"/>
          </a:solidFill>
          <a:ln w="12700">
            <a:solidFill>
              <a:srgbClr val="FFFFFF"/>
            </a:solidFill>
            <a:prstDash val="solid"/>
          </a:ln>
        </p:spPr>
      </p:sp>
      <p:sp>
        <p:nvSpPr>
          <p:cNvPr id="10" name="Text 8"/>
          <p:cNvSpPr/>
          <p:nvPr/>
        </p:nvSpPr>
        <p:spPr>
          <a:xfrm>
            <a:off x="2799161" y="1005840"/>
            <a:ext cx="884408"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Normal</a:t>
            </a:r>
            <a:endParaRPr lang="en-US" sz="1150" dirty="0"/>
          </a:p>
        </p:txBody>
      </p:sp>
      <p:sp>
        <p:nvSpPr>
          <p:cNvPr id="11" name="Shape 9"/>
          <p:cNvSpPr/>
          <p:nvPr/>
        </p:nvSpPr>
        <p:spPr>
          <a:xfrm>
            <a:off x="3711001" y="987552"/>
            <a:ext cx="939272" cy="393192"/>
          </a:xfrm>
          <a:prstGeom prst="rect">
            <a:avLst/>
          </a:prstGeom>
          <a:solidFill>
            <a:srgbClr val="17365D"/>
          </a:solidFill>
          <a:ln w="12700">
            <a:solidFill>
              <a:srgbClr val="FFFFFF"/>
            </a:solidFill>
            <a:prstDash val="solid"/>
          </a:ln>
        </p:spPr>
      </p:sp>
      <p:sp>
        <p:nvSpPr>
          <p:cNvPr id="12" name="Text 10"/>
          <p:cNvSpPr/>
          <p:nvPr/>
        </p:nvSpPr>
        <p:spPr>
          <a:xfrm>
            <a:off x="3738433" y="1005840"/>
            <a:ext cx="884408"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Glass</a:t>
            </a:r>
            <a:endParaRPr lang="en-US" sz="1150" dirty="0"/>
          </a:p>
        </p:txBody>
      </p:sp>
      <p:sp>
        <p:nvSpPr>
          <p:cNvPr id="13" name="Shape 11"/>
          <p:cNvSpPr/>
          <p:nvPr/>
        </p:nvSpPr>
        <p:spPr>
          <a:xfrm>
            <a:off x="4650273" y="987552"/>
            <a:ext cx="939272" cy="393192"/>
          </a:xfrm>
          <a:prstGeom prst="rect">
            <a:avLst/>
          </a:prstGeom>
          <a:solidFill>
            <a:srgbClr val="17365D"/>
          </a:solidFill>
          <a:ln w="12700">
            <a:solidFill>
              <a:srgbClr val="FFFFFF"/>
            </a:solidFill>
            <a:prstDash val="solid"/>
          </a:ln>
        </p:spPr>
      </p:sp>
      <p:sp>
        <p:nvSpPr>
          <p:cNvPr id="14" name="Text 12"/>
          <p:cNvSpPr/>
          <p:nvPr/>
        </p:nvSpPr>
        <p:spPr>
          <a:xfrm>
            <a:off x="4677705" y="1005840"/>
            <a:ext cx="884408"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Mirror</a:t>
            </a:r>
            <a:endParaRPr lang="en-US" sz="1150" dirty="0"/>
          </a:p>
        </p:txBody>
      </p:sp>
      <p:sp>
        <p:nvSpPr>
          <p:cNvPr id="15" name="Shape 13"/>
          <p:cNvSpPr/>
          <p:nvPr/>
        </p:nvSpPr>
        <p:spPr>
          <a:xfrm>
            <a:off x="5589544" y="987552"/>
            <a:ext cx="939272" cy="393192"/>
          </a:xfrm>
          <a:prstGeom prst="rect">
            <a:avLst/>
          </a:prstGeom>
          <a:solidFill>
            <a:srgbClr val="17365D"/>
          </a:solidFill>
          <a:ln w="12700">
            <a:solidFill>
              <a:srgbClr val="FFFFFF"/>
            </a:solidFill>
            <a:prstDash val="solid"/>
          </a:ln>
        </p:spPr>
      </p:sp>
      <p:sp>
        <p:nvSpPr>
          <p:cNvPr id="16" name="Text 14"/>
          <p:cNvSpPr/>
          <p:nvPr/>
        </p:nvSpPr>
        <p:spPr>
          <a:xfrm>
            <a:off x="5616976" y="1005840"/>
            <a:ext cx="884408"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Other</a:t>
            </a:r>
            <a:endParaRPr lang="en-US" sz="1150" dirty="0"/>
          </a:p>
        </p:txBody>
      </p:sp>
      <p:sp>
        <p:nvSpPr>
          <p:cNvPr id="17" name="Shape 15"/>
          <p:cNvSpPr/>
          <p:nvPr/>
        </p:nvSpPr>
        <p:spPr>
          <a:xfrm>
            <a:off x="6528816" y="987552"/>
            <a:ext cx="1017544" cy="393192"/>
          </a:xfrm>
          <a:prstGeom prst="rect">
            <a:avLst/>
          </a:prstGeom>
          <a:solidFill>
            <a:srgbClr val="17365D"/>
          </a:solidFill>
          <a:ln w="12700">
            <a:solidFill>
              <a:srgbClr val="FFFFFF"/>
            </a:solidFill>
            <a:prstDash val="solid"/>
          </a:ln>
        </p:spPr>
      </p:sp>
      <p:sp>
        <p:nvSpPr>
          <p:cNvPr id="18" name="Text 16"/>
          <p:cNvSpPr/>
          <p:nvPr/>
        </p:nvSpPr>
        <p:spPr>
          <a:xfrm>
            <a:off x="6556248" y="1005840"/>
            <a:ext cx="962680"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Reflect.</a:t>
            </a:r>
            <a:endParaRPr lang="en-US" sz="1150" dirty="0"/>
          </a:p>
        </p:txBody>
      </p:sp>
      <p:sp>
        <p:nvSpPr>
          <p:cNvPr id="19" name="Shape 17"/>
          <p:cNvSpPr/>
          <p:nvPr/>
        </p:nvSpPr>
        <p:spPr>
          <a:xfrm>
            <a:off x="7546360" y="987552"/>
            <a:ext cx="939272" cy="393192"/>
          </a:xfrm>
          <a:prstGeom prst="rect">
            <a:avLst/>
          </a:prstGeom>
          <a:solidFill>
            <a:srgbClr val="17365D"/>
          </a:solidFill>
          <a:ln w="12700">
            <a:solidFill>
              <a:srgbClr val="FFFFFF"/>
            </a:solidFill>
            <a:prstDash val="solid"/>
          </a:ln>
        </p:spPr>
      </p:sp>
      <p:sp>
        <p:nvSpPr>
          <p:cNvPr id="20" name="Text 18"/>
          <p:cNvSpPr/>
          <p:nvPr/>
        </p:nvSpPr>
        <p:spPr>
          <a:xfrm>
            <a:off x="7573792" y="1005840"/>
            <a:ext cx="884408" cy="35661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Obstacle</a:t>
            </a:r>
            <a:endParaRPr lang="en-US" sz="1150" dirty="0"/>
          </a:p>
        </p:txBody>
      </p:sp>
      <p:sp>
        <p:nvSpPr>
          <p:cNvPr id="21" name="Shape 19"/>
          <p:cNvSpPr/>
          <p:nvPr/>
        </p:nvSpPr>
        <p:spPr>
          <a:xfrm>
            <a:off x="658368" y="1380744"/>
            <a:ext cx="1252362" cy="393192"/>
          </a:xfrm>
          <a:prstGeom prst="rect">
            <a:avLst/>
          </a:prstGeom>
          <a:solidFill>
            <a:srgbClr val="FFFFFF"/>
          </a:solidFill>
          <a:ln w="12700">
            <a:solidFill>
              <a:srgbClr val="D5DCE3"/>
            </a:solidFill>
            <a:prstDash val="solid"/>
          </a:ln>
        </p:spPr>
      </p:sp>
      <p:sp>
        <p:nvSpPr>
          <p:cNvPr id="22" name="Text 20"/>
          <p:cNvSpPr/>
          <p:nvPr/>
        </p:nvSpPr>
        <p:spPr>
          <a:xfrm>
            <a:off x="685800" y="1399032"/>
            <a:ext cx="1197498" cy="356616"/>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Ouster</a:t>
            </a:r>
            <a:endParaRPr lang="en-US" sz="1050" dirty="0"/>
          </a:p>
        </p:txBody>
      </p:sp>
      <p:sp>
        <p:nvSpPr>
          <p:cNvPr id="23" name="Shape 21"/>
          <p:cNvSpPr/>
          <p:nvPr/>
        </p:nvSpPr>
        <p:spPr>
          <a:xfrm>
            <a:off x="1910730" y="1380744"/>
            <a:ext cx="860999" cy="393192"/>
          </a:xfrm>
          <a:prstGeom prst="rect">
            <a:avLst/>
          </a:prstGeom>
          <a:solidFill>
            <a:srgbClr val="FFFFFF"/>
          </a:solidFill>
          <a:ln w="12700">
            <a:solidFill>
              <a:srgbClr val="D5DCE3"/>
            </a:solidFill>
            <a:prstDash val="solid"/>
          </a:ln>
        </p:spPr>
      </p:sp>
      <p:sp>
        <p:nvSpPr>
          <p:cNvPr id="24" name="Text 22"/>
          <p:cNvSpPr/>
          <p:nvPr/>
        </p:nvSpPr>
        <p:spPr>
          <a:xfrm>
            <a:off x="1938162" y="1399032"/>
            <a:ext cx="806135"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79.71</a:t>
            </a:r>
            <a:endParaRPr lang="en-US" sz="1050" dirty="0"/>
          </a:p>
        </p:txBody>
      </p:sp>
      <p:sp>
        <p:nvSpPr>
          <p:cNvPr id="25" name="Shape 23"/>
          <p:cNvSpPr/>
          <p:nvPr/>
        </p:nvSpPr>
        <p:spPr>
          <a:xfrm>
            <a:off x="2771729" y="1380744"/>
            <a:ext cx="939272" cy="393192"/>
          </a:xfrm>
          <a:prstGeom prst="rect">
            <a:avLst/>
          </a:prstGeom>
          <a:solidFill>
            <a:srgbClr val="FFFFFF"/>
          </a:solidFill>
          <a:ln w="12700">
            <a:solidFill>
              <a:srgbClr val="D5DCE3"/>
            </a:solidFill>
            <a:prstDash val="solid"/>
          </a:ln>
        </p:spPr>
      </p:sp>
      <p:sp>
        <p:nvSpPr>
          <p:cNvPr id="26" name="Text 24"/>
          <p:cNvSpPr/>
          <p:nvPr/>
        </p:nvSpPr>
        <p:spPr>
          <a:xfrm>
            <a:off x="2799161" y="1399032"/>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97.90</a:t>
            </a:r>
            <a:endParaRPr lang="en-US" sz="1050" dirty="0"/>
          </a:p>
        </p:txBody>
      </p:sp>
      <p:sp>
        <p:nvSpPr>
          <p:cNvPr id="27" name="Shape 25"/>
          <p:cNvSpPr/>
          <p:nvPr/>
        </p:nvSpPr>
        <p:spPr>
          <a:xfrm>
            <a:off x="3711001" y="1380744"/>
            <a:ext cx="939272" cy="393192"/>
          </a:xfrm>
          <a:prstGeom prst="rect">
            <a:avLst/>
          </a:prstGeom>
          <a:solidFill>
            <a:srgbClr val="FFFFFF"/>
          </a:solidFill>
          <a:ln w="12700">
            <a:solidFill>
              <a:srgbClr val="D5DCE3"/>
            </a:solidFill>
            <a:prstDash val="solid"/>
          </a:ln>
        </p:spPr>
      </p:sp>
      <p:sp>
        <p:nvSpPr>
          <p:cNvPr id="28" name="Text 26"/>
          <p:cNvSpPr/>
          <p:nvPr/>
        </p:nvSpPr>
        <p:spPr>
          <a:xfrm>
            <a:off x="3738433" y="1399032"/>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58.27</a:t>
            </a:r>
            <a:endParaRPr lang="en-US" sz="1050" dirty="0"/>
          </a:p>
        </p:txBody>
      </p:sp>
      <p:sp>
        <p:nvSpPr>
          <p:cNvPr id="29" name="Shape 27"/>
          <p:cNvSpPr/>
          <p:nvPr/>
        </p:nvSpPr>
        <p:spPr>
          <a:xfrm>
            <a:off x="4650273" y="1380744"/>
            <a:ext cx="939272" cy="393192"/>
          </a:xfrm>
          <a:prstGeom prst="rect">
            <a:avLst/>
          </a:prstGeom>
          <a:solidFill>
            <a:srgbClr val="FFFFFF"/>
          </a:solidFill>
          <a:ln w="12700">
            <a:solidFill>
              <a:srgbClr val="D5DCE3"/>
            </a:solidFill>
            <a:prstDash val="solid"/>
          </a:ln>
        </p:spPr>
      </p:sp>
      <p:sp>
        <p:nvSpPr>
          <p:cNvPr id="30" name="Text 28"/>
          <p:cNvSpPr/>
          <p:nvPr/>
        </p:nvSpPr>
        <p:spPr>
          <a:xfrm>
            <a:off x="4677705" y="1399032"/>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59.35</a:t>
            </a:r>
            <a:endParaRPr lang="en-US" sz="1050" dirty="0"/>
          </a:p>
        </p:txBody>
      </p:sp>
      <p:sp>
        <p:nvSpPr>
          <p:cNvPr id="31" name="Shape 29"/>
          <p:cNvSpPr/>
          <p:nvPr/>
        </p:nvSpPr>
        <p:spPr>
          <a:xfrm>
            <a:off x="5589544" y="1380744"/>
            <a:ext cx="939272" cy="393192"/>
          </a:xfrm>
          <a:prstGeom prst="rect">
            <a:avLst/>
          </a:prstGeom>
          <a:solidFill>
            <a:srgbClr val="FFFFFF"/>
          </a:solidFill>
          <a:ln w="12700">
            <a:solidFill>
              <a:srgbClr val="D5DCE3"/>
            </a:solidFill>
            <a:prstDash val="solid"/>
          </a:ln>
        </p:spPr>
      </p:sp>
      <p:sp>
        <p:nvSpPr>
          <p:cNvPr id="32" name="Text 30"/>
          <p:cNvSpPr/>
          <p:nvPr/>
        </p:nvSpPr>
        <p:spPr>
          <a:xfrm>
            <a:off x="5616976" y="1399032"/>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88.08</a:t>
            </a:r>
            <a:endParaRPr lang="en-US" sz="1050" dirty="0"/>
          </a:p>
        </p:txBody>
      </p:sp>
      <p:sp>
        <p:nvSpPr>
          <p:cNvPr id="33" name="Shape 31"/>
          <p:cNvSpPr/>
          <p:nvPr/>
        </p:nvSpPr>
        <p:spPr>
          <a:xfrm>
            <a:off x="6528816" y="1380744"/>
            <a:ext cx="1017544" cy="393192"/>
          </a:xfrm>
          <a:prstGeom prst="rect">
            <a:avLst/>
          </a:prstGeom>
          <a:solidFill>
            <a:srgbClr val="FFFFFF"/>
          </a:solidFill>
          <a:ln w="12700">
            <a:solidFill>
              <a:srgbClr val="D5DCE3"/>
            </a:solidFill>
            <a:prstDash val="solid"/>
          </a:ln>
        </p:spPr>
      </p:sp>
      <p:sp>
        <p:nvSpPr>
          <p:cNvPr id="34" name="Text 32"/>
          <p:cNvSpPr/>
          <p:nvPr/>
        </p:nvSpPr>
        <p:spPr>
          <a:xfrm>
            <a:off x="6556248" y="1399032"/>
            <a:ext cx="962680" cy="356616"/>
          </a:xfrm>
          <a:prstGeom prst="rect">
            <a:avLst/>
          </a:prstGeom>
          <a:noFill/>
          <a:ln/>
        </p:spPr>
        <p:txBody>
          <a:bodyPr wrap="square" lIns="0" tIns="0" rIns="0" bIns="0" rtlCol="0" anchor="ctr">
            <a:normAutofit/>
          </a:bodyPr>
          <a:lstStyle/>
          <a:p>
            <a:pPr marL="0" indent="0" algn="ctr">
              <a:buNone/>
            </a:pPr>
            <a:r>
              <a:rPr lang="en-US" sz="1050" b="1" dirty="0">
                <a:solidFill>
                  <a:srgbClr val="2E75B6"/>
                </a:solidFill>
                <a:latin typeface="Yu Gothic" pitchFamily="34" charset="0"/>
                <a:ea typeface="Yu Gothic" pitchFamily="34" charset="-122"/>
                <a:cs typeface="Yu Gothic" pitchFamily="34" charset="-120"/>
              </a:rPr>
              <a:t>90.51</a:t>
            </a:r>
            <a:endParaRPr lang="en-US" sz="1050" dirty="0"/>
          </a:p>
        </p:txBody>
      </p:sp>
      <p:sp>
        <p:nvSpPr>
          <p:cNvPr id="35" name="Shape 33"/>
          <p:cNvSpPr/>
          <p:nvPr/>
        </p:nvSpPr>
        <p:spPr>
          <a:xfrm>
            <a:off x="7546360" y="1380744"/>
            <a:ext cx="939272" cy="393192"/>
          </a:xfrm>
          <a:prstGeom prst="rect">
            <a:avLst/>
          </a:prstGeom>
          <a:solidFill>
            <a:srgbClr val="FFFFFF"/>
          </a:solidFill>
          <a:ln w="12700">
            <a:solidFill>
              <a:srgbClr val="D5DCE3"/>
            </a:solidFill>
            <a:prstDash val="solid"/>
          </a:ln>
        </p:spPr>
      </p:sp>
      <p:sp>
        <p:nvSpPr>
          <p:cNvPr id="36" name="Text 34"/>
          <p:cNvSpPr/>
          <p:nvPr/>
        </p:nvSpPr>
        <p:spPr>
          <a:xfrm>
            <a:off x="7573792" y="1399032"/>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84.18</a:t>
            </a:r>
            <a:endParaRPr lang="en-US" sz="1050" dirty="0"/>
          </a:p>
        </p:txBody>
      </p:sp>
      <p:sp>
        <p:nvSpPr>
          <p:cNvPr id="37" name="Shape 35"/>
          <p:cNvSpPr/>
          <p:nvPr/>
        </p:nvSpPr>
        <p:spPr>
          <a:xfrm>
            <a:off x="658368" y="1773936"/>
            <a:ext cx="1252362" cy="393192"/>
          </a:xfrm>
          <a:prstGeom prst="rect">
            <a:avLst/>
          </a:prstGeom>
          <a:solidFill>
            <a:srgbClr val="F5F7FA"/>
          </a:solidFill>
          <a:ln w="12700">
            <a:solidFill>
              <a:srgbClr val="D5DCE3"/>
            </a:solidFill>
            <a:prstDash val="solid"/>
          </a:ln>
        </p:spPr>
      </p:sp>
      <p:sp>
        <p:nvSpPr>
          <p:cNvPr id="38" name="Text 36"/>
          <p:cNvSpPr/>
          <p:nvPr/>
        </p:nvSpPr>
        <p:spPr>
          <a:xfrm>
            <a:off x="685800" y="1792224"/>
            <a:ext cx="1197498" cy="356616"/>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Hesai</a:t>
            </a:r>
            <a:endParaRPr lang="en-US" sz="1050" dirty="0"/>
          </a:p>
        </p:txBody>
      </p:sp>
      <p:sp>
        <p:nvSpPr>
          <p:cNvPr id="39" name="Shape 37"/>
          <p:cNvSpPr/>
          <p:nvPr/>
        </p:nvSpPr>
        <p:spPr>
          <a:xfrm>
            <a:off x="1910730" y="1773936"/>
            <a:ext cx="860999" cy="393192"/>
          </a:xfrm>
          <a:prstGeom prst="rect">
            <a:avLst/>
          </a:prstGeom>
          <a:solidFill>
            <a:srgbClr val="F5F7FA"/>
          </a:solidFill>
          <a:ln w="12700">
            <a:solidFill>
              <a:srgbClr val="D5DCE3"/>
            </a:solidFill>
            <a:prstDash val="solid"/>
          </a:ln>
        </p:spPr>
      </p:sp>
      <p:sp>
        <p:nvSpPr>
          <p:cNvPr id="40" name="Text 38"/>
          <p:cNvSpPr/>
          <p:nvPr/>
        </p:nvSpPr>
        <p:spPr>
          <a:xfrm>
            <a:off x="1938162" y="1792224"/>
            <a:ext cx="806135"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84.98</a:t>
            </a:r>
            <a:endParaRPr lang="en-US" sz="1050" dirty="0"/>
          </a:p>
        </p:txBody>
      </p:sp>
      <p:sp>
        <p:nvSpPr>
          <p:cNvPr id="41" name="Shape 39"/>
          <p:cNvSpPr/>
          <p:nvPr/>
        </p:nvSpPr>
        <p:spPr>
          <a:xfrm>
            <a:off x="2771729" y="1773936"/>
            <a:ext cx="939272" cy="393192"/>
          </a:xfrm>
          <a:prstGeom prst="rect">
            <a:avLst/>
          </a:prstGeom>
          <a:solidFill>
            <a:srgbClr val="F5F7FA"/>
          </a:solidFill>
          <a:ln w="12700">
            <a:solidFill>
              <a:srgbClr val="D5DCE3"/>
            </a:solidFill>
            <a:prstDash val="solid"/>
          </a:ln>
        </p:spPr>
      </p:sp>
      <p:sp>
        <p:nvSpPr>
          <p:cNvPr id="42" name="Text 40"/>
          <p:cNvSpPr/>
          <p:nvPr/>
        </p:nvSpPr>
        <p:spPr>
          <a:xfrm>
            <a:off x="2799161" y="1792224"/>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96.51</a:t>
            </a:r>
            <a:endParaRPr lang="en-US" sz="1050" dirty="0"/>
          </a:p>
        </p:txBody>
      </p:sp>
      <p:sp>
        <p:nvSpPr>
          <p:cNvPr id="43" name="Shape 41"/>
          <p:cNvSpPr/>
          <p:nvPr/>
        </p:nvSpPr>
        <p:spPr>
          <a:xfrm>
            <a:off x="3711001" y="1773936"/>
            <a:ext cx="939272" cy="393192"/>
          </a:xfrm>
          <a:prstGeom prst="rect">
            <a:avLst/>
          </a:prstGeom>
          <a:solidFill>
            <a:srgbClr val="F5F7FA"/>
          </a:solidFill>
          <a:ln w="12700">
            <a:solidFill>
              <a:srgbClr val="D5DCE3"/>
            </a:solidFill>
            <a:prstDash val="solid"/>
          </a:ln>
        </p:spPr>
      </p:sp>
      <p:sp>
        <p:nvSpPr>
          <p:cNvPr id="44" name="Text 42"/>
          <p:cNvSpPr/>
          <p:nvPr/>
        </p:nvSpPr>
        <p:spPr>
          <a:xfrm>
            <a:off x="3738433" y="1792224"/>
            <a:ext cx="884408" cy="356616"/>
          </a:xfrm>
          <a:prstGeom prst="rect">
            <a:avLst/>
          </a:prstGeom>
          <a:noFill/>
          <a:ln/>
        </p:spPr>
        <p:txBody>
          <a:bodyPr wrap="square" lIns="0" tIns="0" rIns="0" bIns="0" rtlCol="0" anchor="ctr">
            <a:normAutofit/>
          </a:bodyPr>
          <a:lstStyle/>
          <a:p>
            <a:pPr marL="0" indent="0" algn="ctr">
              <a:buNone/>
            </a:pPr>
            <a:r>
              <a:rPr lang="en-US" sz="1050" b="1" dirty="0">
                <a:solidFill>
                  <a:srgbClr val="2A9D8F"/>
                </a:solidFill>
                <a:latin typeface="Yu Gothic" pitchFamily="34" charset="0"/>
                <a:ea typeface="Yu Gothic" pitchFamily="34" charset="-122"/>
                <a:cs typeface="Yu Gothic" pitchFamily="34" charset="-120"/>
              </a:rPr>
              <a:t>78.69</a:t>
            </a:r>
            <a:endParaRPr lang="en-US" sz="1050" dirty="0"/>
          </a:p>
        </p:txBody>
      </p:sp>
      <p:sp>
        <p:nvSpPr>
          <p:cNvPr id="45" name="Shape 43"/>
          <p:cNvSpPr/>
          <p:nvPr/>
        </p:nvSpPr>
        <p:spPr>
          <a:xfrm>
            <a:off x="4650273" y="1773936"/>
            <a:ext cx="939272" cy="393192"/>
          </a:xfrm>
          <a:prstGeom prst="rect">
            <a:avLst/>
          </a:prstGeom>
          <a:solidFill>
            <a:srgbClr val="F5F7FA"/>
          </a:solidFill>
          <a:ln w="12700">
            <a:solidFill>
              <a:srgbClr val="D5DCE3"/>
            </a:solidFill>
            <a:prstDash val="solid"/>
          </a:ln>
        </p:spPr>
      </p:sp>
      <p:sp>
        <p:nvSpPr>
          <p:cNvPr id="46" name="Text 44"/>
          <p:cNvSpPr/>
          <p:nvPr/>
        </p:nvSpPr>
        <p:spPr>
          <a:xfrm>
            <a:off x="4677705" y="1792224"/>
            <a:ext cx="884408" cy="356616"/>
          </a:xfrm>
          <a:prstGeom prst="rect">
            <a:avLst/>
          </a:prstGeom>
          <a:noFill/>
          <a:ln/>
        </p:spPr>
        <p:txBody>
          <a:bodyPr wrap="square" lIns="0" tIns="0" rIns="0" bIns="0" rtlCol="0" anchor="ctr">
            <a:normAutofit/>
          </a:bodyPr>
          <a:lstStyle/>
          <a:p>
            <a:pPr marL="0" indent="0" algn="ctr">
              <a:buNone/>
            </a:pPr>
            <a:r>
              <a:rPr lang="en-US" sz="1050" b="1" dirty="0">
                <a:solidFill>
                  <a:srgbClr val="2A9D8F"/>
                </a:solidFill>
                <a:latin typeface="Yu Gothic" pitchFamily="34" charset="0"/>
                <a:ea typeface="Yu Gothic" pitchFamily="34" charset="-122"/>
                <a:cs typeface="Yu Gothic" pitchFamily="34" charset="-120"/>
              </a:rPr>
              <a:t>88.46</a:t>
            </a:r>
            <a:endParaRPr lang="en-US" sz="1050" dirty="0"/>
          </a:p>
        </p:txBody>
      </p:sp>
      <p:sp>
        <p:nvSpPr>
          <p:cNvPr id="47" name="Shape 45"/>
          <p:cNvSpPr/>
          <p:nvPr/>
        </p:nvSpPr>
        <p:spPr>
          <a:xfrm>
            <a:off x="5589544" y="1773936"/>
            <a:ext cx="939272" cy="393192"/>
          </a:xfrm>
          <a:prstGeom prst="rect">
            <a:avLst/>
          </a:prstGeom>
          <a:solidFill>
            <a:srgbClr val="F5F7FA"/>
          </a:solidFill>
          <a:ln w="12700">
            <a:solidFill>
              <a:srgbClr val="D5DCE3"/>
            </a:solidFill>
            <a:prstDash val="solid"/>
          </a:ln>
        </p:spPr>
      </p:sp>
      <p:sp>
        <p:nvSpPr>
          <p:cNvPr id="48" name="Text 46"/>
          <p:cNvSpPr/>
          <p:nvPr/>
        </p:nvSpPr>
        <p:spPr>
          <a:xfrm>
            <a:off x="5616976" y="1792224"/>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80.81</a:t>
            </a:r>
            <a:endParaRPr lang="en-US" sz="1050" dirty="0"/>
          </a:p>
        </p:txBody>
      </p:sp>
      <p:sp>
        <p:nvSpPr>
          <p:cNvPr id="49" name="Shape 47"/>
          <p:cNvSpPr/>
          <p:nvPr/>
        </p:nvSpPr>
        <p:spPr>
          <a:xfrm>
            <a:off x="6528816" y="1773936"/>
            <a:ext cx="1017544" cy="393192"/>
          </a:xfrm>
          <a:prstGeom prst="rect">
            <a:avLst/>
          </a:prstGeom>
          <a:solidFill>
            <a:srgbClr val="F5F7FA"/>
          </a:solidFill>
          <a:ln w="12700">
            <a:solidFill>
              <a:srgbClr val="D5DCE3"/>
            </a:solidFill>
            <a:prstDash val="solid"/>
          </a:ln>
        </p:spPr>
      </p:sp>
      <p:sp>
        <p:nvSpPr>
          <p:cNvPr id="50" name="Text 48"/>
          <p:cNvSpPr/>
          <p:nvPr/>
        </p:nvSpPr>
        <p:spPr>
          <a:xfrm>
            <a:off x="6556248" y="1792224"/>
            <a:ext cx="962680"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86.54</a:t>
            </a:r>
            <a:endParaRPr lang="en-US" sz="1050" dirty="0"/>
          </a:p>
        </p:txBody>
      </p:sp>
      <p:sp>
        <p:nvSpPr>
          <p:cNvPr id="51" name="Shape 49"/>
          <p:cNvSpPr/>
          <p:nvPr/>
        </p:nvSpPr>
        <p:spPr>
          <a:xfrm>
            <a:off x="7546360" y="1773936"/>
            <a:ext cx="939272" cy="393192"/>
          </a:xfrm>
          <a:prstGeom prst="rect">
            <a:avLst/>
          </a:prstGeom>
          <a:solidFill>
            <a:srgbClr val="F5F7FA"/>
          </a:solidFill>
          <a:ln w="12700">
            <a:solidFill>
              <a:srgbClr val="D5DCE3"/>
            </a:solidFill>
            <a:prstDash val="solid"/>
          </a:ln>
        </p:spPr>
      </p:sp>
      <p:sp>
        <p:nvSpPr>
          <p:cNvPr id="52" name="Text 50"/>
          <p:cNvSpPr/>
          <p:nvPr/>
        </p:nvSpPr>
        <p:spPr>
          <a:xfrm>
            <a:off x="7573792" y="1792224"/>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78.88</a:t>
            </a:r>
            <a:endParaRPr lang="en-US" sz="1050" dirty="0"/>
          </a:p>
        </p:txBody>
      </p:sp>
      <p:sp>
        <p:nvSpPr>
          <p:cNvPr id="53" name="Shape 51"/>
          <p:cNvSpPr/>
          <p:nvPr/>
        </p:nvSpPr>
        <p:spPr>
          <a:xfrm>
            <a:off x="658368" y="2167128"/>
            <a:ext cx="1252362" cy="393192"/>
          </a:xfrm>
          <a:prstGeom prst="rect">
            <a:avLst/>
          </a:prstGeom>
          <a:solidFill>
            <a:srgbClr val="FFFFFF"/>
          </a:solidFill>
          <a:ln w="12700">
            <a:solidFill>
              <a:srgbClr val="D5DCE3"/>
            </a:solidFill>
            <a:prstDash val="solid"/>
          </a:ln>
        </p:spPr>
      </p:sp>
      <p:sp>
        <p:nvSpPr>
          <p:cNvPr id="54" name="Text 52"/>
          <p:cNvSpPr/>
          <p:nvPr/>
        </p:nvSpPr>
        <p:spPr>
          <a:xfrm>
            <a:off x="685800" y="2185416"/>
            <a:ext cx="1197498" cy="356616"/>
          </a:xfrm>
          <a:prstGeom prst="rect">
            <a:avLst/>
          </a:prstGeom>
          <a:noFill/>
          <a:ln/>
        </p:spPr>
        <p:txBody>
          <a:bodyPr wrap="square" lIns="0" tIns="0" rIns="0" bIns="0" rtlCol="0" anchor="ctr">
            <a:normAutofit/>
          </a:bodyPr>
          <a:lstStyle/>
          <a:p>
            <a:pPr marL="0" indent="0" algn="l">
              <a:buNone/>
            </a:pPr>
            <a:r>
              <a:rPr lang="en-US" sz="1050" b="1" dirty="0">
                <a:solidFill>
                  <a:srgbClr val="ED7D31"/>
                </a:solidFill>
                <a:latin typeface="Yu Gothic" pitchFamily="34" charset="0"/>
                <a:ea typeface="Yu Gothic" pitchFamily="34" charset="-122"/>
                <a:cs typeface="Yu Gothic" pitchFamily="34" charset="-120"/>
              </a:rPr>
              <a:t>Livox</a:t>
            </a:r>
            <a:endParaRPr lang="en-US" sz="1050" dirty="0"/>
          </a:p>
        </p:txBody>
      </p:sp>
      <p:sp>
        <p:nvSpPr>
          <p:cNvPr id="55" name="Shape 53"/>
          <p:cNvSpPr/>
          <p:nvPr/>
        </p:nvSpPr>
        <p:spPr>
          <a:xfrm>
            <a:off x="1910730" y="2167128"/>
            <a:ext cx="860999" cy="393192"/>
          </a:xfrm>
          <a:prstGeom prst="rect">
            <a:avLst/>
          </a:prstGeom>
          <a:solidFill>
            <a:srgbClr val="FFFFFF"/>
          </a:solidFill>
          <a:ln w="12700">
            <a:solidFill>
              <a:srgbClr val="D5DCE3"/>
            </a:solidFill>
            <a:prstDash val="solid"/>
          </a:ln>
        </p:spPr>
      </p:sp>
      <p:sp>
        <p:nvSpPr>
          <p:cNvPr id="56" name="Text 54"/>
          <p:cNvSpPr/>
          <p:nvPr/>
        </p:nvSpPr>
        <p:spPr>
          <a:xfrm>
            <a:off x="1938162" y="2185416"/>
            <a:ext cx="806135" cy="356616"/>
          </a:xfrm>
          <a:prstGeom prst="rect">
            <a:avLst/>
          </a:prstGeom>
          <a:noFill/>
          <a:ln/>
        </p:spPr>
        <p:txBody>
          <a:bodyPr wrap="square" lIns="0" tIns="0" rIns="0" bIns="0" rtlCol="0" anchor="ctr">
            <a:normAutofit/>
          </a:bodyPr>
          <a:lstStyle/>
          <a:p>
            <a:pPr marL="0" indent="0" algn="ctr">
              <a:buNone/>
            </a:pPr>
            <a:r>
              <a:rPr lang="en-US" sz="1050" b="1" dirty="0">
                <a:solidFill>
                  <a:srgbClr val="ED7D31"/>
                </a:solidFill>
                <a:latin typeface="Yu Gothic" pitchFamily="34" charset="0"/>
                <a:ea typeface="Yu Gothic" pitchFamily="34" charset="-122"/>
                <a:cs typeface="Yu Gothic" pitchFamily="34" charset="-120"/>
              </a:rPr>
              <a:t>85.96</a:t>
            </a:r>
            <a:endParaRPr lang="en-US" sz="1050" dirty="0"/>
          </a:p>
        </p:txBody>
      </p:sp>
      <p:sp>
        <p:nvSpPr>
          <p:cNvPr id="57" name="Shape 55"/>
          <p:cNvSpPr/>
          <p:nvPr/>
        </p:nvSpPr>
        <p:spPr>
          <a:xfrm>
            <a:off x="2771729" y="2167128"/>
            <a:ext cx="939272" cy="393192"/>
          </a:xfrm>
          <a:prstGeom prst="rect">
            <a:avLst/>
          </a:prstGeom>
          <a:solidFill>
            <a:srgbClr val="FFFFFF"/>
          </a:solidFill>
          <a:ln w="12700">
            <a:solidFill>
              <a:srgbClr val="D5DCE3"/>
            </a:solidFill>
            <a:prstDash val="solid"/>
          </a:ln>
        </p:spPr>
      </p:sp>
      <p:sp>
        <p:nvSpPr>
          <p:cNvPr id="58" name="Text 56"/>
          <p:cNvSpPr/>
          <p:nvPr/>
        </p:nvSpPr>
        <p:spPr>
          <a:xfrm>
            <a:off x="2799161" y="2185416"/>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93.59</a:t>
            </a:r>
            <a:endParaRPr lang="en-US" sz="1050" dirty="0"/>
          </a:p>
        </p:txBody>
      </p:sp>
      <p:sp>
        <p:nvSpPr>
          <p:cNvPr id="59" name="Shape 57"/>
          <p:cNvSpPr/>
          <p:nvPr/>
        </p:nvSpPr>
        <p:spPr>
          <a:xfrm>
            <a:off x="3711001" y="2167128"/>
            <a:ext cx="939272" cy="393192"/>
          </a:xfrm>
          <a:prstGeom prst="rect">
            <a:avLst/>
          </a:prstGeom>
          <a:solidFill>
            <a:srgbClr val="FFFFFF"/>
          </a:solidFill>
          <a:ln w="12700">
            <a:solidFill>
              <a:srgbClr val="D5DCE3"/>
            </a:solidFill>
            <a:prstDash val="solid"/>
          </a:ln>
        </p:spPr>
      </p:sp>
      <p:sp>
        <p:nvSpPr>
          <p:cNvPr id="60" name="Text 58"/>
          <p:cNvSpPr/>
          <p:nvPr/>
        </p:nvSpPr>
        <p:spPr>
          <a:xfrm>
            <a:off x="3738433" y="2185416"/>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72.64</a:t>
            </a:r>
            <a:endParaRPr lang="en-US" sz="1050" dirty="0"/>
          </a:p>
        </p:txBody>
      </p:sp>
      <p:sp>
        <p:nvSpPr>
          <p:cNvPr id="61" name="Shape 59"/>
          <p:cNvSpPr/>
          <p:nvPr/>
        </p:nvSpPr>
        <p:spPr>
          <a:xfrm>
            <a:off x="4650273" y="2167128"/>
            <a:ext cx="939272" cy="393192"/>
          </a:xfrm>
          <a:prstGeom prst="rect">
            <a:avLst/>
          </a:prstGeom>
          <a:solidFill>
            <a:srgbClr val="FFFFFF"/>
          </a:solidFill>
          <a:ln w="12700">
            <a:solidFill>
              <a:srgbClr val="D5DCE3"/>
            </a:solidFill>
            <a:prstDash val="solid"/>
          </a:ln>
        </p:spPr>
      </p:sp>
      <p:sp>
        <p:nvSpPr>
          <p:cNvPr id="62" name="Text 60"/>
          <p:cNvSpPr/>
          <p:nvPr/>
        </p:nvSpPr>
        <p:spPr>
          <a:xfrm>
            <a:off x="4677705" y="2185416"/>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85.73</a:t>
            </a:r>
            <a:endParaRPr lang="en-US" sz="1050" dirty="0"/>
          </a:p>
        </p:txBody>
      </p:sp>
      <p:sp>
        <p:nvSpPr>
          <p:cNvPr id="63" name="Shape 61"/>
          <p:cNvSpPr/>
          <p:nvPr/>
        </p:nvSpPr>
        <p:spPr>
          <a:xfrm>
            <a:off x="5589544" y="2167128"/>
            <a:ext cx="939272" cy="393192"/>
          </a:xfrm>
          <a:prstGeom prst="rect">
            <a:avLst/>
          </a:prstGeom>
          <a:solidFill>
            <a:srgbClr val="FFFFFF"/>
          </a:solidFill>
          <a:ln w="12700">
            <a:solidFill>
              <a:srgbClr val="D5DCE3"/>
            </a:solidFill>
            <a:prstDash val="solid"/>
          </a:ln>
        </p:spPr>
      </p:sp>
      <p:sp>
        <p:nvSpPr>
          <p:cNvPr id="64" name="Text 62"/>
          <p:cNvSpPr/>
          <p:nvPr/>
        </p:nvSpPr>
        <p:spPr>
          <a:xfrm>
            <a:off x="5616976" y="2185416"/>
            <a:ext cx="884408"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87.85</a:t>
            </a:r>
            <a:endParaRPr lang="en-US" sz="1050" dirty="0"/>
          </a:p>
        </p:txBody>
      </p:sp>
      <p:sp>
        <p:nvSpPr>
          <p:cNvPr id="65" name="Shape 63"/>
          <p:cNvSpPr/>
          <p:nvPr/>
        </p:nvSpPr>
        <p:spPr>
          <a:xfrm>
            <a:off x="6528816" y="2167128"/>
            <a:ext cx="1017544" cy="393192"/>
          </a:xfrm>
          <a:prstGeom prst="rect">
            <a:avLst/>
          </a:prstGeom>
          <a:solidFill>
            <a:srgbClr val="FFFFFF"/>
          </a:solidFill>
          <a:ln w="12700">
            <a:solidFill>
              <a:srgbClr val="D5DCE3"/>
            </a:solidFill>
            <a:prstDash val="solid"/>
          </a:ln>
        </p:spPr>
      </p:sp>
      <p:sp>
        <p:nvSpPr>
          <p:cNvPr id="66" name="Text 64"/>
          <p:cNvSpPr/>
          <p:nvPr/>
        </p:nvSpPr>
        <p:spPr>
          <a:xfrm>
            <a:off x="6556248" y="2185416"/>
            <a:ext cx="962680" cy="356616"/>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89.37</a:t>
            </a:r>
            <a:endParaRPr lang="en-US" sz="1050" dirty="0"/>
          </a:p>
        </p:txBody>
      </p:sp>
      <p:sp>
        <p:nvSpPr>
          <p:cNvPr id="67" name="Shape 65"/>
          <p:cNvSpPr/>
          <p:nvPr/>
        </p:nvSpPr>
        <p:spPr>
          <a:xfrm>
            <a:off x="7546360" y="2167128"/>
            <a:ext cx="939272" cy="393192"/>
          </a:xfrm>
          <a:prstGeom prst="rect">
            <a:avLst/>
          </a:prstGeom>
          <a:solidFill>
            <a:srgbClr val="FFFFFF"/>
          </a:solidFill>
          <a:ln w="12700">
            <a:solidFill>
              <a:srgbClr val="D5DCE3"/>
            </a:solidFill>
            <a:prstDash val="solid"/>
          </a:ln>
        </p:spPr>
      </p:sp>
      <p:sp>
        <p:nvSpPr>
          <p:cNvPr id="68" name="Text 66"/>
          <p:cNvSpPr/>
          <p:nvPr/>
        </p:nvSpPr>
        <p:spPr>
          <a:xfrm>
            <a:off x="7573792" y="2185416"/>
            <a:ext cx="884408" cy="356616"/>
          </a:xfrm>
          <a:prstGeom prst="rect">
            <a:avLst/>
          </a:prstGeom>
          <a:noFill/>
          <a:ln/>
        </p:spPr>
        <p:txBody>
          <a:bodyPr wrap="square" lIns="0" tIns="0" rIns="0" bIns="0" rtlCol="0" anchor="ctr">
            <a:normAutofit/>
          </a:bodyPr>
          <a:lstStyle/>
          <a:p>
            <a:pPr marL="0" indent="0" algn="ctr">
              <a:buNone/>
            </a:pPr>
            <a:r>
              <a:rPr lang="en-US" sz="1050" b="1" dirty="0">
                <a:solidFill>
                  <a:srgbClr val="ED7D31"/>
                </a:solidFill>
                <a:latin typeface="Yu Gothic" pitchFamily="34" charset="0"/>
                <a:ea typeface="Yu Gothic" pitchFamily="34" charset="-122"/>
                <a:cs typeface="Yu Gothic" pitchFamily="34" charset="-120"/>
              </a:rPr>
              <a:t>86.59</a:t>
            </a:r>
            <a:endParaRPr lang="en-US" sz="1050" dirty="0"/>
          </a:p>
        </p:txBody>
      </p:sp>
      <p:sp>
        <p:nvSpPr>
          <p:cNvPr id="69" name="Shape 67"/>
          <p:cNvSpPr/>
          <p:nvPr/>
        </p:nvSpPr>
        <p:spPr>
          <a:xfrm>
            <a:off x="749808" y="2862072"/>
            <a:ext cx="2304288" cy="932688"/>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70" name="Shape 68"/>
          <p:cNvSpPr/>
          <p:nvPr/>
        </p:nvSpPr>
        <p:spPr>
          <a:xfrm>
            <a:off x="749808" y="2862072"/>
            <a:ext cx="50292" cy="932688"/>
          </a:xfrm>
          <a:prstGeom prst="rect">
            <a:avLst/>
          </a:prstGeom>
          <a:solidFill>
            <a:srgbClr val="2E75B6"/>
          </a:solidFill>
          <a:ln w="12700">
            <a:solidFill>
              <a:srgbClr val="2E75B6"/>
            </a:solidFill>
            <a:prstDash val="solid"/>
          </a:ln>
        </p:spPr>
      </p:sp>
      <p:sp>
        <p:nvSpPr>
          <p:cNvPr id="71" name="Text 69"/>
          <p:cNvSpPr/>
          <p:nvPr/>
        </p:nvSpPr>
        <p:spPr>
          <a:xfrm>
            <a:off x="914400" y="2935224"/>
            <a:ext cx="202996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Ouster</a:t>
            </a:r>
            <a:endParaRPr lang="en-US" sz="1600" dirty="0"/>
          </a:p>
        </p:txBody>
      </p:sp>
      <p:sp>
        <p:nvSpPr>
          <p:cNvPr id="72" name="Text 70"/>
          <p:cNvSpPr/>
          <p:nvPr/>
        </p:nvSpPr>
        <p:spPr>
          <a:xfrm>
            <a:off x="914400" y="3282696"/>
            <a:ext cx="2029968" cy="420624"/>
          </a:xfrm>
          <a:prstGeom prst="rect">
            <a:avLst/>
          </a:prstGeom>
          <a:noFill/>
          <a:ln/>
        </p:spPr>
        <p:txBody>
          <a:bodyPr wrap="square" lIns="12700" tIns="0" rIns="0" bIns="25400" rtlCol="0" anchor="t">
            <a:normAutofit/>
          </a:bodyPr>
          <a:lstStyle/>
          <a:p>
            <a:pPr marL="0" indent="0">
              <a:buNone/>
            </a:pPr>
            <a:r>
              <a:rPr lang="en-US" sz="1240" dirty="0">
                <a:solidFill>
                  <a:srgbClr val="4D5966"/>
                </a:solidFill>
                <a:latin typeface="Yu Gothic" pitchFamily="34" charset="0"/>
                <a:ea typeface="Yu Gothic" pitchFamily="34" charset="-122"/>
                <a:cs typeface="Yu Gothic" pitchFamily="34" charset="-120"/>
              </a:rPr>
              <a:t>Normal/Reflectionは高いが、Glass・Mirrorが低い。</a:t>
            </a:r>
            <a:endParaRPr lang="en-US" sz="1240" dirty="0"/>
          </a:p>
        </p:txBody>
      </p:sp>
      <p:sp>
        <p:nvSpPr>
          <p:cNvPr id="73" name="Shape 71"/>
          <p:cNvSpPr/>
          <p:nvPr/>
        </p:nvSpPr>
        <p:spPr>
          <a:xfrm>
            <a:off x="3410712" y="2862072"/>
            <a:ext cx="2304288" cy="932688"/>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74" name="Shape 72"/>
          <p:cNvSpPr/>
          <p:nvPr/>
        </p:nvSpPr>
        <p:spPr>
          <a:xfrm>
            <a:off x="3410712" y="2862072"/>
            <a:ext cx="50292" cy="932688"/>
          </a:xfrm>
          <a:prstGeom prst="rect">
            <a:avLst/>
          </a:prstGeom>
          <a:solidFill>
            <a:srgbClr val="2A9D8F"/>
          </a:solidFill>
          <a:ln w="12700">
            <a:solidFill>
              <a:srgbClr val="2A9D8F"/>
            </a:solidFill>
            <a:prstDash val="solid"/>
          </a:ln>
        </p:spPr>
      </p:sp>
      <p:sp>
        <p:nvSpPr>
          <p:cNvPr id="75" name="Text 73"/>
          <p:cNvSpPr/>
          <p:nvPr/>
        </p:nvSpPr>
        <p:spPr>
          <a:xfrm>
            <a:off x="3575304" y="2935224"/>
            <a:ext cx="202996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Hesai</a:t>
            </a:r>
            <a:endParaRPr lang="en-US" sz="1600" dirty="0"/>
          </a:p>
        </p:txBody>
      </p:sp>
      <p:sp>
        <p:nvSpPr>
          <p:cNvPr id="76" name="Text 74"/>
          <p:cNvSpPr/>
          <p:nvPr/>
        </p:nvSpPr>
        <p:spPr>
          <a:xfrm>
            <a:off x="3575304" y="3282696"/>
            <a:ext cx="2029968" cy="420624"/>
          </a:xfrm>
          <a:prstGeom prst="rect">
            <a:avLst/>
          </a:prstGeom>
          <a:noFill/>
          <a:ln/>
        </p:spPr>
        <p:txBody>
          <a:bodyPr wrap="square" lIns="12700" tIns="0" rIns="0" bIns="25400" rtlCol="0" anchor="t">
            <a:normAutofit/>
          </a:bodyPr>
          <a:lstStyle/>
          <a:p>
            <a:pPr marL="0" indent="0">
              <a:buNone/>
            </a:pPr>
            <a:r>
              <a:rPr lang="en-US" sz="1240" dirty="0">
                <a:solidFill>
                  <a:srgbClr val="4D5966"/>
                </a:solidFill>
                <a:latin typeface="Yu Gothic" pitchFamily="34" charset="0"/>
                <a:ea typeface="Yu Gothic" pitchFamily="34" charset="-122"/>
                <a:cs typeface="Yu Gothic" pitchFamily="34" charset="-120"/>
              </a:rPr>
              <a:t>Glass・Mirrorが最良。Obstacleは3機種中で低い。</a:t>
            </a:r>
            <a:endParaRPr lang="en-US" sz="1240" dirty="0"/>
          </a:p>
        </p:txBody>
      </p:sp>
      <p:sp>
        <p:nvSpPr>
          <p:cNvPr id="77" name="Shape 75"/>
          <p:cNvSpPr/>
          <p:nvPr/>
        </p:nvSpPr>
        <p:spPr>
          <a:xfrm>
            <a:off x="6071616" y="2862072"/>
            <a:ext cx="2304288" cy="932688"/>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78" name="Shape 76"/>
          <p:cNvSpPr/>
          <p:nvPr/>
        </p:nvSpPr>
        <p:spPr>
          <a:xfrm>
            <a:off x="6071616" y="2862072"/>
            <a:ext cx="50292" cy="932688"/>
          </a:xfrm>
          <a:prstGeom prst="rect">
            <a:avLst/>
          </a:prstGeom>
          <a:solidFill>
            <a:srgbClr val="ED7D31"/>
          </a:solidFill>
          <a:ln w="12700">
            <a:solidFill>
              <a:srgbClr val="ED7D31"/>
            </a:solidFill>
            <a:prstDash val="solid"/>
          </a:ln>
        </p:spPr>
      </p:sp>
      <p:sp>
        <p:nvSpPr>
          <p:cNvPr id="79" name="Text 77"/>
          <p:cNvSpPr/>
          <p:nvPr/>
        </p:nvSpPr>
        <p:spPr>
          <a:xfrm>
            <a:off x="6236208" y="2935224"/>
            <a:ext cx="202996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Livox</a:t>
            </a:r>
            <a:endParaRPr lang="en-US" sz="1600" dirty="0"/>
          </a:p>
        </p:txBody>
      </p:sp>
      <p:sp>
        <p:nvSpPr>
          <p:cNvPr id="80" name="Text 78"/>
          <p:cNvSpPr/>
          <p:nvPr/>
        </p:nvSpPr>
        <p:spPr>
          <a:xfrm>
            <a:off x="6236208" y="3282696"/>
            <a:ext cx="2029968" cy="420624"/>
          </a:xfrm>
          <a:prstGeom prst="rect">
            <a:avLst/>
          </a:prstGeom>
          <a:noFill/>
          <a:ln/>
        </p:spPr>
        <p:txBody>
          <a:bodyPr wrap="square" lIns="12700" tIns="0" rIns="0" bIns="25400" rtlCol="0" anchor="t">
            <a:normAutofit/>
          </a:bodyPr>
          <a:lstStyle/>
          <a:p>
            <a:pPr marL="0" indent="0">
              <a:buNone/>
            </a:pPr>
            <a:r>
              <a:rPr lang="en-US" sz="1240" dirty="0">
                <a:solidFill>
                  <a:srgbClr val="4D5966"/>
                </a:solidFill>
                <a:latin typeface="Yu Gothic" pitchFamily="34" charset="0"/>
                <a:ea typeface="Yu Gothic" pitchFamily="34" charset="-122"/>
                <a:cs typeface="Yu Gothic" pitchFamily="34" charset="-120"/>
              </a:rPr>
              <a:t>最高mIoU。late returnが多く、Obstacleも高い。</a:t>
            </a:r>
            <a:endParaRPr lang="en-US" sz="1240" dirty="0"/>
          </a:p>
        </p:txBody>
      </p:sp>
      <p:sp>
        <p:nvSpPr>
          <p:cNvPr id="81" name="Shape 79"/>
          <p:cNvSpPr/>
          <p:nvPr/>
        </p:nvSpPr>
        <p:spPr>
          <a:xfrm>
            <a:off x="566928" y="4096512"/>
            <a:ext cx="8010144" cy="347472"/>
          </a:xfrm>
          <a:prstGeom prst="rect">
            <a:avLst/>
          </a:prstGeom>
          <a:solidFill>
            <a:srgbClr val="F8FAFB"/>
          </a:solidFill>
          <a:ln w="12700">
            <a:solidFill>
              <a:srgbClr val="ED7D31"/>
            </a:solidFill>
            <a:prstDash val="solid"/>
          </a:ln>
        </p:spPr>
      </p:sp>
      <p:sp>
        <p:nvSpPr>
          <p:cNvPr id="82" name="Shape 80"/>
          <p:cNvSpPr/>
          <p:nvPr/>
        </p:nvSpPr>
        <p:spPr>
          <a:xfrm>
            <a:off x="566928" y="4096512"/>
            <a:ext cx="64008" cy="347472"/>
          </a:xfrm>
          <a:prstGeom prst="rect">
            <a:avLst/>
          </a:prstGeom>
          <a:solidFill>
            <a:srgbClr val="ED7D31"/>
          </a:solidFill>
          <a:ln w="12700">
            <a:solidFill>
              <a:srgbClr val="ED7D31"/>
            </a:solidFill>
            <a:prstDash val="solid"/>
          </a:ln>
        </p:spPr>
      </p:sp>
      <p:sp>
        <p:nvSpPr>
          <p:cNvPr id="83" name="Text 81"/>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sensor差はreturn特性・点密度・class priorが混在した結果で、純粋な機種優劣ではない。</a:t>
            </a:r>
            <a:endParaRPr lang="en-US" sz="1450" dirty="0"/>
          </a:p>
        </p:txBody>
      </p:sp>
      <p:sp>
        <p:nvSpPr>
          <p:cNvPr id="84" name="Text 82"/>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5 (Cylinder3D + return)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RGBモデルは既存データから3DRefへ移すと大きく低下し、再学習で回復する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RGB results</a:t>
            </a:r>
            <a:endParaRPr lang="en-US" sz="950" dirty="0"/>
          </a:p>
        </p:txBody>
      </p:sp>
      <p:sp>
        <p:nvSpPr>
          <p:cNvPr id="5" name="Shape 3"/>
          <p:cNvSpPr/>
          <p:nvPr/>
        </p:nvSpPr>
        <p:spPr>
          <a:xfrm>
            <a:off x="658368" y="914400"/>
            <a:ext cx="1408908" cy="390906"/>
          </a:xfrm>
          <a:prstGeom prst="rect">
            <a:avLst/>
          </a:prstGeom>
          <a:solidFill>
            <a:srgbClr val="17365D"/>
          </a:solidFill>
          <a:ln w="12700">
            <a:solidFill>
              <a:srgbClr val="FFFFFF"/>
            </a:solidFill>
            <a:prstDash val="solid"/>
          </a:ln>
        </p:spPr>
      </p:sp>
      <p:sp>
        <p:nvSpPr>
          <p:cNvPr id="6" name="Text 4"/>
          <p:cNvSpPr/>
          <p:nvPr/>
        </p:nvSpPr>
        <p:spPr>
          <a:xfrm>
            <a:off x="685800" y="932688"/>
            <a:ext cx="1354044" cy="35433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Method</a:t>
            </a:r>
            <a:endParaRPr lang="en-US" sz="1150" dirty="0"/>
          </a:p>
        </p:txBody>
      </p:sp>
      <p:sp>
        <p:nvSpPr>
          <p:cNvPr id="7" name="Shape 5"/>
          <p:cNvSpPr/>
          <p:nvPr/>
        </p:nvSpPr>
        <p:spPr>
          <a:xfrm>
            <a:off x="2067276" y="914400"/>
            <a:ext cx="1408908" cy="390906"/>
          </a:xfrm>
          <a:prstGeom prst="rect">
            <a:avLst/>
          </a:prstGeom>
          <a:solidFill>
            <a:srgbClr val="17365D"/>
          </a:solidFill>
          <a:ln w="12700">
            <a:solidFill>
              <a:srgbClr val="FFFFFF"/>
            </a:solidFill>
            <a:prstDash val="solid"/>
          </a:ln>
        </p:spPr>
      </p:sp>
      <p:sp>
        <p:nvSpPr>
          <p:cNvPr id="8" name="Text 6"/>
          <p:cNvSpPr/>
          <p:nvPr/>
        </p:nvSpPr>
        <p:spPr>
          <a:xfrm>
            <a:off x="2094708" y="932688"/>
            <a:ext cx="1354044" cy="35433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Training data</a:t>
            </a:r>
            <a:endParaRPr lang="en-US" sz="1150" dirty="0"/>
          </a:p>
        </p:txBody>
      </p:sp>
      <p:sp>
        <p:nvSpPr>
          <p:cNvPr id="9" name="Shape 7"/>
          <p:cNvSpPr/>
          <p:nvPr/>
        </p:nvSpPr>
        <p:spPr>
          <a:xfrm>
            <a:off x="3476183" y="914400"/>
            <a:ext cx="1408908" cy="390906"/>
          </a:xfrm>
          <a:prstGeom prst="rect">
            <a:avLst/>
          </a:prstGeom>
          <a:solidFill>
            <a:srgbClr val="17365D"/>
          </a:solidFill>
          <a:ln w="12700">
            <a:solidFill>
              <a:srgbClr val="FFFFFF"/>
            </a:solidFill>
            <a:prstDash val="solid"/>
          </a:ln>
        </p:spPr>
      </p:sp>
      <p:sp>
        <p:nvSpPr>
          <p:cNvPr id="10" name="Text 8"/>
          <p:cNvSpPr/>
          <p:nvPr/>
        </p:nvSpPr>
        <p:spPr>
          <a:xfrm>
            <a:off x="3503615" y="932688"/>
            <a:ext cx="1354044" cy="35433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Original test</a:t>
            </a:r>
            <a:endParaRPr lang="en-US" sz="1150" dirty="0"/>
          </a:p>
        </p:txBody>
      </p:sp>
      <p:sp>
        <p:nvSpPr>
          <p:cNvPr id="11" name="Shape 9"/>
          <p:cNvSpPr/>
          <p:nvPr/>
        </p:nvSpPr>
        <p:spPr>
          <a:xfrm>
            <a:off x="4885091" y="914400"/>
            <a:ext cx="1721998" cy="390906"/>
          </a:xfrm>
          <a:prstGeom prst="rect">
            <a:avLst/>
          </a:prstGeom>
          <a:solidFill>
            <a:srgbClr val="17365D"/>
          </a:solidFill>
          <a:ln w="12700">
            <a:solidFill>
              <a:srgbClr val="FFFFFF"/>
            </a:solidFill>
            <a:prstDash val="solid"/>
          </a:ln>
        </p:spPr>
      </p:sp>
      <p:sp>
        <p:nvSpPr>
          <p:cNvPr id="12" name="Text 10"/>
          <p:cNvSpPr/>
          <p:nvPr/>
        </p:nvSpPr>
        <p:spPr>
          <a:xfrm>
            <a:off x="4912523" y="932688"/>
            <a:ext cx="1667134" cy="35433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3DRef target</a:t>
            </a:r>
            <a:endParaRPr lang="en-US" sz="1150" dirty="0"/>
          </a:p>
        </p:txBody>
      </p:sp>
      <p:sp>
        <p:nvSpPr>
          <p:cNvPr id="13" name="Shape 11"/>
          <p:cNvSpPr/>
          <p:nvPr/>
        </p:nvSpPr>
        <p:spPr>
          <a:xfrm>
            <a:off x="6607089" y="914400"/>
            <a:ext cx="1878543" cy="390906"/>
          </a:xfrm>
          <a:prstGeom prst="rect">
            <a:avLst/>
          </a:prstGeom>
          <a:solidFill>
            <a:srgbClr val="17365D"/>
          </a:solidFill>
          <a:ln w="12700">
            <a:solidFill>
              <a:srgbClr val="FFFFFF"/>
            </a:solidFill>
            <a:prstDash val="solid"/>
          </a:ln>
        </p:spPr>
      </p:sp>
      <p:sp>
        <p:nvSpPr>
          <p:cNvPr id="14" name="Text 12"/>
          <p:cNvSpPr/>
          <p:nvPr/>
        </p:nvSpPr>
        <p:spPr>
          <a:xfrm>
            <a:off x="6634521" y="932688"/>
            <a:ext cx="1823679" cy="35433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3DRef mIoU</a:t>
            </a:r>
            <a:endParaRPr lang="en-US" sz="1150" dirty="0"/>
          </a:p>
        </p:txBody>
      </p:sp>
      <p:sp>
        <p:nvSpPr>
          <p:cNvPr id="15" name="Shape 13"/>
          <p:cNvSpPr/>
          <p:nvPr/>
        </p:nvSpPr>
        <p:spPr>
          <a:xfrm>
            <a:off x="658368" y="1305306"/>
            <a:ext cx="1408908" cy="390906"/>
          </a:xfrm>
          <a:prstGeom prst="rect">
            <a:avLst/>
          </a:prstGeom>
          <a:solidFill>
            <a:srgbClr val="FFFFFF"/>
          </a:solidFill>
          <a:ln w="12700">
            <a:solidFill>
              <a:srgbClr val="D5DCE3"/>
            </a:solidFill>
            <a:prstDash val="solid"/>
          </a:ln>
        </p:spPr>
      </p:sp>
      <p:sp>
        <p:nvSpPr>
          <p:cNvPr id="16" name="Text 14"/>
          <p:cNvSpPr/>
          <p:nvPr/>
        </p:nvSpPr>
        <p:spPr>
          <a:xfrm>
            <a:off x="685800" y="1323594"/>
            <a:ext cx="1354044" cy="354330"/>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GlassSemNet</a:t>
            </a:r>
            <a:endParaRPr lang="en-US" sz="1050" dirty="0"/>
          </a:p>
        </p:txBody>
      </p:sp>
      <p:sp>
        <p:nvSpPr>
          <p:cNvPr id="17" name="Shape 15"/>
          <p:cNvSpPr/>
          <p:nvPr/>
        </p:nvSpPr>
        <p:spPr>
          <a:xfrm>
            <a:off x="2067276" y="1305306"/>
            <a:ext cx="1408908" cy="390906"/>
          </a:xfrm>
          <a:prstGeom prst="rect">
            <a:avLst/>
          </a:prstGeom>
          <a:solidFill>
            <a:srgbClr val="FFFFFF"/>
          </a:solidFill>
          <a:ln w="12700">
            <a:solidFill>
              <a:srgbClr val="D5DCE3"/>
            </a:solidFill>
            <a:prstDash val="solid"/>
          </a:ln>
        </p:spPr>
      </p:sp>
      <p:sp>
        <p:nvSpPr>
          <p:cNvPr id="18" name="Text 16"/>
          <p:cNvSpPr/>
          <p:nvPr/>
        </p:nvSpPr>
        <p:spPr>
          <a:xfrm>
            <a:off x="2094708" y="1323594"/>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GDD</a:t>
            </a:r>
            <a:endParaRPr lang="en-US" sz="1050" dirty="0"/>
          </a:p>
        </p:txBody>
      </p:sp>
      <p:sp>
        <p:nvSpPr>
          <p:cNvPr id="19" name="Shape 17"/>
          <p:cNvSpPr/>
          <p:nvPr/>
        </p:nvSpPr>
        <p:spPr>
          <a:xfrm>
            <a:off x="3476183" y="1305306"/>
            <a:ext cx="1408908" cy="390906"/>
          </a:xfrm>
          <a:prstGeom prst="rect">
            <a:avLst/>
          </a:prstGeom>
          <a:solidFill>
            <a:srgbClr val="FFFFFF"/>
          </a:solidFill>
          <a:ln w="12700">
            <a:solidFill>
              <a:srgbClr val="D5DCE3"/>
            </a:solidFill>
            <a:prstDash val="solid"/>
          </a:ln>
        </p:spPr>
      </p:sp>
      <p:sp>
        <p:nvSpPr>
          <p:cNvPr id="20" name="Text 18"/>
          <p:cNvSpPr/>
          <p:nvPr/>
        </p:nvSpPr>
        <p:spPr>
          <a:xfrm>
            <a:off x="3503615" y="1323594"/>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90.80</a:t>
            </a:r>
            <a:endParaRPr lang="en-US" sz="1050" dirty="0"/>
          </a:p>
        </p:txBody>
      </p:sp>
      <p:sp>
        <p:nvSpPr>
          <p:cNvPr id="21" name="Shape 19"/>
          <p:cNvSpPr/>
          <p:nvPr/>
        </p:nvSpPr>
        <p:spPr>
          <a:xfrm>
            <a:off x="4885091" y="1305306"/>
            <a:ext cx="1721998" cy="390906"/>
          </a:xfrm>
          <a:prstGeom prst="rect">
            <a:avLst/>
          </a:prstGeom>
          <a:solidFill>
            <a:srgbClr val="FFFFFF"/>
          </a:solidFill>
          <a:ln w="12700">
            <a:solidFill>
              <a:srgbClr val="D5DCE3"/>
            </a:solidFill>
            <a:prstDash val="solid"/>
          </a:ln>
        </p:spPr>
      </p:sp>
      <p:sp>
        <p:nvSpPr>
          <p:cNvPr id="22" name="Text 20"/>
          <p:cNvSpPr/>
          <p:nvPr/>
        </p:nvSpPr>
        <p:spPr>
          <a:xfrm>
            <a:off x="4912523" y="1323594"/>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Glass</a:t>
            </a:r>
            <a:endParaRPr lang="en-US" sz="1050" dirty="0"/>
          </a:p>
        </p:txBody>
      </p:sp>
      <p:sp>
        <p:nvSpPr>
          <p:cNvPr id="23" name="Shape 21"/>
          <p:cNvSpPr/>
          <p:nvPr/>
        </p:nvSpPr>
        <p:spPr>
          <a:xfrm>
            <a:off x="6607089" y="1305306"/>
            <a:ext cx="1878543" cy="390906"/>
          </a:xfrm>
          <a:prstGeom prst="rect">
            <a:avLst/>
          </a:prstGeom>
          <a:solidFill>
            <a:srgbClr val="FFFFFF"/>
          </a:solidFill>
          <a:ln w="12700">
            <a:solidFill>
              <a:srgbClr val="D5DCE3"/>
            </a:solidFill>
            <a:prstDash val="solid"/>
          </a:ln>
        </p:spPr>
      </p:sp>
      <p:sp>
        <p:nvSpPr>
          <p:cNvPr id="24" name="Text 22"/>
          <p:cNvSpPr/>
          <p:nvPr/>
        </p:nvSpPr>
        <p:spPr>
          <a:xfrm>
            <a:off x="6634521" y="1323594"/>
            <a:ext cx="1823679"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53.69</a:t>
            </a:r>
            <a:endParaRPr lang="en-US" sz="1050" dirty="0"/>
          </a:p>
        </p:txBody>
      </p:sp>
      <p:sp>
        <p:nvSpPr>
          <p:cNvPr id="25" name="Shape 23"/>
          <p:cNvSpPr/>
          <p:nvPr/>
        </p:nvSpPr>
        <p:spPr>
          <a:xfrm>
            <a:off x="658368" y="1696212"/>
            <a:ext cx="1408908" cy="390906"/>
          </a:xfrm>
          <a:prstGeom prst="rect">
            <a:avLst/>
          </a:prstGeom>
          <a:solidFill>
            <a:srgbClr val="F5F7FA"/>
          </a:solidFill>
          <a:ln w="12700">
            <a:solidFill>
              <a:srgbClr val="D5DCE3"/>
            </a:solidFill>
            <a:prstDash val="solid"/>
          </a:ln>
        </p:spPr>
      </p:sp>
      <p:sp>
        <p:nvSpPr>
          <p:cNvPr id="26" name="Text 24"/>
          <p:cNvSpPr/>
          <p:nvPr/>
        </p:nvSpPr>
        <p:spPr>
          <a:xfrm>
            <a:off x="685800" y="1714500"/>
            <a:ext cx="1354044" cy="354330"/>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HetNet</a:t>
            </a:r>
            <a:endParaRPr lang="en-US" sz="1050" dirty="0"/>
          </a:p>
        </p:txBody>
      </p:sp>
      <p:sp>
        <p:nvSpPr>
          <p:cNvPr id="27" name="Shape 25"/>
          <p:cNvSpPr/>
          <p:nvPr/>
        </p:nvSpPr>
        <p:spPr>
          <a:xfrm>
            <a:off x="2067276" y="1696212"/>
            <a:ext cx="1408908" cy="390906"/>
          </a:xfrm>
          <a:prstGeom prst="rect">
            <a:avLst/>
          </a:prstGeom>
          <a:solidFill>
            <a:srgbClr val="F5F7FA"/>
          </a:solidFill>
          <a:ln w="12700">
            <a:solidFill>
              <a:srgbClr val="D5DCE3"/>
            </a:solidFill>
            <a:prstDash val="solid"/>
          </a:ln>
        </p:spPr>
      </p:sp>
      <p:sp>
        <p:nvSpPr>
          <p:cNvPr id="28" name="Text 26"/>
          <p:cNvSpPr/>
          <p:nvPr/>
        </p:nvSpPr>
        <p:spPr>
          <a:xfrm>
            <a:off x="2094708" y="1714500"/>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PMD</a:t>
            </a:r>
            <a:endParaRPr lang="en-US" sz="1050" dirty="0"/>
          </a:p>
        </p:txBody>
      </p:sp>
      <p:sp>
        <p:nvSpPr>
          <p:cNvPr id="29" name="Shape 27"/>
          <p:cNvSpPr/>
          <p:nvPr/>
        </p:nvSpPr>
        <p:spPr>
          <a:xfrm>
            <a:off x="3476183" y="1696212"/>
            <a:ext cx="1408908" cy="390906"/>
          </a:xfrm>
          <a:prstGeom prst="rect">
            <a:avLst/>
          </a:prstGeom>
          <a:solidFill>
            <a:srgbClr val="F5F7FA"/>
          </a:solidFill>
          <a:ln w="12700">
            <a:solidFill>
              <a:srgbClr val="D5DCE3"/>
            </a:solidFill>
            <a:prstDash val="solid"/>
          </a:ln>
        </p:spPr>
      </p:sp>
      <p:sp>
        <p:nvSpPr>
          <p:cNvPr id="30" name="Text 28"/>
          <p:cNvSpPr/>
          <p:nvPr/>
        </p:nvSpPr>
        <p:spPr>
          <a:xfrm>
            <a:off x="3503615" y="1714500"/>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69.00</a:t>
            </a:r>
            <a:endParaRPr lang="en-US" sz="1050" dirty="0"/>
          </a:p>
        </p:txBody>
      </p:sp>
      <p:sp>
        <p:nvSpPr>
          <p:cNvPr id="31" name="Shape 29"/>
          <p:cNvSpPr/>
          <p:nvPr/>
        </p:nvSpPr>
        <p:spPr>
          <a:xfrm>
            <a:off x="4885091" y="1696212"/>
            <a:ext cx="1721998" cy="390906"/>
          </a:xfrm>
          <a:prstGeom prst="rect">
            <a:avLst/>
          </a:prstGeom>
          <a:solidFill>
            <a:srgbClr val="F5F7FA"/>
          </a:solidFill>
          <a:ln w="12700">
            <a:solidFill>
              <a:srgbClr val="D5DCE3"/>
            </a:solidFill>
            <a:prstDash val="solid"/>
          </a:ln>
        </p:spPr>
      </p:sp>
      <p:sp>
        <p:nvSpPr>
          <p:cNvPr id="32" name="Text 30"/>
          <p:cNvSpPr/>
          <p:nvPr/>
        </p:nvSpPr>
        <p:spPr>
          <a:xfrm>
            <a:off x="4912523" y="1714500"/>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Mirror</a:t>
            </a:r>
            <a:endParaRPr lang="en-US" sz="1050" dirty="0"/>
          </a:p>
        </p:txBody>
      </p:sp>
      <p:sp>
        <p:nvSpPr>
          <p:cNvPr id="33" name="Shape 31"/>
          <p:cNvSpPr/>
          <p:nvPr/>
        </p:nvSpPr>
        <p:spPr>
          <a:xfrm>
            <a:off x="6607089" y="1696212"/>
            <a:ext cx="1878543" cy="390906"/>
          </a:xfrm>
          <a:prstGeom prst="rect">
            <a:avLst/>
          </a:prstGeom>
          <a:solidFill>
            <a:srgbClr val="F5F7FA"/>
          </a:solidFill>
          <a:ln w="12700">
            <a:solidFill>
              <a:srgbClr val="D5DCE3"/>
            </a:solidFill>
            <a:prstDash val="solid"/>
          </a:ln>
        </p:spPr>
      </p:sp>
      <p:sp>
        <p:nvSpPr>
          <p:cNvPr id="34" name="Text 32"/>
          <p:cNvSpPr/>
          <p:nvPr/>
        </p:nvSpPr>
        <p:spPr>
          <a:xfrm>
            <a:off x="6634521" y="1714500"/>
            <a:ext cx="1823679"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44.05</a:t>
            </a:r>
            <a:endParaRPr lang="en-US" sz="1050" dirty="0"/>
          </a:p>
        </p:txBody>
      </p:sp>
      <p:sp>
        <p:nvSpPr>
          <p:cNvPr id="35" name="Shape 33"/>
          <p:cNvSpPr/>
          <p:nvPr/>
        </p:nvSpPr>
        <p:spPr>
          <a:xfrm>
            <a:off x="658368" y="2087118"/>
            <a:ext cx="1408908" cy="390906"/>
          </a:xfrm>
          <a:prstGeom prst="rect">
            <a:avLst/>
          </a:prstGeom>
          <a:solidFill>
            <a:srgbClr val="FFFFFF"/>
          </a:solidFill>
          <a:ln w="12700">
            <a:solidFill>
              <a:srgbClr val="D5DCE3"/>
            </a:solidFill>
            <a:prstDash val="solid"/>
          </a:ln>
        </p:spPr>
      </p:sp>
      <p:sp>
        <p:nvSpPr>
          <p:cNvPr id="36" name="Text 34"/>
          <p:cNvSpPr/>
          <p:nvPr/>
        </p:nvSpPr>
        <p:spPr>
          <a:xfrm>
            <a:off x="685800" y="2105406"/>
            <a:ext cx="1354044" cy="354330"/>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SATNet</a:t>
            </a:r>
            <a:endParaRPr lang="en-US" sz="1050" dirty="0"/>
          </a:p>
        </p:txBody>
      </p:sp>
      <p:sp>
        <p:nvSpPr>
          <p:cNvPr id="37" name="Shape 35"/>
          <p:cNvSpPr/>
          <p:nvPr/>
        </p:nvSpPr>
        <p:spPr>
          <a:xfrm>
            <a:off x="2067276" y="2087118"/>
            <a:ext cx="1408908" cy="390906"/>
          </a:xfrm>
          <a:prstGeom prst="rect">
            <a:avLst/>
          </a:prstGeom>
          <a:solidFill>
            <a:srgbClr val="FFFFFF"/>
          </a:solidFill>
          <a:ln w="12700">
            <a:solidFill>
              <a:srgbClr val="D5DCE3"/>
            </a:solidFill>
            <a:prstDash val="solid"/>
          </a:ln>
        </p:spPr>
      </p:sp>
      <p:sp>
        <p:nvSpPr>
          <p:cNvPr id="38" name="Text 36"/>
          <p:cNvSpPr/>
          <p:nvPr/>
        </p:nvSpPr>
        <p:spPr>
          <a:xfrm>
            <a:off x="2094708" y="2105406"/>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RGBD</a:t>
            </a:r>
            <a:endParaRPr lang="en-US" sz="1050" dirty="0"/>
          </a:p>
        </p:txBody>
      </p:sp>
      <p:sp>
        <p:nvSpPr>
          <p:cNvPr id="39" name="Shape 37"/>
          <p:cNvSpPr/>
          <p:nvPr/>
        </p:nvSpPr>
        <p:spPr>
          <a:xfrm>
            <a:off x="3476183" y="2087118"/>
            <a:ext cx="1408908" cy="390906"/>
          </a:xfrm>
          <a:prstGeom prst="rect">
            <a:avLst/>
          </a:prstGeom>
          <a:solidFill>
            <a:srgbClr val="FFFFFF"/>
          </a:solidFill>
          <a:ln w="12700">
            <a:solidFill>
              <a:srgbClr val="D5DCE3"/>
            </a:solidFill>
            <a:prstDash val="solid"/>
          </a:ln>
        </p:spPr>
      </p:sp>
      <p:sp>
        <p:nvSpPr>
          <p:cNvPr id="40" name="Text 38"/>
          <p:cNvSpPr/>
          <p:nvPr/>
        </p:nvSpPr>
        <p:spPr>
          <a:xfrm>
            <a:off x="3503615" y="2105406"/>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78.42</a:t>
            </a:r>
            <a:endParaRPr lang="en-US" sz="1050" dirty="0"/>
          </a:p>
        </p:txBody>
      </p:sp>
      <p:sp>
        <p:nvSpPr>
          <p:cNvPr id="41" name="Shape 39"/>
          <p:cNvSpPr/>
          <p:nvPr/>
        </p:nvSpPr>
        <p:spPr>
          <a:xfrm>
            <a:off x="4885091" y="2087118"/>
            <a:ext cx="1721998" cy="390906"/>
          </a:xfrm>
          <a:prstGeom prst="rect">
            <a:avLst/>
          </a:prstGeom>
          <a:solidFill>
            <a:srgbClr val="FFFFFF"/>
          </a:solidFill>
          <a:ln w="12700">
            <a:solidFill>
              <a:srgbClr val="D5DCE3"/>
            </a:solidFill>
            <a:prstDash val="solid"/>
          </a:ln>
        </p:spPr>
      </p:sp>
      <p:sp>
        <p:nvSpPr>
          <p:cNvPr id="42" name="Text 40"/>
          <p:cNvSpPr/>
          <p:nvPr/>
        </p:nvSpPr>
        <p:spPr>
          <a:xfrm>
            <a:off x="4912523" y="2105406"/>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Mirror</a:t>
            </a:r>
            <a:endParaRPr lang="en-US" sz="1050" dirty="0"/>
          </a:p>
        </p:txBody>
      </p:sp>
      <p:sp>
        <p:nvSpPr>
          <p:cNvPr id="43" name="Shape 41"/>
          <p:cNvSpPr/>
          <p:nvPr/>
        </p:nvSpPr>
        <p:spPr>
          <a:xfrm>
            <a:off x="6607089" y="2087118"/>
            <a:ext cx="1878543" cy="390906"/>
          </a:xfrm>
          <a:prstGeom prst="rect">
            <a:avLst/>
          </a:prstGeom>
          <a:solidFill>
            <a:srgbClr val="FFFFFF"/>
          </a:solidFill>
          <a:ln w="12700">
            <a:solidFill>
              <a:srgbClr val="D5DCE3"/>
            </a:solidFill>
            <a:prstDash val="solid"/>
          </a:ln>
        </p:spPr>
      </p:sp>
      <p:sp>
        <p:nvSpPr>
          <p:cNvPr id="44" name="Text 42"/>
          <p:cNvSpPr/>
          <p:nvPr/>
        </p:nvSpPr>
        <p:spPr>
          <a:xfrm>
            <a:off x="6634521" y="2105406"/>
            <a:ext cx="1823679"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49.46</a:t>
            </a:r>
            <a:endParaRPr lang="en-US" sz="1050" dirty="0"/>
          </a:p>
        </p:txBody>
      </p:sp>
      <p:sp>
        <p:nvSpPr>
          <p:cNvPr id="45" name="Shape 43"/>
          <p:cNvSpPr/>
          <p:nvPr/>
        </p:nvSpPr>
        <p:spPr>
          <a:xfrm>
            <a:off x="658368" y="2478024"/>
            <a:ext cx="1408908" cy="390906"/>
          </a:xfrm>
          <a:prstGeom prst="rect">
            <a:avLst/>
          </a:prstGeom>
          <a:solidFill>
            <a:srgbClr val="F5F7FA"/>
          </a:solidFill>
          <a:ln w="12700">
            <a:solidFill>
              <a:srgbClr val="D5DCE3"/>
            </a:solidFill>
            <a:prstDash val="solid"/>
          </a:ln>
        </p:spPr>
      </p:sp>
      <p:sp>
        <p:nvSpPr>
          <p:cNvPr id="46" name="Text 44"/>
          <p:cNvSpPr/>
          <p:nvPr/>
        </p:nvSpPr>
        <p:spPr>
          <a:xfrm>
            <a:off x="685800" y="2496312"/>
            <a:ext cx="1354044" cy="354330"/>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EBLNet</a:t>
            </a:r>
            <a:endParaRPr lang="en-US" sz="1050" dirty="0"/>
          </a:p>
        </p:txBody>
      </p:sp>
      <p:sp>
        <p:nvSpPr>
          <p:cNvPr id="47" name="Shape 45"/>
          <p:cNvSpPr/>
          <p:nvPr/>
        </p:nvSpPr>
        <p:spPr>
          <a:xfrm>
            <a:off x="2067276" y="2478024"/>
            <a:ext cx="1408908" cy="390906"/>
          </a:xfrm>
          <a:prstGeom prst="rect">
            <a:avLst/>
          </a:prstGeom>
          <a:solidFill>
            <a:srgbClr val="F5F7FA"/>
          </a:solidFill>
          <a:ln w="12700">
            <a:solidFill>
              <a:srgbClr val="D5DCE3"/>
            </a:solidFill>
            <a:prstDash val="solid"/>
          </a:ln>
        </p:spPr>
      </p:sp>
      <p:sp>
        <p:nvSpPr>
          <p:cNvPr id="48" name="Text 46"/>
          <p:cNvSpPr/>
          <p:nvPr/>
        </p:nvSpPr>
        <p:spPr>
          <a:xfrm>
            <a:off x="2094708" y="2496312"/>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GDD</a:t>
            </a:r>
            <a:endParaRPr lang="en-US" sz="1050" dirty="0"/>
          </a:p>
        </p:txBody>
      </p:sp>
      <p:sp>
        <p:nvSpPr>
          <p:cNvPr id="49" name="Shape 47"/>
          <p:cNvSpPr/>
          <p:nvPr/>
        </p:nvSpPr>
        <p:spPr>
          <a:xfrm>
            <a:off x="3476183" y="2478024"/>
            <a:ext cx="1408908" cy="390906"/>
          </a:xfrm>
          <a:prstGeom prst="rect">
            <a:avLst/>
          </a:prstGeom>
          <a:solidFill>
            <a:srgbClr val="F5F7FA"/>
          </a:solidFill>
          <a:ln w="12700">
            <a:solidFill>
              <a:srgbClr val="D5DCE3"/>
            </a:solidFill>
            <a:prstDash val="solid"/>
          </a:ln>
        </p:spPr>
      </p:sp>
      <p:sp>
        <p:nvSpPr>
          <p:cNvPr id="50" name="Text 48"/>
          <p:cNvSpPr/>
          <p:nvPr/>
        </p:nvSpPr>
        <p:spPr>
          <a:xfrm>
            <a:off x="3503615" y="2496312"/>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88.72</a:t>
            </a:r>
            <a:endParaRPr lang="en-US" sz="1050" dirty="0"/>
          </a:p>
        </p:txBody>
      </p:sp>
      <p:sp>
        <p:nvSpPr>
          <p:cNvPr id="51" name="Shape 49"/>
          <p:cNvSpPr/>
          <p:nvPr/>
        </p:nvSpPr>
        <p:spPr>
          <a:xfrm>
            <a:off x="4885091" y="2478024"/>
            <a:ext cx="1721998" cy="390906"/>
          </a:xfrm>
          <a:prstGeom prst="rect">
            <a:avLst/>
          </a:prstGeom>
          <a:solidFill>
            <a:srgbClr val="F5F7FA"/>
          </a:solidFill>
          <a:ln w="12700">
            <a:solidFill>
              <a:srgbClr val="D5DCE3"/>
            </a:solidFill>
            <a:prstDash val="solid"/>
          </a:ln>
        </p:spPr>
      </p:sp>
      <p:sp>
        <p:nvSpPr>
          <p:cNvPr id="52" name="Text 50"/>
          <p:cNvSpPr/>
          <p:nvPr/>
        </p:nvSpPr>
        <p:spPr>
          <a:xfrm>
            <a:off x="4912523" y="2496312"/>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Glass</a:t>
            </a:r>
            <a:endParaRPr lang="en-US" sz="1050" dirty="0"/>
          </a:p>
        </p:txBody>
      </p:sp>
      <p:sp>
        <p:nvSpPr>
          <p:cNvPr id="53" name="Shape 51"/>
          <p:cNvSpPr/>
          <p:nvPr/>
        </p:nvSpPr>
        <p:spPr>
          <a:xfrm>
            <a:off x="6607089" y="2478024"/>
            <a:ext cx="1878543" cy="390906"/>
          </a:xfrm>
          <a:prstGeom prst="rect">
            <a:avLst/>
          </a:prstGeom>
          <a:solidFill>
            <a:srgbClr val="F5F7FA"/>
          </a:solidFill>
          <a:ln w="12700">
            <a:solidFill>
              <a:srgbClr val="D5DCE3"/>
            </a:solidFill>
            <a:prstDash val="solid"/>
          </a:ln>
        </p:spPr>
      </p:sp>
      <p:sp>
        <p:nvSpPr>
          <p:cNvPr id="54" name="Text 52"/>
          <p:cNvSpPr/>
          <p:nvPr/>
        </p:nvSpPr>
        <p:spPr>
          <a:xfrm>
            <a:off x="6634521" y="2496312"/>
            <a:ext cx="1823679"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60.49</a:t>
            </a:r>
            <a:endParaRPr lang="en-US" sz="1050" dirty="0"/>
          </a:p>
        </p:txBody>
      </p:sp>
      <p:sp>
        <p:nvSpPr>
          <p:cNvPr id="55" name="Shape 53"/>
          <p:cNvSpPr/>
          <p:nvPr/>
        </p:nvSpPr>
        <p:spPr>
          <a:xfrm>
            <a:off x="658368" y="2868930"/>
            <a:ext cx="1408908" cy="390906"/>
          </a:xfrm>
          <a:prstGeom prst="rect">
            <a:avLst/>
          </a:prstGeom>
          <a:solidFill>
            <a:srgbClr val="FFFFFF"/>
          </a:solidFill>
          <a:ln w="12700">
            <a:solidFill>
              <a:srgbClr val="D5DCE3"/>
            </a:solidFill>
            <a:prstDash val="solid"/>
          </a:ln>
        </p:spPr>
      </p:sp>
      <p:sp>
        <p:nvSpPr>
          <p:cNvPr id="56" name="Text 54"/>
          <p:cNvSpPr/>
          <p:nvPr/>
        </p:nvSpPr>
        <p:spPr>
          <a:xfrm>
            <a:off x="685800" y="2887218"/>
            <a:ext cx="1354044" cy="354330"/>
          </a:xfrm>
          <a:prstGeom prst="rect">
            <a:avLst/>
          </a:prstGeom>
          <a:noFill/>
          <a:ln/>
        </p:spPr>
        <p:txBody>
          <a:bodyPr wrap="square" lIns="0" tIns="0" rIns="0" bIns="0" rtlCol="0" anchor="ctr">
            <a:normAutofit/>
          </a:bodyPr>
          <a:lstStyle/>
          <a:p>
            <a:pPr marL="0" indent="0" algn="l">
              <a:buNone/>
            </a:pPr>
            <a:r>
              <a:rPr lang="en-US" sz="1050" dirty="0">
                <a:solidFill>
                  <a:srgbClr val="20242A"/>
                </a:solidFill>
                <a:latin typeface="Yu Gothic" pitchFamily="34" charset="0"/>
                <a:ea typeface="Yu Gothic" pitchFamily="34" charset="-122"/>
                <a:cs typeface="Yu Gothic" pitchFamily="34" charset="-120"/>
              </a:rPr>
              <a:t>EBLNet</a:t>
            </a:r>
            <a:endParaRPr lang="en-US" sz="1050" dirty="0"/>
          </a:p>
        </p:txBody>
      </p:sp>
      <p:sp>
        <p:nvSpPr>
          <p:cNvPr id="57" name="Shape 55"/>
          <p:cNvSpPr/>
          <p:nvPr/>
        </p:nvSpPr>
        <p:spPr>
          <a:xfrm>
            <a:off x="2067276" y="2868930"/>
            <a:ext cx="1408908" cy="390906"/>
          </a:xfrm>
          <a:prstGeom prst="rect">
            <a:avLst/>
          </a:prstGeom>
          <a:solidFill>
            <a:srgbClr val="FFFFFF"/>
          </a:solidFill>
          <a:ln w="12700">
            <a:solidFill>
              <a:srgbClr val="D5DCE3"/>
            </a:solidFill>
            <a:prstDash val="solid"/>
          </a:ln>
        </p:spPr>
      </p:sp>
      <p:sp>
        <p:nvSpPr>
          <p:cNvPr id="58" name="Text 56"/>
          <p:cNvSpPr/>
          <p:nvPr/>
        </p:nvSpPr>
        <p:spPr>
          <a:xfrm>
            <a:off x="2094708" y="2887218"/>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MSD</a:t>
            </a:r>
            <a:endParaRPr lang="en-US" sz="1050" dirty="0"/>
          </a:p>
        </p:txBody>
      </p:sp>
      <p:sp>
        <p:nvSpPr>
          <p:cNvPr id="59" name="Shape 57"/>
          <p:cNvSpPr/>
          <p:nvPr/>
        </p:nvSpPr>
        <p:spPr>
          <a:xfrm>
            <a:off x="3476183" y="2868930"/>
            <a:ext cx="1408908" cy="390906"/>
          </a:xfrm>
          <a:prstGeom prst="rect">
            <a:avLst/>
          </a:prstGeom>
          <a:solidFill>
            <a:srgbClr val="FFFFFF"/>
          </a:solidFill>
          <a:ln w="12700">
            <a:solidFill>
              <a:srgbClr val="D5DCE3"/>
            </a:solidFill>
            <a:prstDash val="solid"/>
          </a:ln>
        </p:spPr>
      </p:sp>
      <p:sp>
        <p:nvSpPr>
          <p:cNvPr id="60" name="Text 58"/>
          <p:cNvSpPr/>
          <p:nvPr/>
        </p:nvSpPr>
        <p:spPr>
          <a:xfrm>
            <a:off x="3503615" y="2887218"/>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80.33</a:t>
            </a:r>
            <a:endParaRPr lang="en-US" sz="1050" dirty="0"/>
          </a:p>
        </p:txBody>
      </p:sp>
      <p:sp>
        <p:nvSpPr>
          <p:cNvPr id="61" name="Shape 59"/>
          <p:cNvSpPr/>
          <p:nvPr/>
        </p:nvSpPr>
        <p:spPr>
          <a:xfrm>
            <a:off x="4885091" y="2868930"/>
            <a:ext cx="1721998" cy="390906"/>
          </a:xfrm>
          <a:prstGeom prst="rect">
            <a:avLst/>
          </a:prstGeom>
          <a:solidFill>
            <a:srgbClr val="FFFFFF"/>
          </a:solidFill>
          <a:ln w="12700">
            <a:solidFill>
              <a:srgbClr val="D5DCE3"/>
            </a:solidFill>
            <a:prstDash val="solid"/>
          </a:ln>
        </p:spPr>
      </p:sp>
      <p:sp>
        <p:nvSpPr>
          <p:cNvPr id="62" name="Text 60"/>
          <p:cNvSpPr/>
          <p:nvPr/>
        </p:nvSpPr>
        <p:spPr>
          <a:xfrm>
            <a:off x="4912523" y="2887218"/>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Mirror</a:t>
            </a:r>
            <a:endParaRPr lang="en-US" sz="1050" dirty="0"/>
          </a:p>
        </p:txBody>
      </p:sp>
      <p:sp>
        <p:nvSpPr>
          <p:cNvPr id="63" name="Shape 61"/>
          <p:cNvSpPr/>
          <p:nvPr/>
        </p:nvSpPr>
        <p:spPr>
          <a:xfrm>
            <a:off x="6607089" y="2868930"/>
            <a:ext cx="1878543" cy="390906"/>
          </a:xfrm>
          <a:prstGeom prst="rect">
            <a:avLst/>
          </a:prstGeom>
          <a:solidFill>
            <a:srgbClr val="FFFFFF"/>
          </a:solidFill>
          <a:ln w="12700">
            <a:solidFill>
              <a:srgbClr val="D5DCE3"/>
            </a:solidFill>
            <a:prstDash val="solid"/>
          </a:ln>
        </p:spPr>
      </p:sp>
      <p:sp>
        <p:nvSpPr>
          <p:cNvPr id="64" name="Text 62"/>
          <p:cNvSpPr/>
          <p:nvPr/>
        </p:nvSpPr>
        <p:spPr>
          <a:xfrm>
            <a:off x="6634521" y="2887218"/>
            <a:ext cx="1823679"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57.61</a:t>
            </a:r>
            <a:endParaRPr lang="en-US" sz="1050" dirty="0"/>
          </a:p>
        </p:txBody>
      </p:sp>
      <p:sp>
        <p:nvSpPr>
          <p:cNvPr id="65" name="Shape 63"/>
          <p:cNvSpPr/>
          <p:nvPr/>
        </p:nvSpPr>
        <p:spPr>
          <a:xfrm>
            <a:off x="658368" y="3259836"/>
            <a:ext cx="1408908" cy="390906"/>
          </a:xfrm>
          <a:prstGeom prst="rect">
            <a:avLst/>
          </a:prstGeom>
          <a:solidFill>
            <a:srgbClr val="F5F7FA"/>
          </a:solidFill>
          <a:ln w="12700">
            <a:solidFill>
              <a:srgbClr val="D5DCE3"/>
            </a:solidFill>
            <a:prstDash val="solid"/>
          </a:ln>
        </p:spPr>
      </p:sp>
      <p:sp>
        <p:nvSpPr>
          <p:cNvPr id="66" name="Text 64"/>
          <p:cNvSpPr/>
          <p:nvPr/>
        </p:nvSpPr>
        <p:spPr>
          <a:xfrm>
            <a:off x="685800" y="3278124"/>
            <a:ext cx="1354044" cy="354330"/>
          </a:xfrm>
          <a:prstGeom prst="rect">
            <a:avLst/>
          </a:prstGeom>
          <a:noFill/>
          <a:ln/>
        </p:spPr>
        <p:txBody>
          <a:bodyPr wrap="square" lIns="0" tIns="0" rIns="0" bIns="0" rtlCol="0" anchor="ctr">
            <a:normAutofit/>
          </a:bodyPr>
          <a:lstStyle/>
          <a:p>
            <a:pPr marL="0" indent="0" algn="l">
              <a:buNone/>
            </a:pPr>
            <a:r>
              <a:rPr lang="en-US" sz="1050" b="1" dirty="0">
                <a:solidFill>
                  <a:srgbClr val="2A9D8F"/>
                </a:solidFill>
                <a:latin typeface="Yu Gothic" pitchFamily="34" charset="0"/>
                <a:ea typeface="Yu Gothic" pitchFamily="34" charset="-122"/>
                <a:cs typeface="Yu Gothic" pitchFamily="34" charset="-120"/>
              </a:rPr>
              <a:t>SATNet*</a:t>
            </a:r>
            <a:endParaRPr lang="en-US" sz="1050" dirty="0"/>
          </a:p>
        </p:txBody>
      </p:sp>
      <p:sp>
        <p:nvSpPr>
          <p:cNvPr id="67" name="Shape 65"/>
          <p:cNvSpPr/>
          <p:nvPr/>
        </p:nvSpPr>
        <p:spPr>
          <a:xfrm>
            <a:off x="2067276" y="3259836"/>
            <a:ext cx="1408908" cy="390906"/>
          </a:xfrm>
          <a:prstGeom prst="rect">
            <a:avLst/>
          </a:prstGeom>
          <a:solidFill>
            <a:srgbClr val="F5F7FA"/>
          </a:solidFill>
          <a:ln w="12700">
            <a:solidFill>
              <a:srgbClr val="D5DCE3"/>
            </a:solidFill>
            <a:prstDash val="solid"/>
          </a:ln>
        </p:spPr>
      </p:sp>
      <p:sp>
        <p:nvSpPr>
          <p:cNvPr id="68" name="Text 66"/>
          <p:cNvSpPr/>
          <p:nvPr/>
        </p:nvSpPr>
        <p:spPr>
          <a:xfrm>
            <a:off x="2094708" y="3278124"/>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3DRef</a:t>
            </a:r>
            <a:endParaRPr lang="en-US" sz="1050" dirty="0"/>
          </a:p>
        </p:txBody>
      </p:sp>
      <p:sp>
        <p:nvSpPr>
          <p:cNvPr id="69" name="Shape 67"/>
          <p:cNvSpPr/>
          <p:nvPr/>
        </p:nvSpPr>
        <p:spPr>
          <a:xfrm>
            <a:off x="3476183" y="3259836"/>
            <a:ext cx="1408908" cy="390906"/>
          </a:xfrm>
          <a:prstGeom prst="rect">
            <a:avLst/>
          </a:prstGeom>
          <a:solidFill>
            <a:srgbClr val="F5F7FA"/>
          </a:solidFill>
          <a:ln w="12700">
            <a:solidFill>
              <a:srgbClr val="D5DCE3"/>
            </a:solidFill>
            <a:prstDash val="solid"/>
          </a:ln>
        </p:spPr>
      </p:sp>
      <p:sp>
        <p:nvSpPr>
          <p:cNvPr id="70" name="Text 68"/>
          <p:cNvSpPr/>
          <p:nvPr/>
        </p:nvSpPr>
        <p:spPr>
          <a:xfrm>
            <a:off x="3503615" y="3278124"/>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a:t>
            </a:r>
            <a:endParaRPr lang="en-US" sz="1050" dirty="0"/>
          </a:p>
        </p:txBody>
      </p:sp>
      <p:sp>
        <p:nvSpPr>
          <p:cNvPr id="71" name="Shape 69"/>
          <p:cNvSpPr/>
          <p:nvPr/>
        </p:nvSpPr>
        <p:spPr>
          <a:xfrm>
            <a:off x="4885091" y="3259836"/>
            <a:ext cx="1721998" cy="390906"/>
          </a:xfrm>
          <a:prstGeom prst="rect">
            <a:avLst/>
          </a:prstGeom>
          <a:solidFill>
            <a:srgbClr val="F5F7FA"/>
          </a:solidFill>
          <a:ln w="12700">
            <a:solidFill>
              <a:srgbClr val="D5DCE3"/>
            </a:solidFill>
            <a:prstDash val="solid"/>
          </a:ln>
        </p:spPr>
      </p:sp>
      <p:sp>
        <p:nvSpPr>
          <p:cNvPr id="72" name="Text 70"/>
          <p:cNvSpPr/>
          <p:nvPr/>
        </p:nvSpPr>
        <p:spPr>
          <a:xfrm>
            <a:off x="4912523" y="3278124"/>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Mirror / All</a:t>
            </a:r>
            <a:endParaRPr lang="en-US" sz="1050" dirty="0"/>
          </a:p>
        </p:txBody>
      </p:sp>
      <p:sp>
        <p:nvSpPr>
          <p:cNvPr id="73" name="Shape 71"/>
          <p:cNvSpPr/>
          <p:nvPr/>
        </p:nvSpPr>
        <p:spPr>
          <a:xfrm>
            <a:off x="6607089" y="3259836"/>
            <a:ext cx="1878543" cy="390906"/>
          </a:xfrm>
          <a:prstGeom prst="rect">
            <a:avLst/>
          </a:prstGeom>
          <a:solidFill>
            <a:srgbClr val="F5F7FA"/>
          </a:solidFill>
          <a:ln w="12700">
            <a:solidFill>
              <a:srgbClr val="D5DCE3"/>
            </a:solidFill>
            <a:prstDash val="solid"/>
          </a:ln>
        </p:spPr>
      </p:sp>
      <p:sp>
        <p:nvSpPr>
          <p:cNvPr id="74" name="Text 72"/>
          <p:cNvSpPr/>
          <p:nvPr/>
        </p:nvSpPr>
        <p:spPr>
          <a:xfrm>
            <a:off x="6634521" y="3278124"/>
            <a:ext cx="1823679" cy="354330"/>
          </a:xfrm>
          <a:prstGeom prst="rect">
            <a:avLst/>
          </a:prstGeom>
          <a:noFill/>
          <a:ln/>
        </p:spPr>
        <p:txBody>
          <a:bodyPr wrap="square" lIns="0" tIns="0" rIns="0" bIns="0" rtlCol="0" anchor="ctr">
            <a:normAutofit/>
          </a:bodyPr>
          <a:lstStyle/>
          <a:p>
            <a:pPr marL="0" indent="0" algn="ctr">
              <a:buNone/>
            </a:pPr>
            <a:r>
              <a:rPr lang="en-US" sz="1050" b="1" dirty="0">
                <a:solidFill>
                  <a:srgbClr val="2A9D8F"/>
                </a:solidFill>
                <a:latin typeface="Yu Gothic" pitchFamily="34" charset="0"/>
                <a:ea typeface="Yu Gothic" pitchFamily="34" charset="-122"/>
                <a:cs typeface="Yu Gothic" pitchFamily="34" charset="-120"/>
              </a:rPr>
              <a:t>82.47 / 68.81</a:t>
            </a:r>
            <a:endParaRPr lang="en-US" sz="1050" dirty="0"/>
          </a:p>
        </p:txBody>
      </p:sp>
      <p:sp>
        <p:nvSpPr>
          <p:cNvPr id="75" name="Shape 73"/>
          <p:cNvSpPr/>
          <p:nvPr/>
        </p:nvSpPr>
        <p:spPr>
          <a:xfrm>
            <a:off x="658368" y="3650742"/>
            <a:ext cx="1408908" cy="390906"/>
          </a:xfrm>
          <a:prstGeom prst="rect">
            <a:avLst/>
          </a:prstGeom>
          <a:solidFill>
            <a:srgbClr val="FFFFFF"/>
          </a:solidFill>
          <a:ln w="12700">
            <a:solidFill>
              <a:srgbClr val="D5DCE3"/>
            </a:solidFill>
            <a:prstDash val="solid"/>
          </a:ln>
        </p:spPr>
      </p:sp>
      <p:sp>
        <p:nvSpPr>
          <p:cNvPr id="76" name="Text 74"/>
          <p:cNvSpPr/>
          <p:nvPr/>
        </p:nvSpPr>
        <p:spPr>
          <a:xfrm>
            <a:off x="685800" y="3669030"/>
            <a:ext cx="1354044" cy="354330"/>
          </a:xfrm>
          <a:prstGeom prst="rect">
            <a:avLst/>
          </a:prstGeom>
          <a:noFill/>
          <a:ln/>
        </p:spPr>
        <p:txBody>
          <a:bodyPr wrap="square" lIns="0" tIns="0" rIns="0" bIns="0" rtlCol="0" anchor="ctr">
            <a:normAutofit/>
          </a:bodyPr>
          <a:lstStyle/>
          <a:p>
            <a:pPr marL="0" indent="0" algn="l">
              <a:buNone/>
            </a:pPr>
            <a:r>
              <a:rPr lang="en-US" sz="1050" b="1" dirty="0">
                <a:solidFill>
                  <a:srgbClr val="2E75B6"/>
                </a:solidFill>
                <a:latin typeface="Yu Gothic" pitchFamily="34" charset="0"/>
                <a:ea typeface="Yu Gothic" pitchFamily="34" charset="-122"/>
                <a:cs typeface="Yu Gothic" pitchFamily="34" charset="-120"/>
              </a:rPr>
              <a:t>EBLNet*</a:t>
            </a:r>
            <a:endParaRPr lang="en-US" sz="1050" dirty="0"/>
          </a:p>
        </p:txBody>
      </p:sp>
      <p:sp>
        <p:nvSpPr>
          <p:cNvPr id="77" name="Shape 75"/>
          <p:cNvSpPr/>
          <p:nvPr/>
        </p:nvSpPr>
        <p:spPr>
          <a:xfrm>
            <a:off x="2067276" y="3650742"/>
            <a:ext cx="1408908" cy="390906"/>
          </a:xfrm>
          <a:prstGeom prst="rect">
            <a:avLst/>
          </a:prstGeom>
          <a:solidFill>
            <a:srgbClr val="FFFFFF"/>
          </a:solidFill>
          <a:ln w="12700">
            <a:solidFill>
              <a:srgbClr val="D5DCE3"/>
            </a:solidFill>
            <a:prstDash val="solid"/>
          </a:ln>
        </p:spPr>
      </p:sp>
      <p:sp>
        <p:nvSpPr>
          <p:cNvPr id="78" name="Text 76"/>
          <p:cNvSpPr/>
          <p:nvPr/>
        </p:nvSpPr>
        <p:spPr>
          <a:xfrm>
            <a:off x="2094708" y="3669030"/>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3DRef</a:t>
            </a:r>
            <a:endParaRPr lang="en-US" sz="1050" dirty="0"/>
          </a:p>
        </p:txBody>
      </p:sp>
      <p:sp>
        <p:nvSpPr>
          <p:cNvPr id="79" name="Shape 77"/>
          <p:cNvSpPr/>
          <p:nvPr/>
        </p:nvSpPr>
        <p:spPr>
          <a:xfrm>
            <a:off x="3476183" y="3650742"/>
            <a:ext cx="1408908" cy="390906"/>
          </a:xfrm>
          <a:prstGeom prst="rect">
            <a:avLst/>
          </a:prstGeom>
          <a:solidFill>
            <a:srgbClr val="FFFFFF"/>
          </a:solidFill>
          <a:ln w="12700">
            <a:solidFill>
              <a:srgbClr val="D5DCE3"/>
            </a:solidFill>
            <a:prstDash val="solid"/>
          </a:ln>
        </p:spPr>
      </p:sp>
      <p:sp>
        <p:nvSpPr>
          <p:cNvPr id="80" name="Text 78"/>
          <p:cNvSpPr/>
          <p:nvPr/>
        </p:nvSpPr>
        <p:spPr>
          <a:xfrm>
            <a:off x="3503615" y="3669030"/>
            <a:ext cx="135404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a:t>
            </a:r>
            <a:endParaRPr lang="en-US" sz="1050" dirty="0"/>
          </a:p>
        </p:txBody>
      </p:sp>
      <p:sp>
        <p:nvSpPr>
          <p:cNvPr id="81" name="Shape 79"/>
          <p:cNvSpPr/>
          <p:nvPr/>
        </p:nvSpPr>
        <p:spPr>
          <a:xfrm>
            <a:off x="4885091" y="3650742"/>
            <a:ext cx="1721998" cy="390906"/>
          </a:xfrm>
          <a:prstGeom prst="rect">
            <a:avLst/>
          </a:prstGeom>
          <a:solidFill>
            <a:srgbClr val="FFFFFF"/>
          </a:solidFill>
          <a:ln w="12700">
            <a:solidFill>
              <a:srgbClr val="D5DCE3"/>
            </a:solidFill>
            <a:prstDash val="solid"/>
          </a:ln>
        </p:spPr>
      </p:sp>
      <p:sp>
        <p:nvSpPr>
          <p:cNvPr id="82" name="Text 80"/>
          <p:cNvSpPr/>
          <p:nvPr/>
        </p:nvSpPr>
        <p:spPr>
          <a:xfrm>
            <a:off x="4912523" y="3669030"/>
            <a:ext cx="1667134" cy="354330"/>
          </a:xfrm>
          <a:prstGeom prst="rect">
            <a:avLst/>
          </a:prstGeom>
          <a:noFill/>
          <a:ln/>
        </p:spPr>
        <p:txBody>
          <a:bodyPr wrap="square" lIns="0" tIns="0" rIns="0" bIns="0" rtlCol="0" anchor="ctr">
            <a:normAutofit/>
          </a:bodyPr>
          <a:lstStyle/>
          <a:p>
            <a:pPr marL="0" indent="0" algn="ctr">
              <a:buNone/>
            </a:pPr>
            <a:r>
              <a:rPr lang="en-US" sz="1050" dirty="0">
                <a:solidFill>
                  <a:srgbClr val="20242A"/>
                </a:solidFill>
                <a:latin typeface="Yu Gothic" pitchFamily="34" charset="0"/>
                <a:ea typeface="Yu Gothic" pitchFamily="34" charset="-122"/>
                <a:cs typeface="Yu Gothic" pitchFamily="34" charset="-120"/>
              </a:rPr>
              <a:t>Glass / All</a:t>
            </a:r>
            <a:endParaRPr lang="en-US" sz="1050" dirty="0"/>
          </a:p>
        </p:txBody>
      </p:sp>
      <p:sp>
        <p:nvSpPr>
          <p:cNvPr id="83" name="Shape 81"/>
          <p:cNvSpPr/>
          <p:nvPr/>
        </p:nvSpPr>
        <p:spPr>
          <a:xfrm>
            <a:off x="6607089" y="3650742"/>
            <a:ext cx="1878543" cy="390906"/>
          </a:xfrm>
          <a:prstGeom prst="rect">
            <a:avLst/>
          </a:prstGeom>
          <a:solidFill>
            <a:srgbClr val="FFFFFF"/>
          </a:solidFill>
          <a:ln w="12700">
            <a:solidFill>
              <a:srgbClr val="D5DCE3"/>
            </a:solidFill>
            <a:prstDash val="solid"/>
          </a:ln>
        </p:spPr>
      </p:sp>
      <p:sp>
        <p:nvSpPr>
          <p:cNvPr id="84" name="Text 82"/>
          <p:cNvSpPr/>
          <p:nvPr/>
        </p:nvSpPr>
        <p:spPr>
          <a:xfrm>
            <a:off x="6634521" y="3669030"/>
            <a:ext cx="1823679" cy="354330"/>
          </a:xfrm>
          <a:prstGeom prst="rect">
            <a:avLst/>
          </a:prstGeom>
          <a:noFill/>
          <a:ln/>
        </p:spPr>
        <p:txBody>
          <a:bodyPr wrap="square" lIns="0" tIns="0" rIns="0" bIns="0" rtlCol="0" anchor="ctr">
            <a:normAutofit/>
          </a:bodyPr>
          <a:lstStyle/>
          <a:p>
            <a:pPr marL="0" indent="0" algn="ctr">
              <a:buNone/>
            </a:pPr>
            <a:r>
              <a:rPr lang="en-US" sz="1050" b="1" dirty="0">
                <a:solidFill>
                  <a:srgbClr val="2E75B6"/>
                </a:solidFill>
                <a:latin typeface="Yu Gothic" pitchFamily="34" charset="0"/>
                <a:ea typeface="Yu Gothic" pitchFamily="34" charset="-122"/>
                <a:cs typeface="Yu Gothic" pitchFamily="34" charset="-120"/>
              </a:rPr>
              <a:t>86.71 / 87.60</a:t>
            </a:r>
            <a:endParaRPr lang="en-US" sz="1050" dirty="0"/>
          </a:p>
        </p:txBody>
      </p:sp>
      <p:sp>
        <p:nvSpPr>
          <p:cNvPr id="85" name="Shape 83"/>
          <p:cNvSpPr/>
          <p:nvPr/>
        </p:nvSpPr>
        <p:spPr>
          <a:xfrm>
            <a:off x="566928" y="4096512"/>
            <a:ext cx="8010144" cy="347472"/>
          </a:xfrm>
          <a:prstGeom prst="rect">
            <a:avLst/>
          </a:prstGeom>
          <a:solidFill>
            <a:srgbClr val="F8FAFB"/>
          </a:solidFill>
          <a:ln w="12700">
            <a:solidFill>
              <a:srgbClr val="ED7D31"/>
            </a:solidFill>
            <a:prstDash val="solid"/>
          </a:ln>
        </p:spPr>
      </p:sp>
      <p:sp>
        <p:nvSpPr>
          <p:cNvPr id="86" name="Shape 84"/>
          <p:cNvSpPr/>
          <p:nvPr/>
        </p:nvSpPr>
        <p:spPr>
          <a:xfrm>
            <a:off x="566928" y="4096512"/>
            <a:ext cx="64008" cy="347472"/>
          </a:xfrm>
          <a:prstGeom prst="rect">
            <a:avLst/>
          </a:prstGeom>
          <a:solidFill>
            <a:srgbClr val="ED7D31"/>
          </a:solidFill>
          <a:ln w="12700">
            <a:solidFill>
              <a:srgbClr val="ED7D31"/>
            </a:solidFill>
            <a:prstDash val="solid"/>
          </a:ln>
        </p:spPr>
      </p:sp>
      <p:sp>
        <p:nvSpPr>
          <p:cNvPr id="87" name="Text 85"/>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最大の知見は、既存データで高得点でも3DRefへ直接generalizeしないというdomain gap。</a:t>
            </a:r>
            <a:endParaRPr lang="en-US" sz="1450" dirty="0"/>
          </a:p>
        </p:txBody>
      </p:sp>
      <p:sp>
        <p:nvSpPr>
          <p:cNvPr id="88" name="Text 86"/>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6; * = retrained on 3DRef</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結果は有用だが、論文本文と表の不一致を分けて読む必要がある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Critical reading</a:t>
            </a:r>
            <a:endParaRPr lang="en-US" sz="950" dirty="0"/>
          </a:p>
        </p:txBody>
      </p:sp>
      <p:sp>
        <p:nvSpPr>
          <p:cNvPr id="5" name="Shape 3"/>
          <p:cNvSpPr/>
          <p:nvPr/>
        </p:nvSpPr>
        <p:spPr>
          <a:xfrm>
            <a:off x="621792" y="960120"/>
            <a:ext cx="3749040" cy="1353312"/>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621792" y="960120"/>
            <a:ext cx="50292" cy="1353312"/>
          </a:xfrm>
          <a:prstGeom prst="rect">
            <a:avLst/>
          </a:prstGeom>
          <a:solidFill>
            <a:srgbClr val="ED7D31"/>
          </a:solidFill>
          <a:ln w="12700">
            <a:solidFill>
              <a:srgbClr val="ED7D31"/>
            </a:solidFill>
            <a:prstDash val="solid"/>
          </a:ln>
        </p:spPr>
      </p:sp>
      <p:sp>
        <p:nvSpPr>
          <p:cNvPr id="7" name="Text 5"/>
          <p:cNvSpPr/>
          <p:nvPr/>
        </p:nvSpPr>
        <p:spPr>
          <a:xfrm>
            <a:off x="786384" y="1033272"/>
            <a:ext cx="347472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Table 5：return改善量</a:t>
            </a:r>
            <a:endParaRPr lang="en-US" sz="1600" dirty="0"/>
          </a:p>
        </p:txBody>
      </p:sp>
      <p:sp>
        <p:nvSpPr>
          <p:cNvPr id="8" name="Text 6"/>
          <p:cNvSpPr/>
          <p:nvPr/>
        </p:nvSpPr>
        <p:spPr>
          <a:xfrm>
            <a:off x="786384" y="1380744"/>
            <a:ext cx="3474720" cy="841248"/>
          </a:xfrm>
          <a:prstGeom prst="rect">
            <a:avLst/>
          </a:prstGeom>
          <a:noFill/>
          <a:ln/>
        </p:spPr>
        <p:txBody>
          <a:bodyPr wrap="square" lIns="12700" tIns="0" rIns="0" bIns="25400" rtlCol="0" anchor="t">
            <a:normAutofit/>
          </a:bodyPr>
          <a:lstStyle/>
          <a:p>
            <a:pPr marL="0" indent="0">
              <a:buNone/>
            </a:pPr>
            <a:r>
              <a:rPr lang="en-US" sz="1340" dirty="0">
                <a:solidFill>
                  <a:srgbClr val="4D5966"/>
                </a:solidFill>
                <a:latin typeface="Yu Gothic" pitchFamily="34" charset="0"/>
                <a:ea typeface="Yu Gothic" pitchFamily="34" charset="-122"/>
                <a:cs typeface="Yu Gothic" pitchFamily="34" charset="-120"/>
              </a:rPr>
              <a:t>表からの差分平均は+0.353 point。本文は“0.5% across methods”と記述。丸め方が明示されない。</a:t>
            </a:r>
            <a:endParaRPr lang="en-US" sz="1340" dirty="0"/>
          </a:p>
        </p:txBody>
      </p:sp>
      <p:sp>
        <p:nvSpPr>
          <p:cNvPr id="9" name="Shape 7"/>
          <p:cNvSpPr/>
          <p:nvPr/>
        </p:nvSpPr>
        <p:spPr>
          <a:xfrm>
            <a:off x="4773168" y="960120"/>
            <a:ext cx="3749040" cy="1353312"/>
          </a:xfrm>
          <a:prstGeom prst="rect">
            <a:avLst/>
          </a:prstGeom>
          <a:solidFill>
            <a:srgbClr val="F9E7E7"/>
          </a:solidFill>
          <a:ln w="12700">
            <a:solidFill>
              <a:srgbClr val="D5DCE3"/>
            </a:solidFill>
            <a:prstDash val="solid"/>
          </a:ln>
          <a:effectLst>
            <a:outerShdw blurRad="25400" dist="50800" dir="2700000" algn="bl" rotWithShape="0">
              <a:srgbClr val="000000">
                <a:alpha val="11000"/>
              </a:srgbClr>
            </a:outerShdw>
          </a:effectLst>
        </p:spPr>
      </p:sp>
      <p:sp>
        <p:nvSpPr>
          <p:cNvPr id="10" name="Shape 8"/>
          <p:cNvSpPr/>
          <p:nvPr/>
        </p:nvSpPr>
        <p:spPr>
          <a:xfrm>
            <a:off x="4773168" y="960120"/>
            <a:ext cx="50292" cy="1353312"/>
          </a:xfrm>
          <a:prstGeom prst="rect">
            <a:avLst/>
          </a:prstGeom>
          <a:solidFill>
            <a:srgbClr val="C94C4C"/>
          </a:solidFill>
          <a:ln w="12700">
            <a:solidFill>
              <a:srgbClr val="C94C4C"/>
            </a:solidFill>
            <a:prstDash val="solid"/>
          </a:ln>
        </p:spPr>
      </p:sp>
      <p:sp>
        <p:nvSpPr>
          <p:cNvPr id="11" name="Text 9"/>
          <p:cNvSpPr/>
          <p:nvPr/>
        </p:nvSpPr>
        <p:spPr>
          <a:xfrm>
            <a:off x="4937760" y="1033272"/>
            <a:ext cx="347472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Table 6：87.60の帰属</a:t>
            </a:r>
            <a:endParaRPr lang="en-US" sz="1600" dirty="0"/>
          </a:p>
        </p:txBody>
      </p:sp>
      <p:sp>
        <p:nvSpPr>
          <p:cNvPr id="12" name="Text 10"/>
          <p:cNvSpPr/>
          <p:nvPr/>
        </p:nvSpPr>
        <p:spPr>
          <a:xfrm>
            <a:off x="4937760" y="1380744"/>
            <a:ext cx="3474720" cy="841248"/>
          </a:xfrm>
          <a:prstGeom prst="rect">
            <a:avLst/>
          </a:prstGeom>
          <a:noFill/>
          <a:ln/>
        </p:spPr>
        <p:txBody>
          <a:bodyPr wrap="square" lIns="12700" tIns="0" rIns="0" bIns="25400" rtlCol="0" anchor="t">
            <a:normAutofit/>
          </a:bodyPr>
          <a:lstStyle/>
          <a:p>
            <a:pPr marL="0" indent="0">
              <a:buNone/>
            </a:pPr>
            <a:r>
              <a:rPr lang="en-US" sz="1340" dirty="0">
                <a:solidFill>
                  <a:srgbClr val="4D5966"/>
                </a:solidFill>
                <a:latin typeface="Yu Gothic" pitchFamily="34" charset="0"/>
                <a:ea typeface="Yu Gothic" pitchFamily="34" charset="-122"/>
                <a:cs typeface="Yu Gothic" pitchFamily="34" charset="-120"/>
              </a:rPr>
              <a:t>表ではEBLNet*の3DRef-All=87.60。本文は“Retrained SATNet ... 87.6%”と記述し、手法名が不一致。</a:t>
            </a:r>
            <a:endParaRPr lang="en-US" sz="1340" dirty="0"/>
          </a:p>
        </p:txBody>
      </p:sp>
      <p:sp>
        <p:nvSpPr>
          <p:cNvPr id="13" name="Shape 11"/>
          <p:cNvSpPr/>
          <p:nvPr/>
        </p:nvSpPr>
        <p:spPr>
          <a:xfrm>
            <a:off x="621792" y="2651760"/>
            <a:ext cx="3749040" cy="1115568"/>
          </a:xfrm>
          <a:prstGeom prst="rect">
            <a:avLst/>
          </a:prstGeom>
          <a:solidFill>
            <a:srgbClr val="E7F4F2"/>
          </a:solidFill>
          <a:ln w="12700">
            <a:solidFill>
              <a:srgbClr val="D5DCE3"/>
            </a:solidFill>
            <a:prstDash val="solid"/>
          </a:ln>
          <a:effectLst>
            <a:outerShdw blurRad="25400" dist="50800" dir="2700000" algn="bl" rotWithShape="0">
              <a:srgbClr val="000000">
                <a:alpha val="11000"/>
              </a:srgbClr>
            </a:outerShdw>
          </a:effectLst>
        </p:spPr>
      </p:sp>
      <p:sp>
        <p:nvSpPr>
          <p:cNvPr id="14" name="Shape 12"/>
          <p:cNvSpPr/>
          <p:nvPr/>
        </p:nvSpPr>
        <p:spPr>
          <a:xfrm>
            <a:off x="621792" y="2651760"/>
            <a:ext cx="50292" cy="1115568"/>
          </a:xfrm>
          <a:prstGeom prst="rect">
            <a:avLst/>
          </a:prstGeom>
          <a:solidFill>
            <a:srgbClr val="2A9D8F"/>
          </a:solidFill>
          <a:ln w="12700">
            <a:solidFill>
              <a:srgbClr val="2A9D8F"/>
            </a:solidFill>
            <a:prstDash val="solid"/>
          </a:ln>
        </p:spPr>
      </p:sp>
      <p:sp>
        <p:nvSpPr>
          <p:cNvPr id="15" name="Text 13"/>
          <p:cNvSpPr/>
          <p:nvPr/>
        </p:nvSpPr>
        <p:spPr>
          <a:xfrm>
            <a:off x="786384" y="2724912"/>
            <a:ext cx="347472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論文が支持する主張</a:t>
            </a:r>
            <a:endParaRPr lang="en-US" sz="1600" dirty="0"/>
          </a:p>
        </p:txBody>
      </p:sp>
      <p:sp>
        <p:nvSpPr>
          <p:cNvPr id="16" name="Text 14"/>
          <p:cNvSpPr/>
          <p:nvPr/>
        </p:nvSpPr>
        <p:spPr>
          <a:xfrm>
            <a:off x="786384" y="3072384"/>
            <a:ext cx="3474720" cy="603504"/>
          </a:xfrm>
          <a:prstGeom prst="rect">
            <a:avLst/>
          </a:prstGeom>
          <a:noFill/>
          <a:ln/>
        </p:spPr>
        <p:txBody>
          <a:bodyPr wrap="square" lIns="12700" tIns="0" rIns="0" bIns="25400" rtlCol="0" anchor="t">
            <a:normAutofit/>
          </a:bodyPr>
          <a:lstStyle/>
          <a:p>
            <a:pPr marL="0" indent="0">
              <a:buNone/>
            </a:pPr>
            <a:r>
              <a:rPr lang="en-US" sz="1340" dirty="0">
                <a:solidFill>
                  <a:srgbClr val="4D5966"/>
                </a:solidFill>
                <a:latin typeface="Yu Gothic" pitchFamily="34" charset="0"/>
                <a:ea typeface="Yu Gothic" pitchFamily="34" charset="-122"/>
                <a:cs typeface="Yu Gothic" pitchFamily="34" charset="-120"/>
              </a:rPr>
              <a:t>3D labelsを構築できる／baselineを提示できる／late returnが反射現象に偏る。</a:t>
            </a:r>
            <a:endParaRPr lang="en-US" sz="1340" dirty="0"/>
          </a:p>
        </p:txBody>
      </p:sp>
      <p:sp>
        <p:nvSpPr>
          <p:cNvPr id="17" name="Shape 15"/>
          <p:cNvSpPr/>
          <p:nvPr/>
        </p:nvSpPr>
        <p:spPr>
          <a:xfrm>
            <a:off x="4773168" y="2651760"/>
            <a:ext cx="3749040" cy="1115568"/>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18" name="Shape 16"/>
          <p:cNvSpPr/>
          <p:nvPr/>
        </p:nvSpPr>
        <p:spPr>
          <a:xfrm>
            <a:off x="4773168" y="2651760"/>
            <a:ext cx="50292" cy="1115568"/>
          </a:xfrm>
          <a:prstGeom prst="rect">
            <a:avLst/>
          </a:prstGeom>
          <a:solidFill>
            <a:srgbClr val="2E75B6"/>
          </a:solidFill>
          <a:ln w="12700">
            <a:solidFill>
              <a:srgbClr val="2E75B6"/>
            </a:solidFill>
            <a:prstDash val="solid"/>
          </a:ln>
        </p:spPr>
      </p:sp>
      <p:sp>
        <p:nvSpPr>
          <p:cNvPr id="19" name="Text 17"/>
          <p:cNvSpPr/>
          <p:nvPr/>
        </p:nvSpPr>
        <p:spPr>
          <a:xfrm>
            <a:off x="4937760" y="2724912"/>
            <a:ext cx="347472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まだ支持しない主張</a:t>
            </a:r>
            <a:endParaRPr lang="en-US" sz="1600" dirty="0"/>
          </a:p>
        </p:txBody>
      </p:sp>
      <p:sp>
        <p:nvSpPr>
          <p:cNvPr id="20" name="Text 18"/>
          <p:cNvSpPr/>
          <p:nvPr/>
        </p:nvSpPr>
        <p:spPr>
          <a:xfrm>
            <a:off x="4937760" y="3072384"/>
            <a:ext cx="3474720" cy="603504"/>
          </a:xfrm>
          <a:prstGeom prst="rect">
            <a:avLst/>
          </a:prstGeom>
          <a:noFill/>
          <a:ln/>
        </p:spPr>
        <p:txBody>
          <a:bodyPr wrap="square" lIns="12700" tIns="0" rIns="0" bIns="25400" rtlCol="0" anchor="t">
            <a:normAutofit/>
          </a:bodyPr>
          <a:lstStyle/>
          <a:p>
            <a:pPr marL="0" indent="0">
              <a:buNone/>
            </a:pPr>
            <a:r>
              <a:rPr lang="en-US" sz="1340" dirty="0">
                <a:solidFill>
                  <a:srgbClr val="4D5966"/>
                </a:solidFill>
                <a:latin typeface="Yu Gothic" pitchFamily="34" charset="0"/>
                <a:ea typeface="Yu Gothic" pitchFamily="34" charset="-122"/>
                <a:cs typeface="Yu Gothic" pitchFamily="34" charset="-120"/>
              </a:rPr>
              <a:t>RGB-LiDAR fusionの有効性／未知環境での汎化／sensor差の因果説明。</a:t>
            </a:r>
            <a:endParaRPr lang="en-US" sz="1340" dirty="0"/>
          </a:p>
        </p:txBody>
      </p:sp>
      <p:sp>
        <p:nvSpPr>
          <p:cNvPr id="21" name="Shape 19"/>
          <p:cNvSpPr/>
          <p:nvPr/>
        </p:nvSpPr>
        <p:spPr>
          <a:xfrm>
            <a:off x="566928" y="4096512"/>
            <a:ext cx="8010144" cy="347472"/>
          </a:xfrm>
          <a:prstGeom prst="rect">
            <a:avLst/>
          </a:prstGeom>
          <a:solidFill>
            <a:srgbClr val="F8FAFB"/>
          </a:solidFill>
          <a:ln w="12700">
            <a:solidFill>
              <a:srgbClr val="17365D"/>
            </a:solidFill>
            <a:prstDash val="solid"/>
          </a:ln>
        </p:spPr>
      </p:sp>
      <p:sp>
        <p:nvSpPr>
          <p:cNvPr id="22" name="Shape 20"/>
          <p:cNvSpPr/>
          <p:nvPr/>
        </p:nvSpPr>
        <p:spPr>
          <a:xfrm>
            <a:off x="566928" y="4096512"/>
            <a:ext cx="64008" cy="347472"/>
          </a:xfrm>
          <a:prstGeom prst="rect">
            <a:avLst/>
          </a:prstGeom>
          <a:solidFill>
            <a:srgbClr val="17365D"/>
          </a:solidFill>
          <a:ln w="12700">
            <a:solidFill>
              <a:srgbClr val="17365D"/>
            </a:solidFill>
            <a:prstDash val="solid"/>
          </a:ln>
        </p:spPr>
      </p:sp>
      <p:sp>
        <p:nvSpPr>
          <p:cNvPr id="23" name="Text 21"/>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教授向け説明では、著者の結論と表から直接読める証拠を明確に区別する。</a:t>
            </a:r>
            <a:endParaRPr lang="en-US" sz="1450" dirty="0"/>
          </a:p>
        </p:txBody>
      </p:sp>
      <p:sp>
        <p:nvSpPr>
          <p:cNvPr id="24" name="Text 22"/>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Sec. 4.1–4.2; Tables 5–6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3DRefは基盤として強い一方、環境・注釈・評価設計に限界が残る</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Limitations</a:t>
            </a:r>
            <a:endParaRPr lang="en-US" sz="950" dirty="0"/>
          </a:p>
        </p:txBody>
      </p:sp>
      <p:sp>
        <p:nvSpPr>
          <p:cNvPr id="5" name="Shape 3"/>
          <p:cNvSpPr/>
          <p:nvPr/>
        </p:nvSpPr>
        <p:spPr>
          <a:xfrm>
            <a:off x="594360" y="932688"/>
            <a:ext cx="2395728" cy="2578608"/>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594360" y="932688"/>
            <a:ext cx="50292" cy="2578608"/>
          </a:xfrm>
          <a:prstGeom prst="rect">
            <a:avLst/>
          </a:prstGeom>
          <a:solidFill>
            <a:srgbClr val="ED7D31"/>
          </a:solidFill>
          <a:ln w="12700">
            <a:solidFill>
              <a:srgbClr val="ED7D31"/>
            </a:solidFill>
            <a:prstDash val="solid"/>
          </a:ln>
        </p:spPr>
      </p:sp>
      <p:sp>
        <p:nvSpPr>
          <p:cNvPr id="7" name="Text 5"/>
          <p:cNvSpPr/>
          <p:nvPr/>
        </p:nvSpPr>
        <p:spPr>
          <a:xfrm>
            <a:off x="758952" y="1005840"/>
            <a:ext cx="212140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① Coverage</a:t>
            </a:r>
            <a:endParaRPr lang="en-US" sz="1600" dirty="0"/>
          </a:p>
        </p:txBody>
      </p:sp>
      <p:sp>
        <p:nvSpPr>
          <p:cNvPr id="8" name="Text 6"/>
          <p:cNvSpPr/>
          <p:nvPr/>
        </p:nvSpPr>
        <p:spPr>
          <a:xfrm>
            <a:off x="758952" y="1353312"/>
            <a:ext cx="2121408" cy="2066544"/>
          </a:xfrm>
          <a:prstGeom prst="rect">
            <a:avLst/>
          </a:prstGeom>
          <a:noFill/>
          <a:ln/>
        </p:spPr>
        <p:txBody>
          <a:bodyPr wrap="square" lIns="12700" tIns="0" rIns="0" bIns="25400" rtlCol="0" anchor="t">
            <a:normAutofit/>
          </a:bodyPr>
          <a:lstStyle/>
          <a:p>
            <a:pPr marL="0" indent="0">
              <a:buNone/>
            </a:pPr>
            <a:r>
              <a:rPr lang="en-US" sz="1400" dirty="0">
                <a:solidFill>
                  <a:srgbClr val="4D5966"/>
                </a:solidFill>
                <a:latin typeface="Yu Gothic" pitchFamily="34" charset="0"/>
                <a:ea typeface="Yu Gothic" pitchFamily="34" charset="-122"/>
                <a:cs typeface="Yu Gothic" pitchFamily="34" charset="-120"/>
              </a:rPr>
              <a:t>屋内3 sequenceが中心。屋外、水面、雨天、車載速度、多様な材質・経年変化は未評価。</a:t>
            </a:r>
            <a:endParaRPr lang="en-US" sz="1400" dirty="0"/>
          </a:p>
        </p:txBody>
      </p:sp>
      <p:sp>
        <p:nvSpPr>
          <p:cNvPr id="9" name="Shape 7"/>
          <p:cNvSpPr/>
          <p:nvPr/>
        </p:nvSpPr>
        <p:spPr>
          <a:xfrm>
            <a:off x="3374136" y="932688"/>
            <a:ext cx="2395728" cy="2578608"/>
          </a:xfrm>
          <a:prstGeom prst="rect">
            <a:avLst/>
          </a:prstGeom>
          <a:solidFill>
            <a:srgbClr val="F9E7E7"/>
          </a:solidFill>
          <a:ln w="12700">
            <a:solidFill>
              <a:srgbClr val="D5DCE3"/>
            </a:solidFill>
            <a:prstDash val="solid"/>
          </a:ln>
          <a:effectLst>
            <a:outerShdw blurRad="25400" dist="50800" dir="2700000" algn="bl" rotWithShape="0">
              <a:srgbClr val="000000">
                <a:alpha val="11000"/>
              </a:srgbClr>
            </a:outerShdw>
          </a:effectLst>
        </p:spPr>
      </p:sp>
      <p:sp>
        <p:nvSpPr>
          <p:cNvPr id="10" name="Shape 8"/>
          <p:cNvSpPr/>
          <p:nvPr/>
        </p:nvSpPr>
        <p:spPr>
          <a:xfrm>
            <a:off x="3374136" y="932688"/>
            <a:ext cx="50292" cy="2578608"/>
          </a:xfrm>
          <a:prstGeom prst="rect">
            <a:avLst/>
          </a:prstGeom>
          <a:solidFill>
            <a:srgbClr val="C94C4C"/>
          </a:solidFill>
          <a:ln w="12700">
            <a:solidFill>
              <a:srgbClr val="C94C4C"/>
            </a:solidFill>
            <a:prstDash val="solid"/>
          </a:ln>
        </p:spPr>
      </p:sp>
      <p:sp>
        <p:nvSpPr>
          <p:cNvPr id="11" name="Text 9"/>
          <p:cNvSpPr/>
          <p:nvPr/>
        </p:nvSpPr>
        <p:spPr>
          <a:xfrm>
            <a:off x="3538728" y="1005840"/>
            <a:ext cx="212140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② Ground truth</a:t>
            </a:r>
            <a:endParaRPr lang="en-US" sz="1600" dirty="0"/>
          </a:p>
        </p:txBody>
      </p:sp>
      <p:sp>
        <p:nvSpPr>
          <p:cNvPr id="12" name="Text 10"/>
          <p:cNvSpPr/>
          <p:nvPr/>
        </p:nvSpPr>
        <p:spPr>
          <a:xfrm>
            <a:off x="3538728" y="1353312"/>
            <a:ext cx="2121408" cy="2066544"/>
          </a:xfrm>
          <a:prstGeom prst="rect">
            <a:avLst/>
          </a:prstGeom>
          <a:noFill/>
          <a:ln/>
        </p:spPr>
        <p:txBody>
          <a:bodyPr wrap="square" lIns="12700" tIns="0" rIns="0" bIns="25400" rtlCol="0" anchor="t">
            <a:normAutofit/>
          </a:bodyPr>
          <a:lstStyle/>
          <a:p>
            <a:pPr marL="0" indent="0">
              <a:buNone/>
            </a:pPr>
            <a:r>
              <a:rPr lang="en-US" sz="1400" dirty="0">
                <a:solidFill>
                  <a:srgbClr val="4D5966"/>
                </a:solidFill>
                <a:latin typeface="Yu Gothic" pitchFamily="34" charset="0"/>
                <a:ea typeface="Yu Gothic" pitchFamily="34" charset="-122"/>
                <a:cs typeface="Yu Gothic" pitchFamily="34" charset="-120"/>
              </a:rPr>
              <a:t>mesh修正は人手依存。ray castingは境界、薄い面、pose/extrinsic誤差に敏感。</a:t>
            </a:r>
            <a:endParaRPr lang="en-US" sz="1400" dirty="0"/>
          </a:p>
        </p:txBody>
      </p:sp>
      <p:sp>
        <p:nvSpPr>
          <p:cNvPr id="13" name="Shape 11"/>
          <p:cNvSpPr/>
          <p:nvPr/>
        </p:nvSpPr>
        <p:spPr>
          <a:xfrm>
            <a:off x="6153912" y="932688"/>
            <a:ext cx="2395728" cy="2578608"/>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14" name="Shape 12"/>
          <p:cNvSpPr/>
          <p:nvPr/>
        </p:nvSpPr>
        <p:spPr>
          <a:xfrm>
            <a:off x="6153912" y="932688"/>
            <a:ext cx="50292" cy="2578608"/>
          </a:xfrm>
          <a:prstGeom prst="rect">
            <a:avLst/>
          </a:prstGeom>
          <a:solidFill>
            <a:srgbClr val="2E75B6"/>
          </a:solidFill>
          <a:ln w="12700">
            <a:solidFill>
              <a:srgbClr val="2E75B6"/>
            </a:solidFill>
            <a:prstDash val="solid"/>
          </a:ln>
        </p:spPr>
      </p:sp>
      <p:sp>
        <p:nvSpPr>
          <p:cNvPr id="15" name="Text 13"/>
          <p:cNvSpPr/>
          <p:nvPr/>
        </p:nvSpPr>
        <p:spPr>
          <a:xfrm>
            <a:off x="6318504" y="1005840"/>
            <a:ext cx="2121408"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③ Benchmark</a:t>
            </a:r>
            <a:endParaRPr lang="en-US" sz="1600" dirty="0"/>
          </a:p>
        </p:txBody>
      </p:sp>
      <p:sp>
        <p:nvSpPr>
          <p:cNvPr id="16" name="Text 14"/>
          <p:cNvSpPr/>
          <p:nvPr/>
        </p:nvSpPr>
        <p:spPr>
          <a:xfrm>
            <a:off x="6318504" y="1353312"/>
            <a:ext cx="2121408" cy="2066544"/>
          </a:xfrm>
          <a:prstGeom prst="rect">
            <a:avLst/>
          </a:prstGeom>
          <a:noFill/>
          <a:ln/>
        </p:spPr>
        <p:txBody>
          <a:bodyPr wrap="square" lIns="12700" tIns="0" rIns="0" bIns="25400" rtlCol="0" anchor="t">
            <a:normAutofit/>
          </a:bodyPr>
          <a:lstStyle/>
          <a:p>
            <a:pPr marL="0" indent="0">
              <a:buNone/>
            </a:pPr>
            <a:r>
              <a:rPr lang="en-US" sz="1400" dirty="0">
                <a:solidFill>
                  <a:srgbClr val="4D5966"/>
                </a:solidFill>
                <a:latin typeface="Yu Gothic" pitchFamily="34" charset="0"/>
                <a:ea typeface="Yu Gothic" pitchFamily="34" charset="-122"/>
                <a:cs typeface="Yu Gothic" pitchFamily="34" charset="-120"/>
              </a:rPr>
              <a:t>単一モダリティ・segmentation中心。汎化、navigation改善、fusionの実証は未実施。</a:t>
            </a:r>
            <a:endParaRPr lang="en-US" sz="1400" dirty="0"/>
          </a:p>
        </p:txBody>
      </p:sp>
      <p:sp>
        <p:nvSpPr>
          <p:cNvPr id="17" name="Shape 15"/>
          <p:cNvSpPr/>
          <p:nvPr/>
        </p:nvSpPr>
        <p:spPr>
          <a:xfrm>
            <a:off x="960120" y="3730752"/>
            <a:ext cx="7223760" cy="292608"/>
          </a:xfrm>
          <a:prstGeom prst="roundRect">
            <a:avLst>
              <a:gd name="adj" fmla="val 15625"/>
            </a:avLst>
          </a:prstGeom>
          <a:solidFill>
            <a:srgbClr val="E7F4F2"/>
          </a:solidFill>
          <a:ln w="12700">
            <a:solidFill>
              <a:srgbClr val="2A9D8F"/>
            </a:solidFill>
            <a:prstDash val="solid"/>
          </a:ln>
        </p:spPr>
      </p:sp>
      <p:sp>
        <p:nvSpPr>
          <p:cNvPr id="18" name="Text 16"/>
          <p:cNvSpPr/>
          <p:nvPr/>
        </p:nvSpPr>
        <p:spPr>
          <a:xfrm>
            <a:off x="960120" y="3730752"/>
            <a:ext cx="7223760" cy="292608"/>
          </a:xfrm>
          <a:prstGeom prst="rect">
            <a:avLst/>
          </a:prstGeom>
          <a:noFill/>
          <a:ln/>
        </p:spPr>
        <p:txBody>
          <a:bodyPr wrap="square" lIns="0" tIns="0" rIns="0" bIns="0" rtlCol="0" anchor="ctr">
            <a:normAutofit/>
          </a:bodyPr>
          <a:lstStyle/>
          <a:p>
            <a:pPr marL="0" indent="0" algn="ctr">
              <a:buNone/>
            </a:pPr>
            <a:r>
              <a:rPr lang="en-US" sz="1250" b="1" dirty="0">
                <a:solidFill>
                  <a:srgbClr val="2A9D8F"/>
                </a:solidFill>
                <a:latin typeface="Yu Gothic" pitchFamily="34" charset="0"/>
                <a:ea typeface="Yu Gothic" pitchFamily="34" charset="-122"/>
                <a:cs typeface="Yu Gothic" pitchFamily="34" charset="-120"/>
              </a:rPr>
              <a:t>著者のfuture work：センサ・材質・環境拡張／RGB-LiDAR fusion／depth・polarization／self・semi-supervised</a:t>
            </a:r>
            <a:endParaRPr lang="en-US" sz="1250" dirty="0"/>
          </a:p>
        </p:txBody>
      </p:sp>
      <p:sp>
        <p:nvSpPr>
          <p:cNvPr id="19" name="Shape 17"/>
          <p:cNvSpPr/>
          <p:nvPr/>
        </p:nvSpPr>
        <p:spPr>
          <a:xfrm>
            <a:off x="566928" y="4096512"/>
            <a:ext cx="8010144" cy="347472"/>
          </a:xfrm>
          <a:prstGeom prst="rect">
            <a:avLst/>
          </a:prstGeom>
          <a:solidFill>
            <a:srgbClr val="F8FAFB"/>
          </a:solidFill>
          <a:ln w="12700">
            <a:solidFill>
              <a:srgbClr val="2A9D8F"/>
            </a:solidFill>
            <a:prstDash val="solid"/>
          </a:ln>
        </p:spPr>
      </p:sp>
      <p:sp>
        <p:nvSpPr>
          <p:cNvPr id="20" name="Shape 18"/>
          <p:cNvSpPr/>
          <p:nvPr/>
        </p:nvSpPr>
        <p:spPr>
          <a:xfrm>
            <a:off x="566928" y="4096512"/>
            <a:ext cx="64008" cy="347472"/>
          </a:xfrm>
          <a:prstGeom prst="rect">
            <a:avLst/>
          </a:prstGeom>
          <a:solidFill>
            <a:srgbClr val="2A9D8F"/>
          </a:solidFill>
          <a:ln w="12700">
            <a:solidFill>
              <a:srgbClr val="2A9D8F"/>
            </a:solidFill>
            <a:prstDash val="solid"/>
          </a:ln>
        </p:spPr>
      </p:sp>
      <p:sp>
        <p:nvSpPr>
          <p:cNvPr id="21" name="Text 19"/>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次の研究課題は、より多様な条件での汎化と、検出がmapping/navigationをどれだけ改善するかの評価。</a:t>
            </a:r>
            <a:endParaRPr lang="en-US" sz="1450" dirty="0"/>
          </a:p>
        </p:txBody>
      </p:sp>
      <p:sp>
        <p:nvSpPr>
          <p:cNvPr id="22" name="Text 20"/>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Conclusion; limitations are presentation analysis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参考文献</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References</a:t>
            </a:r>
            <a:endParaRPr lang="en-US" sz="950" dirty="0"/>
          </a:p>
        </p:txBody>
      </p:sp>
      <p:sp>
        <p:nvSpPr>
          <p:cNvPr id="5" name="Text 3"/>
          <p:cNvSpPr/>
          <p:nvPr/>
        </p:nvSpPr>
        <p:spPr>
          <a:xfrm>
            <a:off x="658368" y="877824"/>
            <a:ext cx="7827264" cy="347472"/>
          </a:xfrm>
          <a:prstGeom prst="rect">
            <a:avLst/>
          </a:prstGeom>
          <a:noFill/>
          <a:ln/>
        </p:spPr>
        <p:txBody>
          <a:bodyPr wrap="square" lIns="0" tIns="0" rIns="0" bIns="0" rtlCol="0" anchor="t">
            <a:normAutofit/>
          </a:bodyPr>
          <a:lstStyle/>
          <a:p>
            <a:pPr marL="0" indent="0">
              <a:buNone/>
            </a:pPr>
            <a:r>
              <a:rPr lang="en-US" sz="1220" b="1" dirty="0">
                <a:solidFill>
                  <a:srgbClr val="17365D"/>
                </a:solidFill>
                <a:latin typeface="Yu Gothic" pitchFamily="34" charset="0"/>
                <a:ea typeface="Yu Gothic" pitchFamily="34" charset="-122"/>
                <a:cs typeface="Yu Gothic" pitchFamily="34" charset="-120"/>
              </a:rPr>
              <a:t>[1] X. Zhao and S. Schwertfeger, “3DRef: 3D Dataset and Benchmark for Reflection Detection in RGB and Lidar Data,” 3DV, 2024. arXiv:2403.06538.</a:t>
            </a:r>
            <a:endParaRPr lang="en-US" sz="1220" dirty="0"/>
          </a:p>
        </p:txBody>
      </p:sp>
      <p:sp>
        <p:nvSpPr>
          <p:cNvPr id="6" name="Shape 4"/>
          <p:cNvSpPr/>
          <p:nvPr/>
        </p:nvSpPr>
        <p:spPr>
          <a:xfrm>
            <a:off x="658368" y="1243584"/>
            <a:ext cx="7827264" cy="0"/>
          </a:xfrm>
          <a:prstGeom prst="line">
            <a:avLst/>
          </a:prstGeom>
          <a:noFill/>
          <a:ln w="12700">
            <a:solidFill>
              <a:srgbClr val="D5DCE3"/>
            </a:solidFill>
            <a:prstDash val="solid"/>
            <a:headEnd type="none"/>
            <a:tailEnd type="none"/>
          </a:ln>
        </p:spPr>
      </p:sp>
      <p:sp>
        <p:nvSpPr>
          <p:cNvPr id="7" name="Text 5"/>
          <p:cNvSpPr/>
          <p:nvPr/>
        </p:nvSpPr>
        <p:spPr>
          <a:xfrm>
            <a:off x="658368" y="1307592"/>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[2] Y. Mei et al., “Don't Hit Me! Glass Detection in Real-world Scenes,” CVPR, 2020. (GDD / GlassSemNet)</a:t>
            </a:r>
            <a:endParaRPr lang="en-US" sz="1220" dirty="0"/>
          </a:p>
        </p:txBody>
      </p:sp>
      <p:sp>
        <p:nvSpPr>
          <p:cNvPr id="8" name="Shape 6"/>
          <p:cNvSpPr/>
          <p:nvPr/>
        </p:nvSpPr>
        <p:spPr>
          <a:xfrm>
            <a:off x="658368" y="1673352"/>
            <a:ext cx="7827264" cy="0"/>
          </a:xfrm>
          <a:prstGeom prst="line">
            <a:avLst/>
          </a:prstGeom>
          <a:noFill/>
          <a:ln w="12700">
            <a:solidFill>
              <a:srgbClr val="D5DCE3"/>
            </a:solidFill>
            <a:prstDash val="solid"/>
            <a:headEnd type="none"/>
            <a:tailEnd type="none"/>
          </a:ln>
        </p:spPr>
      </p:sp>
      <p:sp>
        <p:nvSpPr>
          <p:cNvPr id="9" name="Text 7"/>
          <p:cNvSpPr/>
          <p:nvPr/>
        </p:nvSpPr>
        <p:spPr>
          <a:xfrm>
            <a:off x="658368" y="1737360"/>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[3] H. Lin et al., “Mirror Detection via Semantic-aware Context Contrast,” AAAI, 2020. (MSD)</a:t>
            </a:r>
            <a:endParaRPr lang="en-US" sz="1220" dirty="0"/>
          </a:p>
        </p:txBody>
      </p:sp>
      <p:sp>
        <p:nvSpPr>
          <p:cNvPr id="10" name="Shape 8"/>
          <p:cNvSpPr/>
          <p:nvPr/>
        </p:nvSpPr>
        <p:spPr>
          <a:xfrm>
            <a:off x="658368" y="2103120"/>
            <a:ext cx="7827264" cy="0"/>
          </a:xfrm>
          <a:prstGeom prst="line">
            <a:avLst/>
          </a:prstGeom>
          <a:noFill/>
          <a:ln w="12700">
            <a:solidFill>
              <a:srgbClr val="D5DCE3"/>
            </a:solidFill>
            <a:prstDash val="solid"/>
            <a:headEnd type="none"/>
            <a:tailEnd type="none"/>
          </a:ln>
        </p:spPr>
      </p:sp>
      <p:sp>
        <p:nvSpPr>
          <p:cNvPr id="11" name="Text 9"/>
          <p:cNvSpPr/>
          <p:nvPr/>
        </p:nvSpPr>
        <p:spPr>
          <a:xfrm>
            <a:off x="658368" y="2167128"/>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[4] J. Xu et al., “Mirror3D: Depth Refinement for Mirror Surfaces,” CVPR, 2021.</a:t>
            </a:r>
            <a:endParaRPr lang="en-US" sz="1220" dirty="0"/>
          </a:p>
        </p:txBody>
      </p:sp>
      <p:sp>
        <p:nvSpPr>
          <p:cNvPr id="12" name="Shape 10"/>
          <p:cNvSpPr/>
          <p:nvPr/>
        </p:nvSpPr>
        <p:spPr>
          <a:xfrm>
            <a:off x="658368" y="2532888"/>
            <a:ext cx="7827264" cy="0"/>
          </a:xfrm>
          <a:prstGeom prst="line">
            <a:avLst/>
          </a:prstGeom>
          <a:noFill/>
          <a:ln w="12700">
            <a:solidFill>
              <a:srgbClr val="D5DCE3"/>
            </a:solidFill>
            <a:prstDash val="solid"/>
            <a:headEnd type="none"/>
            <a:tailEnd type="none"/>
          </a:ln>
        </p:spPr>
      </p:sp>
      <p:sp>
        <p:nvSpPr>
          <p:cNvPr id="13" name="Text 11"/>
          <p:cNvSpPr/>
          <p:nvPr/>
        </p:nvSpPr>
        <p:spPr>
          <a:xfrm>
            <a:off x="658368" y="2596896"/>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[5] L. Fan et al., “EBLNet: Edge-aware Boundary Localization Network for Glass-like Object Segmentation,” ICCV, 2021.</a:t>
            </a:r>
            <a:endParaRPr lang="en-US" sz="1220" dirty="0"/>
          </a:p>
        </p:txBody>
      </p:sp>
      <p:sp>
        <p:nvSpPr>
          <p:cNvPr id="14" name="Shape 12"/>
          <p:cNvSpPr/>
          <p:nvPr/>
        </p:nvSpPr>
        <p:spPr>
          <a:xfrm>
            <a:off x="658368" y="2962656"/>
            <a:ext cx="7827264" cy="0"/>
          </a:xfrm>
          <a:prstGeom prst="line">
            <a:avLst/>
          </a:prstGeom>
          <a:noFill/>
          <a:ln w="12700">
            <a:solidFill>
              <a:srgbClr val="D5DCE3"/>
            </a:solidFill>
            <a:prstDash val="solid"/>
            <a:headEnd type="none"/>
            <a:tailEnd type="none"/>
          </a:ln>
        </p:spPr>
      </p:sp>
      <p:sp>
        <p:nvSpPr>
          <p:cNvPr id="15" name="Text 13"/>
          <p:cNvSpPr/>
          <p:nvPr/>
        </p:nvSpPr>
        <p:spPr>
          <a:xfrm>
            <a:off x="658368" y="3026664"/>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[6] R. Cheng et al., “SATNet: Symmetrical Attention Transfer Network for Dichromatic Image Segmentation,” ACM MM, 2022.</a:t>
            </a:r>
            <a:endParaRPr lang="en-US" sz="1220" dirty="0"/>
          </a:p>
        </p:txBody>
      </p:sp>
      <p:sp>
        <p:nvSpPr>
          <p:cNvPr id="16" name="Shape 14"/>
          <p:cNvSpPr/>
          <p:nvPr/>
        </p:nvSpPr>
        <p:spPr>
          <a:xfrm>
            <a:off x="658368" y="3392424"/>
            <a:ext cx="7827264" cy="0"/>
          </a:xfrm>
          <a:prstGeom prst="line">
            <a:avLst/>
          </a:prstGeom>
          <a:noFill/>
          <a:ln w="12700">
            <a:solidFill>
              <a:srgbClr val="D5DCE3"/>
            </a:solidFill>
            <a:prstDash val="solid"/>
            <a:headEnd type="none"/>
            <a:tailEnd type="none"/>
          </a:ln>
        </p:spPr>
      </p:sp>
      <p:sp>
        <p:nvSpPr>
          <p:cNvPr id="17" name="Text 15"/>
          <p:cNvSpPr/>
          <p:nvPr/>
        </p:nvSpPr>
        <p:spPr>
          <a:xfrm>
            <a:off x="658368" y="3456432"/>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[7] Y. Zhang et al., “PCSeg: An Open Source Point Cloud Segmentation Codebase,” 2023.</a:t>
            </a:r>
            <a:endParaRPr lang="en-US" sz="1220" dirty="0"/>
          </a:p>
        </p:txBody>
      </p:sp>
      <p:sp>
        <p:nvSpPr>
          <p:cNvPr id="18" name="Shape 16"/>
          <p:cNvSpPr/>
          <p:nvPr/>
        </p:nvSpPr>
        <p:spPr>
          <a:xfrm>
            <a:off x="658368" y="3822192"/>
            <a:ext cx="7827264" cy="0"/>
          </a:xfrm>
          <a:prstGeom prst="line">
            <a:avLst/>
          </a:prstGeom>
          <a:noFill/>
          <a:ln w="12700">
            <a:solidFill>
              <a:srgbClr val="D5DCE3"/>
            </a:solidFill>
            <a:prstDash val="solid"/>
            <a:headEnd type="none"/>
            <a:tailEnd type="none"/>
          </a:ln>
        </p:spPr>
      </p:sp>
      <p:sp>
        <p:nvSpPr>
          <p:cNvPr id="19" name="Text 17"/>
          <p:cNvSpPr/>
          <p:nvPr/>
        </p:nvSpPr>
        <p:spPr>
          <a:xfrm>
            <a:off x="658368" y="3886200"/>
            <a:ext cx="7827264" cy="347472"/>
          </a:xfrm>
          <a:prstGeom prst="rect">
            <a:avLst/>
          </a:prstGeom>
          <a:noFill/>
          <a:ln/>
        </p:spPr>
        <p:txBody>
          <a:bodyPr wrap="square" lIns="0" tIns="0" rIns="0" bIns="0" rtlCol="0" anchor="t">
            <a:normAutofit/>
          </a:bodyPr>
          <a:lstStyle/>
          <a:p>
            <a:pPr marL="0" indent="0">
              <a:buNone/>
            </a:pPr>
            <a:r>
              <a:rPr lang="en-US" sz="1220" dirty="0">
                <a:solidFill>
                  <a:srgbClr val="4D5966"/>
                </a:solidFill>
                <a:latin typeface="Yu Gothic" pitchFamily="34" charset="0"/>
                <a:ea typeface="Yu Gothic" pitchFamily="34" charset="-122"/>
                <a:cs typeface="Yu Gothic" pitchFamily="34" charset="-120"/>
              </a:rPr>
              <a:t>Dataset / code: http://3dref.github.io</a:t>
            </a:r>
            <a:endParaRPr lang="en-US" sz="12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結論：3DRefは反射を『材料』と『点の生成現象』の両方で学習可能にした</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Conclusion</a:t>
            </a:r>
            <a:endParaRPr lang="en-US" sz="950" dirty="0"/>
          </a:p>
        </p:txBody>
      </p:sp>
      <p:sp>
        <p:nvSpPr>
          <p:cNvPr id="5" name="Shape 3"/>
          <p:cNvSpPr/>
          <p:nvPr/>
        </p:nvSpPr>
        <p:spPr>
          <a:xfrm>
            <a:off x="658368" y="960120"/>
            <a:ext cx="2450592" cy="233172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658368" y="960120"/>
            <a:ext cx="50292" cy="2331720"/>
          </a:xfrm>
          <a:prstGeom prst="rect">
            <a:avLst/>
          </a:prstGeom>
          <a:solidFill>
            <a:srgbClr val="2E75B6"/>
          </a:solidFill>
          <a:ln w="12700">
            <a:solidFill>
              <a:srgbClr val="2E75B6"/>
            </a:solidFill>
            <a:prstDash val="solid"/>
          </a:ln>
        </p:spPr>
      </p:sp>
      <p:sp>
        <p:nvSpPr>
          <p:cNvPr id="7" name="Text 5"/>
          <p:cNvSpPr/>
          <p:nvPr/>
        </p:nvSpPr>
        <p:spPr>
          <a:xfrm>
            <a:off x="822960" y="1033272"/>
            <a:ext cx="217627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3D正解の設計</a:t>
            </a:r>
            <a:endParaRPr lang="en-US" sz="1600" dirty="0"/>
          </a:p>
        </p:txBody>
      </p:sp>
      <p:sp>
        <p:nvSpPr>
          <p:cNvPr id="8" name="Text 6"/>
          <p:cNvSpPr/>
          <p:nvPr/>
        </p:nvSpPr>
        <p:spPr>
          <a:xfrm>
            <a:off x="822960" y="1380744"/>
            <a:ext cx="2176272" cy="18196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修正済みtextured meshを共通基盤に、点群とRGB maskを一貫生成。</a:t>
            </a:r>
            <a:endParaRPr lang="en-US" sz="1320" dirty="0"/>
          </a:p>
        </p:txBody>
      </p:sp>
      <p:sp>
        <p:nvSpPr>
          <p:cNvPr id="9" name="Shape 7"/>
          <p:cNvSpPr/>
          <p:nvPr/>
        </p:nvSpPr>
        <p:spPr>
          <a:xfrm>
            <a:off x="2798064" y="850392"/>
            <a:ext cx="292608" cy="292608"/>
          </a:xfrm>
          <a:prstGeom prst="ellipse">
            <a:avLst/>
          </a:prstGeom>
          <a:solidFill>
            <a:srgbClr val="2E75B6"/>
          </a:solidFill>
          <a:ln w="12700">
            <a:solidFill>
              <a:srgbClr val="2E75B6"/>
            </a:solidFill>
            <a:prstDash val="solid"/>
          </a:ln>
        </p:spPr>
      </p:sp>
      <p:sp>
        <p:nvSpPr>
          <p:cNvPr id="10" name="Text 8"/>
          <p:cNvSpPr/>
          <p:nvPr/>
        </p:nvSpPr>
        <p:spPr>
          <a:xfrm>
            <a:off x="2798064" y="850392"/>
            <a:ext cx="292608"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1" name="Shape 9"/>
          <p:cNvSpPr/>
          <p:nvPr/>
        </p:nvSpPr>
        <p:spPr>
          <a:xfrm>
            <a:off x="3346704" y="960120"/>
            <a:ext cx="2450592" cy="233172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2" name="Shape 10"/>
          <p:cNvSpPr/>
          <p:nvPr/>
        </p:nvSpPr>
        <p:spPr>
          <a:xfrm>
            <a:off x="3346704" y="960120"/>
            <a:ext cx="50292" cy="2331720"/>
          </a:xfrm>
          <a:prstGeom prst="rect">
            <a:avLst/>
          </a:prstGeom>
          <a:solidFill>
            <a:srgbClr val="2A9D8F"/>
          </a:solidFill>
          <a:ln w="12700">
            <a:solidFill>
              <a:srgbClr val="2A9D8F"/>
            </a:solidFill>
            <a:prstDash val="solid"/>
          </a:ln>
        </p:spPr>
      </p:sp>
      <p:sp>
        <p:nvSpPr>
          <p:cNvPr id="13" name="Text 11"/>
          <p:cNvSpPr/>
          <p:nvPr/>
        </p:nvSpPr>
        <p:spPr>
          <a:xfrm>
            <a:off x="3511296" y="1033272"/>
            <a:ext cx="217627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multi-returnの証拠</a:t>
            </a:r>
            <a:endParaRPr lang="en-US" sz="1600" dirty="0"/>
          </a:p>
        </p:txBody>
      </p:sp>
      <p:sp>
        <p:nvSpPr>
          <p:cNvPr id="14" name="Text 12"/>
          <p:cNvSpPr/>
          <p:nvPr/>
        </p:nvSpPr>
        <p:spPr>
          <a:xfrm>
            <a:off x="3511296" y="1380744"/>
            <a:ext cx="2176272" cy="18196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late returnはReflection / Obstacleに偏る。ただしmIoU改善は平均+0.35 point。</a:t>
            </a:r>
            <a:endParaRPr lang="en-US" sz="1320" dirty="0"/>
          </a:p>
        </p:txBody>
      </p:sp>
      <p:sp>
        <p:nvSpPr>
          <p:cNvPr id="15" name="Shape 13"/>
          <p:cNvSpPr/>
          <p:nvPr/>
        </p:nvSpPr>
        <p:spPr>
          <a:xfrm>
            <a:off x="5486400" y="850392"/>
            <a:ext cx="292608" cy="292608"/>
          </a:xfrm>
          <a:prstGeom prst="ellipse">
            <a:avLst/>
          </a:prstGeom>
          <a:solidFill>
            <a:srgbClr val="2A9D8F"/>
          </a:solidFill>
          <a:ln w="12700">
            <a:solidFill>
              <a:srgbClr val="2A9D8F"/>
            </a:solidFill>
            <a:prstDash val="solid"/>
          </a:ln>
        </p:spPr>
      </p:sp>
      <p:sp>
        <p:nvSpPr>
          <p:cNvPr id="16" name="Text 14"/>
          <p:cNvSpPr/>
          <p:nvPr/>
        </p:nvSpPr>
        <p:spPr>
          <a:xfrm>
            <a:off x="5486400" y="850392"/>
            <a:ext cx="292608"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7" name="Shape 15"/>
          <p:cNvSpPr/>
          <p:nvPr/>
        </p:nvSpPr>
        <p:spPr>
          <a:xfrm>
            <a:off x="6035040" y="960120"/>
            <a:ext cx="2450592" cy="233172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8" name="Shape 16"/>
          <p:cNvSpPr/>
          <p:nvPr/>
        </p:nvSpPr>
        <p:spPr>
          <a:xfrm>
            <a:off x="6035040" y="960120"/>
            <a:ext cx="50292" cy="2331720"/>
          </a:xfrm>
          <a:prstGeom prst="rect">
            <a:avLst/>
          </a:prstGeom>
          <a:solidFill>
            <a:srgbClr val="ED7D31"/>
          </a:solidFill>
          <a:ln w="12700">
            <a:solidFill>
              <a:srgbClr val="ED7D31"/>
            </a:solidFill>
            <a:prstDash val="solid"/>
          </a:ln>
        </p:spPr>
      </p:sp>
      <p:sp>
        <p:nvSpPr>
          <p:cNvPr id="19" name="Text 17"/>
          <p:cNvSpPr/>
          <p:nvPr/>
        </p:nvSpPr>
        <p:spPr>
          <a:xfrm>
            <a:off x="6199632" y="1033272"/>
            <a:ext cx="2176272"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benchmarkの意味</a:t>
            </a:r>
            <a:endParaRPr lang="en-US" sz="1600" dirty="0"/>
          </a:p>
        </p:txBody>
      </p:sp>
      <p:sp>
        <p:nvSpPr>
          <p:cNvPr id="20" name="Text 18"/>
          <p:cNvSpPr/>
          <p:nvPr/>
        </p:nvSpPr>
        <p:spPr>
          <a:xfrm>
            <a:off x="6199632" y="1380744"/>
            <a:ext cx="2176272" cy="1819656"/>
          </a:xfrm>
          <a:prstGeom prst="rect">
            <a:avLst/>
          </a:prstGeom>
          <a:noFill/>
          <a:ln/>
        </p:spPr>
        <p:txBody>
          <a:bodyPr wrap="square" lIns="12700" tIns="0" rIns="0" bIns="25400" rtlCol="0" anchor="t">
            <a:normAutofit/>
          </a:bodyPr>
          <a:lstStyle/>
          <a:p>
            <a:pPr marL="0" indent="0">
              <a:buNone/>
            </a:pPr>
            <a:r>
              <a:rPr lang="en-US" sz="1320" dirty="0">
                <a:solidFill>
                  <a:srgbClr val="4D5966"/>
                </a:solidFill>
                <a:latin typeface="Yu Gothic" pitchFamily="34" charset="0"/>
                <a:ea typeface="Yu Gothic" pitchFamily="34" charset="-122"/>
                <a:cs typeface="Yu Gothic" pitchFamily="34" charset="-120"/>
              </a:rPr>
              <a:t>既存RGBモデルのdomain gapを示し、LiDAR/RGB研究の再現可能な基準値を提供。</a:t>
            </a:r>
            <a:endParaRPr lang="en-US" sz="1320" dirty="0"/>
          </a:p>
        </p:txBody>
      </p:sp>
      <p:sp>
        <p:nvSpPr>
          <p:cNvPr id="21" name="Shape 19"/>
          <p:cNvSpPr/>
          <p:nvPr/>
        </p:nvSpPr>
        <p:spPr>
          <a:xfrm>
            <a:off x="8174736" y="850392"/>
            <a:ext cx="292608" cy="292608"/>
          </a:xfrm>
          <a:prstGeom prst="ellipse">
            <a:avLst/>
          </a:prstGeom>
          <a:solidFill>
            <a:srgbClr val="ED7D31"/>
          </a:solidFill>
          <a:ln w="12700">
            <a:solidFill>
              <a:srgbClr val="ED7D31"/>
            </a:solidFill>
            <a:prstDash val="solid"/>
          </a:ln>
        </p:spPr>
      </p:sp>
      <p:sp>
        <p:nvSpPr>
          <p:cNvPr id="22" name="Text 20"/>
          <p:cNvSpPr/>
          <p:nvPr/>
        </p:nvSpPr>
        <p:spPr>
          <a:xfrm>
            <a:off x="8174736" y="850392"/>
            <a:ext cx="292608"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3" name="Shape 21"/>
          <p:cNvSpPr/>
          <p:nvPr/>
        </p:nvSpPr>
        <p:spPr>
          <a:xfrm>
            <a:off x="658368" y="3602736"/>
            <a:ext cx="7827264" cy="493776"/>
          </a:xfrm>
          <a:prstGeom prst="rect">
            <a:avLst/>
          </a:prstGeom>
          <a:solidFill>
            <a:srgbClr val="17365D"/>
          </a:solidFill>
          <a:ln w="12700">
            <a:solidFill>
              <a:srgbClr val="17365D"/>
            </a:solidFill>
            <a:prstDash val="solid"/>
          </a:ln>
          <a:effectLst>
            <a:outerShdw blurRad="25400" dist="50800" dir="2700000" algn="bl" rotWithShape="0">
              <a:srgbClr val="000000">
                <a:alpha val="11000"/>
              </a:srgbClr>
            </a:outerShdw>
          </a:effectLst>
        </p:spPr>
      </p:sp>
      <p:sp>
        <p:nvSpPr>
          <p:cNvPr id="24" name="Text 22"/>
          <p:cNvSpPr/>
          <p:nvPr/>
        </p:nvSpPr>
        <p:spPr>
          <a:xfrm>
            <a:off x="877824" y="3703320"/>
            <a:ext cx="7388352" cy="292608"/>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Yu Gothic" pitchFamily="34" charset="0"/>
                <a:ea typeface="Yu Gothic" pitchFamily="34" charset="-122"/>
                <a:cs typeface="Yu Gothic" pitchFamily="34" charset="-120"/>
              </a:rPr>
              <a:t>残る問い：この検出結果を使うと、反射環境でのSLAM・mapping・navigationはどこまで安全になるか？</a:t>
            </a:r>
            <a:endParaRPr lang="en-US" sz="1700" dirty="0"/>
          </a:p>
        </p:txBody>
      </p:sp>
      <p:sp>
        <p:nvSpPr>
          <p:cNvPr id="25" name="Text 23"/>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Summary based on Zhao &amp; Schwertfeger (2024)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付録A｜sensor・sequence別のclass分布（%）</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Appendix</a:t>
            </a:r>
            <a:endParaRPr lang="en-US" sz="950" dirty="0"/>
          </a:p>
        </p:txBody>
      </p:sp>
      <p:sp>
        <p:nvSpPr>
          <p:cNvPr id="5" name="Shape 3"/>
          <p:cNvSpPr/>
          <p:nvPr/>
        </p:nvSpPr>
        <p:spPr>
          <a:xfrm>
            <a:off x="384048" y="822960"/>
            <a:ext cx="460675" cy="345643"/>
          </a:xfrm>
          <a:prstGeom prst="rect">
            <a:avLst/>
          </a:prstGeom>
          <a:solidFill>
            <a:srgbClr val="17365D"/>
          </a:solidFill>
          <a:ln w="12700">
            <a:solidFill>
              <a:srgbClr val="FFFFFF"/>
            </a:solidFill>
            <a:prstDash val="solid"/>
          </a:ln>
        </p:spPr>
      </p:sp>
      <p:sp>
        <p:nvSpPr>
          <p:cNvPr id="6" name="Text 4"/>
          <p:cNvSpPr/>
          <p:nvPr/>
        </p:nvSpPr>
        <p:spPr>
          <a:xfrm>
            <a:off x="411480" y="841248"/>
            <a:ext cx="405811"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Seq</a:t>
            </a:r>
            <a:endParaRPr lang="en-US" sz="870" dirty="0"/>
          </a:p>
        </p:txBody>
      </p:sp>
      <p:sp>
        <p:nvSpPr>
          <p:cNvPr id="7" name="Shape 5"/>
          <p:cNvSpPr/>
          <p:nvPr/>
        </p:nvSpPr>
        <p:spPr>
          <a:xfrm>
            <a:off x="844723" y="822960"/>
            <a:ext cx="879470" cy="345643"/>
          </a:xfrm>
          <a:prstGeom prst="rect">
            <a:avLst/>
          </a:prstGeom>
          <a:solidFill>
            <a:srgbClr val="17365D"/>
          </a:solidFill>
          <a:ln w="12700">
            <a:solidFill>
              <a:srgbClr val="FFFFFF"/>
            </a:solidFill>
            <a:prstDash val="solid"/>
          </a:ln>
        </p:spPr>
      </p:sp>
      <p:sp>
        <p:nvSpPr>
          <p:cNvPr id="8" name="Text 6"/>
          <p:cNvSpPr/>
          <p:nvPr/>
        </p:nvSpPr>
        <p:spPr>
          <a:xfrm>
            <a:off x="872155" y="841248"/>
            <a:ext cx="824606"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Sensor</a:t>
            </a:r>
            <a:endParaRPr lang="en-US" sz="870" dirty="0"/>
          </a:p>
        </p:txBody>
      </p:sp>
      <p:sp>
        <p:nvSpPr>
          <p:cNvPr id="9" name="Shape 7"/>
          <p:cNvSpPr/>
          <p:nvPr/>
        </p:nvSpPr>
        <p:spPr>
          <a:xfrm>
            <a:off x="1724193" y="822960"/>
            <a:ext cx="879470" cy="345643"/>
          </a:xfrm>
          <a:prstGeom prst="rect">
            <a:avLst/>
          </a:prstGeom>
          <a:solidFill>
            <a:srgbClr val="17365D"/>
          </a:solidFill>
          <a:ln w="12700">
            <a:solidFill>
              <a:srgbClr val="FFFFFF"/>
            </a:solidFill>
            <a:prstDash val="solid"/>
          </a:ln>
        </p:spPr>
      </p:sp>
      <p:sp>
        <p:nvSpPr>
          <p:cNvPr id="10" name="Text 8"/>
          <p:cNvSpPr/>
          <p:nvPr/>
        </p:nvSpPr>
        <p:spPr>
          <a:xfrm>
            <a:off x="1751625" y="841248"/>
            <a:ext cx="824606"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Normal</a:t>
            </a:r>
            <a:endParaRPr lang="en-US" sz="870" dirty="0"/>
          </a:p>
        </p:txBody>
      </p:sp>
      <p:sp>
        <p:nvSpPr>
          <p:cNvPr id="11" name="Shape 9"/>
          <p:cNvSpPr/>
          <p:nvPr/>
        </p:nvSpPr>
        <p:spPr>
          <a:xfrm>
            <a:off x="2603663" y="822960"/>
            <a:ext cx="711952" cy="345643"/>
          </a:xfrm>
          <a:prstGeom prst="rect">
            <a:avLst/>
          </a:prstGeom>
          <a:solidFill>
            <a:srgbClr val="17365D"/>
          </a:solidFill>
          <a:ln w="12700">
            <a:solidFill>
              <a:srgbClr val="FFFFFF"/>
            </a:solidFill>
            <a:prstDash val="solid"/>
          </a:ln>
        </p:spPr>
      </p:sp>
      <p:sp>
        <p:nvSpPr>
          <p:cNvPr id="12" name="Text 10"/>
          <p:cNvSpPr/>
          <p:nvPr/>
        </p:nvSpPr>
        <p:spPr>
          <a:xfrm>
            <a:off x="2631095" y="841248"/>
            <a:ext cx="657088"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Glass</a:t>
            </a:r>
            <a:endParaRPr lang="en-US" sz="870" dirty="0"/>
          </a:p>
        </p:txBody>
      </p:sp>
      <p:sp>
        <p:nvSpPr>
          <p:cNvPr id="13" name="Shape 11"/>
          <p:cNvSpPr/>
          <p:nvPr/>
        </p:nvSpPr>
        <p:spPr>
          <a:xfrm>
            <a:off x="3315614" y="822960"/>
            <a:ext cx="711952" cy="345643"/>
          </a:xfrm>
          <a:prstGeom prst="rect">
            <a:avLst/>
          </a:prstGeom>
          <a:solidFill>
            <a:srgbClr val="17365D"/>
          </a:solidFill>
          <a:ln w="12700">
            <a:solidFill>
              <a:srgbClr val="FFFFFF"/>
            </a:solidFill>
            <a:prstDash val="solid"/>
          </a:ln>
        </p:spPr>
      </p:sp>
      <p:sp>
        <p:nvSpPr>
          <p:cNvPr id="14" name="Text 12"/>
          <p:cNvSpPr/>
          <p:nvPr/>
        </p:nvSpPr>
        <p:spPr>
          <a:xfrm>
            <a:off x="3343046" y="841248"/>
            <a:ext cx="657088"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Mirror</a:t>
            </a:r>
            <a:endParaRPr lang="en-US" sz="870" dirty="0"/>
          </a:p>
        </p:txBody>
      </p:sp>
      <p:sp>
        <p:nvSpPr>
          <p:cNvPr id="15" name="Shape 13"/>
          <p:cNvSpPr/>
          <p:nvPr/>
        </p:nvSpPr>
        <p:spPr>
          <a:xfrm>
            <a:off x="4027566" y="822960"/>
            <a:ext cx="753831" cy="345643"/>
          </a:xfrm>
          <a:prstGeom prst="rect">
            <a:avLst/>
          </a:prstGeom>
          <a:solidFill>
            <a:srgbClr val="17365D"/>
          </a:solidFill>
          <a:ln w="12700">
            <a:solidFill>
              <a:srgbClr val="FFFFFF"/>
            </a:solidFill>
            <a:prstDash val="solid"/>
          </a:ln>
        </p:spPr>
      </p:sp>
      <p:sp>
        <p:nvSpPr>
          <p:cNvPr id="16" name="Text 14"/>
          <p:cNvSpPr/>
          <p:nvPr/>
        </p:nvSpPr>
        <p:spPr>
          <a:xfrm>
            <a:off x="4054998" y="841248"/>
            <a:ext cx="698967"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Other</a:t>
            </a:r>
            <a:endParaRPr lang="en-US" sz="870" dirty="0"/>
          </a:p>
        </p:txBody>
      </p:sp>
      <p:sp>
        <p:nvSpPr>
          <p:cNvPr id="17" name="Shape 15"/>
          <p:cNvSpPr/>
          <p:nvPr/>
        </p:nvSpPr>
        <p:spPr>
          <a:xfrm>
            <a:off x="4781398" y="822960"/>
            <a:ext cx="837590" cy="345643"/>
          </a:xfrm>
          <a:prstGeom prst="rect">
            <a:avLst/>
          </a:prstGeom>
          <a:solidFill>
            <a:srgbClr val="17365D"/>
          </a:solidFill>
          <a:ln w="12700">
            <a:solidFill>
              <a:srgbClr val="FFFFFF"/>
            </a:solidFill>
            <a:prstDash val="solid"/>
          </a:ln>
        </p:spPr>
      </p:sp>
      <p:sp>
        <p:nvSpPr>
          <p:cNvPr id="18" name="Text 16"/>
          <p:cNvSpPr/>
          <p:nvPr/>
        </p:nvSpPr>
        <p:spPr>
          <a:xfrm>
            <a:off x="4808830" y="841248"/>
            <a:ext cx="782726"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Reflect.</a:t>
            </a:r>
            <a:endParaRPr lang="en-US" sz="870" dirty="0"/>
          </a:p>
        </p:txBody>
      </p:sp>
      <p:sp>
        <p:nvSpPr>
          <p:cNvPr id="19" name="Shape 17"/>
          <p:cNvSpPr/>
          <p:nvPr/>
        </p:nvSpPr>
        <p:spPr>
          <a:xfrm>
            <a:off x="5618988" y="822960"/>
            <a:ext cx="879470" cy="345643"/>
          </a:xfrm>
          <a:prstGeom prst="rect">
            <a:avLst/>
          </a:prstGeom>
          <a:solidFill>
            <a:srgbClr val="17365D"/>
          </a:solidFill>
          <a:ln w="12700">
            <a:solidFill>
              <a:srgbClr val="FFFFFF"/>
            </a:solidFill>
            <a:prstDash val="solid"/>
          </a:ln>
        </p:spPr>
      </p:sp>
      <p:sp>
        <p:nvSpPr>
          <p:cNvPr id="20" name="Text 18"/>
          <p:cNvSpPr/>
          <p:nvPr/>
        </p:nvSpPr>
        <p:spPr>
          <a:xfrm>
            <a:off x="5646420" y="841248"/>
            <a:ext cx="824606"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Obstacle</a:t>
            </a:r>
            <a:endParaRPr lang="en-US" sz="870" dirty="0"/>
          </a:p>
        </p:txBody>
      </p:sp>
      <p:sp>
        <p:nvSpPr>
          <p:cNvPr id="21" name="Shape 19"/>
          <p:cNvSpPr/>
          <p:nvPr/>
        </p:nvSpPr>
        <p:spPr>
          <a:xfrm>
            <a:off x="6498458" y="822960"/>
            <a:ext cx="2261494" cy="345643"/>
          </a:xfrm>
          <a:prstGeom prst="rect">
            <a:avLst/>
          </a:prstGeom>
          <a:solidFill>
            <a:srgbClr val="17365D"/>
          </a:solidFill>
          <a:ln w="12700">
            <a:solidFill>
              <a:srgbClr val="FFFFFF"/>
            </a:solidFill>
            <a:prstDash val="solid"/>
          </a:ln>
        </p:spPr>
      </p:sp>
      <p:sp>
        <p:nvSpPr>
          <p:cNvPr id="22" name="Text 20"/>
          <p:cNvSpPr/>
          <p:nvPr/>
        </p:nvSpPr>
        <p:spPr>
          <a:xfrm>
            <a:off x="6525890" y="841248"/>
            <a:ext cx="2206630" cy="309067"/>
          </a:xfrm>
          <a:prstGeom prst="rect">
            <a:avLst/>
          </a:prstGeom>
          <a:noFill/>
          <a:ln/>
        </p:spPr>
        <p:txBody>
          <a:bodyPr wrap="square" lIns="0" tIns="0" rIns="0" bIns="0" rtlCol="0" anchor="ctr">
            <a:normAutofit/>
          </a:bodyPr>
          <a:lstStyle/>
          <a:p>
            <a:pPr marL="0" indent="0" algn="ctr">
              <a:buNone/>
            </a:pPr>
            <a:r>
              <a:rPr lang="en-US" sz="870" b="1" dirty="0">
                <a:solidFill>
                  <a:srgbClr val="FFFFFF"/>
                </a:solidFill>
                <a:latin typeface="Yu Gothic" pitchFamily="34" charset="0"/>
                <a:ea typeface="Yu Gothic" pitchFamily="34" charset="-122"/>
                <a:cs typeface="Yu Gothic" pitchFamily="34" charset="-120"/>
              </a:rPr>
              <a:t>Return 1/2/3</a:t>
            </a:r>
            <a:endParaRPr lang="en-US" sz="870" dirty="0"/>
          </a:p>
        </p:txBody>
      </p:sp>
      <p:sp>
        <p:nvSpPr>
          <p:cNvPr id="23" name="Shape 21"/>
          <p:cNvSpPr/>
          <p:nvPr/>
        </p:nvSpPr>
        <p:spPr>
          <a:xfrm>
            <a:off x="384048" y="1168603"/>
            <a:ext cx="460675" cy="345643"/>
          </a:xfrm>
          <a:prstGeom prst="rect">
            <a:avLst/>
          </a:prstGeom>
          <a:solidFill>
            <a:srgbClr val="FFFFFF"/>
          </a:solidFill>
          <a:ln w="12700">
            <a:solidFill>
              <a:srgbClr val="D5DCE3"/>
            </a:solidFill>
            <a:prstDash val="solid"/>
          </a:ln>
        </p:spPr>
      </p:sp>
      <p:sp>
        <p:nvSpPr>
          <p:cNvPr id="24" name="Text 22"/>
          <p:cNvSpPr/>
          <p:nvPr/>
        </p:nvSpPr>
        <p:spPr>
          <a:xfrm>
            <a:off x="411480" y="1186891"/>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1</a:t>
            </a:r>
            <a:endParaRPr lang="en-US" sz="810" dirty="0"/>
          </a:p>
        </p:txBody>
      </p:sp>
      <p:sp>
        <p:nvSpPr>
          <p:cNvPr id="25" name="Shape 23"/>
          <p:cNvSpPr/>
          <p:nvPr/>
        </p:nvSpPr>
        <p:spPr>
          <a:xfrm>
            <a:off x="844723" y="1168603"/>
            <a:ext cx="879470" cy="345643"/>
          </a:xfrm>
          <a:prstGeom prst="rect">
            <a:avLst/>
          </a:prstGeom>
          <a:solidFill>
            <a:srgbClr val="FFFFFF"/>
          </a:solidFill>
          <a:ln w="12700">
            <a:solidFill>
              <a:srgbClr val="D5DCE3"/>
            </a:solidFill>
            <a:prstDash val="solid"/>
          </a:ln>
        </p:spPr>
      </p:sp>
      <p:sp>
        <p:nvSpPr>
          <p:cNvPr id="26" name="Text 24"/>
          <p:cNvSpPr/>
          <p:nvPr/>
        </p:nvSpPr>
        <p:spPr>
          <a:xfrm>
            <a:off x="872155" y="1186891"/>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Ouster</a:t>
            </a:r>
            <a:endParaRPr lang="en-US" sz="810" dirty="0"/>
          </a:p>
        </p:txBody>
      </p:sp>
      <p:sp>
        <p:nvSpPr>
          <p:cNvPr id="27" name="Shape 25"/>
          <p:cNvSpPr/>
          <p:nvPr/>
        </p:nvSpPr>
        <p:spPr>
          <a:xfrm>
            <a:off x="1724193" y="1168603"/>
            <a:ext cx="879470" cy="345643"/>
          </a:xfrm>
          <a:prstGeom prst="rect">
            <a:avLst/>
          </a:prstGeom>
          <a:solidFill>
            <a:srgbClr val="FFFFFF"/>
          </a:solidFill>
          <a:ln w="12700">
            <a:solidFill>
              <a:srgbClr val="D5DCE3"/>
            </a:solidFill>
            <a:prstDash val="solid"/>
          </a:ln>
        </p:spPr>
      </p:sp>
      <p:sp>
        <p:nvSpPr>
          <p:cNvPr id="28" name="Text 26"/>
          <p:cNvSpPr/>
          <p:nvPr/>
        </p:nvSpPr>
        <p:spPr>
          <a:xfrm>
            <a:off x="1751625" y="1186891"/>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84.19</a:t>
            </a:r>
            <a:endParaRPr lang="en-US" sz="810" dirty="0"/>
          </a:p>
        </p:txBody>
      </p:sp>
      <p:sp>
        <p:nvSpPr>
          <p:cNvPr id="29" name="Shape 27"/>
          <p:cNvSpPr/>
          <p:nvPr/>
        </p:nvSpPr>
        <p:spPr>
          <a:xfrm>
            <a:off x="2603663" y="1168603"/>
            <a:ext cx="711952" cy="345643"/>
          </a:xfrm>
          <a:prstGeom prst="rect">
            <a:avLst/>
          </a:prstGeom>
          <a:solidFill>
            <a:srgbClr val="FFFFFF"/>
          </a:solidFill>
          <a:ln w="12700">
            <a:solidFill>
              <a:srgbClr val="D5DCE3"/>
            </a:solidFill>
            <a:prstDash val="solid"/>
          </a:ln>
        </p:spPr>
      </p:sp>
      <p:sp>
        <p:nvSpPr>
          <p:cNvPr id="30" name="Text 28"/>
          <p:cNvSpPr/>
          <p:nvPr/>
        </p:nvSpPr>
        <p:spPr>
          <a:xfrm>
            <a:off x="2631095" y="1186891"/>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0.91</a:t>
            </a:r>
            <a:endParaRPr lang="en-US" sz="810" dirty="0"/>
          </a:p>
        </p:txBody>
      </p:sp>
      <p:sp>
        <p:nvSpPr>
          <p:cNvPr id="31" name="Shape 29"/>
          <p:cNvSpPr/>
          <p:nvPr/>
        </p:nvSpPr>
        <p:spPr>
          <a:xfrm>
            <a:off x="3315614" y="1168603"/>
            <a:ext cx="711952" cy="345643"/>
          </a:xfrm>
          <a:prstGeom prst="rect">
            <a:avLst/>
          </a:prstGeom>
          <a:solidFill>
            <a:srgbClr val="FFFFFF"/>
          </a:solidFill>
          <a:ln w="12700">
            <a:solidFill>
              <a:srgbClr val="D5DCE3"/>
            </a:solidFill>
            <a:prstDash val="solid"/>
          </a:ln>
        </p:spPr>
      </p:sp>
      <p:sp>
        <p:nvSpPr>
          <p:cNvPr id="32" name="Text 30"/>
          <p:cNvSpPr/>
          <p:nvPr/>
        </p:nvSpPr>
        <p:spPr>
          <a:xfrm>
            <a:off x="3343046" y="1186891"/>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0.61</a:t>
            </a:r>
            <a:endParaRPr lang="en-US" sz="810" dirty="0"/>
          </a:p>
        </p:txBody>
      </p:sp>
      <p:sp>
        <p:nvSpPr>
          <p:cNvPr id="33" name="Shape 31"/>
          <p:cNvSpPr/>
          <p:nvPr/>
        </p:nvSpPr>
        <p:spPr>
          <a:xfrm>
            <a:off x="4027566" y="1168603"/>
            <a:ext cx="753831" cy="345643"/>
          </a:xfrm>
          <a:prstGeom prst="rect">
            <a:avLst/>
          </a:prstGeom>
          <a:solidFill>
            <a:srgbClr val="FFFFFF"/>
          </a:solidFill>
          <a:ln w="12700">
            <a:solidFill>
              <a:srgbClr val="D5DCE3"/>
            </a:solidFill>
            <a:prstDash val="solid"/>
          </a:ln>
        </p:spPr>
      </p:sp>
      <p:sp>
        <p:nvSpPr>
          <p:cNvPr id="34" name="Text 32"/>
          <p:cNvSpPr/>
          <p:nvPr/>
        </p:nvSpPr>
        <p:spPr>
          <a:xfrm>
            <a:off x="4054998" y="1186891"/>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2.85</a:t>
            </a:r>
            <a:endParaRPr lang="en-US" sz="810" dirty="0"/>
          </a:p>
        </p:txBody>
      </p:sp>
      <p:sp>
        <p:nvSpPr>
          <p:cNvPr id="35" name="Shape 33"/>
          <p:cNvSpPr/>
          <p:nvPr/>
        </p:nvSpPr>
        <p:spPr>
          <a:xfrm>
            <a:off x="4781398" y="1168603"/>
            <a:ext cx="837590" cy="345643"/>
          </a:xfrm>
          <a:prstGeom prst="rect">
            <a:avLst/>
          </a:prstGeom>
          <a:solidFill>
            <a:srgbClr val="FFFFFF"/>
          </a:solidFill>
          <a:ln w="12700">
            <a:solidFill>
              <a:srgbClr val="D5DCE3"/>
            </a:solidFill>
            <a:prstDash val="solid"/>
          </a:ln>
        </p:spPr>
      </p:sp>
      <p:sp>
        <p:nvSpPr>
          <p:cNvPr id="36" name="Text 34"/>
          <p:cNvSpPr/>
          <p:nvPr/>
        </p:nvSpPr>
        <p:spPr>
          <a:xfrm>
            <a:off x="4808830" y="1186891"/>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9.31</a:t>
            </a:r>
            <a:endParaRPr lang="en-US" sz="810" dirty="0"/>
          </a:p>
        </p:txBody>
      </p:sp>
      <p:sp>
        <p:nvSpPr>
          <p:cNvPr id="37" name="Shape 35"/>
          <p:cNvSpPr/>
          <p:nvPr/>
        </p:nvSpPr>
        <p:spPr>
          <a:xfrm>
            <a:off x="5618988" y="1168603"/>
            <a:ext cx="879470" cy="345643"/>
          </a:xfrm>
          <a:prstGeom prst="rect">
            <a:avLst/>
          </a:prstGeom>
          <a:solidFill>
            <a:srgbClr val="FFFFFF"/>
          </a:solidFill>
          <a:ln w="12700">
            <a:solidFill>
              <a:srgbClr val="D5DCE3"/>
            </a:solidFill>
            <a:prstDash val="solid"/>
          </a:ln>
        </p:spPr>
      </p:sp>
      <p:sp>
        <p:nvSpPr>
          <p:cNvPr id="38" name="Text 36"/>
          <p:cNvSpPr/>
          <p:nvPr/>
        </p:nvSpPr>
        <p:spPr>
          <a:xfrm>
            <a:off x="5646420" y="1186891"/>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0.66</a:t>
            </a:r>
            <a:endParaRPr lang="en-US" sz="810" dirty="0"/>
          </a:p>
        </p:txBody>
      </p:sp>
      <p:sp>
        <p:nvSpPr>
          <p:cNvPr id="39" name="Shape 37"/>
          <p:cNvSpPr/>
          <p:nvPr/>
        </p:nvSpPr>
        <p:spPr>
          <a:xfrm>
            <a:off x="6498458" y="1168603"/>
            <a:ext cx="2261494" cy="345643"/>
          </a:xfrm>
          <a:prstGeom prst="rect">
            <a:avLst/>
          </a:prstGeom>
          <a:solidFill>
            <a:srgbClr val="FFFFFF"/>
          </a:solidFill>
          <a:ln w="12700">
            <a:solidFill>
              <a:srgbClr val="D5DCE3"/>
            </a:solidFill>
            <a:prstDash val="solid"/>
          </a:ln>
        </p:spPr>
      </p:sp>
      <p:sp>
        <p:nvSpPr>
          <p:cNvPr id="40" name="Text 38"/>
          <p:cNvSpPr/>
          <p:nvPr/>
        </p:nvSpPr>
        <p:spPr>
          <a:xfrm>
            <a:off x="6525890" y="1186891"/>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99.72/0.28/—</a:t>
            </a:r>
            <a:endParaRPr lang="en-US" sz="810" dirty="0"/>
          </a:p>
        </p:txBody>
      </p:sp>
      <p:sp>
        <p:nvSpPr>
          <p:cNvPr id="41" name="Shape 39"/>
          <p:cNvSpPr/>
          <p:nvPr/>
        </p:nvSpPr>
        <p:spPr>
          <a:xfrm>
            <a:off x="384048" y="1514246"/>
            <a:ext cx="460675" cy="345643"/>
          </a:xfrm>
          <a:prstGeom prst="rect">
            <a:avLst/>
          </a:prstGeom>
          <a:solidFill>
            <a:srgbClr val="F5F7FA"/>
          </a:solidFill>
          <a:ln w="12700">
            <a:solidFill>
              <a:srgbClr val="D5DCE3"/>
            </a:solidFill>
            <a:prstDash val="solid"/>
          </a:ln>
        </p:spPr>
      </p:sp>
      <p:sp>
        <p:nvSpPr>
          <p:cNvPr id="42" name="Text 40"/>
          <p:cNvSpPr/>
          <p:nvPr/>
        </p:nvSpPr>
        <p:spPr>
          <a:xfrm>
            <a:off x="411480" y="1532534"/>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1</a:t>
            </a:r>
            <a:endParaRPr lang="en-US" sz="810" dirty="0"/>
          </a:p>
        </p:txBody>
      </p:sp>
      <p:sp>
        <p:nvSpPr>
          <p:cNvPr id="43" name="Shape 41"/>
          <p:cNvSpPr/>
          <p:nvPr/>
        </p:nvSpPr>
        <p:spPr>
          <a:xfrm>
            <a:off x="844723" y="1514246"/>
            <a:ext cx="879470" cy="345643"/>
          </a:xfrm>
          <a:prstGeom prst="rect">
            <a:avLst/>
          </a:prstGeom>
          <a:solidFill>
            <a:srgbClr val="F5F7FA"/>
          </a:solidFill>
          <a:ln w="12700">
            <a:solidFill>
              <a:srgbClr val="D5DCE3"/>
            </a:solidFill>
            <a:prstDash val="solid"/>
          </a:ln>
        </p:spPr>
      </p:sp>
      <p:sp>
        <p:nvSpPr>
          <p:cNvPr id="44" name="Text 42"/>
          <p:cNvSpPr/>
          <p:nvPr/>
        </p:nvSpPr>
        <p:spPr>
          <a:xfrm>
            <a:off x="872155" y="153253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Hesai</a:t>
            </a:r>
            <a:endParaRPr lang="en-US" sz="810" dirty="0"/>
          </a:p>
        </p:txBody>
      </p:sp>
      <p:sp>
        <p:nvSpPr>
          <p:cNvPr id="45" name="Shape 43"/>
          <p:cNvSpPr/>
          <p:nvPr/>
        </p:nvSpPr>
        <p:spPr>
          <a:xfrm>
            <a:off x="1724193" y="1514246"/>
            <a:ext cx="879470" cy="345643"/>
          </a:xfrm>
          <a:prstGeom prst="rect">
            <a:avLst/>
          </a:prstGeom>
          <a:solidFill>
            <a:srgbClr val="F5F7FA"/>
          </a:solidFill>
          <a:ln w="12700">
            <a:solidFill>
              <a:srgbClr val="D5DCE3"/>
            </a:solidFill>
            <a:prstDash val="solid"/>
          </a:ln>
        </p:spPr>
      </p:sp>
      <p:sp>
        <p:nvSpPr>
          <p:cNvPr id="46" name="Text 44"/>
          <p:cNvSpPr/>
          <p:nvPr/>
        </p:nvSpPr>
        <p:spPr>
          <a:xfrm>
            <a:off x="1751625" y="153253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76.67</a:t>
            </a:r>
            <a:endParaRPr lang="en-US" sz="810" dirty="0"/>
          </a:p>
        </p:txBody>
      </p:sp>
      <p:sp>
        <p:nvSpPr>
          <p:cNvPr id="47" name="Shape 45"/>
          <p:cNvSpPr/>
          <p:nvPr/>
        </p:nvSpPr>
        <p:spPr>
          <a:xfrm>
            <a:off x="2603663" y="1514246"/>
            <a:ext cx="711952" cy="345643"/>
          </a:xfrm>
          <a:prstGeom prst="rect">
            <a:avLst/>
          </a:prstGeom>
          <a:solidFill>
            <a:srgbClr val="F5F7FA"/>
          </a:solidFill>
          <a:ln w="12700">
            <a:solidFill>
              <a:srgbClr val="D5DCE3"/>
            </a:solidFill>
            <a:prstDash val="solid"/>
          </a:ln>
        </p:spPr>
      </p:sp>
      <p:sp>
        <p:nvSpPr>
          <p:cNvPr id="48" name="Text 46"/>
          <p:cNvSpPr/>
          <p:nvPr/>
        </p:nvSpPr>
        <p:spPr>
          <a:xfrm>
            <a:off x="2631095" y="1532534"/>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3.16</a:t>
            </a:r>
            <a:endParaRPr lang="en-US" sz="810" dirty="0"/>
          </a:p>
        </p:txBody>
      </p:sp>
      <p:sp>
        <p:nvSpPr>
          <p:cNvPr id="49" name="Shape 47"/>
          <p:cNvSpPr/>
          <p:nvPr/>
        </p:nvSpPr>
        <p:spPr>
          <a:xfrm>
            <a:off x="3315614" y="1514246"/>
            <a:ext cx="711952" cy="345643"/>
          </a:xfrm>
          <a:prstGeom prst="rect">
            <a:avLst/>
          </a:prstGeom>
          <a:solidFill>
            <a:srgbClr val="F5F7FA"/>
          </a:solidFill>
          <a:ln w="12700">
            <a:solidFill>
              <a:srgbClr val="D5DCE3"/>
            </a:solidFill>
            <a:prstDash val="solid"/>
          </a:ln>
        </p:spPr>
      </p:sp>
      <p:sp>
        <p:nvSpPr>
          <p:cNvPr id="50" name="Text 48"/>
          <p:cNvSpPr/>
          <p:nvPr/>
        </p:nvSpPr>
        <p:spPr>
          <a:xfrm>
            <a:off x="3343046" y="1532534"/>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3.41</a:t>
            </a:r>
            <a:endParaRPr lang="en-US" sz="810" dirty="0"/>
          </a:p>
        </p:txBody>
      </p:sp>
      <p:sp>
        <p:nvSpPr>
          <p:cNvPr id="51" name="Shape 49"/>
          <p:cNvSpPr/>
          <p:nvPr/>
        </p:nvSpPr>
        <p:spPr>
          <a:xfrm>
            <a:off x="4027566" y="1514246"/>
            <a:ext cx="753831" cy="345643"/>
          </a:xfrm>
          <a:prstGeom prst="rect">
            <a:avLst/>
          </a:prstGeom>
          <a:solidFill>
            <a:srgbClr val="F5F7FA"/>
          </a:solidFill>
          <a:ln w="12700">
            <a:solidFill>
              <a:srgbClr val="D5DCE3"/>
            </a:solidFill>
            <a:prstDash val="solid"/>
          </a:ln>
        </p:spPr>
      </p:sp>
      <p:sp>
        <p:nvSpPr>
          <p:cNvPr id="52" name="Text 50"/>
          <p:cNvSpPr/>
          <p:nvPr/>
        </p:nvSpPr>
        <p:spPr>
          <a:xfrm>
            <a:off x="4054998" y="1532534"/>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2.60</a:t>
            </a:r>
            <a:endParaRPr lang="en-US" sz="810" dirty="0"/>
          </a:p>
        </p:txBody>
      </p:sp>
      <p:sp>
        <p:nvSpPr>
          <p:cNvPr id="53" name="Shape 51"/>
          <p:cNvSpPr/>
          <p:nvPr/>
        </p:nvSpPr>
        <p:spPr>
          <a:xfrm>
            <a:off x="4781398" y="1514246"/>
            <a:ext cx="837590" cy="345643"/>
          </a:xfrm>
          <a:prstGeom prst="rect">
            <a:avLst/>
          </a:prstGeom>
          <a:solidFill>
            <a:srgbClr val="F5F7FA"/>
          </a:solidFill>
          <a:ln w="12700">
            <a:solidFill>
              <a:srgbClr val="D5DCE3"/>
            </a:solidFill>
            <a:prstDash val="solid"/>
          </a:ln>
        </p:spPr>
      </p:sp>
      <p:sp>
        <p:nvSpPr>
          <p:cNvPr id="54" name="Text 52"/>
          <p:cNvSpPr/>
          <p:nvPr/>
        </p:nvSpPr>
        <p:spPr>
          <a:xfrm>
            <a:off x="4808830" y="1532534"/>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10.77</a:t>
            </a:r>
            <a:endParaRPr lang="en-US" sz="810" dirty="0"/>
          </a:p>
        </p:txBody>
      </p:sp>
      <p:sp>
        <p:nvSpPr>
          <p:cNvPr id="55" name="Shape 53"/>
          <p:cNvSpPr/>
          <p:nvPr/>
        </p:nvSpPr>
        <p:spPr>
          <a:xfrm>
            <a:off x="5618988" y="1514246"/>
            <a:ext cx="879470" cy="345643"/>
          </a:xfrm>
          <a:prstGeom prst="rect">
            <a:avLst/>
          </a:prstGeom>
          <a:solidFill>
            <a:srgbClr val="F5F7FA"/>
          </a:solidFill>
          <a:ln w="12700">
            <a:solidFill>
              <a:srgbClr val="D5DCE3"/>
            </a:solidFill>
            <a:prstDash val="solid"/>
          </a:ln>
        </p:spPr>
      </p:sp>
      <p:sp>
        <p:nvSpPr>
          <p:cNvPr id="56" name="Text 54"/>
          <p:cNvSpPr/>
          <p:nvPr/>
        </p:nvSpPr>
        <p:spPr>
          <a:xfrm>
            <a:off x="5646420" y="153253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1.54</a:t>
            </a:r>
            <a:endParaRPr lang="en-US" sz="810" dirty="0"/>
          </a:p>
        </p:txBody>
      </p:sp>
      <p:sp>
        <p:nvSpPr>
          <p:cNvPr id="57" name="Shape 55"/>
          <p:cNvSpPr/>
          <p:nvPr/>
        </p:nvSpPr>
        <p:spPr>
          <a:xfrm>
            <a:off x="6498458" y="1514246"/>
            <a:ext cx="2261494" cy="345643"/>
          </a:xfrm>
          <a:prstGeom prst="rect">
            <a:avLst/>
          </a:prstGeom>
          <a:solidFill>
            <a:srgbClr val="F5F7FA"/>
          </a:solidFill>
          <a:ln w="12700">
            <a:solidFill>
              <a:srgbClr val="D5DCE3"/>
            </a:solidFill>
            <a:prstDash val="solid"/>
          </a:ln>
        </p:spPr>
      </p:sp>
      <p:sp>
        <p:nvSpPr>
          <p:cNvPr id="58" name="Text 56"/>
          <p:cNvSpPr/>
          <p:nvPr/>
        </p:nvSpPr>
        <p:spPr>
          <a:xfrm>
            <a:off x="6525890" y="1532534"/>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92.60/7.40/—</a:t>
            </a:r>
            <a:endParaRPr lang="en-US" sz="810" dirty="0"/>
          </a:p>
        </p:txBody>
      </p:sp>
      <p:sp>
        <p:nvSpPr>
          <p:cNvPr id="59" name="Shape 57"/>
          <p:cNvSpPr/>
          <p:nvPr/>
        </p:nvSpPr>
        <p:spPr>
          <a:xfrm>
            <a:off x="384048" y="1859890"/>
            <a:ext cx="460675" cy="345643"/>
          </a:xfrm>
          <a:prstGeom prst="rect">
            <a:avLst/>
          </a:prstGeom>
          <a:solidFill>
            <a:srgbClr val="FFFFFF"/>
          </a:solidFill>
          <a:ln w="12700">
            <a:solidFill>
              <a:srgbClr val="D5DCE3"/>
            </a:solidFill>
            <a:prstDash val="solid"/>
          </a:ln>
        </p:spPr>
      </p:sp>
      <p:sp>
        <p:nvSpPr>
          <p:cNvPr id="60" name="Text 58"/>
          <p:cNvSpPr/>
          <p:nvPr/>
        </p:nvSpPr>
        <p:spPr>
          <a:xfrm>
            <a:off x="411480" y="1878178"/>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1</a:t>
            </a:r>
            <a:endParaRPr lang="en-US" sz="810" dirty="0"/>
          </a:p>
        </p:txBody>
      </p:sp>
      <p:sp>
        <p:nvSpPr>
          <p:cNvPr id="61" name="Shape 59"/>
          <p:cNvSpPr/>
          <p:nvPr/>
        </p:nvSpPr>
        <p:spPr>
          <a:xfrm>
            <a:off x="844723" y="1859890"/>
            <a:ext cx="879470" cy="345643"/>
          </a:xfrm>
          <a:prstGeom prst="rect">
            <a:avLst/>
          </a:prstGeom>
          <a:solidFill>
            <a:srgbClr val="FFFFFF"/>
          </a:solidFill>
          <a:ln w="12700">
            <a:solidFill>
              <a:srgbClr val="D5DCE3"/>
            </a:solidFill>
            <a:prstDash val="solid"/>
          </a:ln>
        </p:spPr>
      </p:sp>
      <p:sp>
        <p:nvSpPr>
          <p:cNvPr id="62" name="Text 60"/>
          <p:cNvSpPr/>
          <p:nvPr/>
        </p:nvSpPr>
        <p:spPr>
          <a:xfrm>
            <a:off x="872155" y="1878178"/>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Livox</a:t>
            </a:r>
            <a:endParaRPr lang="en-US" sz="810" dirty="0"/>
          </a:p>
        </p:txBody>
      </p:sp>
      <p:sp>
        <p:nvSpPr>
          <p:cNvPr id="63" name="Shape 61"/>
          <p:cNvSpPr/>
          <p:nvPr/>
        </p:nvSpPr>
        <p:spPr>
          <a:xfrm>
            <a:off x="1724193" y="1859890"/>
            <a:ext cx="879470" cy="345643"/>
          </a:xfrm>
          <a:prstGeom prst="rect">
            <a:avLst/>
          </a:prstGeom>
          <a:solidFill>
            <a:srgbClr val="FFFFFF"/>
          </a:solidFill>
          <a:ln w="12700">
            <a:solidFill>
              <a:srgbClr val="D5DCE3"/>
            </a:solidFill>
            <a:prstDash val="solid"/>
          </a:ln>
        </p:spPr>
      </p:sp>
      <p:sp>
        <p:nvSpPr>
          <p:cNvPr id="64" name="Text 62"/>
          <p:cNvSpPr/>
          <p:nvPr/>
        </p:nvSpPr>
        <p:spPr>
          <a:xfrm>
            <a:off x="1751625" y="1878178"/>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52.23</a:t>
            </a:r>
            <a:endParaRPr lang="en-US" sz="810" dirty="0"/>
          </a:p>
        </p:txBody>
      </p:sp>
      <p:sp>
        <p:nvSpPr>
          <p:cNvPr id="65" name="Shape 63"/>
          <p:cNvSpPr/>
          <p:nvPr/>
        </p:nvSpPr>
        <p:spPr>
          <a:xfrm>
            <a:off x="2603663" y="1859890"/>
            <a:ext cx="711952" cy="345643"/>
          </a:xfrm>
          <a:prstGeom prst="rect">
            <a:avLst/>
          </a:prstGeom>
          <a:solidFill>
            <a:srgbClr val="FFFFFF"/>
          </a:solidFill>
          <a:ln w="12700">
            <a:solidFill>
              <a:srgbClr val="D5DCE3"/>
            </a:solidFill>
            <a:prstDash val="solid"/>
          </a:ln>
        </p:spPr>
      </p:sp>
      <p:sp>
        <p:nvSpPr>
          <p:cNvPr id="66" name="Text 64"/>
          <p:cNvSpPr/>
          <p:nvPr/>
        </p:nvSpPr>
        <p:spPr>
          <a:xfrm>
            <a:off x="2631095" y="1878178"/>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4.73</a:t>
            </a:r>
            <a:endParaRPr lang="en-US" sz="810" dirty="0"/>
          </a:p>
        </p:txBody>
      </p:sp>
      <p:sp>
        <p:nvSpPr>
          <p:cNvPr id="67" name="Shape 65"/>
          <p:cNvSpPr/>
          <p:nvPr/>
        </p:nvSpPr>
        <p:spPr>
          <a:xfrm>
            <a:off x="3315614" y="1859890"/>
            <a:ext cx="711952" cy="345643"/>
          </a:xfrm>
          <a:prstGeom prst="rect">
            <a:avLst/>
          </a:prstGeom>
          <a:solidFill>
            <a:srgbClr val="FFFFFF"/>
          </a:solidFill>
          <a:ln w="12700">
            <a:solidFill>
              <a:srgbClr val="D5DCE3"/>
            </a:solidFill>
            <a:prstDash val="solid"/>
          </a:ln>
        </p:spPr>
      </p:sp>
      <p:sp>
        <p:nvSpPr>
          <p:cNvPr id="68" name="Text 66"/>
          <p:cNvSpPr/>
          <p:nvPr/>
        </p:nvSpPr>
        <p:spPr>
          <a:xfrm>
            <a:off x="3343046" y="1878178"/>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1.72</a:t>
            </a:r>
            <a:endParaRPr lang="en-US" sz="810" dirty="0"/>
          </a:p>
        </p:txBody>
      </p:sp>
      <p:sp>
        <p:nvSpPr>
          <p:cNvPr id="69" name="Shape 67"/>
          <p:cNvSpPr/>
          <p:nvPr/>
        </p:nvSpPr>
        <p:spPr>
          <a:xfrm>
            <a:off x="4027566" y="1859890"/>
            <a:ext cx="753831" cy="345643"/>
          </a:xfrm>
          <a:prstGeom prst="rect">
            <a:avLst/>
          </a:prstGeom>
          <a:solidFill>
            <a:srgbClr val="FFFFFF"/>
          </a:solidFill>
          <a:ln w="12700">
            <a:solidFill>
              <a:srgbClr val="D5DCE3"/>
            </a:solidFill>
            <a:prstDash val="solid"/>
          </a:ln>
        </p:spPr>
      </p:sp>
      <p:sp>
        <p:nvSpPr>
          <p:cNvPr id="70" name="Text 68"/>
          <p:cNvSpPr/>
          <p:nvPr/>
        </p:nvSpPr>
        <p:spPr>
          <a:xfrm>
            <a:off x="4054998" y="1878178"/>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2.42</a:t>
            </a:r>
            <a:endParaRPr lang="en-US" sz="810" dirty="0"/>
          </a:p>
        </p:txBody>
      </p:sp>
      <p:sp>
        <p:nvSpPr>
          <p:cNvPr id="71" name="Shape 69"/>
          <p:cNvSpPr/>
          <p:nvPr/>
        </p:nvSpPr>
        <p:spPr>
          <a:xfrm>
            <a:off x="4781398" y="1859890"/>
            <a:ext cx="837590" cy="345643"/>
          </a:xfrm>
          <a:prstGeom prst="rect">
            <a:avLst/>
          </a:prstGeom>
          <a:solidFill>
            <a:srgbClr val="FFFFFF"/>
          </a:solidFill>
          <a:ln w="12700">
            <a:solidFill>
              <a:srgbClr val="D5DCE3"/>
            </a:solidFill>
            <a:prstDash val="solid"/>
          </a:ln>
        </p:spPr>
      </p:sp>
      <p:sp>
        <p:nvSpPr>
          <p:cNvPr id="72" name="Text 70"/>
          <p:cNvSpPr/>
          <p:nvPr/>
        </p:nvSpPr>
        <p:spPr>
          <a:xfrm>
            <a:off x="4808830" y="1878178"/>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29.22</a:t>
            </a:r>
            <a:endParaRPr lang="en-US" sz="810" dirty="0"/>
          </a:p>
        </p:txBody>
      </p:sp>
      <p:sp>
        <p:nvSpPr>
          <p:cNvPr id="73" name="Shape 71"/>
          <p:cNvSpPr/>
          <p:nvPr/>
        </p:nvSpPr>
        <p:spPr>
          <a:xfrm>
            <a:off x="5618988" y="1859890"/>
            <a:ext cx="879470" cy="345643"/>
          </a:xfrm>
          <a:prstGeom prst="rect">
            <a:avLst/>
          </a:prstGeom>
          <a:solidFill>
            <a:srgbClr val="FFFFFF"/>
          </a:solidFill>
          <a:ln w="12700">
            <a:solidFill>
              <a:srgbClr val="D5DCE3"/>
            </a:solidFill>
            <a:prstDash val="solid"/>
          </a:ln>
        </p:spPr>
      </p:sp>
      <p:sp>
        <p:nvSpPr>
          <p:cNvPr id="74" name="Text 72"/>
          <p:cNvSpPr/>
          <p:nvPr/>
        </p:nvSpPr>
        <p:spPr>
          <a:xfrm>
            <a:off x="5646420" y="1878178"/>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7.62</a:t>
            </a:r>
            <a:endParaRPr lang="en-US" sz="810" dirty="0"/>
          </a:p>
        </p:txBody>
      </p:sp>
      <p:sp>
        <p:nvSpPr>
          <p:cNvPr id="75" name="Shape 73"/>
          <p:cNvSpPr/>
          <p:nvPr/>
        </p:nvSpPr>
        <p:spPr>
          <a:xfrm>
            <a:off x="6498458" y="1859890"/>
            <a:ext cx="2261494" cy="345643"/>
          </a:xfrm>
          <a:prstGeom prst="rect">
            <a:avLst/>
          </a:prstGeom>
          <a:solidFill>
            <a:srgbClr val="FFFFFF"/>
          </a:solidFill>
          <a:ln w="12700">
            <a:solidFill>
              <a:srgbClr val="D5DCE3"/>
            </a:solidFill>
            <a:prstDash val="solid"/>
          </a:ln>
        </p:spPr>
      </p:sp>
      <p:sp>
        <p:nvSpPr>
          <p:cNvPr id="76" name="Text 74"/>
          <p:cNvSpPr/>
          <p:nvPr/>
        </p:nvSpPr>
        <p:spPr>
          <a:xfrm>
            <a:off x="6525890" y="1878178"/>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86.30/11.63/2.07</a:t>
            </a:r>
            <a:endParaRPr lang="en-US" sz="810" dirty="0"/>
          </a:p>
        </p:txBody>
      </p:sp>
      <p:sp>
        <p:nvSpPr>
          <p:cNvPr id="77" name="Shape 75"/>
          <p:cNvSpPr/>
          <p:nvPr/>
        </p:nvSpPr>
        <p:spPr>
          <a:xfrm>
            <a:off x="384048" y="2205533"/>
            <a:ext cx="460675" cy="345643"/>
          </a:xfrm>
          <a:prstGeom prst="rect">
            <a:avLst/>
          </a:prstGeom>
          <a:solidFill>
            <a:srgbClr val="F5F7FA"/>
          </a:solidFill>
          <a:ln w="12700">
            <a:solidFill>
              <a:srgbClr val="D5DCE3"/>
            </a:solidFill>
            <a:prstDash val="solid"/>
          </a:ln>
        </p:spPr>
      </p:sp>
      <p:sp>
        <p:nvSpPr>
          <p:cNvPr id="78" name="Text 76"/>
          <p:cNvSpPr/>
          <p:nvPr/>
        </p:nvSpPr>
        <p:spPr>
          <a:xfrm>
            <a:off x="411480" y="2223821"/>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2</a:t>
            </a:r>
            <a:endParaRPr lang="en-US" sz="810" dirty="0"/>
          </a:p>
        </p:txBody>
      </p:sp>
      <p:sp>
        <p:nvSpPr>
          <p:cNvPr id="79" name="Shape 77"/>
          <p:cNvSpPr/>
          <p:nvPr/>
        </p:nvSpPr>
        <p:spPr>
          <a:xfrm>
            <a:off x="844723" y="2205533"/>
            <a:ext cx="879470" cy="345643"/>
          </a:xfrm>
          <a:prstGeom prst="rect">
            <a:avLst/>
          </a:prstGeom>
          <a:solidFill>
            <a:srgbClr val="F5F7FA"/>
          </a:solidFill>
          <a:ln w="12700">
            <a:solidFill>
              <a:srgbClr val="D5DCE3"/>
            </a:solidFill>
            <a:prstDash val="solid"/>
          </a:ln>
        </p:spPr>
      </p:sp>
      <p:sp>
        <p:nvSpPr>
          <p:cNvPr id="80" name="Text 78"/>
          <p:cNvSpPr/>
          <p:nvPr/>
        </p:nvSpPr>
        <p:spPr>
          <a:xfrm>
            <a:off x="872155" y="2223821"/>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Ouster</a:t>
            </a:r>
            <a:endParaRPr lang="en-US" sz="810" dirty="0"/>
          </a:p>
        </p:txBody>
      </p:sp>
      <p:sp>
        <p:nvSpPr>
          <p:cNvPr id="81" name="Shape 79"/>
          <p:cNvSpPr/>
          <p:nvPr/>
        </p:nvSpPr>
        <p:spPr>
          <a:xfrm>
            <a:off x="1724193" y="2205533"/>
            <a:ext cx="879470" cy="345643"/>
          </a:xfrm>
          <a:prstGeom prst="rect">
            <a:avLst/>
          </a:prstGeom>
          <a:solidFill>
            <a:srgbClr val="F5F7FA"/>
          </a:solidFill>
          <a:ln w="12700">
            <a:solidFill>
              <a:srgbClr val="D5DCE3"/>
            </a:solidFill>
            <a:prstDash val="solid"/>
          </a:ln>
        </p:spPr>
      </p:sp>
      <p:sp>
        <p:nvSpPr>
          <p:cNvPr id="82" name="Text 80"/>
          <p:cNvSpPr/>
          <p:nvPr/>
        </p:nvSpPr>
        <p:spPr>
          <a:xfrm>
            <a:off x="1751625" y="2223821"/>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87.75</a:t>
            </a:r>
            <a:endParaRPr lang="en-US" sz="810" dirty="0"/>
          </a:p>
        </p:txBody>
      </p:sp>
      <p:sp>
        <p:nvSpPr>
          <p:cNvPr id="83" name="Shape 81"/>
          <p:cNvSpPr/>
          <p:nvPr/>
        </p:nvSpPr>
        <p:spPr>
          <a:xfrm>
            <a:off x="2603663" y="2205533"/>
            <a:ext cx="711952" cy="345643"/>
          </a:xfrm>
          <a:prstGeom prst="rect">
            <a:avLst/>
          </a:prstGeom>
          <a:solidFill>
            <a:srgbClr val="F5F7FA"/>
          </a:solidFill>
          <a:ln w="12700">
            <a:solidFill>
              <a:srgbClr val="D5DCE3"/>
            </a:solidFill>
            <a:prstDash val="solid"/>
          </a:ln>
        </p:spPr>
      </p:sp>
      <p:sp>
        <p:nvSpPr>
          <p:cNvPr id="84" name="Text 82"/>
          <p:cNvSpPr/>
          <p:nvPr/>
        </p:nvSpPr>
        <p:spPr>
          <a:xfrm>
            <a:off x="2631095" y="2223821"/>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2.59</a:t>
            </a:r>
            <a:endParaRPr lang="en-US" sz="810" dirty="0"/>
          </a:p>
        </p:txBody>
      </p:sp>
      <p:sp>
        <p:nvSpPr>
          <p:cNvPr id="85" name="Shape 83"/>
          <p:cNvSpPr/>
          <p:nvPr/>
        </p:nvSpPr>
        <p:spPr>
          <a:xfrm>
            <a:off x="3315614" y="2205533"/>
            <a:ext cx="711952" cy="345643"/>
          </a:xfrm>
          <a:prstGeom prst="rect">
            <a:avLst/>
          </a:prstGeom>
          <a:solidFill>
            <a:srgbClr val="F5F7FA"/>
          </a:solidFill>
          <a:ln w="12700">
            <a:solidFill>
              <a:srgbClr val="D5DCE3"/>
            </a:solidFill>
            <a:prstDash val="solid"/>
          </a:ln>
        </p:spPr>
      </p:sp>
      <p:sp>
        <p:nvSpPr>
          <p:cNvPr id="86" name="Text 84"/>
          <p:cNvSpPr/>
          <p:nvPr/>
        </p:nvSpPr>
        <p:spPr>
          <a:xfrm>
            <a:off x="3343046" y="2223821"/>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0.04</a:t>
            </a:r>
            <a:endParaRPr lang="en-US" sz="810" dirty="0"/>
          </a:p>
        </p:txBody>
      </p:sp>
      <p:sp>
        <p:nvSpPr>
          <p:cNvPr id="87" name="Shape 85"/>
          <p:cNvSpPr/>
          <p:nvPr/>
        </p:nvSpPr>
        <p:spPr>
          <a:xfrm>
            <a:off x="4027566" y="2205533"/>
            <a:ext cx="753831" cy="345643"/>
          </a:xfrm>
          <a:prstGeom prst="rect">
            <a:avLst/>
          </a:prstGeom>
          <a:solidFill>
            <a:srgbClr val="F5F7FA"/>
          </a:solidFill>
          <a:ln w="12700">
            <a:solidFill>
              <a:srgbClr val="D5DCE3"/>
            </a:solidFill>
            <a:prstDash val="solid"/>
          </a:ln>
        </p:spPr>
      </p:sp>
      <p:sp>
        <p:nvSpPr>
          <p:cNvPr id="88" name="Text 86"/>
          <p:cNvSpPr/>
          <p:nvPr/>
        </p:nvSpPr>
        <p:spPr>
          <a:xfrm>
            <a:off x="4054998" y="2223821"/>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3.23</a:t>
            </a:r>
            <a:endParaRPr lang="en-US" sz="810" dirty="0"/>
          </a:p>
        </p:txBody>
      </p:sp>
      <p:sp>
        <p:nvSpPr>
          <p:cNvPr id="89" name="Shape 87"/>
          <p:cNvSpPr/>
          <p:nvPr/>
        </p:nvSpPr>
        <p:spPr>
          <a:xfrm>
            <a:off x="4781398" y="2205533"/>
            <a:ext cx="837590" cy="345643"/>
          </a:xfrm>
          <a:prstGeom prst="rect">
            <a:avLst/>
          </a:prstGeom>
          <a:solidFill>
            <a:srgbClr val="F5F7FA"/>
          </a:solidFill>
          <a:ln w="12700">
            <a:solidFill>
              <a:srgbClr val="D5DCE3"/>
            </a:solidFill>
            <a:prstDash val="solid"/>
          </a:ln>
        </p:spPr>
      </p:sp>
      <p:sp>
        <p:nvSpPr>
          <p:cNvPr id="90" name="Text 88"/>
          <p:cNvSpPr/>
          <p:nvPr/>
        </p:nvSpPr>
        <p:spPr>
          <a:xfrm>
            <a:off x="4808830" y="2223821"/>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2.41</a:t>
            </a:r>
            <a:endParaRPr lang="en-US" sz="810" dirty="0"/>
          </a:p>
        </p:txBody>
      </p:sp>
      <p:sp>
        <p:nvSpPr>
          <p:cNvPr id="91" name="Shape 89"/>
          <p:cNvSpPr/>
          <p:nvPr/>
        </p:nvSpPr>
        <p:spPr>
          <a:xfrm>
            <a:off x="5618988" y="2205533"/>
            <a:ext cx="879470" cy="345643"/>
          </a:xfrm>
          <a:prstGeom prst="rect">
            <a:avLst/>
          </a:prstGeom>
          <a:solidFill>
            <a:srgbClr val="F5F7FA"/>
          </a:solidFill>
          <a:ln w="12700">
            <a:solidFill>
              <a:srgbClr val="D5DCE3"/>
            </a:solidFill>
            <a:prstDash val="solid"/>
          </a:ln>
        </p:spPr>
      </p:sp>
      <p:sp>
        <p:nvSpPr>
          <p:cNvPr id="92" name="Text 90"/>
          <p:cNvSpPr/>
          <p:nvPr/>
        </p:nvSpPr>
        <p:spPr>
          <a:xfrm>
            <a:off x="5646420" y="2223821"/>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2.45</a:t>
            </a:r>
            <a:endParaRPr lang="en-US" sz="810" dirty="0"/>
          </a:p>
        </p:txBody>
      </p:sp>
      <p:sp>
        <p:nvSpPr>
          <p:cNvPr id="93" name="Shape 91"/>
          <p:cNvSpPr/>
          <p:nvPr/>
        </p:nvSpPr>
        <p:spPr>
          <a:xfrm>
            <a:off x="6498458" y="2205533"/>
            <a:ext cx="2261494" cy="345643"/>
          </a:xfrm>
          <a:prstGeom prst="rect">
            <a:avLst/>
          </a:prstGeom>
          <a:solidFill>
            <a:srgbClr val="F5F7FA"/>
          </a:solidFill>
          <a:ln w="12700">
            <a:solidFill>
              <a:srgbClr val="D5DCE3"/>
            </a:solidFill>
            <a:prstDash val="solid"/>
          </a:ln>
        </p:spPr>
      </p:sp>
      <p:sp>
        <p:nvSpPr>
          <p:cNvPr id="94" name="Text 92"/>
          <p:cNvSpPr/>
          <p:nvPr/>
        </p:nvSpPr>
        <p:spPr>
          <a:xfrm>
            <a:off x="6525890" y="2223821"/>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99.71/0.29/—</a:t>
            </a:r>
            <a:endParaRPr lang="en-US" sz="810" dirty="0"/>
          </a:p>
        </p:txBody>
      </p:sp>
      <p:sp>
        <p:nvSpPr>
          <p:cNvPr id="95" name="Shape 93"/>
          <p:cNvSpPr/>
          <p:nvPr/>
        </p:nvSpPr>
        <p:spPr>
          <a:xfrm>
            <a:off x="384048" y="2551176"/>
            <a:ext cx="460675" cy="345643"/>
          </a:xfrm>
          <a:prstGeom prst="rect">
            <a:avLst/>
          </a:prstGeom>
          <a:solidFill>
            <a:srgbClr val="FFFFFF"/>
          </a:solidFill>
          <a:ln w="12700">
            <a:solidFill>
              <a:srgbClr val="D5DCE3"/>
            </a:solidFill>
            <a:prstDash val="solid"/>
          </a:ln>
        </p:spPr>
      </p:sp>
      <p:sp>
        <p:nvSpPr>
          <p:cNvPr id="96" name="Text 94"/>
          <p:cNvSpPr/>
          <p:nvPr/>
        </p:nvSpPr>
        <p:spPr>
          <a:xfrm>
            <a:off x="411480" y="2569464"/>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2</a:t>
            </a:r>
            <a:endParaRPr lang="en-US" sz="810" dirty="0"/>
          </a:p>
        </p:txBody>
      </p:sp>
      <p:sp>
        <p:nvSpPr>
          <p:cNvPr id="97" name="Shape 95"/>
          <p:cNvSpPr/>
          <p:nvPr/>
        </p:nvSpPr>
        <p:spPr>
          <a:xfrm>
            <a:off x="844723" y="2551176"/>
            <a:ext cx="879470" cy="345643"/>
          </a:xfrm>
          <a:prstGeom prst="rect">
            <a:avLst/>
          </a:prstGeom>
          <a:solidFill>
            <a:srgbClr val="FFFFFF"/>
          </a:solidFill>
          <a:ln w="12700">
            <a:solidFill>
              <a:srgbClr val="D5DCE3"/>
            </a:solidFill>
            <a:prstDash val="solid"/>
          </a:ln>
        </p:spPr>
      </p:sp>
      <p:sp>
        <p:nvSpPr>
          <p:cNvPr id="98" name="Text 96"/>
          <p:cNvSpPr/>
          <p:nvPr/>
        </p:nvSpPr>
        <p:spPr>
          <a:xfrm>
            <a:off x="872155" y="256946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Hesai</a:t>
            </a:r>
            <a:endParaRPr lang="en-US" sz="810" dirty="0"/>
          </a:p>
        </p:txBody>
      </p:sp>
      <p:sp>
        <p:nvSpPr>
          <p:cNvPr id="99" name="Shape 97"/>
          <p:cNvSpPr/>
          <p:nvPr/>
        </p:nvSpPr>
        <p:spPr>
          <a:xfrm>
            <a:off x="1724193" y="2551176"/>
            <a:ext cx="879470" cy="345643"/>
          </a:xfrm>
          <a:prstGeom prst="rect">
            <a:avLst/>
          </a:prstGeom>
          <a:solidFill>
            <a:srgbClr val="FFFFFF"/>
          </a:solidFill>
          <a:ln w="12700">
            <a:solidFill>
              <a:srgbClr val="D5DCE3"/>
            </a:solidFill>
            <a:prstDash val="solid"/>
          </a:ln>
        </p:spPr>
      </p:sp>
      <p:sp>
        <p:nvSpPr>
          <p:cNvPr id="100" name="Text 98"/>
          <p:cNvSpPr/>
          <p:nvPr/>
        </p:nvSpPr>
        <p:spPr>
          <a:xfrm>
            <a:off x="1751625" y="256946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78.64</a:t>
            </a:r>
            <a:endParaRPr lang="en-US" sz="810" dirty="0"/>
          </a:p>
        </p:txBody>
      </p:sp>
      <p:sp>
        <p:nvSpPr>
          <p:cNvPr id="101" name="Shape 99"/>
          <p:cNvSpPr/>
          <p:nvPr/>
        </p:nvSpPr>
        <p:spPr>
          <a:xfrm>
            <a:off x="2603663" y="2551176"/>
            <a:ext cx="711952" cy="345643"/>
          </a:xfrm>
          <a:prstGeom prst="rect">
            <a:avLst/>
          </a:prstGeom>
          <a:solidFill>
            <a:srgbClr val="FFFFFF"/>
          </a:solidFill>
          <a:ln w="12700">
            <a:solidFill>
              <a:srgbClr val="D5DCE3"/>
            </a:solidFill>
            <a:prstDash val="solid"/>
          </a:ln>
        </p:spPr>
      </p:sp>
      <p:sp>
        <p:nvSpPr>
          <p:cNvPr id="102" name="Text 100"/>
          <p:cNvSpPr/>
          <p:nvPr/>
        </p:nvSpPr>
        <p:spPr>
          <a:xfrm>
            <a:off x="2631095" y="2569464"/>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7.48</a:t>
            </a:r>
            <a:endParaRPr lang="en-US" sz="810" dirty="0"/>
          </a:p>
        </p:txBody>
      </p:sp>
      <p:sp>
        <p:nvSpPr>
          <p:cNvPr id="103" name="Shape 101"/>
          <p:cNvSpPr/>
          <p:nvPr/>
        </p:nvSpPr>
        <p:spPr>
          <a:xfrm>
            <a:off x="3315614" y="2551176"/>
            <a:ext cx="711952" cy="345643"/>
          </a:xfrm>
          <a:prstGeom prst="rect">
            <a:avLst/>
          </a:prstGeom>
          <a:solidFill>
            <a:srgbClr val="FFFFFF"/>
          </a:solidFill>
          <a:ln w="12700">
            <a:solidFill>
              <a:srgbClr val="D5DCE3"/>
            </a:solidFill>
            <a:prstDash val="solid"/>
          </a:ln>
        </p:spPr>
      </p:sp>
      <p:sp>
        <p:nvSpPr>
          <p:cNvPr id="104" name="Text 102"/>
          <p:cNvSpPr/>
          <p:nvPr/>
        </p:nvSpPr>
        <p:spPr>
          <a:xfrm>
            <a:off x="3343046" y="2569464"/>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0.28</a:t>
            </a:r>
            <a:endParaRPr lang="en-US" sz="810" dirty="0"/>
          </a:p>
        </p:txBody>
      </p:sp>
      <p:sp>
        <p:nvSpPr>
          <p:cNvPr id="105" name="Shape 103"/>
          <p:cNvSpPr/>
          <p:nvPr/>
        </p:nvSpPr>
        <p:spPr>
          <a:xfrm>
            <a:off x="4027566" y="2551176"/>
            <a:ext cx="753831" cy="345643"/>
          </a:xfrm>
          <a:prstGeom prst="rect">
            <a:avLst/>
          </a:prstGeom>
          <a:solidFill>
            <a:srgbClr val="FFFFFF"/>
          </a:solidFill>
          <a:ln w="12700">
            <a:solidFill>
              <a:srgbClr val="D5DCE3"/>
            </a:solidFill>
            <a:prstDash val="solid"/>
          </a:ln>
        </p:spPr>
      </p:sp>
      <p:sp>
        <p:nvSpPr>
          <p:cNvPr id="106" name="Text 104"/>
          <p:cNvSpPr/>
          <p:nvPr/>
        </p:nvSpPr>
        <p:spPr>
          <a:xfrm>
            <a:off x="4054998" y="2569464"/>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3.14</a:t>
            </a:r>
            <a:endParaRPr lang="en-US" sz="810" dirty="0"/>
          </a:p>
        </p:txBody>
      </p:sp>
      <p:sp>
        <p:nvSpPr>
          <p:cNvPr id="107" name="Shape 105"/>
          <p:cNvSpPr/>
          <p:nvPr/>
        </p:nvSpPr>
        <p:spPr>
          <a:xfrm>
            <a:off x="4781398" y="2551176"/>
            <a:ext cx="837590" cy="345643"/>
          </a:xfrm>
          <a:prstGeom prst="rect">
            <a:avLst/>
          </a:prstGeom>
          <a:solidFill>
            <a:srgbClr val="FFFFFF"/>
          </a:solidFill>
          <a:ln w="12700">
            <a:solidFill>
              <a:srgbClr val="D5DCE3"/>
            </a:solidFill>
            <a:prstDash val="solid"/>
          </a:ln>
        </p:spPr>
      </p:sp>
      <p:sp>
        <p:nvSpPr>
          <p:cNvPr id="108" name="Text 106"/>
          <p:cNvSpPr/>
          <p:nvPr/>
        </p:nvSpPr>
        <p:spPr>
          <a:xfrm>
            <a:off x="4808830" y="2569464"/>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3.79</a:t>
            </a:r>
            <a:endParaRPr lang="en-US" sz="810" dirty="0"/>
          </a:p>
        </p:txBody>
      </p:sp>
      <p:sp>
        <p:nvSpPr>
          <p:cNvPr id="109" name="Shape 107"/>
          <p:cNvSpPr/>
          <p:nvPr/>
        </p:nvSpPr>
        <p:spPr>
          <a:xfrm>
            <a:off x="5618988" y="2551176"/>
            <a:ext cx="879470" cy="345643"/>
          </a:xfrm>
          <a:prstGeom prst="rect">
            <a:avLst/>
          </a:prstGeom>
          <a:solidFill>
            <a:srgbClr val="FFFFFF"/>
          </a:solidFill>
          <a:ln w="12700">
            <a:solidFill>
              <a:srgbClr val="D5DCE3"/>
            </a:solidFill>
            <a:prstDash val="solid"/>
          </a:ln>
        </p:spPr>
      </p:sp>
      <p:sp>
        <p:nvSpPr>
          <p:cNvPr id="110" name="Text 108"/>
          <p:cNvSpPr/>
          <p:nvPr/>
        </p:nvSpPr>
        <p:spPr>
          <a:xfrm>
            <a:off x="5646420" y="256946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4.16</a:t>
            </a:r>
            <a:endParaRPr lang="en-US" sz="810" dirty="0"/>
          </a:p>
        </p:txBody>
      </p:sp>
      <p:sp>
        <p:nvSpPr>
          <p:cNvPr id="111" name="Shape 109"/>
          <p:cNvSpPr/>
          <p:nvPr/>
        </p:nvSpPr>
        <p:spPr>
          <a:xfrm>
            <a:off x="6498458" y="2551176"/>
            <a:ext cx="2261494" cy="345643"/>
          </a:xfrm>
          <a:prstGeom prst="rect">
            <a:avLst/>
          </a:prstGeom>
          <a:solidFill>
            <a:srgbClr val="FFFFFF"/>
          </a:solidFill>
          <a:ln w="12700">
            <a:solidFill>
              <a:srgbClr val="D5DCE3"/>
            </a:solidFill>
            <a:prstDash val="solid"/>
          </a:ln>
        </p:spPr>
      </p:sp>
      <p:sp>
        <p:nvSpPr>
          <p:cNvPr id="112" name="Text 110"/>
          <p:cNvSpPr/>
          <p:nvPr/>
        </p:nvSpPr>
        <p:spPr>
          <a:xfrm>
            <a:off x="6525890" y="2569464"/>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93.82/6.17/—</a:t>
            </a:r>
            <a:endParaRPr lang="en-US" sz="810" dirty="0"/>
          </a:p>
        </p:txBody>
      </p:sp>
      <p:sp>
        <p:nvSpPr>
          <p:cNvPr id="113" name="Shape 111"/>
          <p:cNvSpPr/>
          <p:nvPr/>
        </p:nvSpPr>
        <p:spPr>
          <a:xfrm>
            <a:off x="384048" y="2896819"/>
            <a:ext cx="460675" cy="345643"/>
          </a:xfrm>
          <a:prstGeom prst="rect">
            <a:avLst/>
          </a:prstGeom>
          <a:solidFill>
            <a:srgbClr val="F5F7FA"/>
          </a:solidFill>
          <a:ln w="12700">
            <a:solidFill>
              <a:srgbClr val="D5DCE3"/>
            </a:solidFill>
            <a:prstDash val="solid"/>
          </a:ln>
        </p:spPr>
      </p:sp>
      <p:sp>
        <p:nvSpPr>
          <p:cNvPr id="114" name="Text 112"/>
          <p:cNvSpPr/>
          <p:nvPr/>
        </p:nvSpPr>
        <p:spPr>
          <a:xfrm>
            <a:off x="411480" y="2915107"/>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2</a:t>
            </a:r>
            <a:endParaRPr lang="en-US" sz="810" dirty="0"/>
          </a:p>
        </p:txBody>
      </p:sp>
      <p:sp>
        <p:nvSpPr>
          <p:cNvPr id="115" name="Shape 113"/>
          <p:cNvSpPr/>
          <p:nvPr/>
        </p:nvSpPr>
        <p:spPr>
          <a:xfrm>
            <a:off x="844723" y="2896819"/>
            <a:ext cx="879470" cy="345643"/>
          </a:xfrm>
          <a:prstGeom prst="rect">
            <a:avLst/>
          </a:prstGeom>
          <a:solidFill>
            <a:srgbClr val="F5F7FA"/>
          </a:solidFill>
          <a:ln w="12700">
            <a:solidFill>
              <a:srgbClr val="D5DCE3"/>
            </a:solidFill>
            <a:prstDash val="solid"/>
          </a:ln>
        </p:spPr>
      </p:sp>
      <p:sp>
        <p:nvSpPr>
          <p:cNvPr id="116" name="Text 114"/>
          <p:cNvSpPr/>
          <p:nvPr/>
        </p:nvSpPr>
        <p:spPr>
          <a:xfrm>
            <a:off x="872155" y="2915107"/>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Livox</a:t>
            </a:r>
            <a:endParaRPr lang="en-US" sz="810" dirty="0"/>
          </a:p>
        </p:txBody>
      </p:sp>
      <p:sp>
        <p:nvSpPr>
          <p:cNvPr id="117" name="Shape 115"/>
          <p:cNvSpPr/>
          <p:nvPr/>
        </p:nvSpPr>
        <p:spPr>
          <a:xfrm>
            <a:off x="1724193" y="2896819"/>
            <a:ext cx="879470" cy="345643"/>
          </a:xfrm>
          <a:prstGeom prst="rect">
            <a:avLst/>
          </a:prstGeom>
          <a:solidFill>
            <a:srgbClr val="F5F7FA"/>
          </a:solidFill>
          <a:ln w="12700">
            <a:solidFill>
              <a:srgbClr val="D5DCE3"/>
            </a:solidFill>
            <a:prstDash val="solid"/>
          </a:ln>
        </p:spPr>
      </p:sp>
      <p:sp>
        <p:nvSpPr>
          <p:cNvPr id="118" name="Text 116"/>
          <p:cNvSpPr/>
          <p:nvPr/>
        </p:nvSpPr>
        <p:spPr>
          <a:xfrm>
            <a:off x="1751625" y="2915107"/>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68.71</a:t>
            </a:r>
            <a:endParaRPr lang="en-US" sz="810" dirty="0"/>
          </a:p>
        </p:txBody>
      </p:sp>
      <p:sp>
        <p:nvSpPr>
          <p:cNvPr id="119" name="Shape 117"/>
          <p:cNvSpPr/>
          <p:nvPr/>
        </p:nvSpPr>
        <p:spPr>
          <a:xfrm>
            <a:off x="2603663" y="2896819"/>
            <a:ext cx="711952" cy="345643"/>
          </a:xfrm>
          <a:prstGeom prst="rect">
            <a:avLst/>
          </a:prstGeom>
          <a:solidFill>
            <a:srgbClr val="F5F7FA"/>
          </a:solidFill>
          <a:ln w="12700">
            <a:solidFill>
              <a:srgbClr val="D5DCE3"/>
            </a:solidFill>
            <a:prstDash val="solid"/>
          </a:ln>
        </p:spPr>
      </p:sp>
      <p:sp>
        <p:nvSpPr>
          <p:cNvPr id="120" name="Text 118"/>
          <p:cNvSpPr/>
          <p:nvPr/>
        </p:nvSpPr>
        <p:spPr>
          <a:xfrm>
            <a:off x="2631095" y="2915107"/>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6.34</a:t>
            </a:r>
            <a:endParaRPr lang="en-US" sz="810" dirty="0"/>
          </a:p>
        </p:txBody>
      </p:sp>
      <p:sp>
        <p:nvSpPr>
          <p:cNvPr id="121" name="Shape 119"/>
          <p:cNvSpPr/>
          <p:nvPr/>
        </p:nvSpPr>
        <p:spPr>
          <a:xfrm>
            <a:off x="3315614" y="2896819"/>
            <a:ext cx="711952" cy="345643"/>
          </a:xfrm>
          <a:prstGeom prst="rect">
            <a:avLst/>
          </a:prstGeom>
          <a:solidFill>
            <a:srgbClr val="F5F7FA"/>
          </a:solidFill>
          <a:ln w="12700">
            <a:solidFill>
              <a:srgbClr val="D5DCE3"/>
            </a:solidFill>
            <a:prstDash val="solid"/>
          </a:ln>
        </p:spPr>
      </p:sp>
      <p:sp>
        <p:nvSpPr>
          <p:cNvPr id="122" name="Text 120"/>
          <p:cNvSpPr/>
          <p:nvPr/>
        </p:nvSpPr>
        <p:spPr>
          <a:xfrm>
            <a:off x="3343046" y="2915107"/>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0.13</a:t>
            </a:r>
            <a:endParaRPr lang="en-US" sz="810" dirty="0"/>
          </a:p>
        </p:txBody>
      </p:sp>
      <p:sp>
        <p:nvSpPr>
          <p:cNvPr id="123" name="Shape 121"/>
          <p:cNvSpPr/>
          <p:nvPr/>
        </p:nvSpPr>
        <p:spPr>
          <a:xfrm>
            <a:off x="4027566" y="2896819"/>
            <a:ext cx="753831" cy="345643"/>
          </a:xfrm>
          <a:prstGeom prst="rect">
            <a:avLst/>
          </a:prstGeom>
          <a:solidFill>
            <a:srgbClr val="F5F7FA"/>
          </a:solidFill>
          <a:ln w="12700">
            <a:solidFill>
              <a:srgbClr val="D5DCE3"/>
            </a:solidFill>
            <a:prstDash val="solid"/>
          </a:ln>
        </p:spPr>
      </p:sp>
      <p:sp>
        <p:nvSpPr>
          <p:cNvPr id="124" name="Text 122"/>
          <p:cNvSpPr/>
          <p:nvPr/>
        </p:nvSpPr>
        <p:spPr>
          <a:xfrm>
            <a:off x="4054998" y="2915107"/>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1.73</a:t>
            </a:r>
            <a:endParaRPr lang="en-US" sz="810" dirty="0"/>
          </a:p>
        </p:txBody>
      </p:sp>
      <p:sp>
        <p:nvSpPr>
          <p:cNvPr id="125" name="Shape 123"/>
          <p:cNvSpPr/>
          <p:nvPr/>
        </p:nvSpPr>
        <p:spPr>
          <a:xfrm>
            <a:off x="4781398" y="2896819"/>
            <a:ext cx="837590" cy="345643"/>
          </a:xfrm>
          <a:prstGeom prst="rect">
            <a:avLst/>
          </a:prstGeom>
          <a:solidFill>
            <a:srgbClr val="F5F7FA"/>
          </a:solidFill>
          <a:ln w="12700">
            <a:solidFill>
              <a:srgbClr val="D5DCE3"/>
            </a:solidFill>
            <a:prstDash val="solid"/>
          </a:ln>
        </p:spPr>
      </p:sp>
      <p:sp>
        <p:nvSpPr>
          <p:cNvPr id="126" name="Text 124"/>
          <p:cNvSpPr/>
          <p:nvPr/>
        </p:nvSpPr>
        <p:spPr>
          <a:xfrm>
            <a:off x="4808830" y="2915107"/>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11.60</a:t>
            </a:r>
            <a:endParaRPr lang="en-US" sz="810" dirty="0"/>
          </a:p>
        </p:txBody>
      </p:sp>
      <p:sp>
        <p:nvSpPr>
          <p:cNvPr id="127" name="Shape 125"/>
          <p:cNvSpPr/>
          <p:nvPr/>
        </p:nvSpPr>
        <p:spPr>
          <a:xfrm>
            <a:off x="5618988" y="2896819"/>
            <a:ext cx="879470" cy="345643"/>
          </a:xfrm>
          <a:prstGeom prst="rect">
            <a:avLst/>
          </a:prstGeom>
          <a:solidFill>
            <a:srgbClr val="F5F7FA"/>
          </a:solidFill>
          <a:ln w="12700">
            <a:solidFill>
              <a:srgbClr val="D5DCE3"/>
            </a:solidFill>
            <a:prstDash val="solid"/>
          </a:ln>
        </p:spPr>
      </p:sp>
      <p:sp>
        <p:nvSpPr>
          <p:cNvPr id="128" name="Text 126"/>
          <p:cNvSpPr/>
          <p:nvPr/>
        </p:nvSpPr>
        <p:spPr>
          <a:xfrm>
            <a:off x="5646420" y="2915107"/>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9.48</a:t>
            </a:r>
            <a:endParaRPr lang="en-US" sz="810" dirty="0"/>
          </a:p>
        </p:txBody>
      </p:sp>
      <p:sp>
        <p:nvSpPr>
          <p:cNvPr id="129" name="Shape 127"/>
          <p:cNvSpPr/>
          <p:nvPr/>
        </p:nvSpPr>
        <p:spPr>
          <a:xfrm>
            <a:off x="6498458" y="2896819"/>
            <a:ext cx="2261494" cy="345643"/>
          </a:xfrm>
          <a:prstGeom prst="rect">
            <a:avLst/>
          </a:prstGeom>
          <a:solidFill>
            <a:srgbClr val="F5F7FA"/>
          </a:solidFill>
          <a:ln w="12700">
            <a:solidFill>
              <a:srgbClr val="D5DCE3"/>
            </a:solidFill>
            <a:prstDash val="solid"/>
          </a:ln>
        </p:spPr>
      </p:sp>
      <p:sp>
        <p:nvSpPr>
          <p:cNvPr id="130" name="Text 128"/>
          <p:cNvSpPr/>
          <p:nvPr/>
        </p:nvSpPr>
        <p:spPr>
          <a:xfrm>
            <a:off x="6525890" y="2915107"/>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92.66/6.90/0.42</a:t>
            </a:r>
            <a:endParaRPr lang="en-US" sz="810" dirty="0"/>
          </a:p>
        </p:txBody>
      </p:sp>
      <p:sp>
        <p:nvSpPr>
          <p:cNvPr id="131" name="Shape 129"/>
          <p:cNvSpPr/>
          <p:nvPr/>
        </p:nvSpPr>
        <p:spPr>
          <a:xfrm>
            <a:off x="384048" y="3242462"/>
            <a:ext cx="460675" cy="345643"/>
          </a:xfrm>
          <a:prstGeom prst="rect">
            <a:avLst/>
          </a:prstGeom>
          <a:solidFill>
            <a:srgbClr val="FFFFFF"/>
          </a:solidFill>
          <a:ln w="12700">
            <a:solidFill>
              <a:srgbClr val="D5DCE3"/>
            </a:solidFill>
            <a:prstDash val="solid"/>
          </a:ln>
        </p:spPr>
      </p:sp>
      <p:sp>
        <p:nvSpPr>
          <p:cNvPr id="132" name="Text 130"/>
          <p:cNvSpPr/>
          <p:nvPr/>
        </p:nvSpPr>
        <p:spPr>
          <a:xfrm>
            <a:off x="411480" y="3260750"/>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3</a:t>
            </a:r>
            <a:endParaRPr lang="en-US" sz="810" dirty="0"/>
          </a:p>
        </p:txBody>
      </p:sp>
      <p:sp>
        <p:nvSpPr>
          <p:cNvPr id="133" name="Shape 131"/>
          <p:cNvSpPr/>
          <p:nvPr/>
        </p:nvSpPr>
        <p:spPr>
          <a:xfrm>
            <a:off x="844723" y="3242462"/>
            <a:ext cx="879470" cy="345643"/>
          </a:xfrm>
          <a:prstGeom prst="rect">
            <a:avLst/>
          </a:prstGeom>
          <a:solidFill>
            <a:srgbClr val="FFFFFF"/>
          </a:solidFill>
          <a:ln w="12700">
            <a:solidFill>
              <a:srgbClr val="D5DCE3"/>
            </a:solidFill>
            <a:prstDash val="solid"/>
          </a:ln>
        </p:spPr>
      </p:sp>
      <p:sp>
        <p:nvSpPr>
          <p:cNvPr id="134" name="Text 132"/>
          <p:cNvSpPr/>
          <p:nvPr/>
        </p:nvSpPr>
        <p:spPr>
          <a:xfrm>
            <a:off x="872155" y="3260750"/>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Ouster</a:t>
            </a:r>
            <a:endParaRPr lang="en-US" sz="810" dirty="0"/>
          </a:p>
        </p:txBody>
      </p:sp>
      <p:sp>
        <p:nvSpPr>
          <p:cNvPr id="135" name="Shape 133"/>
          <p:cNvSpPr/>
          <p:nvPr/>
        </p:nvSpPr>
        <p:spPr>
          <a:xfrm>
            <a:off x="1724193" y="3242462"/>
            <a:ext cx="879470" cy="345643"/>
          </a:xfrm>
          <a:prstGeom prst="rect">
            <a:avLst/>
          </a:prstGeom>
          <a:solidFill>
            <a:srgbClr val="FFFFFF"/>
          </a:solidFill>
          <a:ln w="12700">
            <a:solidFill>
              <a:srgbClr val="D5DCE3"/>
            </a:solidFill>
            <a:prstDash val="solid"/>
          </a:ln>
        </p:spPr>
      </p:sp>
      <p:sp>
        <p:nvSpPr>
          <p:cNvPr id="136" name="Text 134"/>
          <p:cNvSpPr/>
          <p:nvPr/>
        </p:nvSpPr>
        <p:spPr>
          <a:xfrm>
            <a:off x="1751625" y="3260750"/>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87.05</a:t>
            </a:r>
            <a:endParaRPr lang="en-US" sz="810" dirty="0"/>
          </a:p>
        </p:txBody>
      </p:sp>
      <p:sp>
        <p:nvSpPr>
          <p:cNvPr id="137" name="Shape 135"/>
          <p:cNvSpPr/>
          <p:nvPr/>
        </p:nvSpPr>
        <p:spPr>
          <a:xfrm>
            <a:off x="2603663" y="3242462"/>
            <a:ext cx="711952" cy="345643"/>
          </a:xfrm>
          <a:prstGeom prst="rect">
            <a:avLst/>
          </a:prstGeom>
          <a:solidFill>
            <a:srgbClr val="FFFFFF"/>
          </a:solidFill>
          <a:ln w="12700">
            <a:solidFill>
              <a:srgbClr val="D5DCE3"/>
            </a:solidFill>
            <a:prstDash val="solid"/>
          </a:ln>
        </p:spPr>
      </p:sp>
      <p:sp>
        <p:nvSpPr>
          <p:cNvPr id="138" name="Text 136"/>
          <p:cNvSpPr/>
          <p:nvPr/>
        </p:nvSpPr>
        <p:spPr>
          <a:xfrm>
            <a:off x="2631095" y="3260750"/>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2.17</a:t>
            </a:r>
            <a:endParaRPr lang="en-US" sz="810" dirty="0"/>
          </a:p>
        </p:txBody>
      </p:sp>
      <p:sp>
        <p:nvSpPr>
          <p:cNvPr id="139" name="Shape 137"/>
          <p:cNvSpPr/>
          <p:nvPr/>
        </p:nvSpPr>
        <p:spPr>
          <a:xfrm>
            <a:off x="3315614" y="3242462"/>
            <a:ext cx="711952" cy="345643"/>
          </a:xfrm>
          <a:prstGeom prst="rect">
            <a:avLst/>
          </a:prstGeom>
          <a:solidFill>
            <a:srgbClr val="FFFFFF"/>
          </a:solidFill>
          <a:ln w="12700">
            <a:solidFill>
              <a:srgbClr val="D5DCE3"/>
            </a:solidFill>
            <a:prstDash val="solid"/>
          </a:ln>
        </p:spPr>
      </p:sp>
      <p:sp>
        <p:nvSpPr>
          <p:cNvPr id="140" name="Text 138"/>
          <p:cNvSpPr/>
          <p:nvPr/>
        </p:nvSpPr>
        <p:spPr>
          <a:xfrm>
            <a:off x="3343046" y="3260750"/>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a:t>
            </a:r>
            <a:endParaRPr lang="en-US" sz="810" dirty="0"/>
          </a:p>
        </p:txBody>
      </p:sp>
      <p:sp>
        <p:nvSpPr>
          <p:cNvPr id="141" name="Shape 139"/>
          <p:cNvSpPr/>
          <p:nvPr/>
        </p:nvSpPr>
        <p:spPr>
          <a:xfrm>
            <a:off x="4027566" y="3242462"/>
            <a:ext cx="753831" cy="345643"/>
          </a:xfrm>
          <a:prstGeom prst="rect">
            <a:avLst/>
          </a:prstGeom>
          <a:solidFill>
            <a:srgbClr val="FFFFFF"/>
          </a:solidFill>
          <a:ln w="12700">
            <a:solidFill>
              <a:srgbClr val="D5DCE3"/>
            </a:solidFill>
            <a:prstDash val="solid"/>
          </a:ln>
        </p:spPr>
      </p:sp>
      <p:sp>
        <p:nvSpPr>
          <p:cNvPr id="142" name="Text 140"/>
          <p:cNvSpPr/>
          <p:nvPr/>
        </p:nvSpPr>
        <p:spPr>
          <a:xfrm>
            <a:off x="4054998" y="3260750"/>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2.76</a:t>
            </a:r>
            <a:endParaRPr lang="en-US" sz="810" dirty="0"/>
          </a:p>
        </p:txBody>
      </p:sp>
      <p:sp>
        <p:nvSpPr>
          <p:cNvPr id="143" name="Shape 141"/>
          <p:cNvSpPr/>
          <p:nvPr/>
        </p:nvSpPr>
        <p:spPr>
          <a:xfrm>
            <a:off x="4781398" y="3242462"/>
            <a:ext cx="837590" cy="345643"/>
          </a:xfrm>
          <a:prstGeom prst="rect">
            <a:avLst/>
          </a:prstGeom>
          <a:solidFill>
            <a:srgbClr val="FFFFFF"/>
          </a:solidFill>
          <a:ln w="12700">
            <a:solidFill>
              <a:srgbClr val="D5DCE3"/>
            </a:solidFill>
            <a:prstDash val="solid"/>
          </a:ln>
        </p:spPr>
      </p:sp>
      <p:sp>
        <p:nvSpPr>
          <p:cNvPr id="144" name="Text 142"/>
          <p:cNvSpPr/>
          <p:nvPr/>
        </p:nvSpPr>
        <p:spPr>
          <a:xfrm>
            <a:off x="4808830" y="3260750"/>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1.67</a:t>
            </a:r>
            <a:endParaRPr lang="en-US" sz="810" dirty="0"/>
          </a:p>
        </p:txBody>
      </p:sp>
      <p:sp>
        <p:nvSpPr>
          <p:cNvPr id="145" name="Shape 143"/>
          <p:cNvSpPr/>
          <p:nvPr/>
        </p:nvSpPr>
        <p:spPr>
          <a:xfrm>
            <a:off x="5618988" y="3242462"/>
            <a:ext cx="879470" cy="345643"/>
          </a:xfrm>
          <a:prstGeom prst="rect">
            <a:avLst/>
          </a:prstGeom>
          <a:solidFill>
            <a:srgbClr val="FFFFFF"/>
          </a:solidFill>
          <a:ln w="12700">
            <a:solidFill>
              <a:srgbClr val="D5DCE3"/>
            </a:solidFill>
            <a:prstDash val="solid"/>
          </a:ln>
        </p:spPr>
      </p:sp>
      <p:sp>
        <p:nvSpPr>
          <p:cNvPr id="146" name="Text 144"/>
          <p:cNvSpPr/>
          <p:nvPr/>
        </p:nvSpPr>
        <p:spPr>
          <a:xfrm>
            <a:off x="5646420" y="3260750"/>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3.64</a:t>
            </a:r>
            <a:endParaRPr lang="en-US" sz="810" dirty="0"/>
          </a:p>
        </p:txBody>
      </p:sp>
      <p:sp>
        <p:nvSpPr>
          <p:cNvPr id="147" name="Shape 145"/>
          <p:cNvSpPr/>
          <p:nvPr/>
        </p:nvSpPr>
        <p:spPr>
          <a:xfrm>
            <a:off x="6498458" y="3242462"/>
            <a:ext cx="2261494" cy="345643"/>
          </a:xfrm>
          <a:prstGeom prst="rect">
            <a:avLst/>
          </a:prstGeom>
          <a:solidFill>
            <a:srgbClr val="FFFFFF"/>
          </a:solidFill>
          <a:ln w="12700">
            <a:solidFill>
              <a:srgbClr val="D5DCE3"/>
            </a:solidFill>
            <a:prstDash val="solid"/>
          </a:ln>
        </p:spPr>
      </p:sp>
      <p:sp>
        <p:nvSpPr>
          <p:cNvPr id="148" name="Text 146"/>
          <p:cNvSpPr/>
          <p:nvPr/>
        </p:nvSpPr>
        <p:spPr>
          <a:xfrm>
            <a:off x="6525890" y="3260750"/>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99.62/0.38/—</a:t>
            </a:r>
            <a:endParaRPr lang="en-US" sz="810" dirty="0"/>
          </a:p>
        </p:txBody>
      </p:sp>
      <p:sp>
        <p:nvSpPr>
          <p:cNvPr id="149" name="Shape 147"/>
          <p:cNvSpPr/>
          <p:nvPr/>
        </p:nvSpPr>
        <p:spPr>
          <a:xfrm>
            <a:off x="384048" y="3588106"/>
            <a:ext cx="460675" cy="345643"/>
          </a:xfrm>
          <a:prstGeom prst="rect">
            <a:avLst/>
          </a:prstGeom>
          <a:solidFill>
            <a:srgbClr val="F5F7FA"/>
          </a:solidFill>
          <a:ln w="12700">
            <a:solidFill>
              <a:srgbClr val="D5DCE3"/>
            </a:solidFill>
            <a:prstDash val="solid"/>
          </a:ln>
        </p:spPr>
      </p:sp>
      <p:sp>
        <p:nvSpPr>
          <p:cNvPr id="150" name="Text 148"/>
          <p:cNvSpPr/>
          <p:nvPr/>
        </p:nvSpPr>
        <p:spPr>
          <a:xfrm>
            <a:off x="411480" y="3606394"/>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3</a:t>
            </a:r>
            <a:endParaRPr lang="en-US" sz="810" dirty="0"/>
          </a:p>
        </p:txBody>
      </p:sp>
      <p:sp>
        <p:nvSpPr>
          <p:cNvPr id="151" name="Shape 149"/>
          <p:cNvSpPr/>
          <p:nvPr/>
        </p:nvSpPr>
        <p:spPr>
          <a:xfrm>
            <a:off x="844723" y="3588106"/>
            <a:ext cx="879470" cy="345643"/>
          </a:xfrm>
          <a:prstGeom prst="rect">
            <a:avLst/>
          </a:prstGeom>
          <a:solidFill>
            <a:srgbClr val="F5F7FA"/>
          </a:solidFill>
          <a:ln w="12700">
            <a:solidFill>
              <a:srgbClr val="D5DCE3"/>
            </a:solidFill>
            <a:prstDash val="solid"/>
          </a:ln>
        </p:spPr>
      </p:sp>
      <p:sp>
        <p:nvSpPr>
          <p:cNvPr id="152" name="Text 150"/>
          <p:cNvSpPr/>
          <p:nvPr/>
        </p:nvSpPr>
        <p:spPr>
          <a:xfrm>
            <a:off x="872155" y="360639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Hesai</a:t>
            </a:r>
            <a:endParaRPr lang="en-US" sz="810" dirty="0"/>
          </a:p>
        </p:txBody>
      </p:sp>
      <p:sp>
        <p:nvSpPr>
          <p:cNvPr id="153" name="Shape 151"/>
          <p:cNvSpPr/>
          <p:nvPr/>
        </p:nvSpPr>
        <p:spPr>
          <a:xfrm>
            <a:off x="1724193" y="3588106"/>
            <a:ext cx="879470" cy="345643"/>
          </a:xfrm>
          <a:prstGeom prst="rect">
            <a:avLst/>
          </a:prstGeom>
          <a:solidFill>
            <a:srgbClr val="F5F7FA"/>
          </a:solidFill>
          <a:ln w="12700">
            <a:solidFill>
              <a:srgbClr val="D5DCE3"/>
            </a:solidFill>
            <a:prstDash val="solid"/>
          </a:ln>
        </p:spPr>
      </p:sp>
      <p:sp>
        <p:nvSpPr>
          <p:cNvPr id="154" name="Text 152"/>
          <p:cNvSpPr/>
          <p:nvPr/>
        </p:nvSpPr>
        <p:spPr>
          <a:xfrm>
            <a:off x="1751625" y="360639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76.97</a:t>
            </a:r>
            <a:endParaRPr lang="en-US" sz="810" dirty="0"/>
          </a:p>
        </p:txBody>
      </p:sp>
      <p:sp>
        <p:nvSpPr>
          <p:cNvPr id="155" name="Shape 153"/>
          <p:cNvSpPr/>
          <p:nvPr/>
        </p:nvSpPr>
        <p:spPr>
          <a:xfrm>
            <a:off x="2603663" y="3588106"/>
            <a:ext cx="711952" cy="345643"/>
          </a:xfrm>
          <a:prstGeom prst="rect">
            <a:avLst/>
          </a:prstGeom>
          <a:solidFill>
            <a:srgbClr val="F5F7FA"/>
          </a:solidFill>
          <a:ln w="12700">
            <a:solidFill>
              <a:srgbClr val="D5DCE3"/>
            </a:solidFill>
            <a:prstDash val="solid"/>
          </a:ln>
        </p:spPr>
      </p:sp>
      <p:sp>
        <p:nvSpPr>
          <p:cNvPr id="156" name="Text 154"/>
          <p:cNvSpPr/>
          <p:nvPr/>
        </p:nvSpPr>
        <p:spPr>
          <a:xfrm>
            <a:off x="2631095" y="3606394"/>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7.76</a:t>
            </a:r>
            <a:endParaRPr lang="en-US" sz="810" dirty="0"/>
          </a:p>
        </p:txBody>
      </p:sp>
      <p:sp>
        <p:nvSpPr>
          <p:cNvPr id="157" name="Shape 155"/>
          <p:cNvSpPr/>
          <p:nvPr/>
        </p:nvSpPr>
        <p:spPr>
          <a:xfrm>
            <a:off x="3315614" y="3588106"/>
            <a:ext cx="711952" cy="345643"/>
          </a:xfrm>
          <a:prstGeom prst="rect">
            <a:avLst/>
          </a:prstGeom>
          <a:solidFill>
            <a:srgbClr val="F5F7FA"/>
          </a:solidFill>
          <a:ln w="12700">
            <a:solidFill>
              <a:srgbClr val="D5DCE3"/>
            </a:solidFill>
            <a:prstDash val="solid"/>
          </a:ln>
        </p:spPr>
      </p:sp>
      <p:sp>
        <p:nvSpPr>
          <p:cNvPr id="158" name="Text 156"/>
          <p:cNvSpPr/>
          <p:nvPr/>
        </p:nvSpPr>
        <p:spPr>
          <a:xfrm>
            <a:off x="3343046" y="3606394"/>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a:t>
            </a:r>
            <a:endParaRPr lang="en-US" sz="810" dirty="0"/>
          </a:p>
        </p:txBody>
      </p:sp>
      <p:sp>
        <p:nvSpPr>
          <p:cNvPr id="159" name="Shape 157"/>
          <p:cNvSpPr/>
          <p:nvPr/>
        </p:nvSpPr>
        <p:spPr>
          <a:xfrm>
            <a:off x="4027566" y="3588106"/>
            <a:ext cx="753831" cy="345643"/>
          </a:xfrm>
          <a:prstGeom prst="rect">
            <a:avLst/>
          </a:prstGeom>
          <a:solidFill>
            <a:srgbClr val="F5F7FA"/>
          </a:solidFill>
          <a:ln w="12700">
            <a:solidFill>
              <a:srgbClr val="D5DCE3"/>
            </a:solidFill>
            <a:prstDash val="solid"/>
          </a:ln>
        </p:spPr>
      </p:sp>
      <p:sp>
        <p:nvSpPr>
          <p:cNvPr id="160" name="Text 158"/>
          <p:cNvSpPr/>
          <p:nvPr/>
        </p:nvSpPr>
        <p:spPr>
          <a:xfrm>
            <a:off x="4054998" y="3606394"/>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2.14</a:t>
            </a:r>
            <a:endParaRPr lang="en-US" sz="810" dirty="0"/>
          </a:p>
        </p:txBody>
      </p:sp>
      <p:sp>
        <p:nvSpPr>
          <p:cNvPr id="161" name="Shape 159"/>
          <p:cNvSpPr/>
          <p:nvPr/>
        </p:nvSpPr>
        <p:spPr>
          <a:xfrm>
            <a:off x="4781398" y="3588106"/>
            <a:ext cx="837590" cy="345643"/>
          </a:xfrm>
          <a:prstGeom prst="rect">
            <a:avLst/>
          </a:prstGeom>
          <a:solidFill>
            <a:srgbClr val="F5F7FA"/>
          </a:solidFill>
          <a:ln w="12700">
            <a:solidFill>
              <a:srgbClr val="D5DCE3"/>
            </a:solidFill>
            <a:prstDash val="solid"/>
          </a:ln>
        </p:spPr>
      </p:sp>
      <p:sp>
        <p:nvSpPr>
          <p:cNvPr id="162" name="Text 160"/>
          <p:cNvSpPr/>
          <p:nvPr/>
        </p:nvSpPr>
        <p:spPr>
          <a:xfrm>
            <a:off x="4808830" y="3606394"/>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3.41</a:t>
            </a:r>
            <a:endParaRPr lang="en-US" sz="810" dirty="0"/>
          </a:p>
        </p:txBody>
      </p:sp>
      <p:sp>
        <p:nvSpPr>
          <p:cNvPr id="163" name="Shape 161"/>
          <p:cNvSpPr/>
          <p:nvPr/>
        </p:nvSpPr>
        <p:spPr>
          <a:xfrm>
            <a:off x="5618988" y="3588106"/>
            <a:ext cx="879470" cy="345643"/>
          </a:xfrm>
          <a:prstGeom prst="rect">
            <a:avLst/>
          </a:prstGeom>
          <a:solidFill>
            <a:srgbClr val="F5F7FA"/>
          </a:solidFill>
          <a:ln w="12700">
            <a:solidFill>
              <a:srgbClr val="D5DCE3"/>
            </a:solidFill>
            <a:prstDash val="solid"/>
          </a:ln>
        </p:spPr>
      </p:sp>
      <p:sp>
        <p:nvSpPr>
          <p:cNvPr id="164" name="Text 162"/>
          <p:cNvSpPr/>
          <p:nvPr/>
        </p:nvSpPr>
        <p:spPr>
          <a:xfrm>
            <a:off x="5646420" y="3606394"/>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5.46</a:t>
            </a:r>
            <a:endParaRPr lang="en-US" sz="810" dirty="0"/>
          </a:p>
        </p:txBody>
      </p:sp>
      <p:sp>
        <p:nvSpPr>
          <p:cNvPr id="165" name="Shape 163"/>
          <p:cNvSpPr/>
          <p:nvPr/>
        </p:nvSpPr>
        <p:spPr>
          <a:xfrm>
            <a:off x="6498458" y="3588106"/>
            <a:ext cx="2261494" cy="345643"/>
          </a:xfrm>
          <a:prstGeom prst="rect">
            <a:avLst/>
          </a:prstGeom>
          <a:solidFill>
            <a:srgbClr val="F5F7FA"/>
          </a:solidFill>
          <a:ln w="12700">
            <a:solidFill>
              <a:srgbClr val="D5DCE3"/>
            </a:solidFill>
            <a:prstDash val="solid"/>
          </a:ln>
        </p:spPr>
      </p:sp>
      <p:sp>
        <p:nvSpPr>
          <p:cNvPr id="166" name="Text 164"/>
          <p:cNvSpPr/>
          <p:nvPr/>
        </p:nvSpPr>
        <p:spPr>
          <a:xfrm>
            <a:off x="6525890" y="3606394"/>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92.13/7.87/—</a:t>
            </a:r>
            <a:endParaRPr lang="en-US" sz="810" dirty="0"/>
          </a:p>
        </p:txBody>
      </p:sp>
      <p:sp>
        <p:nvSpPr>
          <p:cNvPr id="167" name="Shape 165"/>
          <p:cNvSpPr/>
          <p:nvPr/>
        </p:nvSpPr>
        <p:spPr>
          <a:xfrm>
            <a:off x="384048" y="3933749"/>
            <a:ext cx="460675" cy="345643"/>
          </a:xfrm>
          <a:prstGeom prst="rect">
            <a:avLst/>
          </a:prstGeom>
          <a:solidFill>
            <a:srgbClr val="FFFFFF"/>
          </a:solidFill>
          <a:ln w="12700">
            <a:solidFill>
              <a:srgbClr val="D5DCE3"/>
            </a:solidFill>
            <a:prstDash val="solid"/>
          </a:ln>
        </p:spPr>
      </p:sp>
      <p:sp>
        <p:nvSpPr>
          <p:cNvPr id="168" name="Text 166"/>
          <p:cNvSpPr/>
          <p:nvPr/>
        </p:nvSpPr>
        <p:spPr>
          <a:xfrm>
            <a:off x="411480" y="3952037"/>
            <a:ext cx="405811" cy="309067"/>
          </a:xfrm>
          <a:prstGeom prst="rect">
            <a:avLst/>
          </a:prstGeom>
          <a:noFill/>
          <a:ln/>
        </p:spPr>
        <p:txBody>
          <a:bodyPr wrap="square" lIns="0" tIns="0" rIns="0" bIns="0" rtlCol="0" anchor="ctr">
            <a:normAutofit/>
          </a:bodyPr>
          <a:lstStyle/>
          <a:p>
            <a:pPr marL="0" indent="0" algn="l">
              <a:buNone/>
            </a:pPr>
            <a:r>
              <a:rPr lang="en-US" sz="810" dirty="0">
                <a:solidFill>
                  <a:srgbClr val="20242A"/>
                </a:solidFill>
                <a:latin typeface="Yu Gothic" pitchFamily="34" charset="0"/>
                <a:ea typeface="Yu Gothic" pitchFamily="34" charset="-122"/>
                <a:cs typeface="Yu Gothic" pitchFamily="34" charset="-120"/>
              </a:rPr>
              <a:t>3</a:t>
            </a:r>
            <a:endParaRPr lang="en-US" sz="810" dirty="0"/>
          </a:p>
        </p:txBody>
      </p:sp>
      <p:sp>
        <p:nvSpPr>
          <p:cNvPr id="169" name="Shape 167"/>
          <p:cNvSpPr/>
          <p:nvPr/>
        </p:nvSpPr>
        <p:spPr>
          <a:xfrm>
            <a:off x="844723" y="3933749"/>
            <a:ext cx="879470" cy="345643"/>
          </a:xfrm>
          <a:prstGeom prst="rect">
            <a:avLst/>
          </a:prstGeom>
          <a:solidFill>
            <a:srgbClr val="FFFFFF"/>
          </a:solidFill>
          <a:ln w="12700">
            <a:solidFill>
              <a:srgbClr val="D5DCE3"/>
            </a:solidFill>
            <a:prstDash val="solid"/>
          </a:ln>
        </p:spPr>
      </p:sp>
      <p:sp>
        <p:nvSpPr>
          <p:cNvPr id="170" name="Text 168"/>
          <p:cNvSpPr/>
          <p:nvPr/>
        </p:nvSpPr>
        <p:spPr>
          <a:xfrm>
            <a:off x="872155" y="3952037"/>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Livox</a:t>
            </a:r>
            <a:endParaRPr lang="en-US" sz="810" dirty="0"/>
          </a:p>
        </p:txBody>
      </p:sp>
      <p:sp>
        <p:nvSpPr>
          <p:cNvPr id="171" name="Shape 169"/>
          <p:cNvSpPr/>
          <p:nvPr/>
        </p:nvSpPr>
        <p:spPr>
          <a:xfrm>
            <a:off x="1724193" y="3933749"/>
            <a:ext cx="879470" cy="345643"/>
          </a:xfrm>
          <a:prstGeom prst="rect">
            <a:avLst/>
          </a:prstGeom>
          <a:solidFill>
            <a:srgbClr val="FFFFFF"/>
          </a:solidFill>
          <a:ln w="12700">
            <a:solidFill>
              <a:srgbClr val="D5DCE3"/>
            </a:solidFill>
            <a:prstDash val="solid"/>
          </a:ln>
        </p:spPr>
      </p:sp>
      <p:sp>
        <p:nvSpPr>
          <p:cNvPr id="172" name="Text 170"/>
          <p:cNvSpPr/>
          <p:nvPr/>
        </p:nvSpPr>
        <p:spPr>
          <a:xfrm>
            <a:off x="1751625" y="3952037"/>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55.78</a:t>
            </a:r>
            <a:endParaRPr lang="en-US" sz="810" dirty="0"/>
          </a:p>
        </p:txBody>
      </p:sp>
      <p:sp>
        <p:nvSpPr>
          <p:cNvPr id="173" name="Shape 171"/>
          <p:cNvSpPr/>
          <p:nvPr/>
        </p:nvSpPr>
        <p:spPr>
          <a:xfrm>
            <a:off x="2603663" y="3933749"/>
            <a:ext cx="711952" cy="345643"/>
          </a:xfrm>
          <a:prstGeom prst="rect">
            <a:avLst/>
          </a:prstGeom>
          <a:solidFill>
            <a:srgbClr val="FFFFFF"/>
          </a:solidFill>
          <a:ln w="12700">
            <a:solidFill>
              <a:srgbClr val="D5DCE3"/>
            </a:solidFill>
            <a:prstDash val="solid"/>
          </a:ln>
        </p:spPr>
      </p:sp>
      <p:sp>
        <p:nvSpPr>
          <p:cNvPr id="174" name="Text 172"/>
          <p:cNvSpPr/>
          <p:nvPr/>
        </p:nvSpPr>
        <p:spPr>
          <a:xfrm>
            <a:off x="2631095" y="3952037"/>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5.33</a:t>
            </a:r>
            <a:endParaRPr lang="en-US" sz="810" dirty="0"/>
          </a:p>
        </p:txBody>
      </p:sp>
      <p:sp>
        <p:nvSpPr>
          <p:cNvPr id="175" name="Shape 173"/>
          <p:cNvSpPr/>
          <p:nvPr/>
        </p:nvSpPr>
        <p:spPr>
          <a:xfrm>
            <a:off x="3315614" y="3933749"/>
            <a:ext cx="711952" cy="345643"/>
          </a:xfrm>
          <a:prstGeom prst="rect">
            <a:avLst/>
          </a:prstGeom>
          <a:solidFill>
            <a:srgbClr val="FFFFFF"/>
          </a:solidFill>
          <a:ln w="12700">
            <a:solidFill>
              <a:srgbClr val="D5DCE3"/>
            </a:solidFill>
            <a:prstDash val="solid"/>
          </a:ln>
        </p:spPr>
      </p:sp>
      <p:sp>
        <p:nvSpPr>
          <p:cNvPr id="176" name="Text 174"/>
          <p:cNvSpPr/>
          <p:nvPr/>
        </p:nvSpPr>
        <p:spPr>
          <a:xfrm>
            <a:off x="3343046" y="3952037"/>
            <a:ext cx="657088"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a:t>
            </a:r>
            <a:endParaRPr lang="en-US" sz="810" dirty="0"/>
          </a:p>
        </p:txBody>
      </p:sp>
      <p:sp>
        <p:nvSpPr>
          <p:cNvPr id="177" name="Shape 175"/>
          <p:cNvSpPr/>
          <p:nvPr/>
        </p:nvSpPr>
        <p:spPr>
          <a:xfrm>
            <a:off x="4027566" y="3933749"/>
            <a:ext cx="753831" cy="345643"/>
          </a:xfrm>
          <a:prstGeom prst="rect">
            <a:avLst/>
          </a:prstGeom>
          <a:solidFill>
            <a:srgbClr val="FFFFFF"/>
          </a:solidFill>
          <a:ln w="12700">
            <a:solidFill>
              <a:srgbClr val="D5DCE3"/>
            </a:solidFill>
            <a:prstDash val="solid"/>
          </a:ln>
        </p:spPr>
      </p:sp>
      <p:sp>
        <p:nvSpPr>
          <p:cNvPr id="178" name="Text 176"/>
          <p:cNvSpPr/>
          <p:nvPr/>
        </p:nvSpPr>
        <p:spPr>
          <a:xfrm>
            <a:off x="4054998" y="3952037"/>
            <a:ext cx="698967"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1.29</a:t>
            </a:r>
            <a:endParaRPr lang="en-US" sz="810" dirty="0"/>
          </a:p>
        </p:txBody>
      </p:sp>
      <p:sp>
        <p:nvSpPr>
          <p:cNvPr id="179" name="Shape 177"/>
          <p:cNvSpPr/>
          <p:nvPr/>
        </p:nvSpPr>
        <p:spPr>
          <a:xfrm>
            <a:off x="4781398" y="3933749"/>
            <a:ext cx="837590" cy="345643"/>
          </a:xfrm>
          <a:prstGeom prst="rect">
            <a:avLst/>
          </a:prstGeom>
          <a:solidFill>
            <a:srgbClr val="FFFFFF"/>
          </a:solidFill>
          <a:ln w="12700">
            <a:solidFill>
              <a:srgbClr val="D5DCE3"/>
            </a:solidFill>
            <a:prstDash val="solid"/>
          </a:ln>
        </p:spPr>
      </p:sp>
      <p:sp>
        <p:nvSpPr>
          <p:cNvPr id="180" name="Text 178"/>
          <p:cNvSpPr/>
          <p:nvPr/>
        </p:nvSpPr>
        <p:spPr>
          <a:xfrm>
            <a:off x="4808830" y="3952037"/>
            <a:ext cx="78272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14.34</a:t>
            </a:r>
            <a:endParaRPr lang="en-US" sz="810" dirty="0"/>
          </a:p>
        </p:txBody>
      </p:sp>
      <p:sp>
        <p:nvSpPr>
          <p:cNvPr id="181" name="Shape 179"/>
          <p:cNvSpPr/>
          <p:nvPr/>
        </p:nvSpPr>
        <p:spPr>
          <a:xfrm>
            <a:off x="5618988" y="3933749"/>
            <a:ext cx="879470" cy="345643"/>
          </a:xfrm>
          <a:prstGeom prst="rect">
            <a:avLst/>
          </a:prstGeom>
          <a:solidFill>
            <a:srgbClr val="FFFFFF"/>
          </a:solidFill>
          <a:ln w="12700">
            <a:solidFill>
              <a:srgbClr val="D5DCE3"/>
            </a:solidFill>
            <a:prstDash val="solid"/>
          </a:ln>
        </p:spPr>
      </p:sp>
      <p:sp>
        <p:nvSpPr>
          <p:cNvPr id="182" name="Text 180"/>
          <p:cNvSpPr/>
          <p:nvPr/>
        </p:nvSpPr>
        <p:spPr>
          <a:xfrm>
            <a:off x="5646420" y="3952037"/>
            <a:ext cx="824606"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19.28</a:t>
            </a:r>
            <a:endParaRPr lang="en-US" sz="810" dirty="0"/>
          </a:p>
        </p:txBody>
      </p:sp>
      <p:sp>
        <p:nvSpPr>
          <p:cNvPr id="183" name="Shape 181"/>
          <p:cNvSpPr/>
          <p:nvPr/>
        </p:nvSpPr>
        <p:spPr>
          <a:xfrm>
            <a:off x="6498458" y="3933749"/>
            <a:ext cx="2261494" cy="345643"/>
          </a:xfrm>
          <a:prstGeom prst="rect">
            <a:avLst/>
          </a:prstGeom>
          <a:solidFill>
            <a:srgbClr val="FFFFFF"/>
          </a:solidFill>
          <a:ln w="12700">
            <a:solidFill>
              <a:srgbClr val="D5DCE3"/>
            </a:solidFill>
            <a:prstDash val="solid"/>
          </a:ln>
        </p:spPr>
      </p:sp>
      <p:sp>
        <p:nvSpPr>
          <p:cNvPr id="184" name="Text 182"/>
          <p:cNvSpPr/>
          <p:nvPr/>
        </p:nvSpPr>
        <p:spPr>
          <a:xfrm>
            <a:off x="6525890" y="3952037"/>
            <a:ext cx="2206630" cy="309067"/>
          </a:xfrm>
          <a:prstGeom prst="rect">
            <a:avLst/>
          </a:prstGeom>
          <a:noFill/>
          <a:ln/>
        </p:spPr>
        <p:txBody>
          <a:bodyPr wrap="square" lIns="0" tIns="0" rIns="0" bIns="0" rtlCol="0" anchor="ctr">
            <a:normAutofit/>
          </a:bodyPr>
          <a:lstStyle/>
          <a:p>
            <a:pPr marL="0" indent="0" algn="ctr">
              <a:buNone/>
            </a:pPr>
            <a:r>
              <a:rPr lang="en-US" sz="810" dirty="0">
                <a:solidFill>
                  <a:srgbClr val="20242A"/>
                </a:solidFill>
                <a:latin typeface="Yu Gothic" pitchFamily="34" charset="0"/>
                <a:ea typeface="Yu Gothic" pitchFamily="34" charset="-122"/>
                <a:cs typeface="Yu Gothic" pitchFamily="34" charset="-120"/>
              </a:rPr>
              <a:t>83.49/14.33/2.17</a:t>
            </a:r>
            <a:endParaRPr lang="en-US" sz="810" dirty="0"/>
          </a:p>
        </p:txBody>
      </p:sp>
      <p:sp>
        <p:nvSpPr>
          <p:cNvPr id="185" name="Text 183"/>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3. Unlabeled share is omitted here, as in the selected columns.</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付録B｜return追加によるclass-wise IoU差（point）</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Appendix</a:t>
            </a:r>
            <a:endParaRPr lang="en-US" sz="950" dirty="0"/>
          </a:p>
        </p:txBody>
      </p:sp>
      <p:sp>
        <p:nvSpPr>
          <p:cNvPr id="5" name="Shape 3"/>
          <p:cNvSpPr/>
          <p:nvPr/>
        </p:nvSpPr>
        <p:spPr>
          <a:xfrm>
            <a:off x="566928" y="969264"/>
            <a:ext cx="1441826" cy="425196"/>
          </a:xfrm>
          <a:prstGeom prst="rect">
            <a:avLst/>
          </a:prstGeom>
          <a:solidFill>
            <a:srgbClr val="17365D"/>
          </a:solidFill>
          <a:ln w="12700">
            <a:solidFill>
              <a:srgbClr val="FFFFFF"/>
            </a:solidFill>
            <a:prstDash val="solid"/>
          </a:ln>
        </p:spPr>
      </p:sp>
      <p:sp>
        <p:nvSpPr>
          <p:cNvPr id="6" name="Text 4"/>
          <p:cNvSpPr/>
          <p:nvPr/>
        </p:nvSpPr>
        <p:spPr>
          <a:xfrm>
            <a:off x="594360" y="987552"/>
            <a:ext cx="1386962"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Method</a:t>
            </a:r>
            <a:endParaRPr lang="en-US" sz="1150" dirty="0"/>
          </a:p>
        </p:txBody>
      </p:sp>
      <p:sp>
        <p:nvSpPr>
          <p:cNvPr id="7" name="Shape 5"/>
          <p:cNvSpPr/>
          <p:nvPr/>
        </p:nvSpPr>
        <p:spPr>
          <a:xfrm>
            <a:off x="2008754" y="969264"/>
            <a:ext cx="921167" cy="425196"/>
          </a:xfrm>
          <a:prstGeom prst="rect">
            <a:avLst/>
          </a:prstGeom>
          <a:solidFill>
            <a:srgbClr val="17365D"/>
          </a:solidFill>
          <a:ln w="12700">
            <a:solidFill>
              <a:srgbClr val="FFFFFF"/>
            </a:solidFill>
            <a:prstDash val="solid"/>
          </a:ln>
        </p:spPr>
      </p:sp>
      <p:sp>
        <p:nvSpPr>
          <p:cNvPr id="8" name="Text 6"/>
          <p:cNvSpPr/>
          <p:nvPr/>
        </p:nvSpPr>
        <p:spPr>
          <a:xfrm>
            <a:off x="2036186" y="987552"/>
            <a:ext cx="866303"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ΔmIoU</a:t>
            </a:r>
            <a:endParaRPr lang="en-US" sz="1150" dirty="0"/>
          </a:p>
        </p:txBody>
      </p:sp>
      <p:sp>
        <p:nvSpPr>
          <p:cNvPr id="9" name="Shape 7"/>
          <p:cNvSpPr/>
          <p:nvPr/>
        </p:nvSpPr>
        <p:spPr>
          <a:xfrm>
            <a:off x="2929920" y="969264"/>
            <a:ext cx="921167" cy="425196"/>
          </a:xfrm>
          <a:prstGeom prst="rect">
            <a:avLst/>
          </a:prstGeom>
          <a:solidFill>
            <a:srgbClr val="17365D"/>
          </a:solidFill>
          <a:ln w="12700">
            <a:solidFill>
              <a:srgbClr val="FFFFFF"/>
            </a:solidFill>
            <a:prstDash val="solid"/>
          </a:ln>
        </p:spPr>
      </p:sp>
      <p:sp>
        <p:nvSpPr>
          <p:cNvPr id="10" name="Text 8"/>
          <p:cNvSpPr/>
          <p:nvPr/>
        </p:nvSpPr>
        <p:spPr>
          <a:xfrm>
            <a:off x="2957352" y="987552"/>
            <a:ext cx="866303"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ΔNormal</a:t>
            </a:r>
            <a:endParaRPr lang="en-US" sz="1150" dirty="0"/>
          </a:p>
        </p:txBody>
      </p:sp>
      <p:sp>
        <p:nvSpPr>
          <p:cNvPr id="11" name="Shape 9"/>
          <p:cNvSpPr/>
          <p:nvPr/>
        </p:nvSpPr>
        <p:spPr>
          <a:xfrm>
            <a:off x="3851087" y="969264"/>
            <a:ext cx="921167" cy="425196"/>
          </a:xfrm>
          <a:prstGeom prst="rect">
            <a:avLst/>
          </a:prstGeom>
          <a:solidFill>
            <a:srgbClr val="17365D"/>
          </a:solidFill>
          <a:ln w="12700">
            <a:solidFill>
              <a:srgbClr val="FFFFFF"/>
            </a:solidFill>
            <a:prstDash val="solid"/>
          </a:ln>
        </p:spPr>
      </p:sp>
      <p:sp>
        <p:nvSpPr>
          <p:cNvPr id="12" name="Text 10"/>
          <p:cNvSpPr/>
          <p:nvPr/>
        </p:nvSpPr>
        <p:spPr>
          <a:xfrm>
            <a:off x="3878519" y="987552"/>
            <a:ext cx="866303"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ΔGlass</a:t>
            </a:r>
            <a:endParaRPr lang="en-US" sz="1150" dirty="0"/>
          </a:p>
        </p:txBody>
      </p:sp>
      <p:sp>
        <p:nvSpPr>
          <p:cNvPr id="13" name="Shape 11"/>
          <p:cNvSpPr/>
          <p:nvPr/>
        </p:nvSpPr>
        <p:spPr>
          <a:xfrm>
            <a:off x="4772254" y="969264"/>
            <a:ext cx="921167" cy="425196"/>
          </a:xfrm>
          <a:prstGeom prst="rect">
            <a:avLst/>
          </a:prstGeom>
          <a:solidFill>
            <a:srgbClr val="17365D"/>
          </a:solidFill>
          <a:ln w="12700">
            <a:solidFill>
              <a:srgbClr val="FFFFFF"/>
            </a:solidFill>
            <a:prstDash val="solid"/>
          </a:ln>
        </p:spPr>
      </p:sp>
      <p:sp>
        <p:nvSpPr>
          <p:cNvPr id="14" name="Text 12"/>
          <p:cNvSpPr/>
          <p:nvPr/>
        </p:nvSpPr>
        <p:spPr>
          <a:xfrm>
            <a:off x="4799686" y="987552"/>
            <a:ext cx="866303"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ΔMirror</a:t>
            </a:r>
            <a:endParaRPr lang="en-US" sz="1150" dirty="0"/>
          </a:p>
        </p:txBody>
      </p:sp>
      <p:sp>
        <p:nvSpPr>
          <p:cNvPr id="15" name="Shape 13"/>
          <p:cNvSpPr/>
          <p:nvPr/>
        </p:nvSpPr>
        <p:spPr>
          <a:xfrm>
            <a:off x="5693420" y="969264"/>
            <a:ext cx="921167" cy="425196"/>
          </a:xfrm>
          <a:prstGeom prst="rect">
            <a:avLst/>
          </a:prstGeom>
          <a:solidFill>
            <a:srgbClr val="17365D"/>
          </a:solidFill>
          <a:ln w="12700">
            <a:solidFill>
              <a:srgbClr val="FFFFFF"/>
            </a:solidFill>
            <a:prstDash val="solid"/>
          </a:ln>
        </p:spPr>
      </p:sp>
      <p:sp>
        <p:nvSpPr>
          <p:cNvPr id="16" name="Text 14"/>
          <p:cNvSpPr/>
          <p:nvPr/>
        </p:nvSpPr>
        <p:spPr>
          <a:xfrm>
            <a:off x="5720852" y="987552"/>
            <a:ext cx="866303"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ΔOther</a:t>
            </a:r>
            <a:endParaRPr lang="en-US" sz="1150" dirty="0"/>
          </a:p>
        </p:txBody>
      </p:sp>
      <p:sp>
        <p:nvSpPr>
          <p:cNvPr id="17" name="Shape 15"/>
          <p:cNvSpPr/>
          <p:nvPr/>
        </p:nvSpPr>
        <p:spPr>
          <a:xfrm>
            <a:off x="6614587" y="969264"/>
            <a:ext cx="1041319" cy="425196"/>
          </a:xfrm>
          <a:prstGeom prst="rect">
            <a:avLst/>
          </a:prstGeom>
          <a:solidFill>
            <a:srgbClr val="17365D"/>
          </a:solidFill>
          <a:ln w="12700">
            <a:solidFill>
              <a:srgbClr val="FFFFFF"/>
            </a:solidFill>
            <a:prstDash val="solid"/>
          </a:ln>
        </p:spPr>
      </p:sp>
      <p:sp>
        <p:nvSpPr>
          <p:cNvPr id="18" name="Text 16"/>
          <p:cNvSpPr/>
          <p:nvPr/>
        </p:nvSpPr>
        <p:spPr>
          <a:xfrm>
            <a:off x="6642019" y="987552"/>
            <a:ext cx="986455"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ΔReflection</a:t>
            </a:r>
            <a:endParaRPr lang="en-US" sz="1150" dirty="0"/>
          </a:p>
        </p:txBody>
      </p:sp>
      <p:sp>
        <p:nvSpPr>
          <p:cNvPr id="19" name="Shape 17"/>
          <p:cNvSpPr/>
          <p:nvPr/>
        </p:nvSpPr>
        <p:spPr>
          <a:xfrm>
            <a:off x="7655905" y="969264"/>
            <a:ext cx="921167" cy="425196"/>
          </a:xfrm>
          <a:prstGeom prst="rect">
            <a:avLst/>
          </a:prstGeom>
          <a:solidFill>
            <a:srgbClr val="17365D"/>
          </a:solidFill>
          <a:ln w="12700">
            <a:solidFill>
              <a:srgbClr val="FFFFFF"/>
            </a:solidFill>
            <a:prstDash val="solid"/>
          </a:ln>
        </p:spPr>
      </p:sp>
      <p:sp>
        <p:nvSpPr>
          <p:cNvPr id="20" name="Text 18"/>
          <p:cNvSpPr/>
          <p:nvPr/>
        </p:nvSpPr>
        <p:spPr>
          <a:xfrm>
            <a:off x="7683337" y="987552"/>
            <a:ext cx="866303" cy="388620"/>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Yu Gothic" pitchFamily="34" charset="0"/>
                <a:ea typeface="Yu Gothic" pitchFamily="34" charset="-122"/>
                <a:cs typeface="Yu Gothic" pitchFamily="34" charset="-120"/>
              </a:rPr>
              <a:t>ΔObstacle</a:t>
            </a:r>
            <a:endParaRPr lang="en-US" sz="1150" dirty="0"/>
          </a:p>
        </p:txBody>
      </p:sp>
      <p:sp>
        <p:nvSpPr>
          <p:cNvPr id="21" name="Shape 19"/>
          <p:cNvSpPr/>
          <p:nvPr/>
        </p:nvSpPr>
        <p:spPr>
          <a:xfrm>
            <a:off x="566928" y="1394460"/>
            <a:ext cx="1441826" cy="425196"/>
          </a:xfrm>
          <a:prstGeom prst="rect">
            <a:avLst/>
          </a:prstGeom>
          <a:solidFill>
            <a:srgbClr val="FFFFFF"/>
          </a:solidFill>
          <a:ln w="12700">
            <a:solidFill>
              <a:srgbClr val="D5DCE3"/>
            </a:solidFill>
            <a:prstDash val="solid"/>
          </a:ln>
        </p:spPr>
      </p:sp>
      <p:sp>
        <p:nvSpPr>
          <p:cNvPr id="22" name="Text 20"/>
          <p:cNvSpPr/>
          <p:nvPr/>
        </p:nvSpPr>
        <p:spPr>
          <a:xfrm>
            <a:off x="594360" y="1412748"/>
            <a:ext cx="1386962" cy="388620"/>
          </a:xfrm>
          <a:prstGeom prst="rect">
            <a:avLst/>
          </a:prstGeom>
          <a:noFill/>
          <a:ln/>
        </p:spPr>
        <p:txBody>
          <a:bodyPr wrap="square" lIns="0" tIns="0" rIns="0" bIns="0" rtlCol="0" anchor="ctr">
            <a:normAutofit/>
          </a:bodyPr>
          <a:lstStyle/>
          <a:p>
            <a:pPr marL="0" indent="0" algn="l">
              <a:buNone/>
            </a:pPr>
            <a:r>
              <a:rPr lang="en-US" sz="1040" dirty="0">
                <a:solidFill>
                  <a:srgbClr val="20242A"/>
                </a:solidFill>
                <a:latin typeface="Yu Gothic" pitchFamily="34" charset="0"/>
                <a:ea typeface="Yu Gothic" pitchFamily="34" charset="-122"/>
                <a:cs typeface="Yu Gothic" pitchFamily="34" charset="-120"/>
              </a:rPr>
              <a:t>Minkowski</a:t>
            </a:r>
            <a:endParaRPr lang="en-US" sz="1040" dirty="0"/>
          </a:p>
        </p:txBody>
      </p:sp>
      <p:sp>
        <p:nvSpPr>
          <p:cNvPr id="23" name="Shape 21"/>
          <p:cNvSpPr/>
          <p:nvPr/>
        </p:nvSpPr>
        <p:spPr>
          <a:xfrm>
            <a:off x="2008754" y="1394460"/>
            <a:ext cx="921167" cy="425196"/>
          </a:xfrm>
          <a:prstGeom prst="rect">
            <a:avLst/>
          </a:prstGeom>
          <a:solidFill>
            <a:srgbClr val="FFFFFF"/>
          </a:solidFill>
          <a:ln w="12700">
            <a:solidFill>
              <a:srgbClr val="D5DCE3"/>
            </a:solidFill>
            <a:prstDash val="solid"/>
          </a:ln>
        </p:spPr>
      </p:sp>
      <p:sp>
        <p:nvSpPr>
          <p:cNvPr id="24" name="Text 22"/>
          <p:cNvSpPr/>
          <p:nvPr/>
        </p:nvSpPr>
        <p:spPr>
          <a:xfrm>
            <a:off x="2036186" y="1412748"/>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+0.565</a:t>
            </a:r>
            <a:endParaRPr lang="en-US" sz="1040" dirty="0"/>
          </a:p>
        </p:txBody>
      </p:sp>
      <p:sp>
        <p:nvSpPr>
          <p:cNvPr id="25" name="Shape 23"/>
          <p:cNvSpPr/>
          <p:nvPr/>
        </p:nvSpPr>
        <p:spPr>
          <a:xfrm>
            <a:off x="2929920" y="1394460"/>
            <a:ext cx="921167" cy="425196"/>
          </a:xfrm>
          <a:prstGeom prst="rect">
            <a:avLst/>
          </a:prstGeom>
          <a:solidFill>
            <a:srgbClr val="FFFFFF"/>
          </a:solidFill>
          <a:ln w="12700">
            <a:solidFill>
              <a:srgbClr val="D5DCE3"/>
            </a:solidFill>
            <a:prstDash val="solid"/>
          </a:ln>
        </p:spPr>
      </p:sp>
      <p:sp>
        <p:nvSpPr>
          <p:cNvPr id="26" name="Text 24"/>
          <p:cNvSpPr/>
          <p:nvPr/>
        </p:nvSpPr>
        <p:spPr>
          <a:xfrm>
            <a:off x="2957352" y="1412748"/>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+0.229</a:t>
            </a:r>
            <a:endParaRPr lang="en-US" sz="1040" dirty="0"/>
          </a:p>
        </p:txBody>
      </p:sp>
      <p:sp>
        <p:nvSpPr>
          <p:cNvPr id="27" name="Shape 25"/>
          <p:cNvSpPr/>
          <p:nvPr/>
        </p:nvSpPr>
        <p:spPr>
          <a:xfrm>
            <a:off x="3851087" y="1394460"/>
            <a:ext cx="921167" cy="425196"/>
          </a:xfrm>
          <a:prstGeom prst="rect">
            <a:avLst/>
          </a:prstGeom>
          <a:solidFill>
            <a:srgbClr val="FFFFFF"/>
          </a:solidFill>
          <a:ln w="12700">
            <a:solidFill>
              <a:srgbClr val="D5DCE3"/>
            </a:solidFill>
            <a:prstDash val="solid"/>
          </a:ln>
        </p:spPr>
      </p:sp>
      <p:sp>
        <p:nvSpPr>
          <p:cNvPr id="28" name="Text 26"/>
          <p:cNvSpPr/>
          <p:nvPr/>
        </p:nvSpPr>
        <p:spPr>
          <a:xfrm>
            <a:off x="3878519" y="1412748"/>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+0.875</a:t>
            </a:r>
            <a:endParaRPr lang="en-US" sz="1040" dirty="0"/>
          </a:p>
        </p:txBody>
      </p:sp>
      <p:sp>
        <p:nvSpPr>
          <p:cNvPr id="29" name="Shape 27"/>
          <p:cNvSpPr/>
          <p:nvPr/>
        </p:nvSpPr>
        <p:spPr>
          <a:xfrm>
            <a:off x="4772254" y="1394460"/>
            <a:ext cx="921167" cy="425196"/>
          </a:xfrm>
          <a:prstGeom prst="rect">
            <a:avLst/>
          </a:prstGeom>
          <a:solidFill>
            <a:srgbClr val="FFFFFF"/>
          </a:solidFill>
          <a:ln w="12700">
            <a:solidFill>
              <a:srgbClr val="D5DCE3"/>
            </a:solidFill>
            <a:prstDash val="solid"/>
          </a:ln>
        </p:spPr>
      </p:sp>
      <p:sp>
        <p:nvSpPr>
          <p:cNvPr id="30" name="Text 28"/>
          <p:cNvSpPr/>
          <p:nvPr/>
        </p:nvSpPr>
        <p:spPr>
          <a:xfrm>
            <a:off x="4799686" y="1412748"/>
            <a:ext cx="866303" cy="388620"/>
          </a:xfrm>
          <a:prstGeom prst="rect">
            <a:avLst/>
          </a:prstGeom>
          <a:noFill/>
          <a:ln/>
        </p:spPr>
        <p:txBody>
          <a:bodyPr wrap="square" lIns="0" tIns="0" rIns="0" bIns="0" rtlCol="0" anchor="ctr">
            <a:normAutofit/>
          </a:bodyPr>
          <a:lstStyle/>
          <a:p>
            <a:pPr marL="0" indent="0" algn="ctr">
              <a:buNone/>
            </a:pPr>
            <a:r>
              <a:rPr lang="en-US" sz="1040" b="1" dirty="0">
                <a:solidFill>
                  <a:srgbClr val="C94C4C"/>
                </a:solidFill>
                <a:latin typeface="Yu Gothic" pitchFamily="34" charset="0"/>
                <a:ea typeface="Yu Gothic" pitchFamily="34" charset="-122"/>
                <a:cs typeface="Yu Gothic" pitchFamily="34" charset="-120"/>
              </a:rPr>
              <a:t>−2.134</a:t>
            </a:r>
            <a:endParaRPr lang="en-US" sz="1040" dirty="0"/>
          </a:p>
        </p:txBody>
      </p:sp>
      <p:sp>
        <p:nvSpPr>
          <p:cNvPr id="31" name="Shape 29"/>
          <p:cNvSpPr/>
          <p:nvPr/>
        </p:nvSpPr>
        <p:spPr>
          <a:xfrm>
            <a:off x="5693420" y="1394460"/>
            <a:ext cx="921167" cy="425196"/>
          </a:xfrm>
          <a:prstGeom prst="rect">
            <a:avLst/>
          </a:prstGeom>
          <a:solidFill>
            <a:srgbClr val="FFFFFF"/>
          </a:solidFill>
          <a:ln w="12700">
            <a:solidFill>
              <a:srgbClr val="D5DCE3"/>
            </a:solidFill>
            <a:prstDash val="solid"/>
          </a:ln>
        </p:spPr>
      </p:sp>
      <p:sp>
        <p:nvSpPr>
          <p:cNvPr id="32" name="Text 30"/>
          <p:cNvSpPr/>
          <p:nvPr/>
        </p:nvSpPr>
        <p:spPr>
          <a:xfrm>
            <a:off x="5720852" y="1412748"/>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−0.015</a:t>
            </a:r>
            <a:endParaRPr lang="en-US" sz="1040" dirty="0"/>
          </a:p>
        </p:txBody>
      </p:sp>
      <p:sp>
        <p:nvSpPr>
          <p:cNvPr id="33" name="Shape 31"/>
          <p:cNvSpPr/>
          <p:nvPr/>
        </p:nvSpPr>
        <p:spPr>
          <a:xfrm>
            <a:off x="6614587" y="1394460"/>
            <a:ext cx="1041319" cy="425196"/>
          </a:xfrm>
          <a:prstGeom prst="rect">
            <a:avLst/>
          </a:prstGeom>
          <a:solidFill>
            <a:srgbClr val="FFFFFF"/>
          </a:solidFill>
          <a:ln w="12700">
            <a:solidFill>
              <a:srgbClr val="D5DCE3"/>
            </a:solidFill>
            <a:prstDash val="solid"/>
          </a:ln>
        </p:spPr>
      </p:sp>
      <p:sp>
        <p:nvSpPr>
          <p:cNvPr id="34" name="Text 32"/>
          <p:cNvSpPr/>
          <p:nvPr/>
        </p:nvSpPr>
        <p:spPr>
          <a:xfrm>
            <a:off x="6642019" y="1412748"/>
            <a:ext cx="986455" cy="388620"/>
          </a:xfrm>
          <a:prstGeom prst="rect">
            <a:avLst/>
          </a:prstGeom>
          <a:noFill/>
          <a:ln/>
        </p:spPr>
        <p:txBody>
          <a:bodyPr wrap="square" lIns="0" tIns="0" rIns="0" bIns="0" rtlCol="0" anchor="ctr">
            <a:normAutofit/>
          </a:bodyPr>
          <a:lstStyle/>
          <a:p>
            <a:pPr marL="0" indent="0" algn="ctr">
              <a:buNone/>
            </a:pPr>
            <a:r>
              <a:rPr lang="en-US" sz="1040" b="1" dirty="0">
                <a:solidFill>
                  <a:srgbClr val="2A9D8F"/>
                </a:solidFill>
                <a:latin typeface="Yu Gothic" pitchFamily="34" charset="0"/>
                <a:ea typeface="Yu Gothic" pitchFamily="34" charset="-122"/>
                <a:cs typeface="Yu Gothic" pitchFamily="34" charset="-120"/>
              </a:rPr>
              <a:t>+1.984</a:t>
            </a:r>
            <a:endParaRPr lang="en-US" sz="1040" dirty="0"/>
          </a:p>
        </p:txBody>
      </p:sp>
      <p:sp>
        <p:nvSpPr>
          <p:cNvPr id="35" name="Shape 33"/>
          <p:cNvSpPr/>
          <p:nvPr/>
        </p:nvSpPr>
        <p:spPr>
          <a:xfrm>
            <a:off x="7655905" y="1394460"/>
            <a:ext cx="921167" cy="425196"/>
          </a:xfrm>
          <a:prstGeom prst="rect">
            <a:avLst/>
          </a:prstGeom>
          <a:solidFill>
            <a:srgbClr val="FFFFFF"/>
          </a:solidFill>
          <a:ln w="12700">
            <a:solidFill>
              <a:srgbClr val="D5DCE3"/>
            </a:solidFill>
            <a:prstDash val="solid"/>
          </a:ln>
        </p:spPr>
      </p:sp>
      <p:sp>
        <p:nvSpPr>
          <p:cNvPr id="36" name="Text 34"/>
          <p:cNvSpPr/>
          <p:nvPr/>
        </p:nvSpPr>
        <p:spPr>
          <a:xfrm>
            <a:off x="7683337" y="1412748"/>
            <a:ext cx="866303" cy="388620"/>
          </a:xfrm>
          <a:prstGeom prst="rect">
            <a:avLst/>
          </a:prstGeom>
          <a:noFill/>
          <a:ln/>
        </p:spPr>
        <p:txBody>
          <a:bodyPr wrap="square" lIns="0" tIns="0" rIns="0" bIns="0" rtlCol="0" anchor="ctr">
            <a:normAutofit/>
          </a:bodyPr>
          <a:lstStyle/>
          <a:p>
            <a:pPr marL="0" indent="0" algn="ctr">
              <a:buNone/>
            </a:pPr>
            <a:r>
              <a:rPr lang="en-US" sz="1040" b="1" dirty="0">
                <a:solidFill>
                  <a:srgbClr val="2A9D8F"/>
                </a:solidFill>
                <a:latin typeface="Yu Gothic" pitchFamily="34" charset="0"/>
                <a:ea typeface="Yu Gothic" pitchFamily="34" charset="-122"/>
                <a:cs typeface="Yu Gothic" pitchFamily="34" charset="-120"/>
              </a:rPr>
              <a:t>+2.452</a:t>
            </a:r>
            <a:endParaRPr lang="en-US" sz="1040" dirty="0"/>
          </a:p>
        </p:txBody>
      </p:sp>
      <p:sp>
        <p:nvSpPr>
          <p:cNvPr id="37" name="Shape 35"/>
          <p:cNvSpPr/>
          <p:nvPr/>
        </p:nvSpPr>
        <p:spPr>
          <a:xfrm>
            <a:off x="566928" y="1819656"/>
            <a:ext cx="1441826" cy="425196"/>
          </a:xfrm>
          <a:prstGeom prst="rect">
            <a:avLst/>
          </a:prstGeom>
          <a:solidFill>
            <a:srgbClr val="F5F7FA"/>
          </a:solidFill>
          <a:ln w="12700">
            <a:solidFill>
              <a:srgbClr val="D5DCE3"/>
            </a:solidFill>
            <a:prstDash val="solid"/>
          </a:ln>
        </p:spPr>
      </p:sp>
      <p:sp>
        <p:nvSpPr>
          <p:cNvPr id="38" name="Text 36"/>
          <p:cNvSpPr/>
          <p:nvPr/>
        </p:nvSpPr>
        <p:spPr>
          <a:xfrm>
            <a:off x="594360" y="1837944"/>
            <a:ext cx="1386962" cy="388620"/>
          </a:xfrm>
          <a:prstGeom prst="rect">
            <a:avLst/>
          </a:prstGeom>
          <a:noFill/>
          <a:ln/>
        </p:spPr>
        <p:txBody>
          <a:bodyPr wrap="square" lIns="0" tIns="0" rIns="0" bIns="0" rtlCol="0" anchor="ctr">
            <a:normAutofit/>
          </a:bodyPr>
          <a:lstStyle/>
          <a:p>
            <a:pPr marL="0" indent="0" algn="l">
              <a:buNone/>
            </a:pPr>
            <a:r>
              <a:rPr lang="en-US" sz="1040" dirty="0">
                <a:solidFill>
                  <a:srgbClr val="20242A"/>
                </a:solidFill>
                <a:latin typeface="Yu Gothic" pitchFamily="34" charset="0"/>
                <a:ea typeface="Yu Gothic" pitchFamily="34" charset="-122"/>
                <a:cs typeface="Yu Gothic" pitchFamily="34" charset="-120"/>
              </a:rPr>
              <a:t>SPVCNN</a:t>
            </a:r>
            <a:endParaRPr lang="en-US" sz="1040" dirty="0"/>
          </a:p>
        </p:txBody>
      </p:sp>
      <p:sp>
        <p:nvSpPr>
          <p:cNvPr id="39" name="Shape 37"/>
          <p:cNvSpPr/>
          <p:nvPr/>
        </p:nvSpPr>
        <p:spPr>
          <a:xfrm>
            <a:off x="2008754" y="1819656"/>
            <a:ext cx="921167" cy="425196"/>
          </a:xfrm>
          <a:prstGeom prst="rect">
            <a:avLst/>
          </a:prstGeom>
          <a:solidFill>
            <a:srgbClr val="F5F7FA"/>
          </a:solidFill>
          <a:ln w="12700">
            <a:solidFill>
              <a:srgbClr val="D5DCE3"/>
            </a:solidFill>
            <a:prstDash val="solid"/>
          </a:ln>
        </p:spPr>
      </p:sp>
      <p:sp>
        <p:nvSpPr>
          <p:cNvPr id="40" name="Text 38"/>
          <p:cNvSpPr/>
          <p:nvPr/>
        </p:nvSpPr>
        <p:spPr>
          <a:xfrm>
            <a:off x="2036186" y="1837944"/>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+0.295</a:t>
            </a:r>
            <a:endParaRPr lang="en-US" sz="1040" dirty="0"/>
          </a:p>
        </p:txBody>
      </p:sp>
      <p:sp>
        <p:nvSpPr>
          <p:cNvPr id="41" name="Shape 39"/>
          <p:cNvSpPr/>
          <p:nvPr/>
        </p:nvSpPr>
        <p:spPr>
          <a:xfrm>
            <a:off x="2929920" y="1819656"/>
            <a:ext cx="921167" cy="425196"/>
          </a:xfrm>
          <a:prstGeom prst="rect">
            <a:avLst/>
          </a:prstGeom>
          <a:solidFill>
            <a:srgbClr val="F5F7FA"/>
          </a:solidFill>
          <a:ln w="12700">
            <a:solidFill>
              <a:srgbClr val="D5DCE3"/>
            </a:solidFill>
            <a:prstDash val="solid"/>
          </a:ln>
        </p:spPr>
      </p:sp>
      <p:sp>
        <p:nvSpPr>
          <p:cNvPr id="42" name="Text 40"/>
          <p:cNvSpPr/>
          <p:nvPr/>
        </p:nvSpPr>
        <p:spPr>
          <a:xfrm>
            <a:off x="2957352" y="1837944"/>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+0.143</a:t>
            </a:r>
            <a:endParaRPr lang="en-US" sz="1040" dirty="0"/>
          </a:p>
        </p:txBody>
      </p:sp>
      <p:sp>
        <p:nvSpPr>
          <p:cNvPr id="43" name="Shape 41"/>
          <p:cNvSpPr/>
          <p:nvPr/>
        </p:nvSpPr>
        <p:spPr>
          <a:xfrm>
            <a:off x="3851087" y="1819656"/>
            <a:ext cx="921167" cy="425196"/>
          </a:xfrm>
          <a:prstGeom prst="rect">
            <a:avLst/>
          </a:prstGeom>
          <a:solidFill>
            <a:srgbClr val="F5F7FA"/>
          </a:solidFill>
          <a:ln w="12700">
            <a:solidFill>
              <a:srgbClr val="D5DCE3"/>
            </a:solidFill>
            <a:prstDash val="solid"/>
          </a:ln>
        </p:spPr>
      </p:sp>
      <p:sp>
        <p:nvSpPr>
          <p:cNvPr id="44" name="Text 42"/>
          <p:cNvSpPr/>
          <p:nvPr/>
        </p:nvSpPr>
        <p:spPr>
          <a:xfrm>
            <a:off x="3878519" y="1837944"/>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C94C4C"/>
                </a:solidFill>
                <a:latin typeface="Yu Gothic" pitchFamily="34" charset="0"/>
                <a:ea typeface="Yu Gothic" pitchFamily="34" charset="-122"/>
                <a:cs typeface="Yu Gothic" pitchFamily="34" charset="-120"/>
              </a:rPr>
              <a:t>−0.354</a:t>
            </a:r>
            <a:endParaRPr lang="en-US" sz="1040" dirty="0"/>
          </a:p>
        </p:txBody>
      </p:sp>
      <p:sp>
        <p:nvSpPr>
          <p:cNvPr id="45" name="Shape 43"/>
          <p:cNvSpPr/>
          <p:nvPr/>
        </p:nvSpPr>
        <p:spPr>
          <a:xfrm>
            <a:off x="4772254" y="1819656"/>
            <a:ext cx="921167" cy="425196"/>
          </a:xfrm>
          <a:prstGeom prst="rect">
            <a:avLst/>
          </a:prstGeom>
          <a:solidFill>
            <a:srgbClr val="F5F7FA"/>
          </a:solidFill>
          <a:ln w="12700">
            <a:solidFill>
              <a:srgbClr val="D5DCE3"/>
            </a:solidFill>
            <a:prstDash val="solid"/>
          </a:ln>
        </p:spPr>
      </p:sp>
      <p:sp>
        <p:nvSpPr>
          <p:cNvPr id="46" name="Text 44"/>
          <p:cNvSpPr/>
          <p:nvPr/>
        </p:nvSpPr>
        <p:spPr>
          <a:xfrm>
            <a:off x="4799686" y="1837944"/>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−0.171</a:t>
            </a:r>
            <a:endParaRPr lang="en-US" sz="1040" dirty="0"/>
          </a:p>
        </p:txBody>
      </p:sp>
      <p:sp>
        <p:nvSpPr>
          <p:cNvPr id="47" name="Shape 45"/>
          <p:cNvSpPr/>
          <p:nvPr/>
        </p:nvSpPr>
        <p:spPr>
          <a:xfrm>
            <a:off x="5693420" y="1819656"/>
            <a:ext cx="921167" cy="425196"/>
          </a:xfrm>
          <a:prstGeom prst="rect">
            <a:avLst/>
          </a:prstGeom>
          <a:solidFill>
            <a:srgbClr val="F5F7FA"/>
          </a:solidFill>
          <a:ln w="12700">
            <a:solidFill>
              <a:srgbClr val="D5DCE3"/>
            </a:solidFill>
            <a:prstDash val="solid"/>
          </a:ln>
        </p:spPr>
      </p:sp>
      <p:sp>
        <p:nvSpPr>
          <p:cNvPr id="48" name="Text 46"/>
          <p:cNvSpPr/>
          <p:nvPr/>
        </p:nvSpPr>
        <p:spPr>
          <a:xfrm>
            <a:off x="5720852" y="1837944"/>
            <a:ext cx="866303" cy="388620"/>
          </a:xfrm>
          <a:prstGeom prst="rect">
            <a:avLst/>
          </a:prstGeom>
          <a:noFill/>
          <a:ln/>
        </p:spPr>
        <p:txBody>
          <a:bodyPr wrap="square" lIns="0" tIns="0" rIns="0" bIns="0" rtlCol="0" anchor="ctr">
            <a:normAutofit/>
          </a:bodyPr>
          <a:lstStyle/>
          <a:p>
            <a:pPr marL="0" indent="0" algn="ctr">
              <a:buNone/>
            </a:pPr>
            <a:r>
              <a:rPr lang="en-US" sz="1040" b="1" dirty="0">
                <a:solidFill>
                  <a:srgbClr val="2A9D8F"/>
                </a:solidFill>
                <a:latin typeface="Yu Gothic" pitchFamily="34" charset="0"/>
                <a:ea typeface="Yu Gothic" pitchFamily="34" charset="-122"/>
                <a:cs typeface="Yu Gothic" pitchFamily="34" charset="-120"/>
              </a:rPr>
              <a:t>+2.271</a:t>
            </a:r>
            <a:endParaRPr lang="en-US" sz="1040" dirty="0"/>
          </a:p>
        </p:txBody>
      </p:sp>
      <p:sp>
        <p:nvSpPr>
          <p:cNvPr id="49" name="Shape 47"/>
          <p:cNvSpPr/>
          <p:nvPr/>
        </p:nvSpPr>
        <p:spPr>
          <a:xfrm>
            <a:off x="6614587" y="1819656"/>
            <a:ext cx="1041319" cy="425196"/>
          </a:xfrm>
          <a:prstGeom prst="rect">
            <a:avLst/>
          </a:prstGeom>
          <a:solidFill>
            <a:srgbClr val="F5F7FA"/>
          </a:solidFill>
          <a:ln w="12700">
            <a:solidFill>
              <a:srgbClr val="D5DCE3"/>
            </a:solidFill>
            <a:prstDash val="solid"/>
          </a:ln>
        </p:spPr>
      </p:sp>
      <p:sp>
        <p:nvSpPr>
          <p:cNvPr id="50" name="Text 48"/>
          <p:cNvSpPr/>
          <p:nvPr/>
        </p:nvSpPr>
        <p:spPr>
          <a:xfrm>
            <a:off x="6642019" y="1837944"/>
            <a:ext cx="986455"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+0.175</a:t>
            </a:r>
            <a:endParaRPr lang="en-US" sz="1040" dirty="0"/>
          </a:p>
        </p:txBody>
      </p:sp>
      <p:sp>
        <p:nvSpPr>
          <p:cNvPr id="51" name="Shape 49"/>
          <p:cNvSpPr/>
          <p:nvPr/>
        </p:nvSpPr>
        <p:spPr>
          <a:xfrm>
            <a:off x="7655905" y="1819656"/>
            <a:ext cx="921167" cy="425196"/>
          </a:xfrm>
          <a:prstGeom prst="rect">
            <a:avLst/>
          </a:prstGeom>
          <a:solidFill>
            <a:srgbClr val="F5F7FA"/>
          </a:solidFill>
          <a:ln w="12700">
            <a:solidFill>
              <a:srgbClr val="D5DCE3"/>
            </a:solidFill>
            <a:prstDash val="solid"/>
          </a:ln>
        </p:spPr>
      </p:sp>
      <p:sp>
        <p:nvSpPr>
          <p:cNvPr id="52" name="Text 50"/>
          <p:cNvSpPr/>
          <p:nvPr/>
        </p:nvSpPr>
        <p:spPr>
          <a:xfrm>
            <a:off x="7683337" y="1837944"/>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−0.294</a:t>
            </a:r>
            <a:endParaRPr lang="en-US" sz="1040" dirty="0"/>
          </a:p>
        </p:txBody>
      </p:sp>
      <p:sp>
        <p:nvSpPr>
          <p:cNvPr id="53" name="Shape 51"/>
          <p:cNvSpPr/>
          <p:nvPr/>
        </p:nvSpPr>
        <p:spPr>
          <a:xfrm>
            <a:off x="566928" y="2244852"/>
            <a:ext cx="1441826" cy="425196"/>
          </a:xfrm>
          <a:prstGeom prst="rect">
            <a:avLst/>
          </a:prstGeom>
          <a:solidFill>
            <a:srgbClr val="FFFFFF"/>
          </a:solidFill>
          <a:ln w="12700">
            <a:solidFill>
              <a:srgbClr val="D5DCE3"/>
            </a:solidFill>
            <a:prstDash val="solid"/>
          </a:ln>
        </p:spPr>
      </p:sp>
      <p:sp>
        <p:nvSpPr>
          <p:cNvPr id="54" name="Text 52"/>
          <p:cNvSpPr/>
          <p:nvPr/>
        </p:nvSpPr>
        <p:spPr>
          <a:xfrm>
            <a:off x="594360" y="2263140"/>
            <a:ext cx="1386962" cy="388620"/>
          </a:xfrm>
          <a:prstGeom prst="rect">
            <a:avLst/>
          </a:prstGeom>
          <a:noFill/>
          <a:ln/>
        </p:spPr>
        <p:txBody>
          <a:bodyPr wrap="square" lIns="0" tIns="0" rIns="0" bIns="0" rtlCol="0" anchor="ctr">
            <a:normAutofit/>
          </a:bodyPr>
          <a:lstStyle/>
          <a:p>
            <a:pPr marL="0" indent="0" algn="l">
              <a:buNone/>
            </a:pPr>
            <a:r>
              <a:rPr lang="en-US" sz="1040" dirty="0">
                <a:solidFill>
                  <a:srgbClr val="20242A"/>
                </a:solidFill>
                <a:latin typeface="Yu Gothic" pitchFamily="34" charset="0"/>
                <a:ea typeface="Yu Gothic" pitchFamily="34" charset="-122"/>
                <a:cs typeface="Yu Gothic" pitchFamily="34" charset="-120"/>
              </a:rPr>
              <a:t>Cylinder3D</a:t>
            </a:r>
            <a:endParaRPr lang="en-US" sz="1040" dirty="0"/>
          </a:p>
        </p:txBody>
      </p:sp>
      <p:sp>
        <p:nvSpPr>
          <p:cNvPr id="55" name="Shape 53"/>
          <p:cNvSpPr/>
          <p:nvPr/>
        </p:nvSpPr>
        <p:spPr>
          <a:xfrm>
            <a:off x="2008754" y="2244852"/>
            <a:ext cx="921167" cy="425196"/>
          </a:xfrm>
          <a:prstGeom prst="rect">
            <a:avLst/>
          </a:prstGeom>
          <a:solidFill>
            <a:srgbClr val="FFFFFF"/>
          </a:solidFill>
          <a:ln w="12700">
            <a:solidFill>
              <a:srgbClr val="D5DCE3"/>
            </a:solidFill>
            <a:prstDash val="solid"/>
          </a:ln>
        </p:spPr>
      </p:sp>
      <p:sp>
        <p:nvSpPr>
          <p:cNvPr id="56" name="Text 54"/>
          <p:cNvSpPr/>
          <p:nvPr/>
        </p:nvSpPr>
        <p:spPr>
          <a:xfrm>
            <a:off x="2036186" y="2263140"/>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+0.199</a:t>
            </a:r>
            <a:endParaRPr lang="en-US" sz="1040" dirty="0"/>
          </a:p>
        </p:txBody>
      </p:sp>
      <p:sp>
        <p:nvSpPr>
          <p:cNvPr id="57" name="Shape 55"/>
          <p:cNvSpPr/>
          <p:nvPr/>
        </p:nvSpPr>
        <p:spPr>
          <a:xfrm>
            <a:off x="2929920" y="2244852"/>
            <a:ext cx="921167" cy="425196"/>
          </a:xfrm>
          <a:prstGeom prst="rect">
            <a:avLst/>
          </a:prstGeom>
          <a:solidFill>
            <a:srgbClr val="FFFFFF"/>
          </a:solidFill>
          <a:ln w="12700">
            <a:solidFill>
              <a:srgbClr val="D5DCE3"/>
            </a:solidFill>
            <a:prstDash val="solid"/>
          </a:ln>
        </p:spPr>
      </p:sp>
      <p:sp>
        <p:nvSpPr>
          <p:cNvPr id="58" name="Text 56"/>
          <p:cNvSpPr/>
          <p:nvPr/>
        </p:nvSpPr>
        <p:spPr>
          <a:xfrm>
            <a:off x="2957352" y="2263140"/>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+0.120</a:t>
            </a:r>
            <a:endParaRPr lang="en-US" sz="1040" dirty="0"/>
          </a:p>
        </p:txBody>
      </p:sp>
      <p:sp>
        <p:nvSpPr>
          <p:cNvPr id="59" name="Shape 57"/>
          <p:cNvSpPr/>
          <p:nvPr/>
        </p:nvSpPr>
        <p:spPr>
          <a:xfrm>
            <a:off x="3851087" y="2244852"/>
            <a:ext cx="921167" cy="425196"/>
          </a:xfrm>
          <a:prstGeom prst="rect">
            <a:avLst/>
          </a:prstGeom>
          <a:solidFill>
            <a:srgbClr val="FFFFFF"/>
          </a:solidFill>
          <a:ln w="12700">
            <a:solidFill>
              <a:srgbClr val="D5DCE3"/>
            </a:solidFill>
            <a:prstDash val="solid"/>
          </a:ln>
        </p:spPr>
      </p:sp>
      <p:sp>
        <p:nvSpPr>
          <p:cNvPr id="60" name="Text 58"/>
          <p:cNvSpPr/>
          <p:nvPr/>
        </p:nvSpPr>
        <p:spPr>
          <a:xfrm>
            <a:off x="3878519" y="2263140"/>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+0.235</a:t>
            </a:r>
            <a:endParaRPr lang="en-US" sz="1040" dirty="0"/>
          </a:p>
        </p:txBody>
      </p:sp>
      <p:sp>
        <p:nvSpPr>
          <p:cNvPr id="61" name="Shape 59"/>
          <p:cNvSpPr/>
          <p:nvPr/>
        </p:nvSpPr>
        <p:spPr>
          <a:xfrm>
            <a:off x="4772254" y="2244852"/>
            <a:ext cx="921167" cy="425196"/>
          </a:xfrm>
          <a:prstGeom prst="rect">
            <a:avLst/>
          </a:prstGeom>
          <a:solidFill>
            <a:srgbClr val="FFFFFF"/>
          </a:solidFill>
          <a:ln w="12700">
            <a:solidFill>
              <a:srgbClr val="D5DCE3"/>
            </a:solidFill>
            <a:prstDash val="solid"/>
          </a:ln>
        </p:spPr>
      </p:sp>
      <p:sp>
        <p:nvSpPr>
          <p:cNvPr id="62" name="Text 60"/>
          <p:cNvSpPr/>
          <p:nvPr/>
        </p:nvSpPr>
        <p:spPr>
          <a:xfrm>
            <a:off x="4799686" y="2263140"/>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−0.189</a:t>
            </a:r>
            <a:endParaRPr lang="en-US" sz="1040" dirty="0"/>
          </a:p>
        </p:txBody>
      </p:sp>
      <p:sp>
        <p:nvSpPr>
          <p:cNvPr id="63" name="Shape 61"/>
          <p:cNvSpPr/>
          <p:nvPr/>
        </p:nvSpPr>
        <p:spPr>
          <a:xfrm>
            <a:off x="5693420" y="2244852"/>
            <a:ext cx="921167" cy="425196"/>
          </a:xfrm>
          <a:prstGeom prst="rect">
            <a:avLst/>
          </a:prstGeom>
          <a:solidFill>
            <a:srgbClr val="FFFFFF"/>
          </a:solidFill>
          <a:ln w="12700">
            <a:solidFill>
              <a:srgbClr val="D5DCE3"/>
            </a:solidFill>
            <a:prstDash val="solid"/>
          </a:ln>
        </p:spPr>
      </p:sp>
      <p:sp>
        <p:nvSpPr>
          <p:cNvPr id="64" name="Text 62"/>
          <p:cNvSpPr/>
          <p:nvPr/>
        </p:nvSpPr>
        <p:spPr>
          <a:xfrm>
            <a:off x="5720852" y="2263140"/>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−0.175</a:t>
            </a:r>
            <a:endParaRPr lang="en-US" sz="1040" dirty="0"/>
          </a:p>
        </p:txBody>
      </p:sp>
      <p:sp>
        <p:nvSpPr>
          <p:cNvPr id="65" name="Shape 63"/>
          <p:cNvSpPr/>
          <p:nvPr/>
        </p:nvSpPr>
        <p:spPr>
          <a:xfrm>
            <a:off x="6614587" y="2244852"/>
            <a:ext cx="1041319" cy="425196"/>
          </a:xfrm>
          <a:prstGeom prst="rect">
            <a:avLst/>
          </a:prstGeom>
          <a:solidFill>
            <a:srgbClr val="FFFFFF"/>
          </a:solidFill>
          <a:ln w="12700">
            <a:solidFill>
              <a:srgbClr val="D5DCE3"/>
            </a:solidFill>
            <a:prstDash val="solid"/>
          </a:ln>
        </p:spPr>
      </p:sp>
      <p:sp>
        <p:nvSpPr>
          <p:cNvPr id="66" name="Text 64"/>
          <p:cNvSpPr/>
          <p:nvPr/>
        </p:nvSpPr>
        <p:spPr>
          <a:xfrm>
            <a:off x="6642019" y="2263140"/>
            <a:ext cx="986455" cy="388620"/>
          </a:xfrm>
          <a:prstGeom prst="rect">
            <a:avLst/>
          </a:prstGeom>
          <a:noFill/>
          <a:ln/>
        </p:spPr>
        <p:txBody>
          <a:bodyPr wrap="square" lIns="0" tIns="0" rIns="0" bIns="0" rtlCol="0" anchor="ctr">
            <a:normAutofit/>
          </a:bodyPr>
          <a:lstStyle/>
          <a:p>
            <a:pPr marL="0" indent="0" algn="ctr">
              <a:buNone/>
            </a:pPr>
            <a:r>
              <a:rPr lang="en-US" sz="1040" b="1" dirty="0">
                <a:solidFill>
                  <a:srgbClr val="2A9D8F"/>
                </a:solidFill>
                <a:latin typeface="Yu Gothic" pitchFamily="34" charset="0"/>
                <a:ea typeface="Yu Gothic" pitchFamily="34" charset="-122"/>
                <a:cs typeface="Yu Gothic" pitchFamily="34" charset="-120"/>
              </a:rPr>
              <a:t>+0.703</a:t>
            </a:r>
            <a:endParaRPr lang="en-US" sz="1040" dirty="0"/>
          </a:p>
        </p:txBody>
      </p:sp>
      <p:sp>
        <p:nvSpPr>
          <p:cNvPr id="67" name="Shape 65"/>
          <p:cNvSpPr/>
          <p:nvPr/>
        </p:nvSpPr>
        <p:spPr>
          <a:xfrm>
            <a:off x="7655905" y="2244852"/>
            <a:ext cx="921167" cy="425196"/>
          </a:xfrm>
          <a:prstGeom prst="rect">
            <a:avLst/>
          </a:prstGeom>
          <a:solidFill>
            <a:srgbClr val="FFFFFF"/>
          </a:solidFill>
          <a:ln w="12700">
            <a:solidFill>
              <a:srgbClr val="D5DCE3"/>
            </a:solidFill>
            <a:prstDash val="solid"/>
          </a:ln>
        </p:spPr>
      </p:sp>
      <p:sp>
        <p:nvSpPr>
          <p:cNvPr id="68" name="Text 66"/>
          <p:cNvSpPr/>
          <p:nvPr/>
        </p:nvSpPr>
        <p:spPr>
          <a:xfrm>
            <a:off x="7683337" y="2263140"/>
            <a:ext cx="866303" cy="388620"/>
          </a:xfrm>
          <a:prstGeom prst="rect">
            <a:avLst/>
          </a:prstGeom>
          <a:noFill/>
          <a:ln/>
        </p:spPr>
        <p:txBody>
          <a:bodyPr wrap="square" lIns="0" tIns="0" rIns="0" bIns="0" rtlCol="0" anchor="ctr">
            <a:normAutofit/>
          </a:bodyPr>
          <a:lstStyle/>
          <a:p>
            <a:pPr marL="0" indent="0" algn="ctr">
              <a:buNone/>
            </a:pPr>
            <a:r>
              <a:rPr lang="en-US" sz="1040" dirty="0">
                <a:solidFill>
                  <a:srgbClr val="20242A"/>
                </a:solidFill>
                <a:latin typeface="Yu Gothic" pitchFamily="34" charset="0"/>
                <a:ea typeface="Yu Gothic" pitchFamily="34" charset="-122"/>
                <a:cs typeface="Yu Gothic" pitchFamily="34" charset="-120"/>
              </a:rPr>
              <a:t>+0.502</a:t>
            </a:r>
            <a:endParaRPr lang="en-US" sz="1040" dirty="0"/>
          </a:p>
        </p:txBody>
      </p:sp>
      <p:sp>
        <p:nvSpPr>
          <p:cNvPr id="69" name="Shape 67"/>
          <p:cNvSpPr/>
          <p:nvPr/>
        </p:nvSpPr>
        <p:spPr>
          <a:xfrm>
            <a:off x="658368" y="2999232"/>
            <a:ext cx="3703320" cy="914400"/>
          </a:xfrm>
          <a:prstGeom prst="rect">
            <a:avLst/>
          </a:prstGeom>
          <a:solidFill>
            <a:srgbClr val="FCE4D6"/>
          </a:solidFill>
          <a:ln w="12700">
            <a:solidFill>
              <a:srgbClr val="D5DCE3"/>
            </a:solidFill>
            <a:prstDash val="solid"/>
          </a:ln>
          <a:effectLst>
            <a:outerShdw blurRad="25400" dist="50800" dir="2700000" algn="bl" rotWithShape="0">
              <a:srgbClr val="000000">
                <a:alpha val="11000"/>
              </a:srgbClr>
            </a:outerShdw>
          </a:effectLst>
        </p:spPr>
      </p:sp>
      <p:sp>
        <p:nvSpPr>
          <p:cNvPr id="70" name="Shape 68"/>
          <p:cNvSpPr/>
          <p:nvPr/>
        </p:nvSpPr>
        <p:spPr>
          <a:xfrm>
            <a:off x="658368" y="2999232"/>
            <a:ext cx="50292" cy="914400"/>
          </a:xfrm>
          <a:prstGeom prst="rect">
            <a:avLst/>
          </a:prstGeom>
          <a:solidFill>
            <a:srgbClr val="ED7D31"/>
          </a:solidFill>
          <a:ln w="12700">
            <a:solidFill>
              <a:srgbClr val="ED7D31"/>
            </a:solidFill>
            <a:prstDash val="solid"/>
          </a:ln>
        </p:spPr>
      </p:sp>
      <p:sp>
        <p:nvSpPr>
          <p:cNvPr id="71" name="Text 69"/>
          <p:cNvSpPr/>
          <p:nvPr/>
        </p:nvSpPr>
        <p:spPr>
          <a:xfrm>
            <a:off x="822960" y="3072384"/>
            <a:ext cx="342900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改善が安定するclassはない</a:t>
            </a:r>
            <a:endParaRPr lang="en-US" sz="1600" dirty="0"/>
          </a:p>
        </p:txBody>
      </p:sp>
      <p:sp>
        <p:nvSpPr>
          <p:cNvPr id="72" name="Text 70"/>
          <p:cNvSpPr/>
          <p:nvPr/>
        </p:nvSpPr>
        <p:spPr>
          <a:xfrm>
            <a:off x="822960" y="3419856"/>
            <a:ext cx="3429000" cy="402336"/>
          </a:xfrm>
          <a:prstGeom prst="rect">
            <a:avLst/>
          </a:prstGeom>
          <a:noFill/>
          <a:ln/>
        </p:spPr>
        <p:txBody>
          <a:bodyPr wrap="square" lIns="12700" tIns="0" rIns="0" bIns="25400" rtlCol="0" anchor="t">
            <a:normAutofit/>
          </a:bodyPr>
          <a:lstStyle/>
          <a:p>
            <a:pPr marL="0" indent="0">
              <a:buNone/>
            </a:pPr>
            <a:r>
              <a:rPr lang="en-US" sz="1300" dirty="0">
                <a:solidFill>
                  <a:srgbClr val="4D5966"/>
                </a:solidFill>
                <a:latin typeface="Yu Gothic" pitchFamily="34" charset="0"/>
                <a:ea typeface="Yu Gothic" pitchFamily="34" charset="-122"/>
                <a:cs typeface="Yu Gothic" pitchFamily="34" charset="-120"/>
              </a:rPr>
              <a:t>Reflectionは3手法すべて改善するが、他classは符号が変わる。</a:t>
            </a:r>
            <a:endParaRPr lang="en-US" sz="1300" dirty="0"/>
          </a:p>
        </p:txBody>
      </p:sp>
      <p:sp>
        <p:nvSpPr>
          <p:cNvPr id="73" name="Shape 71"/>
          <p:cNvSpPr/>
          <p:nvPr/>
        </p:nvSpPr>
        <p:spPr>
          <a:xfrm>
            <a:off x="4782312" y="2999232"/>
            <a:ext cx="3703320" cy="914400"/>
          </a:xfrm>
          <a:prstGeom prst="rect">
            <a:avLst/>
          </a:prstGeom>
          <a:solidFill>
            <a:srgbClr val="EAF2F8"/>
          </a:solidFill>
          <a:ln w="12700">
            <a:solidFill>
              <a:srgbClr val="D5DCE3"/>
            </a:solidFill>
            <a:prstDash val="solid"/>
          </a:ln>
          <a:effectLst>
            <a:outerShdw blurRad="25400" dist="50800" dir="2700000" algn="bl" rotWithShape="0">
              <a:srgbClr val="000000">
                <a:alpha val="11000"/>
              </a:srgbClr>
            </a:outerShdw>
          </a:effectLst>
        </p:spPr>
      </p:sp>
      <p:sp>
        <p:nvSpPr>
          <p:cNvPr id="74" name="Shape 72"/>
          <p:cNvSpPr/>
          <p:nvPr/>
        </p:nvSpPr>
        <p:spPr>
          <a:xfrm>
            <a:off x="4782312" y="2999232"/>
            <a:ext cx="50292" cy="914400"/>
          </a:xfrm>
          <a:prstGeom prst="rect">
            <a:avLst/>
          </a:prstGeom>
          <a:solidFill>
            <a:srgbClr val="2E75B6"/>
          </a:solidFill>
          <a:ln w="12700">
            <a:solidFill>
              <a:srgbClr val="2E75B6"/>
            </a:solidFill>
            <a:prstDash val="solid"/>
          </a:ln>
        </p:spPr>
      </p:sp>
      <p:sp>
        <p:nvSpPr>
          <p:cNvPr id="75" name="Text 73"/>
          <p:cNvSpPr/>
          <p:nvPr/>
        </p:nvSpPr>
        <p:spPr>
          <a:xfrm>
            <a:off x="4946904" y="3072384"/>
            <a:ext cx="3429000" cy="310896"/>
          </a:xfrm>
          <a:prstGeom prst="rect">
            <a:avLst/>
          </a:prstGeom>
          <a:noFill/>
          <a:ln/>
        </p:spPr>
        <p:txBody>
          <a:bodyPr wrap="square" lIns="0" tIns="0" rIns="0" bIns="0" rtlCol="0" anchor="t">
            <a:normAutofit/>
          </a:bodyPr>
          <a:lstStyle/>
          <a:p>
            <a:pPr marL="0" indent="0">
              <a:buNone/>
            </a:pPr>
            <a:r>
              <a:rPr lang="en-US" sz="1600" b="1" dirty="0">
                <a:solidFill>
                  <a:srgbClr val="17365D"/>
                </a:solidFill>
                <a:latin typeface="Yu Gothic" pitchFamily="34" charset="0"/>
                <a:ea typeface="Yu Gothic" pitchFamily="34" charset="-122"/>
                <a:cs typeface="Yu Gothic" pitchFamily="34" charset="-120"/>
              </a:rPr>
              <a:t>平均値だけでは不十分</a:t>
            </a:r>
            <a:endParaRPr lang="en-US" sz="1600" dirty="0"/>
          </a:p>
        </p:txBody>
      </p:sp>
      <p:sp>
        <p:nvSpPr>
          <p:cNvPr id="76" name="Text 74"/>
          <p:cNvSpPr/>
          <p:nvPr/>
        </p:nvSpPr>
        <p:spPr>
          <a:xfrm>
            <a:off x="4946904" y="3419856"/>
            <a:ext cx="3429000" cy="402336"/>
          </a:xfrm>
          <a:prstGeom prst="rect">
            <a:avLst/>
          </a:prstGeom>
          <a:noFill/>
          <a:ln/>
        </p:spPr>
        <p:txBody>
          <a:bodyPr wrap="square" lIns="12700" tIns="0" rIns="0" bIns="25400" rtlCol="0" anchor="t">
            <a:normAutofit/>
          </a:bodyPr>
          <a:lstStyle/>
          <a:p>
            <a:pPr marL="0" indent="0">
              <a:buNone/>
            </a:pPr>
            <a:r>
              <a:rPr lang="en-US" sz="1300" dirty="0">
                <a:solidFill>
                  <a:srgbClr val="4D5966"/>
                </a:solidFill>
                <a:latin typeface="Yu Gothic" pitchFamily="34" charset="0"/>
                <a:ea typeface="Yu Gothic" pitchFamily="34" charset="-122"/>
                <a:cs typeface="Yu Gothic" pitchFamily="34" charset="-120"/>
              </a:rPr>
              <a:t>return番号はmodelがどう利用するかに依存し、特定classを悪化させ得る。</a:t>
            </a:r>
            <a:endParaRPr lang="en-US" sz="1300" dirty="0"/>
          </a:p>
        </p:txBody>
      </p:sp>
      <p:sp>
        <p:nvSpPr>
          <p:cNvPr id="77" name="Text 75"/>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Source: Zhao &amp; Schwertfeger (2024), Table 5. Differences calculated from reported values.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7365D"/>
          </a:solidFill>
          <a:ln w="12700">
            <a:solidFill>
              <a:srgbClr val="17365D"/>
            </a:solidFill>
            <a:prstDash val="solid"/>
          </a:ln>
        </p:spPr>
      </p:sp>
      <p:sp>
        <p:nvSpPr>
          <p:cNvPr id="3" name="Text 1"/>
          <p:cNvSpPr/>
          <p:nvPr/>
        </p:nvSpPr>
        <p:spPr>
          <a:xfrm>
            <a:off x="457200" y="64008"/>
            <a:ext cx="7452360" cy="475488"/>
          </a:xfrm>
          <a:prstGeom prst="rect">
            <a:avLst/>
          </a:prstGeom>
          <a:noFill/>
          <a:ln/>
        </p:spPr>
        <p:txBody>
          <a:bodyPr wrap="square" lIns="0" tIns="0" rIns="0" bIns="0" rtlCol="0" anchor="ctr">
            <a:normAutofit/>
          </a:bodyPr>
          <a:lstStyle/>
          <a:p>
            <a:pPr marL="0" indent="0">
              <a:buNone/>
            </a:pPr>
            <a:r>
              <a:rPr lang="en-US" sz="2100" b="1" dirty="0">
                <a:solidFill>
                  <a:srgbClr val="FFFFFF"/>
                </a:solidFill>
                <a:latin typeface="Yu Gothic" pitchFamily="34" charset="0"/>
                <a:ea typeface="Yu Gothic" pitchFamily="34" charset="-122"/>
                <a:cs typeface="Yu Gothic" pitchFamily="34" charset="-120"/>
              </a:rPr>
              <a:t>付録C｜再現性を確認するときのチェックポイント</a:t>
            </a:r>
            <a:endParaRPr lang="en-US" sz="2100" dirty="0"/>
          </a:p>
        </p:txBody>
      </p:sp>
      <p:sp>
        <p:nvSpPr>
          <p:cNvPr id="4" name="Text 2"/>
          <p:cNvSpPr/>
          <p:nvPr/>
        </p:nvSpPr>
        <p:spPr>
          <a:xfrm>
            <a:off x="7818120" y="109728"/>
            <a:ext cx="841248" cy="365760"/>
          </a:xfrm>
          <a:prstGeom prst="rect">
            <a:avLst/>
          </a:prstGeom>
          <a:noFill/>
          <a:ln/>
        </p:spPr>
        <p:txBody>
          <a:bodyPr wrap="square" lIns="0" tIns="0" rIns="0" bIns="0" rtlCol="0" anchor="ctr">
            <a:normAutofit/>
          </a:bodyPr>
          <a:lstStyle/>
          <a:p>
            <a:pPr marL="0" indent="0" algn="r">
              <a:buNone/>
            </a:pPr>
            <a:r>
              <a:rPr lang="en-US" sz="950" dirty="0">
                <a:solidFill>
                  <a:srgbClr val="C8D9EA"/>
                </a:solidFill>
                <a:latin typeface="Yu Gothic" pitchFamily="34" charset="0"/>
                <a:ea typeface="Yu Gothic" pitchFamily="34" charset="-122"/>
                <a:cs typeface="Yu Gothic" pitchFamily="34" charset="-120"/>
              </a:rPr>
              <a:t>Appendix</a:t>
            </a:r>
            <a:endParaRPr lang="en-US" sz="950" dirty="0"/>
          </a:p>
        </p:txBody>
      </p:sp>
      <p:sp>
        <p:nvSpPr>
          <p:cNvPr id="5" name="Shape 3"/>
          <p:cNvSpPr/>
          <p:nvPr/>
        </p:nvSpPr>
        <p:spPr>
          <a:xfrm>
            <a:off x="621792" y="896112"/>
            <a:ext cx="3749040" cy="9144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6" name="Shape 4"/>
          <p:cNvSpPr/>
          <p:nvPr/>
        </p:nvSpPr>
        <p:spPr>
          <a:xfrm>
            <a:off x="621792" y="896112"/>
            <a:ext cx="50292" cy="914400"/>
          </a:xfrm>
          <a:prstGeom prst="rect">
            <a:avLst/>
          </a:prstGeom>
          <a:solidFill>
            <a:srgbClr val="2E75B6"/>
          </a:solidFill>
          <a:ln w="12700">
            <a:solidFill>
              <a:srgbClr val="2E75B6"/>
            </a:solidFill>
            <a:prstDash val="solid"/>
          </a:ln>
        </p:spPr>
      </p:sp>
      <p:sp>
        <p:nvSpPr>
          <p:cNvPr id="7" name="Text 5"/>
          <p:cNvSpPr/>
          <p:nvPr/>
        </p:nvSpPr>
        <p:spPr>
          <a:xfrm>
            <a:off x="786384" y="969264"/>
            <a:ext cx="3474720"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Data unit</a:t>
            </a:r>
            <a:endParaRPr lang="en-US" sz="1400" dirty="0"/>
          </a:p>
        </p:txBody>
      </p:sp>
      <p:sp>
        <p:nvSpPr>
          <p:cNvPr id="8" name="Text 6"/>
          <p:cNvSpPr/>
          <p:nvPr/>
        </p:nvSpPr>
        <p:spPr>
          <a:xfrm>
            <a:off x="786384" y="1316736"/>
            <a:ext cx="3474720" cy="40233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48,024は16,008 timestamps×3 LiDAR。独立scene数ではない。</a:t>
            </a:r>
            <a:endParaRPr lang="en-US" sz="1250" dirty="0"/>
          </a:p>
        </p:txBody>
      </p:sp>
      <p:sp>
        <p:nvSpPr>
          <p:cNvPr id="9" name="Shape 7"/>
          <p:cNvSpPr/>
          <p:nvPr/>
        </p:nvSpPr>
        <p:spPr>
          <a:xfrm>
            <a:off x="4782312" y="896112"/>
            <a:ext cx="3749040" cy="9144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0" name="Shape 8"/>
          <p:cNvSpPr/>
          <p:nvPr/>
        </p:nvSpPr>
        <p:spPr>
          <a:xfrm>
            <a:off x="4782312" y="896112"/>
            <a:ext cx="50292" cy="914400"/>
          </a:xfrm>
          <a:prstGeom prst="rect">
            <a:avLst/>
          </a:prstGeom>
          <a:solidFill>
            <a:srgbClr val="2A9D8F"/>
          </a:solidFill>
          <a:ln w="12700">
            <a:solidFill>
              <a:srgbClr val="2A9D8F"/>
            </a:solidFill>
            <a:prstDash val="solid"/>
          </a:ln>
        </p:spPr>
      </p:sp>
      <p:sp>
        <p:nvSpPr>
          <p:cNvPr id="11" name="Text 9"/>
          <p:cNvSpPr/>
          <p:nvPr/>
        </p:nvSpPr>
        <p:spPr>
          <a:xfrm>
            <a:off x="4946904" y="969264"/>
            <a:ext cx="3474720"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Input</a:t>
            </a:r>
            <a:endParaRPr lang="en-US" sz="1400" dirty="0"/>
          </a:p>
        </p:txBody>
      </p:sp>
      <p:sp>
        <p:nvSpPr>
          <p:cNvPr id="12" name="Text 10"/>
          <p:cNvSpPr/>
          <p:nvPr/>
        </p:nvSpPr>
        <p:spPr>
          <a:xfrm>
            <a:off x="4946904" y="1316736"/>
            <a:ext cx="3474720" cy="40233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XYZIとXYZIRを区別し、return番号の符号化を確認する。</a:t>
            </a:r>
            <a:endParaRPr lang="en-US" sz="1250" dirty="0"/>
          </a:p>
        </p:txBody>
      </p:sp>
      <p:sp>
        <p:nvSpPr>
          <p:cNvPr id="13" name="Shape 11"/>
          <p:cNvSpPr/>
          <p:nvPr/>
        </p:nvSpPr>
        <p:spPr>
          <a:xfrm>
            <a:off x="621792" y="2020824"/>
            <a:ext cx="3749040" cy="9144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4" name="Shape 12"/>
          <p:cNvSpPr/>
          <p:nvPr/>
        </p:nvSpPr>
        <p:spPr>
          <a:xfrm>
            <a:off x="621792" y="2020824"/>
            <a:ext cx="50292" cy="914400"/>
          </a:xfrm>
          <a:prstGeom prst="rect">
            <a:avLst/>
          </a:prstGeom>
          <a:solidFill>
            <a:srgbClr val="ED7D31"/>
          </a:solidFill>
          <a:ln w="12700">
            <a:solidFill>
              <a:srgbClr val="ED7D31"/>
            </a:solidFill>
            <a:prstDash val="solid"/>
          </a:ln>
        </p:spPr>
      </p:sp>
      <p:sp>
        <p:nvSpPr>
          <p:cNvPr id="15" name="Text 13"/>
          <p:cNvSpPr/>
          <p:nvPr/>
        </p:nvSpPr>
        <p:spPr>
          <a:xfrm>
            <a:off x="786384" y="2093976"/>
            <a:ext cx="3474720"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Labels</a:t>
            </a:r>
            <a:endParaRPr lang="en-US" sz="1400" dirty="0"/>
          </a:p>
        </p:txBody>
      </p:sp>
      <p:sp>
        <p:nvSpPr>
          <p:cNvPr id="16" name="Text 14"/>
          <p:cNvSpPr/>
          <p:nvPr/>
        </p:nvSpPr>
        <p:spPr>
          <a:xfrm>
            <a:off x="786384" y="2441448"/>
            <a:ext cx="3474720" cy="40233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ID 0はUnlabeled。mIoUの対象classとignore設定を確認する。</a:t>
            </a:r>
            <a:endParaRPr lang="en-US" sz="1250" dirty="0"/>
          </a:p>
        </p:txBody>
      </p:sp>
      <p:sp>
        <p:nvSpPr>
          <p:cNvPr id="17" name="Shape 15"/>
          <p:cNvSpPr/>
          <p:nvPr/>
        </p:nvSpPr>
        <p:spPr>
          <a:xfrm>
            <a:off x="4782312" y="2020824"/>
            <a:ext cx="3749040" cy="9144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18" name="Shape 16"/>
          <p:cNvSpPr/>
          <p:nvPr/>
        </p:nvSpPr>
        <p:spPr>
          <a:xfrm>
            <a:off x="4782312" y="2020824"/>
            <a:ext cx="50292" cy="914400"/>
          </a:xfrm>
          <a:prstGeom prst="rect">
            <a:avLst/>
          </a:prstGeom>
          <a:solidFill>
            <a:srgbClr val="8064A2"/>
          </a:solidFill>
          <a:ln w="12700">
            <a:solidFill>
              <a:srgbClr val="8064A2"/>
            </a:solidFill>
            <a:prstDash val="solid"/>
          </a:ln>
        </p:spPr>
      </p:sp>
      <p:sp>
        <p:nvSpPr>
          <p:cNvPr id="19" name="Text 17"/>
          <p:cNvSpPr/>
          <p:nvPr/>
        </p:nvSpPr>
        <p:spPr>
          <a:xfrm>
            <a:off x="4946904" y="2093976"/>
            <a:ext cx="3474720"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Split</a:t>
            </a:r>
            <a:endParaRPr lang="en-US" sz="1400" dirty="0"/>
          </a:p>
        </p:txBody>
      </p:sp>
      <p:sp>
        <p:nvSpPr>
          <p:cNvPr id="20" name="Text 18"/>
          <p:cNvSpPr/>
          <p:nvPr/>
        </p:nvSpPr>
        <p:spPr>
          <a:xfrm>
            <a:off x="4946904" y="2441448"/>
            <a:ext cx="3474720" cy="40233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RGB train/testとLiDAR sequence/sensorの分割単位を確認する。</a:t>
            </a:r>
            <a:endParaRPr lang="en-US" sz="1250" dirty="0"/>
          </a:p>
        </p:txBody>
      </p:sp>
      <p:sp>
        <p:nvSpPr>
          <p:cNvPr id="21" name="Shape 19"/>
          <p:cNvSpPr/>
          <p:nvPr/>
        </p:nvSpPr>
        <p:spPr>
          <a:xfrm>
            <a:off x="621792" y="3145536"/>
            <a:ext cx="3749040" cy="9144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2" name="Shape 20"/>
          <p:cNvSpPr/>
          <p:nvPr/>
        </p:nvSpPr>
        <p:spPr>
          <a:xfrm>
            <a:off x="621792" y="3145536"/>
            <a:ext cx="50292" cy="914400"/>
          </a:xfrm>
          <a:prstGeom prst="rect">
            <a:avLst/>
          </a:prstGeom>
          <a:solidFill>
            <a:srgbClr val="C94C4C"/>
          </a:solidFill>
          <a:ln w="12700">
            <a:solidFill>
              <a:srgbClr val="C94C4C"/>
            </a:solidFill>
            <a:prstDash val="solid"/>
          </a:ln>
        </p:spPr>
      </p:sp>
      <p:sp>
        <p:nvSpPr>
          <p:cNvPr id="23" name="Text 21"/>
          <p:cNvSpPr/>
          <p:nvPr/>
        </p:nvSpPr>
        <p:spPr>
          <a:xfrm>
            <a:off x="786384" y="3218688"/>
            <a:ext cx="3474720"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Geometry</a:t>
            </a:r>
            <a:endParaRPr lang="en-US" sz="1400" dirty="0"/>
          </a:p>
        </p:txBody>
      </p:sp>
      <p:sp>
        <p:nvSpPr>
          <p:cNvPr id="24" name="Text 22"/>
          <p:cNvSpPr/>
          <p:nvPr/>
        </p:nvSpPr>
        <p:spPr>
          <a:xfrm>
            <a:off x="786384" y="3566160"/>
            <a:ext cx="3474720" cy="40233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mesh・pose・extrinsic・timestamp補正がray labelへ直結する。</a:t>
            </a:r>
            <a:endParaRPr lang="en-US" sz="1250" dirty="0"/>
          </a:p>
        </p:txBody>
      </p:sp>
      <p:sp>
        <p:nvSpPr>
          <p:cNvPr id="25" name="Shape 23"/>
          <p:cNvSpPr/>
          <p:nvPr/>
        </p:nvSpPr>
        <p:spPr>
          <a:xfrm>
            <a:off x="4782312" y="3145536"/>
            <a:ext cx="3749040" cy="914400"/>
          </a:xfrm>
          <a:prstGeom prst="rect">
            <a:avLst/>
          </a:prstGeom>
          <a:solidFill>
            <a:srgbClr val="F5F7FA"/>
          </a:solidFill>
          <a:ln w="12700">
            <a:solidFill>
              <a:srgbClr val="D5DCE3"/>
            </a:solidFill>
            <a:prstDash val="solid"/>
          </a:ln>
          <a:effectLst>
            <a:outerShdw blurRad="25400" dist="50800" dir="2700000" algn="bl" rotWithShape="0">
              <a:srgbClr val="000000">
                <a:alpha val="11000"/>
              </a:srgbClr>
            </a:outerShdw>
          </a:effectLst>
        </p:spPr>
      </p:sp>
      <p:sp>
        <p:nvSpPr>
          <p:cNvPr id="26" name="Shape 24"/>
          <p:cNvSpPr/>
          <p:nvPr/>
        </p:nvSpPr>
        <p:spPr>
          <a:xfrm>
            <a:off x="4782312" y="3145536"/>
            <a:ext cx="50292" cy="914400"/>
          </a:xfrm>
          <a:prstGeom prst="rect">
            <a:avLst/>
          </a:prstGeom>
          <a:solidFill>
            <a:srgbClr val="17365D"/>
          </a:solidFill>
          <a:ln w="12700">
            <a:solidFill>
              <a:srgbClr val="17365D"/>
            </a:solidFill>
            <a:prstDash val="solid"/>
          </a:ln>
        </p:spPr>
      </p:sp>
      <p:sp>
        <p:nvSpPr>
          <p:cNvPr id="27" name="Text 25"/>
          <p:cNvSpPr/>
          <p:nvPr/>
        </p:nvSpPr>
        <p:spPr>
          <a:xfrm>
            <a:off x="4946904" y="3218688"/>
            <a:ext cx="3474720" cy="310896"/>
          </a:xfrm>
          <a:prstGeom prst="rect">
            <a:avLst/>
          </a:prstGeom>
          <a:noFill/>
          <a:ln/>
        </p:spPr>
        <p:txBody>
          <a:bodyPr wrap="square" lIns="0" tIns="0" rIns="0" bIns="0" rtlCol="0" anchor="t">
            <a:normAutofit/>
          </a:bodyPr>
          <a:lstStyle/>
          <a:p>
            <a:pPr marL="0" indent="0">
              <a:buNone/>
            </a:pPr>
            <a:r>
              <a:rPr lang="en-US" sz="1400" b="1" dirty="0">
                <a:solidFill>
                  <a:srgbClr val="17365D"/>
                </a:solidFill>
                <a:latin typeface="Yu Gothic" pitchFamily="34" charset="0"/>
                <a:ea typeface="Yu Gothic" pitchFamily="34" charset="-122"/>
                <a:cs typeface="Yu Gothic" pitchFamily="34" charset="-120"/>
              </a:rPr>
              <a:t>Claims</a:t>
            </a:r>
            <a:endParaRPr lang="en-US" sz="1400" dirty="0"/>
          </a:p>
        </p:txBody>
      </p:sp>
      <p:sp>
        <p:nvSpPr>
          <p:cNvPr id="28" name="Text 26"/>
          <p:cNvSpPr/>
          <p:nvPr/>
        </p:nvSpPr>
        <p:spPr>
          <a:xfrm>
            <a:off x="4946904" y="3566160"/>
            <a:ext cx="3474720" cy="402336"/>
          </a:xfrm>
          <a:prstGeom prst="rect">
            <a:avLst/>
          </a:prstGeom>
          <a:noFill/>
          <a:ln/>
        </p:spPr>
        <p:txBody>
          <a:bodyPr wrap="square" lIns="12700" tIns="0" rIns="0" bIns="25400" rtlCol="0" anchor="t">
            <a:normAutofit/>
          </a:bodyPr>
          <a:lstStyle/>
          <a:p>
            <a:pPr marL="0" indent="0">
              <a:buNone/>
            </a:pPr>
            <a:r>
              <a:rPr lang="en-US" sz="1250" dirty="0">
                <a:solidFill>
                  <a:srgbClr val="4D5966"/>
                </a:solidFill>
                <a:latin typeface="Yu Gothic" pitchFamily="34" charset="0"/>
                <a:ea typeface="Yu Gothic" pitchFamily="34" charset="-122"/>
                <a:cs typeface="Yu Gothic" pitchFamily="34" charset="-120"/>
              </a:rPr>
              <a:t>本文の概括値ではなくTable 5・6の値とmethod名を参照する。</a:t>
            </a:r>
            <a:endParaRPr lang="en-US" sz="1250" dirty="0"/>
          </a:p>
        </p:txBody>
      </p:sp>
      <p:sp>
        <p:nvSpPr>
          <p:cNvPr id="29" name="Shape 27"/>
          <p:cNvSpPr/>
          <p:nvPr/>
        </p:nvSpPr>
        <p:spPr>
          <a:xfrm>
            <a:off x="566928" y="4096512"/>
            <a:ext cx="8010144" cy="347472"/>
          </a:xfrm>
          <a:prstGeom prst="rect">
            <a:avLst/>
          </a:prstGeom>
          <a:solidFill>
            <a:srgbClr val="F8FAFB"/>
          </a:solidFill>
          <a:ln w="12700">
            <a:solidFill>
              <a:srgbClr val="ED7D31"/>
            </a:solidFill>
            <a:prstDash val="solid"/>
          </a:ln>
        </p:spPr>
      </p:sp>
      <p:sp>
        <p:nvSpPr>
          <p:cNvPr id="30" name="Shape 28"/>
          <p:cNvSpPr/>
          <p:nvPr/>
        </p:nvSpPr>
        <p:spPr>
          <a:xfrm>
            <a:off x="566928" y="4096512"/>
            <a:ext cx="64008" cy="347472"/>
          </a:xfrm>
          <a:prstGeom prst="rect">
            <a:avLst/>
          </a:prstGeom>
          <a:solidFill>
            <a:srgbClr val="ED7D31"/>
          </a:solidFill>
          <a:ln w="12700">
            <a:solidFill>
              <a:srgbClr val="ED7D31"/>
            </a:solidFill>
            <a:prstDash val="solid"/>
          </a:ln>
        </p:spPr>
      </p:sp>
      <p:sp>
        <p:nvSpPr>
          <p:cNvPr id="31" name="Text 29"/>
          <p:cNvSpPr/>
          <p:nvPr/>
        </p:nvSpPr>
        <p:spPr>
          <a:xfrm>
            <a:off x="749808" y="4123944"/>
            <a:ext cx="7635240" cy="274320"/>
          </a:xfrm>
          <a:prstGeom prst="rect">
            <a:avLst/>
          </a:prstGeom>
          <a:noFill/>
          <a:ln/>
        </p:spPr>
        <p:txBody>
          <a:bodyPr wrap="square" lIns="0" tIns="0" rIns="0" bIns="0" rtlCol="0" anchor="ctr">
            <a:normAutofit/>
          </a:bodyPr>
          <a:lstStyle/>
          <a:p>
            <a:pPr marL="0" indent="0">
              <a:buNone/>
            </a:pPr>
            <a:r>
              <a:rPr lang="en-US" sz="1450" b="1" dirty="0">
                <a:solidFill>
                  <a:srgbClr val="17365D"/>
                </a:solidFill>
                <a:latin typeface="Yu Gothic" pitchFamily="34" charset="0"/>
                <a:ea typeface="Yu Gothic" pitchFamily="34" charset="-122"/>
                <a:cs typeface="Yu Gothic" pitchFamily="34" charset="-120"/>
              </a:rPr>
              <a:t>再現実験では『同じframeの別sensorがtrain/testを跨いでいないか』も確認すべき。</a:t>
            </a:r>
            <a:endParaRPr lang="en-US" sz="1450" dirty="0"/>
          </a:p>
        </p:txBody>
      </p:sp>
      <p:sp>
        <p:nvSpPr>
          <p:cNvPr id="32" name="Text 30"/>
          <p:cNvSpPr/>
          <p:nvPr/>
        </p:nvSpPr>
        <p:spPr>
          <a:xfrm>
            <a:off x="457200" y="4535424"/>
            <a:ext cx="8229600" cy="128016"/>
          </a:xfrm>
          <a:prstGeom prst="rect">
            <a:avLst/>
          </a:prstGeom>
          <a:noFill/>
          <a:ln/>
        </p:spPr>
        <p:txBody>
          <a:bodyPr wrap="square" lIns="0" tIns="0" rIns="0" bIns="0" rtlCol="0" anchor="ctr">
            <a:normAutofit/>
          </a:bodyPr>
          <a:lstStyle/>
          <a:p>
            <a:pPr marL="0" indent="0">
              <a:buNone/>
            </a:pPr>
            <a:r>
              <a:rPr lang="en-US" sz="850" dirty="0">
                <a:solidFill>
                  <a:srgbClr val="6F7B86"/>
                </a:solidFill>
                <a:latin typeface="Yu Gothic" pitchFamily="34" charset="0"/>
                <a:ea typeface="Yu Gothic" pitchFamily="34" charset="-122"/>
                <a:cs typeface="Yu Gothic" pitchFamily="34" charset="-120"/>
              </a:rPr>
              <a:t>Based on dataset structure and experimental description in Zhao &amp; Schwertfeger (2024)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3656</Words>
  <Application>Microsoft Office PowerPoint</Application>
  <PresentationFormat>画面に合わせる (16:9)</PresentationFormat>
  <Paragraphs>711</Paragraphs>
  <Slides>28</Slides>
  <Notes>28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28</vt:i4>
      </vt:variant>
    </vt:vector>
  </HeadingPairs>
  <TitlesOfParts>
    <vt:vector size="31"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Osaka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3DRef: 3D Dataset and Benchmark for Reflection Detection in RGB and Lidar Data</dc:title>
  <dc:subject>3DRef論文紹介（教授向け詳細版）</dc:subject>
  <dc:creator>大阪大学 修士課程セミナー</dc:creator>
  <cp:lastModifiedBy>樹生 武知</cp:lastModifiedBy>
  <cp:revision>2</cp:revision>
  <dcterms:created xsi:type="dcterms:W3CDTF">2026-07-22T07:03:22Z</dcterms:created>
  <dcterms:modified xsi:type="dcterms:W3CDTF">2026-07-22T07:03:35Z</dcterms:modified>
</cp:coreProperties>
</file>