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84" r:id="rId2"/>
    <p:sldId id="316" r:id="rId3"/>
    <p:sldId id="286" r:id="rId4"/>
    <p:sldId id="290" r:id="rId5"/>
    <p:sldId id="297" r:id="rId6"/>
    <p:sldId id="289" r:id="rId7"/>
    <p:sldId id="298" r:id="rId8"/>
    <p:sldId id="301" r:id="rId9"/>
    <p:sldId id="303" r:id="rId10"/>
    <p:sldId id="287" r:id="rId11"/>
    <p:sldId id="261" r:id="rId12"/>
    <p:sldId id="305" r:id="rId13"/>
    <p:sldId id="263" r:id="rId14"/>
    <p:sldId id="306" r:id="rId15"/>
    <p:sldId id="273" r:id="rId16"/>
    <p:sldId id="276" r:id="rId17"/>
    <p:sldId id="309" r:id="rId18"/>
    <p:sldId id="311" r:id="rId19"/>
    <p:sldId id="310" r:id="rId20"/>
    <p:sldId id="312" r:id="rId21"/>
    <p:sldId id="307" r:id="rId22"/>
    <p:sldId id="308" r:id="rId23"/>
    <p:sldId id="313" r:id="rId24"/>
    <p:sldId id="314" r:id="rId25"/>
    <p:sldId id="315" r:id="rId26"/>
    <p:sldId id="257" r:id="rId27"/>
    <p:sldId id="258" r:id="rId28"/>
    <p:sldId id="259" r:id="rId29"/>
    <p:sldId id="260" r:id="rId30"/>
    <p:sldId id="262" r:id="rId31"/>
    <p:sldId id="264" r:id="rId32"/>
    <p:sldId id="265" r:id="rId33"/>
    <p:sldId id="266" r:id="rId34"/>
    <p:sldId id="267" r:id="rId35"/>
    <p:sldId id="268" r:id="rId36"/>
    <p:sldId id="269" r:id="rId37"/>
    <p:sldId id="270" r:id="rId38"/>
    <p:sldId id="271" r:id="rId39"/>
    <p:sldId id="272" r:id="rId40"/>
    <p:sldId id="274" r:id="rId41"/>
    <p:sldId id="275" r:id="rId42"/>
    <p:sldId id="277" r:id="rId43"/>
    <p:sldId id="278" r:id="rId44"/>
    <p:sldId id="279" r:id="rId45"/>
    <p:sldId id="280" r:id="rId46"/>
    <p:sldId id="281" r:id="rId47"/>
    <p:sldId id="282" r:id="rId48"/>
    <p:sldId id="283" r:id="rId4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04A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188" autoAdjust="0"/>
    <p:restoredTop sz="81212" autoAdjust="0"/>
  </p:normalViewPr>
  <p:slideViewPr>
    <p:cSldViewPr snapToGrid="0" snapToObjects="1">
      <p:cViewPr>
        <p:scale>
          <a:sx n="75" d="100"/>
          <a:sy n="75" d="100"/>
        </p:scale>
        <p:origin x="2004" y="7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Normal</c:v>
                </c:pt>
              </c:strCache>
            </c:strRef>
          </c:tx>
          <c:spPr>
            <a:solidFill>
              <a:srgbClr val="2E75B6"/>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Sheet1!$B$2:$B$7</c:f>
              <c:numCache>
                <c:formatCode>General</c:formatCode>
                <c:ptCount val="6"/>
                <c:pt idx="0">
                  <c:v>84.19</c:v>
                </c:pt>
                <c:pt idx="1">
                  <c:v>76.67</c:v>
                </c:pt>
                <c:pt idx="2">
                  <c:v>52.23</c:v>
                </c:pt>
                <c:pt idx="3">
                  <c:v>87.05</c:v>
                </c:pt>
                <c:pt idx="4">
                  <c:v>76.97</c:v>
                </c:pt>
                <c:pt idx="5">
                  <c:v>55.78</c:v>
                </c:pt>
              </c:numCache>
            </c:numRef>
          </c:val>
          <c:extLst>
            <c:ext xmlns:c16="http://schemas.microsoft.com/office/drawing/2014/chart" uri="{C3380CC4-5D6E-409C-BE32-E72D297353CC}">
              <c16:uniqueId val="{00000000-A0B5-4C2C-864A-E8DA2F6A543F}"/>
            </c:ext>
          </c:extLst>
        </c:ser>
        <c:ser>
          <c:idx val="1"/>
          <c:order val="1"/>
          <c:tx>
            <c:strRef>
              <c:f>Sheet1!$C$1</c:f>
              <c:strCache>
                <c:ptCount val="1"/>
                <c:pt idx="0">
                  <c:v>Reflection</c:v>
                </c:pt>
              </c:strCache>
            </c:strRef>
          </c:tx>
          <c:spPr>
            <a:solidFill>
              <a:srgbClr val="ED7D31"/>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Sheet1!$C$2:$C$7</c:f>
              <c:numCache>
                <c:formatCode>General</c:formatCode>
                <c:ptCount val="6"/>
                <c:pt idx="0">
                  <c:v>9.31</c:v>
                </c:pt>
                <c:pt idx="1">
                  <c:v>10.77</c:v>
                </c:pt>
                <c:pt idx="2">
                  <c:v>29.22</c:v>
                </c:pt>
                <c:pt idx="3">
                  <c:v>1.67</c:v>
                </c:pt>
                <c:pt idx="4">
                  <c:v>3.41</c:v>
                </c:pt>
                <c:pt idx="5">
                  <c:v>14.34</c:v>
                </c:pt>
              </c:numCache>
            </c:numRef>
          </c:val>
          <c:extLst>
            <c:ext xmlns:c16="http://schemas.microsoft.com/office/drawing/2014/chart" uri="{C3380CC4-5D6E-409C-BE32-E72D297353CC}">
              <c16:uniqueId val="{00000001-A0B5-4C2C-864A-E8DA2F6A543F}"/>
            </c:ext>
          </c:extLst>
        </c:ser>
        <c:ser>
          <c:idx val="2"/>
          <c:order val="2"/>
          <c:tx>
            <c:strRef>
              <c:f>Sheet1!$D$1</c:f>
              <c:strCache>
                <c:ptCount val="1"/>
                <c:pt idx="0">
                  <c:v>Obstacle</c:v>
                </c:pt>
              </c:strCache>
            </c:strRef>
          </c:tx>
          <c:spPr>
            <a:solidFill>
              <a:srgbClr val="2A9D8F"/>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Sheet1!$D$2:$D$7</c:f>
              <c:numCache>
                <c:formatCode>General</c:formatCode>
                <c:ptCount val="6"/>
                <c:pt idx="0">
                  <c:v>0.66</c:v>
                </c:pt>
                <c:pt idx="1">
                  <c:v>1.54</c:v>
                </c:pt>
                <c:pt idx="2">
                  <c:v>7.62</c:v>
                </c:pt>
                <c:pt idx="3">
                  <c:v>3.64</c:v>
                </c:pt>
                <c:pt idx="4">
                  <c:v>5.46</c:v>
                </c:pt>
                <c:pt idx="5">
                  <c:v>19.28</c:v>
                </c:pt>
              </c:numCache>
            </c:numRef>
          </c:val>
          <c:extLst>
            <c:ext xmlns:c16="http://schemas.microsoft.com/office/drawing/2014/chart" uri="{C3380CC4-5D6E-409C-BE32-E72D297353CC}">
              <c16:uniqueId val="{00000002-A0B5-4C2C-864A-E8DA2F6A543F}"/>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majorGridlines>
          <c:spPr>
            <a:ln w="12700" cap="flat">
              <a:solidFill>
                <a:srgbClr val="FFFFFF"/>
              </a:solidFill>
              <a:prstDash val="solid"/>
              <a:round/>
            </a:ln>
          </c:spPr>
        </c:majorGridlines>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D5966"/>
                </a:solidFill>
                <a:latin typeface="Yu Gothic"/>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DD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D5966"/>
                </a:solidFill>
                <a:latin typeface="Yu Gothic"/>
              </a:defRPr>
            </a:pPr>
            <a:endParaRPr lang="en-US"/>
          </a:p>
        </c:txPr>
        <c:crossAx val="2094734554"/>
        <c:crosses val="autoZero"/>
        <c:crossBetween val="between"/>
        <c:majorUnit val="20"/>
      </c:valAx>
      <c:spPr>
        <a:solidFill>
          <a:srgbClr val="FFFFFF"/>
        </a:solidFill>
        <a:ln>
          <a:noFill/>
        </a:ln>
        <a:effectLst/>
      </c:spPr>
    </c:plotArea>
    <c:legend>
      <c:legendPos val="b"/>
      <c:overlay val="0"/>
      <c:txPr>
        <a:bodyPr/>
        <a:lstStyle/>
        <a:p>
          <a:pPr>
            <a:defRPr sz="950">
              <a:solidFill>
                <a:srgbClr val="4D5966"/>
              </a:solidFill>
              <a:latin typeface="Yu Gothic"/>
              <a:cs typeface="Yu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ΔmIoU (Yes − No)</c:v>
                </c:pt>
              </c:strCache>
            </c:strRef>
          </c:tx>
          <c:spPr>
            <a:solidFill>
              <a:srgbClr val="2E75B6"/>
            </a:solidFill>
            <a:effectLst/>
          </c:spPr>
          <c:invertIfNegative val="0"/>
          <c:dPt>
            <c:idx val="0"/>
            <c:invertIfNegative val="0"/>
            <c:bubble3D val="0"/>
            <c:extLst>
              <c:ext xmlns:c16="http://schemas.microsoft.com/office/drawing/2014/chart" uri="{C3380CC4-5D6E-409C-BE32-E72D297353CC}">
                <c16:uniqueId val="{00000001-4554-4B87-89D3-D929919955FA}"/>
              </c:ext>
            </c:extLst>
          </c:dPt>
          <c:dPt>
            <c:idx val="1"/>
            <c:invertIfNegative val="0"/>
            <c:bubble3D val="0"/>
            <c:spPr>
              <a:solidFill>
                <a:srgbClr val="ED7D31"/>
              </a:solidFill>
              <a:effectLst/>
            </c:spPr>
            <c:extLst>
              <c:ext xmlns:c16="http://schemas.microsoft.com/office/drawing/2014/chart" uri="{C3380CC4-5D6E-409C-BE32-E72D297353CC}">
                <c16:uniqueId val="{00000003-4554-4B87-89D3-D929919955FA}"/>
              </c:ext>
            </c:extLst>
          </c:dPt>
          <c:dPt>
            <c:idx val="2"/>
            <c:invertIfNegative val="0"/>
            <c:bubble3D val="0"/>
            <c:spPr>
              <a:solidFill>
                <a:srgbClr val="2A9D8F"/>
              </a:solidFill>
              <a:effectLst/>
            </c:spPr>
            <c:extLst>
              <c:ext xmlns:c16="http://schemas.microsoft.com/office/drawing/2014/chart" uri="{C3380CC4-5D6E-409C-BE32-E72D297353CC}">
                <c16:uniqueId val="{00000005-4554-4B87-89D3-D929919955FA}"/>
              </c:ext>
            </c:extLst>
          </c:dPt>
          <c:dLbls>
            <c:numFmt formatCode="0.00" sourceLinked="0"/>
            <c:spPr>
              <a:noFill/>
              <a:ln>
                <a:noFill/>
              </a:ln>
              <a:effectLst/>
            </c:spPr>
            <c:txPr>
              <a:bodyPr/>
              <a:lstStyle/>
              <a:p>
                <a:pPr>
                  <a:defRPr sz="950" b="0" i="0" u="none" strike="noStrike">
                    <a:solidFill>
                      <a:srgbClr val="20242A"/>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MinkowskiNet</c:v>
                </c:pt>
                <c:pt idx="1">
                  <c:v>SPVCNN</c:v>
                </c:pt>
                <c:pt idx="2">
                  <c:v>Cylinder3D</c:v>
                </c:pt>
              </c:strCache>
            </c:strRef>
          </c:cat>
          <c:val>
            <c:numRef>
              <c:f>Sheet1!$B$2:$B$4</c:f>
              <c:numCache>
                <c:formatCode>General</c:formatCode>
                <c:ptCount val="3"/>
                <c:pt idx="0">
                  <c:v>0.56520000000000004</c:v>
                </c:pt>
                <c:pt idx="1">
                  <c:v>0.29509999999999997</c:v>
                </c:pt>
                <c:pt idx="2">
                  <c:v>0.19919999999999999</c:v>
                </c:pt>
              </c:numCache>
            </c:numRef>
          </c:val>
          <c:extLst>
            <c:ext xmlns:c16="http://schemas.microsoft.com/office/drawing/2014/chart" uri="{C3380CC4-5D6E-409C-BE32-E72D297353CC}">
              <c16:uniqueId val="{00000006-4554-4B87-89D3-D929919955F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majorGridlines>
          <c:spPr>
            <a:ln w="12700" cap="flat">
              <a:solidFill>
                <a:srgbClr val="FFFFFF"/>
              </a:solidFill>
              <a:prstDash val="solid"/>
              <a:round/>
            </a:ln>
          </c:spPr>
        </c:majorGridlines>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D5966"/>
                </a:solidFill>
                <a:latin typeface="Yu Gothic"/>
              </a:defRPr>
            </a:pPr>
            <a:endParaRPr lang="en-US"/>
          </a:p>
        </c:txPr>
        <c:crossAx val="2094734552"/>
        <c:crosses val="autoZero"/>
        <c:auto val="1"/>
        <c:lblAlgn val="ctr"/>
        <c:lblOffset val="100"/>
        <c:noMultiLvlLbl val="1"/>
      </c:catAx>
      <c:valAx>
        <c:axId val="2094734552"/>
        <c:scaling>
          <c:orientation val="minMax"/>
          <c:max val="0.7"/>
          <c:min val="0"/>
        </c:scaling>
        <c:delete val="0"/>
        <c:axPos val="l"/>
        <c:majorGridlines>
          <c:spPr>
            <a:ln w="12700" cap="flat">
              <a:solidFill>
                <a:srgbClr val="DD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D5966"/>
                </a:solidFill>
                <a:latin typeface="Yu Gothic"/>
              </a:defRPr>
            </a:pPr>
            <a:endParaRPr lang="en-US"/>
          </a:p>
        </c:txPr>
        <c:crossAx val="2094734554"/>
        <c:crosses val="autoZero"/>
        <c:crossBetween val="between"/>
        <c:majorUnit val="0.1"/>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26312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それでは、情報ネットワーク学セミナー最終発表を始めます。</a:t>
            </a:r>
            <a:br>
              <a:rPr lang="ja-JP" altLang="ja-JP" dirty="0"/>
            </a:br>
            <a:r>
              <a:rPr lang="ja-JP" altLang="ja-JP" dirty="0"/>
              <a:t>本日は、反射検出のための3次元データセットである3DRefについて紹介し、後半では、このデータセットに関連する自身の研究目的と今後の計画について説明します。</a:t>
            </a:r>
            <a:endParaRPr kumimoji="1" lang="ja-JP" altLang="en-US" dirty="0"/>
          </a:p>
        </p:txBody>
      </p:sp>
    </p:spTree>
    <p:extLst>
      <p:ext uri="{BB962C8B-B14F-4D97-AF65-F5344CB8AC3E}">
        <p14:creationId xmlns:p14="http://schemas.microsoft.com/office/powerpoint/2010/main" val="3723936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発表の前半では、対象論文の背景、データ取得方法、ベンチマーク結果を紹介します。</a:t>
            </a:r>
            <a:br>
              <a:rPr lang="ja-JP" altLang="ja-JP" dirty="0"/>
            </a:br>
            <a:r>
              <a:rPr lang="ja-JP" altLang="ja-JP" dirty="0"/>
              <a:t>後半では、論文を踏まえた自身の研究目的と、来年3月までの研究計画を説明します。</a:t>
            </a:r>
            <a:endParaRPr kumimoji="1" lang="ja-JP" altLang="en-US" dirty="0"/>
          </a:p>
        </p:txBody>
      </p:sp>
    </p:spTree>
    <p:extLst>
      <p:ext uri="{BB962C8B-B14F-4D97-AF65-F5344CB8AC3E}">
        <p14:creationId xmlns:p14="http://schemas.microsoft.com/office/powerpoint/2010/main" val="19969778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対象論文は、Zhaoらによる「3DRef: 3D Dataset and Benchmark for Reflection Detection in RGB and Lidar Data」です。</a:t>
            </a:r>
            <a:br>
              <a:rPr lang="ja-JP" altLang="ja-JP" dirty="0"/>
            </a:br>
            <a:r>
              <a:rPr lang="ja-JP" altLang="ja-JP" dirty="0"/>
              <a:t>3次元コンピュータビジョン分野の主要国際会議である3DV 2024に採択されています。</a:t>
            </a:r>
          </a:p>
          <a:p>
            <a:r>
              <a:rPr lang="ja-JP" altLang="ja-JP" dirty="0"/>
              <a:t>鏡やガラスを含む環境では、LiDARやカメラに反射、透過、欠損が生じ、取得された観測が実際の物体表面を正しく表さない場合があります。</a:t>
            </a:r>
            <a:br>
              <a:rPr lang="ja-JP" altLang="ja-JP" dirty="0"/>
            </a:br>
            <a:r>
              <a:rPr lang="ja-JP" altLang="ja-JP" dirty="0"/>
              <a:t>本論文では、このような反射現象を検出するため、RGB画像、マルチリターンLiDAR点群、テクスチャ付き3次元メッシュ、2次元・3次元のセマンティックラベルを含む大規模データセット3DRefを構築しています。</a:t>
            </a:r>
          </a:p>
          <a:p>
            <a:r>
              <a:rPr lang="ja-JP" altLang="ja-JP" dirty="0"/>
              <a:t>また、LiDAR点群とRGB画像を対象とした既存のセグメンテーション手法を評価し、反射検出における基準性能を提示しています。</a:t>
            </a:r>
          </a:p>
          <a:p>
            <a:endParaRPr kumimoji="1" lang="ja-JP" altLang="en-US" dirty="0"/>
          </a:p>
        </p:txBody>
      </p:sp>
    </p:spTree>
    <p:extLst>
      <p:ext uri="{BB962C8B-B14F-4D97-AF65-F5344CB8AC3E}">
        <p14:creationId xmlns:p14="http://schemas.microsoft.com/office/powerpoint/2010/main" val="17129906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対象論文は、Zhaoらによる「3DRef: 3D Dataset and Benchmark for Reflection Detection in RGB and Lidar Data」です。</a:t>
            </a:r>
            <a:br>
              <a:rPr lang="ja-JP" altLang="ja-JP" dirty="0"/>
            </a:br>
            <a:r>
              <a:rPr lang="ja-JP" altLang="ja-JP" dirty="0"/>
              <a:t>3次元コンピュータビジョン分野の主要国際会議である3DV 2024に採択されています。</a:t>
            </a:r>
          </a:p>
          <a:p>
            <a:r>
              <a:rPr lang="ja-JP" altLang="ja-JP" dirty="0"/>
              <a:t>鏡やガラスを含む環境では、LiDARやカメラに反射、透過、欠損が生じ、取得された観測が実際の物体表面を正しく表さない場合があります。</a:t>
            </a:r>
            <a:br>
              <a:rPr lang="ja-JP" altLang="ja-JP" dirty="0"/>
            </a:br>
            <a:r>
              <a:rPr lang="ja-JP" altLang="ja-JP" dirty="0"/>
              <a:t>本論文では、このような反射現象を検出するため、RGB画像、マルチリターンLiDAR点群、テクスチャ付き3次元メッシュ、2次元・3次元のセマンティックラベルを含む大規模データセット3DRefを構築しています。</a:t>
            </a:r>
          </a:p>
          <a:p>
            <a:r>
              <a:rPr lang="ja-JP" altLang="ja-JP" dirty="0"/>
              <a:t>また、LiDAR点群とRGB画像を対象とした既存のセグメンテーション手法を評価し、反射検出における基準性能を提示しています。</a:t>
            </a:r>
          </a:p>
        </p:txBody>
      </p:sp>
    </p:spTree>
    <p:extLst>
      <p:ext uri="{BB962C8B-B14F-4D97-AF65-F5344CB8AC3E}">
        <p14:creationId xmlns:p14="http://schemas.microsoft.com/office/powerpoint/2010/main" val="916651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研究背景です。</a:t>
            </a:r>
            <a:br>
              <a:rPr lang="ja-JP" altLang="ja-JP" dirty="0"/>
            </a:br>
            <a:r>
              <a:rPr lang="ja-JP" altLang="ja-JP" dirty="0"/>
              <a:t>一般的なLiDAR処理では、レーザーパルスが経路上で最初に存在する物体表面から反射し、その表面位置に点を生成すると仮定されています。</a:t>
            </a:r>
          </a:p>
          <a:p>
            <a:r>
              <a:rPr lang="ja-JP" altLang="ja-JP" dirty="0"/>
              <a:t>しかし、鏡やガラスでは、この仮定が成立しません。</a:t>
            </a:r>
            <a:br>
              <a:rPr lang="ja-JP" altLang="ja-JP" dirty="0"/>
            </a:br>
            <a:r>
              <a:rPr lang="ja-JP" altLang="ja-JP" dirty="0"/>
              <a:t>反射面そのものから点が返る場合、ガラスを透過して背後の物体から点が返る場合、鏡面で反射した後に別の物体へ到達する場合、あるいは反射や吸収によって点が得られない場合があります。</a:t>
            </a:r>
          </a:p>
          <a:p>
            <a:r>
              <a:rPr lang="ja-JP" altLang="ja-JP" dirty="0"/>
              <a:t>特に鏡面で二次反射した点は、実際には鏡の手前にある物体を、鏡の奥側に存在する仮想的な点として表します。</a:t>
            </a:r>
            <a:br>
              <a:rPr lang="ja-JP" altLang="ja-JP" dirty="0"/>
            </a:br>
            <a:r>
              <a:rPr lang="ja-JP" altLang="ja-JP" dirty="0"/>
              <a:t>これを通常点として地図へ登録すると、ファントムウォールやゴースト物体が生成され、走行可能領域の誤認、自己位置推定、経路計画の失敗につながります。</a:t>
            </a:r>
          </a:p>
          <a:p>
            <a:r>
              <a:rPr lang="ja-JP" altLang="ja-JP" dirty="0"/>
              <a:t>そこで本論文は、反射環境における認識手法を学習・評価するための、大規模な3次元マルチモーダルデータセットの構築を目的としています。</a:t>
            </a:r>
          </a:p>
        </p:txBody>
      </p:sp>
    </p:spTree>
    <p:extLst>
      <p:ext uri="{BB962C8B-B14F-4D97-AF65-F5344CB8AC3E}">
        <p14:creationId xmlns:p14="http://schemas.microsoft.com/office/powerpoint/2010/main" val="313866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既存研究の問題点は、大きく三つに整理できます。</a:t>
            </a:r>
          </a:p>
          <a:p>
            <a:r>
              <a:rPr lang="ja-JP" altLang="ja-JP" dirty="0"/>
              <a:t>一つ目は、既存の反射データセットの多くが2次元画像中心であることです。</a:t>
            </a:r>
            <a:br>
              <a:rPr lang="ja-JP" altLang="ja-JP" dirty="0"/>
            </a:br>
            <a:r>
              <a:rPr lang="ja-JP" altLang="ja-JP" dirty="0"/>
              <a:t>ガラスや鏡の画像マスクは提供されていますが、反射によって生じたLiDAR点を3次元空間上で識別することはできません。</a:t>
            </a:r>
          </a:p>
          <a:p>
            <a:r>
              <a:rPr lang="ja-JP" altLang="ja-JP" dirty="0"/>
              <a:t>二つ目は、既存のLiDARデータセットに、反射現象を区別するラベルがないことです。</a:t>
            </a:r>
            <a:br>
              <a:rPr lang="ja-JP" altLang="ja-JP" dirty="0"/>
            </a:br>
            <a:r>
              <a:rPr lang="ja-JP" altLang="ja-JP" dirty="0"/>
              <a:t>反射面上の点、仮想位置に生成された反射点、ガラスを透過して得られた実物体点を区別できません。</a:t>
            </a:r>
          </a:p>
          <a:p>
            <a:r>
              <a:rPr lang="ja-JP" altLang="ja-JP" dirty="0"/>
              <a:t>三つ目は、マルチリターン情報が十分に利用されていないことです。</a:t>
            </a:r>
            <a:br>
              <a:rPr lang="ja-JP" altLang="ja-JP" dirty="0"/>
            </a:br>
            <a:r>
              <a:rPr lang="ja-JP" altLang="ja-JP" dirty="0"/>
              <a:t>近年のLiDARは、一つのレーザーパルスから複数のリターンを取得できますが、多くの既存手法は一つのリターンしか利用していません。</a:t>
            </a:r>
          </a:p>
          <a:p>
            <a:r>
              <a:rPr lang="ja-JP" altLang="ja-JP" dirty="0"/>
              <a:t>以上から、RGB画像、マルチリターンLiDAR点群、3次元反射ラベルが位置合わせされたデータセットが必要となります。</a:t>
            </a:r>
          </a:p>
        </p:txBody>
      </p:sp>
    </p:spTree>
    <p:extLst>
      <p:ext uri="{BB962C8B-B14F-4D97-AF65-F5344CB8AC3E}">
        <p14:creationId xmlns:p14="http://schemas.microsoft.com/office/powerpoint/2010/main" val="4130832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次に、データ取得方法を説明します。</a:t>
            </a:r>
          </a:p>
          <a:p>
            <a:r>
              <a:rPr lang="ja-JP" altLang="ja-JP" dirty="0"/>
              <a:t>データ取得には、Ouster OS0-128、Hesai Pandar QT64、Livox Aviaという、特性の異なる3種類のLiDARと、Insta360の魚眼カメラが使用されています。</a:t>
            </a:r>
          </a:p>
          <a:p>
            <a:r>
              <a:rPr lang="ja-JP" altLang="ja-JP" dirty="0"/>
              <a:t>Ousterは最強リターンと第2最強リターン、Hesaiは第1リターンと最終リターン、Livoxは第1から第3までのリターンを取得します。</a:t>
            </a:r>
            <a:br>
              <a:rPr lang="ja-JP" altLang="ja-JP" dirty="0"/>
            </a:br>
            <a:r>
              <a:rPr lang="ja-JP" altLang="ja-JP" dirty="0"/>
              <a:t>このように、センサごとにリターンの選択方式が異なるため、反射現象に対するセンサ特性の違いを比較できます。</a:t>
            </a:r>
          </a:p>
          <a:p>
            <a:r>
              <a:rPr lang="ja-JP" altLang="ja-JP" dirty="0"/>
              <a:t>また、3台のLiDARはPTPによって時刻同期され、センサ間の時刻差は1ミリ秒以内に制御されています。</a:t>
            </a:r>
            <a:br>
              <a:rPr lang="ja-JP" altLang="ja-JP" dirty="0"/>
            </a:br>
            <a:r>
              <a:rPr lang="ja-JP" altLang="ja-JP" dirty="0"/>
              <a:t>その後、キャリブレーションとMA-LIOによる補正を行い、各センサの点群を共通のグローバル座標系へ位置合わせしています。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データは、反射材料、観測方向、入射角が異なる三つの屋内環境で取得されています。</a:t>
            </a:r>
          </a:p>
          <a:p>
            <a:r>
              <a:rPr lang="ja-JP" altLang="ja-JP" dirty="0"/>
              <a:t>シーケンス1は、壁掛け鏡や床から天井までの窓がある廊下です。鏡には反対側の壁や天井が映り込みます。</a:t>
            </a:r>
          </a:p>
          <a:p>
            <a:r>
              <a:rPr lang="ja-JP" altLang="ja-JP" dirty="0"/>
              <a:t>シーケンス2は、全面がガラスで囲まれた会議室、ガラスドア、ガラス手すりなどを含むオフィス環境です。</a:t>
            </a:r>
          </a:p>
          <a:p>
            <a:r>
              <a:rPr lang="ja-JP" altLang="ja-JP" dirty="0"/>
              <a:t>シーケンス3は、大型窓、ガラス手すり、テレビ、ホワイトボード、ポスター、施釉タイルなど、多様な反射物体を含むフロアです。</a:t>
            </a:r>
          </a:p>
          <a:p>
            <a:r>
              <a:rPr lang="ja-JP" altLang="ja-JP" dirty="0"/>
              <a:t>これらの環境を異なる角度と距離から複数回計測し、合計4万8,024フレームのラベル付きLiDAR点群と、3,799枚のラベル付きRGB画像を収集しています。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続いて、LiDAR点群のベンチマーク結果です。</a:t>
            </a:r>
          </a:p>
          <a:p>
            <a:r>
              <a:rPr lang="ja-JP" altLang="ja-JP" dirty="0"/>
              <a:t>評価には、MinkowskiNet、SPVCNN、Cylinder3Dの三つの点群セグメンテーション手法が使用されています。</a:t>
            </a:r>
            <a:br>
              <a:rPr lang="ja-JP" altLang="ja-JP" dirty="0"/>
            </a:br>
            <a:r>
              <a:rPr lang="ja-JP" altLang="ja-JP" dirty="0"/>
              <a:t>各手法について、位置と反射強度を使用するXYZI入力と、リターン番号を追加したXYZIR入力が比較されています。</a:t>
            </a:r>
          </a:p>
          <a:p>
            <a:r>
              <a:rPr lang="ja-JP" altLang="ja-JP" dirty="0"/>
              <a:t>全体として最も高い性能を示したのはCylinder3Dで、リターン情報を使用した場合のmIoUは83.92でした。</a:t>
            </a:r>
            <a:br>
              <a:rPr lang="ja-JP" altLang="ja-JP" dirty="0"/>
            </a:br>
            <a:r>
              <a:rPr lang="ja-JP" altLang="ja-JP" dirty="0"/>
              <a:t>Normalクラスはすべての手法で96以上と高い一方、Glassクラスは約70であり、ガラス面の識別が相対的に難しいことが分かります。</a:t>
            </a:r>
          </a:p>
          <a:p>
            <a:r>
              <a:rPr lang="ja-JP" altLang="ja-JP" dirty="0"/>
              <a:t>リターン情報を追加すると、三つの手法すべてで全体のmIoUが向上しています。</a:t>
            </a:r>
            <a:br>
              <a:rPr lang="ja-JP" altLang="ja-JP" dirty="0"/>
            </a:br>
            <a:r>
              <a:rPr lang="ja-JP" altLang="ja-JP" dirty="0"/>
              <a:t>ただし、改善量は約0.2から0.6ポイントであり、全体としては小幅です。</a:t>
            </a:r>
          </a:p>
          <a:p>
            <a:r>
              <a:rPr lang="ja-JP" altLang="ja-JP" dirty="0"/>
              <a:t>また、クラスごとに見ると、Reflectionクラスでは三つの手法すべてで改善しますが、Mirrorなど一部のクラスでは性能が低下しています。</a:t>
            </a:r>
            <a:br>
              <a:rPr lang="ja-JP" altLang="ja-JP" dirty="0"/>
            </a:br>
            <a:r>
              <a:rPr lang="ja-JP" altLang="ja-JP" dirty="0"/>
              <a:t>したがって、リターン番号は反射点検出に有効な補助特徴ではありますが、単独で反射現象を決定できる情報ではないと解釈できます。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次に、RGB画像を用いたベンチマーク結果です。</a:t>
            </a:r>
          </a:p>
          <a:p>
            <a:r>
              <a:rPr lang="ja-JP" altLang="ja-JP" dirty="0"/>
              <a:t>GlassSemNetとEBLNetは主にガラス検出、HetNetとSATNetは主に鏡検出を対象としています。</a:t>
            </a:r>
          </a:p>
          <a:p>
            <a:r>
              <a:rPr lang="ja-JP" altLang="ja-JP" dirty="0"/>
              <a:t>既存データセットで学習したモデルを3DRefへ直接適用すると、性能が大幅に低下しています。</a:t>
            </a:r>
            <a:br>
              <a:rPr lang="ja-JP" altLang="ja-JP" dirty="0"/>
            </a:br>
            <a:r>
              <a:rPr lang="ja-JP" altLang="ja-JP" dirty="0"/>
              <a:t>例えばGlassSemNetは、元のデータセットでは90.80ですが、3DRefのガラス画像では53.69まで低下しています。</a:t>
            </a:r>
            <a:br>
              <a:rPr lang="ja-JP" altLang="ja-JP" dirty="0"/>
            </a:br>
            <a:r>
              <a:rPr lang="ja-JP" altLang="ja-JP" dirty="0"/>
              <a:t>SATNetも78.42から49.46まで低下しています。</a:t>
            </a:r>
          </a:p>
          <a:p>
            <a:r>
              <a:rPr lang="ja-JP" altLang="ja-JP" dirty="0"/>
              <a:t>これは、撮影環境、カメラ、照明、反射材料、マスク生成方法などの違いによるドメインギャップを示しています。</a:t>
            </a:r>
          </a:p>
          <a:p>
            <a:r>
              <a:rPr lang="ja-JP" altLang="ja-JP" dirty="0"/>
              <a:t>一方、3DRefで再学習すると、SATNetの鏡検出は82.47、EBLNetのガラス検出は86.71まで向上します。</a:t>
            </a:r>
            <a:br>
              <a:rPr lang="ja-JP" altLang="ja-JP" dirty="0"/>
            </a:br>
            <a:r>
              <a:rPr lang="ja-JP" altLang="ja-JP" dirty="0"/>
              <a:t>また、すべての反射面をまとめた3DRef-Allでは、表上、EBLNetが87.60を示しています。</a:t>
            </a:r>
          </a:p>
          <a:p>
            <a:r>
              <a:rPr lang="ja-JP" altLang="ja-JP" dirty="0"/>
              <a:t>この結果から、対象環境に対応した反射データで再学習することの重要性が確認できます。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ここまでの論文内容をまとめます。</a:t>
            </a:r>
          </a:p>
          <a:p>
            <a:r>
              <a:rPr lang="ja-JP" altLang="ja-JP" dirty="0"/>
              <a:t>本論文の主な成果は、RGB画像、マルチリターンLiDAR点群、2次元・3次元ラベルを含む大規模データセット3DRefを構築したことです。</a:t>
            </a:r>
          </a:p>
          <a:p>
            <a:r>
              <a:rPr lang="ja-JP" altLang="ja-JP" dirty="0"/>
              <a:t>また、テクスチャ付き3次元メッシュをグラウンドトゥルースとして使用し、レイキャスティングによって点群ラベルを生成しています。</a:t>
            </a:r>
            <a:br>
              <a:rPr lang="ja-JP" altLang="ja-JP" dirty="0"/>
            </a:br>
            <a:r>
              <a:rPr lang="ja-JP" altLang="ja-JP" dirty="0"/>
              <a:t>これにより、ガラス、鏡、その他の反射物体だけでなく、実在しないReflection点と、実在するガラス背後の障害物を区別しています。</a:t>
            </a:r>
          </a:p>
          <a:p>
            <a:r>
              <a:rPr lang="ja-JP" altLang="ja-JP" dirty="0"/>
              <a:t>ベンチマークでは、LiDARとRGBの既存手法を比較し、マルチリターン情報の有効性、センサ間の性能差、既存画像モデルのドメインギャップを示しました。</a:t>
            </a:r>
          </a:p>
          <a:p>
            <a:r>
              <a:rPr lang="ja-JP" altLang="ja-JP" dirty="0"/>
              <a:t>著者らは今後の研究課題として、センサ・反射材料・環境の多様化、LiDARとRGBの融合、深度や偏光情報の利用、自己教師あり・半教師あり学習への拡張を挙げています。</a:t>
            </a:r>
          </a:p>
          <a:p>
            <a:r>
              <a:rPr lang="ja-JP" altLang="ja-JP" dirty="0"/>
              <a:t>以上から、3DRefは新しい検出モデルを提案する研究というより、反射検出を学習・比較するためのデータおよび評価基盤を構築した研究と位置付けられます。</a:t>
            </a:r>
          </a:p>
          <a:p>
            <a:endParaRPr kumimoji="1" lang="ja-JP" altLang="en-US" dirty="0"/>
          </a:p>
        </p:txBody>
      </p:sp>
    </p:spTree>
    <p:extLst>
      <p:ext uri="{BB962C8B-B14F-4D97-AF65-F5344CB8AC3E}">
        <p14:creationId xmlns:p14="http://schemas.microsoft.com/office/powerpoint/2010/main" val="38728506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mc:AlternateContent xmlns:mc="http://schemas.openxmlformats.org/markup-compatibility/2006">
        <mc:Choice xmlns:a14="http://schemas.microsoft.com/office/drawing/2010/main" Requires="a14">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14:m>
                  <m:oMath xmlns:m="http://schemas.openxmlformats.org/officeDocument/2006/math">
                    <m:r>
                      <a:rPr kumimoji="1" lang="ja-JP" altLang="en-US" sz="1200" i="1" kern="1200">
                        <a:solidFill>
                          <a:schemeClr val="tx1"/>
                        </a:solidFill>
                        <a:latin typeface="+mn-lt"/>
                        <a:ea typeface="+mn-ea"/>
                        <a:cs typeface="+mn-cs"/>
                      </a:rPr>
                      <m:t>𝑡</m:t>
                    </m:r>
                  </m:oMath>
                </a14:m>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Choice>
        <mc:Fallback>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r>
                  <a:rPr kumimoji="1" lang="ja-JP" altLang="en-US" sz="1200" i="0" kern="1200">
                    <a:solidFill>
                      <a:schemeClr val="tx1"/>
                    </a:solidFill>
                    <a:latin typeface="+mn-lt"/>
                    <a:ea typeface="+mn-ea"/>
                    <a:cs typeface="+mn-cs"/>
                  </a:rPr>
                  <a:t>𝑡</a:t>
                </a:r>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Fallback>
      </mc:AlternateContent>
    </p:spTree>
    <p:extLst>
      <p:ext uri="{BB962C8B-B14F-4D97-AF65-F5344CB8AC3E}">
        <p14:creationId xmlns:p14="http://schemas.microsoft.com/office/powerpoint/2010/main" val="1945771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mc:AlternateContent xmlns:mc="http://schemas.openxmlformats.org/markup-compatibility/2006">
        <mc:Choice xmlns:a14="http://schemas.microsoft.com/office/drawing/2010/main" Requires="a14">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14:m>
                  <m:oMath xmlns:m="http://schemas.openxmlformats.org/officeDocument/2006/math">
                    <m:r>
                      <a:rPr kumimoji="1" lang="ja-JP" altLang="en-US" sz="1200" i="1" kern="1200">
                        <a:solidFill>
                          <a:schemeClr val="tx1"/>
                        </a:solidFill>
                        <a:latin typeface="+mn-lt"/>
                        <a:ea typeface="+mn-ea"/>
                        <a:cs typeface="+mn-cs"/>
                      </a:rPr>
                      <m:t>𝑡</m:t>
                    </m:r>
                  </m:oMath>
                </a14:m>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Choice>
        <mc:Fallback>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r>
                  <a:rPr kumimoji="1" lang="ja-JP" altLang="en-US" sz="1200" i="0" kern="1200">
                    <a:solidFill>
                      <a:schemeClr val="tx1"/>
                    </a:solidFill>
                    <a:latin typeface="+mn-lt"/>
                    <a:ea typeface="+mn-ea"/>
                    <a:cs typeface="+mn-cs"/>
                  </a:rPr>
                  <a:t>𝑡</a:t>
                </a:r>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Fallback>
      </mc:AlternateContent>
    </p:spTree>
    <p:extLst>
      <p:ext uri="{BB962C8B-B14F-4D97-AF65-F5344CB8AC3E}">
        <p14:creationId xmlns:p14="http://schemas.microsoft.com/office/powerpoint/2010/main" val="29578676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最後に、来年3月までの研究計画です。</a:t>
            </a:r>
          </a:p>
          <a:p>
            <a:r>
              <a:rPr lang="ja-JP" altLang="ja-JP" dirty="0"/>
              <a:t>8月には、Cylinder3Dなどを用いて、3DRefのLiDAR点群セグメンテーション結果を再現します。</a:t>
            </a:r>
            <a:br>
              <a:rPr lang="ja-JP" altLang="ja-JP" dirty="0"/>
            </a:br>
            <a:r>
              <a:rPr lang="ja-JP" altLang="ja-JP" dirty="0"/>
              <a:t>まずは論文と同様の条件で、XYZI入力とXYZIR入力を比較し、Reflectionクラスの検出性能を確認します。</a:t>
            </a:r>
          </a:p>
          <a:p>
            <a:r>
              <a:rPr lang="ja-JP" altLang="ja-JP" dirty="0"/>
              <a:t>9月には、LiDAR単独の反射確率推定モデルを改善します。</a:t>
            </a:r>
            <a:br>
              <a:rPr lang="ja-JP" altLang="ja-JP" dirty="0"/>
            </a:br>
            <a:r>
              <a:rPr lang="ja-JP" altLang="ja-JP" dirty="0"/>
              <a:t>クラス不均衡への対応と確率校正を行い、単なるクラス分類精度だけでなく、出力された確率が実際の正解率と対応しているかを評価します。</a:t>
            </a:r>
          </a:p>
          <a:p>
            <a:r>
              <a:rPr lang="ja-JP" altLang="ja-JP" dirty="0"/>
              <a:t>10月には、物理占有確率とゴースト確率を分離して保持するボクセル地図を実装します。</a:t>
            </a:r>
          </a:p>
          <a:p>
            <a:r>
              <a:rPr lang="ja-JP" altLang="ja-JP" dirty="0"/>
              <a:t>11月には、Livox Aviaを用いて独自の鏡面環境データを取得します。鏡、人物、通常物体の位置や角度を変え、ゴースト点の発生条件を計測します。</a:t>
            </a:r>
          </a:p>
          <a:p>
            <a:r>
              <a:rPr lang="ja-JP" altLang="ja-JP" dirty="0"/>
              <a:t>12月には初期成果を国内学会で発表し、得られた指摘を手法と評価設計へ反映します。</a:t>
            </a:r>
          </a:p>
          <a:p>
            <a:r>
              <a:rPr lang="ja-JP" altLang="ja-JP" dirty="0"/>
              <a:t>1月には、LiDARのみの場合とLiDAR・カメラ融合の場合について、本評価とアブレーション実験を行います。</a:t>
            </a:r>
          </a:p>
          <a:p>
            <a:r>
              <a:rPr lang="ja-JP" altLang="ja-JP" dirty="0"/>
              <a:t>2月には追加実験、エラー分析、図表や動画の作成、論文の推敲を進めます。</a:t>
            </a:r>
          </a:p>
          <a:p>
            <a:r>
              <a:rPr lang="ja-JP" altLang="ja-JP" dirty="0"/>
              <a:t>3月には投稿版を完成させ、コード、実験条件、再現手順を整理します。現時点では、国内学会で中間成果を発表した後、IROS 2027への投稿を目標としています。</a:t>
            </a:r>
          </a:p>
          <a:p>
            <a:endParaRPr kumimoji="1" lang="ja-JP" altLang="en-US" dirty="0"/>
          </a:p>
        </p:txBody>
      </p:sp>
    </p:spTree>
    <p:extLst>
      <p:ext uri="{BB962C8B-B14F-4D97-AF65-F5344CB8AC3E}">
        <p14:creationId xmlns:p14="http://schemas.microsoft.com/office/powerpoint/2010/main" val="5969665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常のLiDAR処理は、レーザが最初に当たった実表面から戻ることを暗黙に仮定します。,反射・透明材料では、表面点、透過後の障害物、虚像点、欠測のいずれも起こり得ます。,したがって『反射材の領域』だけでなく、点が実物か虚像か、透明材の背後かまで区別する必要があります。,この誤観測は地図上のphantom wallや穴となり、自己位置推定と経路計画を同時に損ないます。</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論文の主貢献は新しい検出ネットワークではなく、データ・注釈・評価基盤です。,第一に、3種類のLiDARとRGBを時刻・座標系で整列した大規模屋内データを提供します。,第二に、3D meshを共通の正解源として点群と画像のラベルを生成します。,第三に、既存のLiDAR/RGB手法をベンチマークし、multi-return情報が有効かを数値で検証します。</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1では、従来データの多くがRGBまたはRGB-Dのglass/mirror segmentationです。,3DRefの48,024と3,799はそれぞれ点群とRGB画像で、単純に同一モダリティの標本数として比較しない点に注意します。,本論文の新規性は、材料カテゴリに加えて、虚像点と透明材背後の実障害物を3Dで区別することです。</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multi-return LiDARは、1本の発射に対して複数のechoを記録できます。,透明面や多重反射では、早いreturnと遅いreturnが異なる物理経路に対応する可能性があります。,論文は、return番号を5番目の入力特徴として加える実験を行います。,ただしセンサごとにreturn selectionが異なるため、改善量とセンサ依存性を分けて読む必要があります。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3Dラベル生成では、LiDAR原点からmeshへrayを飛ばすため、姿勢誤差は直接ラベル誤差になります。,初期外部校正は、3台のLiDAR点群をFARO ground-truth fieldへregistrationして求めます。,MA-LIOは連続時間B-spline軌跡を用い、動き歪みを補正すると同時に、時変extrinsicと残留時刻ずれをオンライン推定します。,つまり、本データセットの品質は幾何再構成とセンサ整列の二段階に支えられています。</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注釈の起点は、Polar scannerから生成したtexture付き3D meshです。,ガラスや鏡によってmeshに穴や誤形状が生じるため、著者はmeshを手作業でcleaningし、欠損を修正します。,さらにtexture上でglass、mirror、other reflectiveを色分けします。,これにより、点群と画像の各フレームを独立に塗るのではなく、一貫した3D scene modelからラベルを投影できます。</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各点について、LiDARの観測姿勢をmesh座標系へ変換し、センサ原点から観測点方向へrayを飛ばします。,rayが最初に交差したmesh面の色・種類を参照してラベルを割り当てます。,この処理はOpen3D ray castingで自動化されています。,境界付近ではpose・mesh・calibrationの誤差がラベルに影響するため、完全な自動正解ではない点には注意が必要です。</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RGBでは、各カメラ姿勢と内部パラメータを用いて、色付きmeshを画像平面へrenderします。,render結果からglass、mirror、other reflective、および全反射材のmaskを抽出します。,360度魚眼画像は、既存のpinhole前提ネットワークへ入力するためundistortされます。,LiDARとRGBが同じmeshを正解源とすることが、将来のsensor fusionにとって重要です。</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配布ラベルは0から6までの7 IDです。,0はmesh外などのUnlabeledで、通常は評価対象から外します。したがって意味クラスはNormalを含む6クラスです。,重要なのは、材料クラス2〜4と、点の生成現象を表す5〜6を区別していることです。,Reflection pointは虚像点、Obstacle behind glassは実在する背後物体という幾何学的に異なる意味を持ちます。</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各LiDARについて16,008 frame、合計48,024点群です。RGBは3,799画像です。,3台は同じ軌跡を同時観測するため、48,024を独立な環境数として解釈してはいけません。,SemanticKITTI互換形式では、XYZIの4チャネルとreturn番号を追加したXYZIRの5チャネルを提供します。,rawデータ、mesh、calibration、ray tracingと評価scriptも公開対象です。</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3の代表値を可視化しています。Normalが多数派ですが、LivoxではReflectionとObstacleの比率が大きくなります。,Sequence 1のLivoxはReflection 29.22%、Sequence 3ではObstacle behind glassが19.28%です。,同じ環境でもreturn selectionやsampling patternによりラベル分布が変わります。,したがって、センサ別成績は単純なハードウェア性能だけでなく、入力分布の差も含みます。</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4は各クラスの点が何番目のreturnで観測されたかを示します。,Normal、Glass、Mirror、Other reflectiveは98.7%以上がfirst returnです。,一方、Reflectionは22.84%、Obstacleは37.81%がsecondまたはthird returnです。,ただしReflectionの77.16%、Obstacleの62.20%はfirst returnなので、return番号は決定規則ではなく補助特徴です。</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入射角はmesh法線とLiDAR beam方向から計算します。図は各角度bin内のclass構成を100%に正規化したものです。,Normalはgrazing方向まで増加した後、極端な角度で減少します。,GlassとMirrorの直接returnは比較的小さい角度で多く、角度が大きくなると減少します。,この結果は、単一視点だけでは材料特性と角度効果を分離しにくいことを示します。</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LiDARではPCSeg codebase上の3つのsemantic segmentation手法を使用します。,return番号なしのXYZIと、return番号を加えたXYZIRを比較します。,RGBではglass用とmirror用の既存モデルを、pretrainedのまま評価し、一部を3DRefで再学習します。,論文はRGB-LiDAR fusionを将来課題とし、現在のベンチマークは単一モダリティです。</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return有無のmIoU差は、MinkowskiNetで+0.5652、SPVCNNで+0.2951、Cylinder3Dで+0.1992 pointです。,3手法の単純平均は+0.3532 pointです。本文の『across methodsで0.5%改善』は丸めまたは概括的表現と考えられます。,クラス別にはMinkowskiNetのMirrorが約2.13 point低下するなど、効果は非一様です。,したがって、return番号の情報量は確認できるものの、強い決定的改善とは言えません。</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Cylinder3D＋returnをsensor別に見ると、Ouster 79.71、Hesai 84.98、Livox 85.96です。,OusterはGlassとMirrorが低く、Hesaiは両クラスが高い一方、Obstacleは低めです。,Livoxはlate return比率が高く、Obstacle IoUも86.59です。,ただし点密度、FoV、return rule、class分布が同時に変わるため、センサの因果的比較ではありません。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ここでは批判ではなく、証拠の読み分けを行います。,return改善量について、本文の0.5%とTable 5からの単純平均0.353 pointは一致しません。,RGBについて、87.60は表ではEBLNetのAllですが、本文はSATNetと記述しています。手法名の誤記の可能性があります。,したがって発表では、具体値は表を一次情報として提示し、本文表現は別に紹介します。</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論文の明示的な将来課題は、センサ・材質・環境の拡張、multimodal fusion、depth/polarization、self/semi-supervised learningです。,追加で、3 sequenceの屋内データから未知環境への汎化をどこまで主張できるかは限定的です。,mesh修正とray castingは高効率ですが、正解がpose・calibration・mesh品質に依存します。,最終的には、segmentation精度だけでなく、SLAMやnavigationの安全性改善へつながるかを評価する必要があります。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主論文と、発表で名前を挙げた代表的なRGBおよびpoint-cloud segmentation関連文献です。,データとコードは3dref.github.ioで公開されています。,質疑では、Table 1に掲載された全関連データセットとTable 5・6の元論文を必要に応じて参照します。</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第一の結論は、3D meshを共通正解源にした注釈設計がデータセットの核だという点です。,第二に、late returnは反射現象へ選択的ですが、return番号追加のmIoU改善は限定的で、補助特徴と理解すべきです。,第三に、既存RGBモデルは3DRefへ直接汎化せず、データセット固有の再学習が重要です。,本研究を次へ進めるには、検出精度がSLAMとnavigationの失敗を実際にどれだけ減らすかを測る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3の主要列を付録として一覧化しています。,Ousterのsecond returnは全sequenceで0.4%未満、Livoxはsecond/thirdが最大16.5%程度です。,MirrorはSequence 3には含まれません。,クラス分布とreturn分布がsensor・sequenceの両方で変化することを確認できます。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5のreturn有無からclass-wise差分を計算したものです。,Reflectionは3手法で正ですが、Glass、Mirror、Other、Obstacleは手法により正負が変わります。,MinkowskiNetではMirrorが2.134 point低下する一方、Obstacleは2.452 point改善します。,return featureを加える際は、全体mIoUだけでなくclass-wise trade-offを確認すべきです。</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再現性確認で特に重要な点を整理しています。,同時刻の3センサ点群は相関が高いため、分割単位によっては情報漏洩に近い状況が起こり得ます。論文と公開scriptのsplit定義を確認すべきです。,Unlabeledのignore設定、return番号の符号化、mesh・poseの座標系も結果に直結します。,また、本文と表で不一致がある箇所はTable 5・6の値を基準に記録します。</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86FAB2-D928-E5D2-6F2E-F655AF93D417}"/>
              </a:ext>
            </a:extLst>
          </p:cNvPr>
          <p:cNvSpPr>
            <a:spLocks noGrp="1"/>
          </p:cNvSpPr>
          <p:nvPr>
            <p:ph type="ctrTitle"/>
          </p:nvPr>
        </p:nvSpPr>
        <p:spPr>
          <a:xfrm>
            <a:off x="1143000" y="841772"/>
            <a:ext cx="6858000" cy="17907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AF277CBA-A55B-8D72-48EA-553083C81699}"/>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0C22C3-6459-A754-D7AA-9C5B617E6186}"/>
              </a:ext>
            </a:extLst>
          </p:cNvPr>
          <p:cNvSpPr>
            <a:spLocks noGrp="1"/>
          </p:cNvSpPr>
          <p:nvPr>
            <p:ph type="dt" sz="half" idx="10"/>
          </p:nvPr>
        </p:nvSpPr>
        <p:spPr/>
        <p:txBody>
          <a:bodyPr/>
          <a:lstStyle/>
          <a:p>
            <a:fld id="{C9F0A916-9CB0-42F9-8A50-C8E007D24565}" type="datetime1">
              <a:rPr kumimoji="1" lang="ja-JP" altLang="en-US" smtClean="0"/>
              <a:t>2026/7/23</a:t>
            </a:fld>
            <a:endParaRPr kumimoji="1" lang="ja-JP" altLang="en-US"/>
          </a:p>
        </p:txBody>
      </p:sp>
      <p:sp>
        <p:nvSpPr>
          <p:cNvPr id="5" name="フッター プレースホルダー 4">
            <a:extLst>
              <a:ext uri="{FF2B5EF4-FFF2-40B4-BE49-F238E27FC236}">
                <a16:creationId xmlns:a16="http://schemas.microsoft.com/office/drawing/2014/main" id="{E45446C9-EC04-A5C1-D700-6C59BDDDF7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276B46-DB5E-9FB9-1983-2A97D5A6701E}"/>
              </a:ext>
            </a:extLst>
          </p:cNvPr>
          <p:cNvSpPr>
            <a:spLocks noGrp="1"/>
          </p:cNvSpPr>
          <p:nvPr>
            <p:ph type="sldNum" sz="quarter" idx="12"/>
          </p:nvPr>
        </p:nvSpPr>
        <p:spPr/>
        <p:txBody>
          <a:bodyPr/>
          <a:lstStyle/>
          <a:p>
            <a:fld id="{E28785FB-366A-49F3-B842-F6DCBAD5BBAB}" type="slidenum">
              <a:rPr kumimoji="1" lang="ja-JP" altLang="en-US" smtClean="0"/>
              <a:t>‹#›</a:t>
            </a:fld>
            <a:endParaRPr kumimoji="1" lang="ja-JP" altLang="en-US"/>
          </a:p>
        </p:txBody>
      </p:sp>
    </p:spTree>
    <p:extLst>
      <p:ext uri="{BB962C8B-B14F-4D97-AF65-F5344CB8AC3E}">
        <p14:creationId xmlns:p14="http://schemas.microsoft.com/office/powerpoint/2010/main" val="3506499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305A21-1F5B-9250-C5B2-E26EEA38CE4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BB46FE3-0D48-81DC-ADEB-FFED1DBE2381}"/>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497C46F-C64B-D250-EE3A-B90A2848386B}"/>
              </a:ext>
            </a:extLst>
          </p:cNvPr>
          <p:cNvSpPr>
            <a:spLocks noGrp="1"/>
          </p:cNvSpPr>
          <p:nvPr>
            <p:ph type="dt" sz="half" idx="10"/>
          </p:nvPr>
        </p:nvSpPr>
        <p:spPr/>
        <p:txBody>
          <a:bodyPr/>
          <a:lstStyle/>
          <a:p>
            <a:fld id="{916944C2-D5C6-49D9-AF07-C0848A97DCCD}" type="datetime1">
              <a:rPr kumimoji="1" lang="ja-JP" altLang="en-US" smtClean="0"/>
              <a:t>2026/7/23</a:t>
            </a:fld>
            <a:endParaRPr kumimoji="1" lang="ja-JP" altLang="en-US"/>
          </a:p>
        </p:txBody>
      </p:sp>
      <p:sp>
        <p:nvSpPr>
          <p:cNvPr id="5" name="フッター プレースホルダー 4">
            <a:extLst>
              <a:ext uri="{FF2B5EF4-FFF2-40B4-BE49-F238E27FC236}">
                <a16:creationId xmlns:a16="http://schemas.microsoft.com/office/drawing/2014/main" id="{D4A2AB55-D9EA-BD3E-CE63-2F8807CFABF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06E237B-98FD-C5F6-35CC-080AA92590BF}"/>
              </a:ext>
            </a:extLst>
          </p:cNvPr>
          <p:cNvSpPr>
            <a:spLocks noGrp="1"/>
          </p:cNvSpPr>
          <p:nvPr>
            <p:ph type="sldNum" sz="quarter" idx="12"/>
          </p:nvPr>
        </p:nvSpPr>
        <p:spPr/>
        <p:txBody>
          <a:bodyPr/>
          <a:lstStyle/>
          <a:p>
            <a:fld id="{AEA74714-EFF8-4255-A09A-B157B324D722}" type="slidenum">
              <a:rPr kumimoji="1" lang="ja-JP" altLang="en-US" smtClean="0"/>
              <a:t>‹#›</a:t>
            </a:fld>
            <a:endParaRPr kumimoji="1" lang="ja-JP" altLang="en-US"/>
          </a:p>
        </p:txBody>
      </p:sp>
    </p:spTree>
    <p:extLst>
      <p:ext uri="{BB962C8B-B14F-4D97-AF65-F5344CB8AC3E}">
        <p14:creationId xmlns:p14="http://schemas.microsoft.com/office/powerpoint/2010/main" val="5206581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D47DE2AC-4235-DEC3-5ECA-80AA60A10549}"/>
              </a:ext>
            </a:extLst>
          </p:cNvPr>
          <p:cNvSpPr/>
          <p:nvPr/>
        </p:nvSpPr>
        <p:spPr>
          <a:xfrm>
            <a:off x="0" y="0"/>
            <a:ext cx="9144000" cy="257175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5" name="正方形/長方形 4">
            <a:extLst>
              <a:ext uri="{FF2B5EF4-FFF2-40B4-BE49-F238E27FC236}">
                <a16:creationId xmlns:a16="http://schemas.microsoft.com/office/drawing/2014/main" id="{743D2AC9-D824-34CB-9C31-197218BF18BC}"/>
              </a:ext>
            </a:extLst>
          </p:cNvPr>
          <p:cNvSpPr/>
          <p:nvPr/>
        </p:nvSpPr>
        <p:spPr>
          <a:xfrm>
            <a:off x="0" y="1"/>
            <a:ext cx="6105833" cy="3274142"/>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6" name="正方形/長方形 5">
            <a:extLst>
              <a:ext uri="{FF2B5EF4-FFF2-40B4-BE49-F238E27FC236}">
                <a16:creationId xmlns:a16="http://schemas.microsoft.com/office/drawing/2014/main" id="{8F998F30-7A78-5589-BE0C-7CD5A6CF1B14}"/>
              </a:ext>
            </a:extLst>
          </p:cNvPr>
          <p:cNvSpPr/>
          <p:nvPr/>
        </p:nvSpPr>
        <p:spPr>
          <a:xfrm>
            <a:off x="0" y="0"/>
            <a:ext cx="6105833" cy="257175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7" name="テキスト ボックス 6">
            <a:extLst>
              <a:ext uri="{FF2B5EF4-FFF2-40B4-BE49-F238E27FC236}">
                <a16:creationId xmlns:a16="http://schemas.microsoft.com/office/drawing/2014/main" id="{A855056E-D010-7490-E43C-6251D2594E95}"/>
              </a:ext>
            </a:extLst>
          </p:cNvPr>
          <p:cNvSpPr txBox="1"/>
          <p:nvPr/>
        </p:nvSpPr>
        <p:spPr>
          <a:xfrm>
            <a:off x="412955" y="2922946"/>
            <a:ext cx="4889091" cy="300082"/>
          </a:xfrm>
          <a:prstGeom prst="rect">
            <a:avLst/>
          </a:prstGeom>
          <a:noFill/>
        </p:spPr>
        <p:txBody>
          <a:bodyPr wrap="square" rtlCol="0">
            <a:spAutoFit/>
          </a:bodyPr>
          <a:lstStyle/>
          <a:p>
            <a:r>
              <a:rPr kumimoji="1" lang="en-US" altLang="ja-JP" sz="1350" b="1" dirty="0">
                <a:solidFill>
                  <a:schemeClr val="bg1"/>
                </a:solidFill>
                <a:latin typeface="ＭＳ Ｐゴシック" panose="020B0600070205080204" pitchFamily="50" charset="-128"/>
                <a:ea typeface="ＭＳ Ｐゴシック" panose="020B0600070205080204" pitchFamily="50" charset="-128"/>
              </a:rPr>
              <a:t>2026</a:t>
            </a:r>
            <a:r>
              <a:rPr kumimoji="1" lang="ja-JP" altLang="en-US" sz="1350" b="1" dirty="0">
                <a:solidFill>
                  <a:schemeClr val="bg1"/>
                </a:solidFill>
                <a:latin typeface="ＭＳ Ｐゴシック" panose="020B0600070205080204" pitchFamily="50" charset="-128"/>
                <a:ea typeface="ＭＳ Ｐゴシック" panose="020B0600070205080204" pitchFamily="50" charset="-128"/>
              </a:rPr>
              <a:t>年</a:t>
            </a:r>
            <a:r>
              <a:rPr kumimoji="1" lang="en-US" altLang="ja-JP" sz="1350" b="1" dirty="0">
                <a:solidFill>
                  <a:schemeClr val="bg1"/>
                </a:solidFill>
                <a:latin typeface="ＭＳ Ｐゴシック" panose="020B0600070205080204" pitchFamily="50" charset="-128"/>
                <a:ea typeface="ＭＳ Ｐゴシック" panose="020B0600070205080204" pitchFamily="50" charset="-128"/>
              </a:rPr>
              <a:t>07</a:t>
            </a:r>
            <a:r>
              <a:rPr lang="ja-JP" altLang="en-US" sz="1350" b="1" dirty="0">
                <a:solidFill>
                  <a:schemeClr val="bg1"/>
                </a:solidFill>
                <a:latin typeface="ＭＳ Ｐゴシック" panose="020B0600070205080204" pitchFamily="50" charset="-128"/>
                <a:ea typeface="ＭＳ Ｐゴシック" panose="020B0600070205080204" pitchFamily="50" charset="-128"/>
              </a:rPr>
              <a:t>月</a:t>
            </a:r>
            <a:r>
              <a:rPr lang="en-US" altLang="ja-JP" sz="1350" b="1" dirty="0">
                <a:solidFill>
                  <a:schemeClr val="bg1"/>
                </a:solidFill>
                <a:latin typeface="ＭＳ Ｐゴシック" panose="020B0600070205080204" pitchFamily="50" charset="-128"/>
                <a:ea typeface="ＭＳ Ｐゴシック" panose="020B0600070205080204" pitchFamily="50" charset="-128"/>
              </a:rPr>
              <a:t>23</a:t>
            </a:r>
            <a:r>
              <a:rPr lang="ja-JP" altLang="en-US" sz="1350" b="1" dirty="0">
                <a:solidFill>
                  <a:schemeClr val="bg1"/>
                </a:solidFill>
                <a:latin typeface="ＭＳ Ｐゴシック" panose="020B0600070205080204" pitchFamily="50" charset="-128"/>
                <a:ea typeface="ＭＳ Ｐゴシック" panose="020B0600070205080204" pitchFamily="50" charset="-128"/>
              </a:rPr>
              <a:t>日</a:t>
            </a:r>
            <a:endParaRPr kumimoji="1" lang="ja-JP" altLang="en-US" sz="1350" b="1" dirty="0">
              <a:solidFill>
                <a:schemeClr val="bg1"/>
              </a:solidFill>
              <a:latin typeface="ＭＳ Ｐゴシック" panose="020B0600070205080204" pitchFamily="50" charset="-128"/>
              <a:ea typeface="ＭＳ Ｐゴシック" panose="020B0600070205080204" pitchFamily="50" charset="-128"/>
            </a:endParaRPr>
          </a:p>
        </p:txBody>
      </p:sp>
      <p:sp>
        <p:nvSpPr>
          <p:cNvPr id="2" name="テキスト ボックス 1">
            <a:extLst>
              <a:ext uri="{FF2B5EF4-FFF2-40B4-BE49-F238E27FC236}">
                <a16:creationId xmlns:a16="http://schemas.microsoft.com/office/drawing/2014/main" id="{10F6D6EA-ABF9-07B5-EA5D-9E1E07192619}"/>
              </a:ext>
            </a:extLst>
          </p:cNvPr>
          <p:cNvSpPr txBox="1"/>
          <p:nvPr/>
        </p:nvSpPr>
        <p:spPr>
          <a:xfrm>
            <a:off x="412955" y="754960"/>
            <a:ext cx="5915999" cy="1015663"/>
          </a:xfrm>
          <a:prstGeom prst="rect">
            <a:avLst/>
          </a:prstGeom>
          <a:noFill/>
        </p:spPr>
        <p:txBody>
          <a:bodyPr wrap="square" rtlCol="0">
            <a:spAutoFit/>
          </a:bodyPr>
          <a:lstStyle/>
          <a:p>
            <a:r>
              <a:rPr kumimoji="1" lang="ja-JP" altLang="en-US" sz="3000" b="1" dirty="0">
                <a:solidFill>
                  <a:schemeClr val="bg1"/>
                </a:solidFill>
                <a:latin typeface="ＭＳ Ｐゴシック" panose="020B0600070205080204" pitchFamily="50" charset="-128"/>
                <a:ea typeface="ＭＳ Ｐゴシック" panose="020B0600070205080204" pitchFamily="50" charset="-128"/>
              </a:rPr>
              <a:t>情報ネットワーク学セミナー</a:t>
            </a:r>
            <a:r>
              <a:rPr kumimoji="1" lang="en-US" altLang="ja-JP" sz="3000" b="1" dirty="0">
                <a:solidFill>
                  <a:schemeClr val="bg1"/>
                </a:solidFill>
                <a:latin typeface="ＭＳ Ｐゴシック" panose="020B0600070205080204" pitchFamily="50" charset="-128"/>
                <a:ea typeface="ＭＳ Ｐゴシック" panose="020B0600070205080204" pitchFamily="50" charset="-128"/>
              </a:rPr>
              <a:t>I </a:t>
            </a:r>
          </a:p>
          <a:p>
            <a:r>
              <a:rPr kumimoji="1" lang="ja-JP" altLang="en-US" sz="3000" b="1" dirty="0">
                <a:solidFill>
                  <a:schemeClr val="bg1"/>
                </a:solidFill>
                <a:latin typeface="ＭＳ Ｐゴシック" panose="020B0600070205080204" pitchFamily="50" charset="-128"/>
                <a:ea typeface="ＭＳ Ｐゴシック" panose="020B0600070205080204" pitchFamily="50" charset="-128"/>
              </a:rPr>
              <a:t>最終発表</a:t>
            </a:r>
          </a:p>
        </p:txBody>
      </p:sp>
      <p:sp>
        <p:nvSpPr>
          <p:cNvPr id="8" name="テキスト ボックス 7">
            <a:extLst>
              <a:ext uri="{FF2B5EF4-FFF2-40B4-BE49-F238E27FC236}">
                <a16:creationId xmlns:a16="http://schemas.microsoft.com/office/drawing/2014/main" id="{6F9B7DC7-00B8-F406-9F4A-60EE017E82E4}"/>
              </a:ext>
            </a:extLst>
          </p:cNvPr>
          <p:cNvSpPr txBox="1"/>
          <p:nvPr/>
        </p:nvSpPr>
        <p:spPr>
          <a:xfrm>
            <a:off x="412954" y="2622864"/>
            <a:ext cx="4889091" cy="300082"/>
          </a:xfrm>
          <a:prstGeom prst="rect">
            <a:avLst/>
          </a:prstGeom>
          <a:noFill/>
        </p:spPr>
        <p:txBody>
          <a:bodyPr wrap="square" rtlCol="0">
            <a:spAutoFit/>
          </a:bodyPr>
          <a:lstStyle/>
          <a:p>
            <a:r>
              <a:rPr kumimoji="1" lang="ja-JP" altLang="en-US" sz="1350" b="1" dirty="0">
                <a:solidFill>
                  <a:schemeClr val="bg1"/>
                </a:solidFill>
                <a:latin typeface="ＭＳ Ｐゴシック" panose="020B0600070205080204" pitchFamily="50" charset="-128"/>
                <a:ea typeface="ＭＳ Ｐゴシック" panose="020B0600070205080204" pitchFamily="50" charset="-128"/>
              </a:rPr>
              <a:t>小泉研究室　武知樹生</a:t>
            </a:r>
          </a:p>
        </p:txBody>
      </p:sp>
      <p:sp>
        <p:nvSpPr>
          <p:cNvPr id="3" name="スライド番号プレースホルダー 2">
            <a:extLst>
              <a:ext uri="{FF2B5EF4-FFF2-40B4-BE49-F238E27FC236}">
                <a16:creationId xmlns:a16="http://schemas.microsoft.com/office/drawing/2014/main" id="{A4451BBB-7CED-63CA-D28C-BCCC6E2F5D87}"/>
              </a:ext>
            </a:extLst>
          </p:cNvPr>
          <p:cNvSpPr>
            <a:spLocks noGrp="1"/>
          </p:cNvSpPr>
          <p:nvPr>
            <p:ph type="sldNum" sz="quarter" idx="12"/>
          </p:nvPr>
        </p:nvSpPr>
        <p:spPr/>
        <p:txBody>
          <a:bodyPr/>
          <a:lstStyle/>
          <a:p>
            <a:fld id="{E28785FB-366A-49F3-B842-F6DCBAD5BBAB}" type="slidenum">
              <a:rPr kumimoji="1" lang="ja-JP" altLang="en-US" smtClean="0"/>
              <a:t>1</a:t>
            </a:fld>
            <a:endParaRPr kumimoji="1" lang="ja-JP" altLang="en-US"/>
          </a:p>
        </p:txBody>
      </p:sp>
    </p:spTree>
    <p:extLst>
      <p:ext uri="{BB962C8B-B14F-4D97-AF65-F5344CB8AC3E}">
        <p14:creationId xmlns:p14="http://schemas.microsoft.com/office/powerpoint/2010/main" val="8711252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7DFEB-29D3-8CFD-88B3-C46A9D8CC0C3}"/>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083E17C7-7D7B-DFA3-33C5-90237175824F}"/>
              </a:ext>
            </a:extLst>
          </p:cNvPr>
          <p:cNvSpPr txBox="1"/>
          <p:nvPr/>
        </p:nvSpPr>
        <p:spPr>
          <a:xfrm>
            <a:off x="314852" y="157777"/>
            <a:ext cx="5564529" cy="415498"/>
          </a:xfrm>
          <a:prstGeom prst="rect">
            <a:avLst/>
          </a:prstGeom>
          <a:noFill/>
        </p:spPr>
        <p:txBody>
          <a:bodyPr wrap="square" rtlCol="0">
            <a:spAutoFit/>
          </a:bodyPr>
          <a:lstStyle/>
          <a:p>
            <a:r>
              <a:rPr kumimoji="1" lang="ja-JP" altLang="en-US" sz="2100" dirty="0">
                <a:solidFill>
                  <a:schemeClr val="tx1">
                    <a:lumMod val="65000"/>
                    <a:lumOff val="35000"/>
                  </a:schemeClr>
                </a:solidFill>
                <a:latin typeface="ＭＳ Ｐゴシック" panose="020B0600070205080204" pitchFamily="50" charset="-128"/>
                <a:ea typeface="ＭＳ Ｐゴシック" panose="020B0600070205080204" pitchFamily="50" charset="-128"/>
              </a:rPr>
              <a:t>目次</a:t>
            </a:r>
          </a:p>
        </p:txBody>
      </p:sp>
      <p:sp>
        <p:nvSpPr>
          <p:cNvPr id="13" name="テキスト ボックス 12">
            <a:extLst>
              <a:ext uri="{FF2B5EF4-FFF2-40B4-BE49-F238E27FC236}">
                <a16:creationId xmlns:a16="http://schemas.microsoft.com/office/drawing/2014/main" id="{AA48C7FA-2003-0448-73B7-6C2F08D3969B}"/>
              </a:ext>
            </a:extLst>
          </p:cNvPr>
          <p:cNvSpPr txBox="1"/>
          <p:nvPr/>
        </p:nvSpPr>
        <p:spPr>
          <a:xfrm>
            <a:off x="1457852" y="694568"/>
            <a:ext cx="5564529" cy="3316742"/>
          </a:xfrm>
          <a:prstGeom prst="rect">
            <a:avLst/>
          </a:prstGeom>
          <a:noFill/>
        </p:spPr>
        <p:txBody>
          <a:bodyPr wrap="square" rtlCol="0">
            <a:spAutoFit/>
          </a:bodyPr>
          <a:lstStyle/>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1.　対象論文</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2.　研究背景と目的</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3.　既存研究の問題点</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4.　データ取得方式</a:t>
            </a:r>
            <a:endParaRPr lang="ja-JP" sz="1800" b="1"/>
          </a:p>
          <a:p>
            <a:pPr marL="457200" indent="0">
              <a:lnSpc>
                <a:spcPct val="105000"/>
              </a:lnSpc>
              <a:spcAft>
                <a:spcPts val="200"/>
              </a:spcAft>
            </a:pPr>
            <a:r>
              <a:rPr lang="ja-JP" altLang="en-US" sz="1600" b="0" dirty="0">
                <a:solidFill>
                  <a:schemeClr val="tx1">
                    <a:lumMod val="85000"/>
                    <a:lumOff val="15000"/>
                  </a:schemeClr>
                </a:solidFill>
                <a:latin typeface="ＭＳ Ｐゴシック"/>
                <a:ea typeface="ＭＳ Ｐゴシック"/>
              </a:rPr>
              <a:t>4.1　データ取得プラットフォーム</a:t>
            </a:r>
            <a:endParaRPr lang="ja-JP" sz="1600" b="0"/>
          </a:p>
          <a:p>
            <a:pPr marL="457200" indent="0">
              <a:lnSpc>
                <a:spcPct val="105000"/>
              </a:lnSpc>
              <a:spcAft>
                <a:spcPts val="350"/>
              </a:spcAft>
            </a:pPr>
            <a:r>
              <a:rPr lang="ja-JP" altLang="en-US" sz="1600" b="0" dirty="0">
                <a:solidFill>
                  <a:schemeClr val="tx1">
                    <a:lumMod val="85000"/>
                    <a:lumOff val="15000"/>
                  </a:schemeClr>
                </a:solidFill>
                <a:latin typeface="ＭＳ Ｐゴシック"/>
                <a:ea typeface="ＭＳ Ｐゴシック"/>
              </a:rPr>
              <a:t>4.2　データ取得環境</a:t>
            </a:r>
            <a:endParaRPr lang="ja-JP" sz="1600" b="0"/>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5.　ベンチマーク結果</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6.　まとめ</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7.　研究の目的と計画</a:t>
            </a:r>
            <a:endParaRPr lang="ja-JP" sz="1800" b="1"/>
          </a:p>
          <a:p>
            <a:pPr marL="457200" indent="0">
              <a:lnSpc>
                <a:spcPct val="105000"/>
              </a:lnSpc>
              <a:spcAft>
                <a:spcPts val="200"/>
              </a:spcAft>
            </a:pPr>
            <a:r>
              <a:rPr lang="ja-JP" altLang="en-US" sz="1600" b="0" dirty="0">
                <a:solidFill>
                  <a:schemeClr val="tx1">
                    <a:lumMod val="85000"/>
                    <a:lumOff val="15000"/>
                  </a:schemeClr>
                </a:solidFill>
                <a:latin typeface="ＭＳ Ｐゴシック"/>
                <a:ea typeface="ＭＳ Ｐゴシック"/>
              </a:rPr>
              <a:t>7.1　研究の目的</a:t>
            </a:r>
            <a:endParaRPr lang="ja-JP" sz="1600" b="0"/>
          </a:p>
          <a:p>
            <a:pPr marL="457200" indent="0">
              <a:lnSpc>
                <a:spcPct val="105000"/>
              </a:lnSpc>
            </a:pPr>
            <a:r>
              <a:rPr lang="ja-JP" altLang="en-US" sz="1600" b="0" dirty="0">
                <a:solidFill>
                  <a:schemeClr val="tx1">
                    <a:lumMod val="85000"/>
                    <a:lumOff val="15000"/>
                  </a:schemeClr>
                </a:solidFill>
                <a:latin typeface="ＭＳ Ｐゴシック"/>
                <a:ea typeface="ＭＳ Ｐゴシック"/>
              </a:rPr>
              <a:t>7.2　研究の計画</a:t>
            </a:r>
            <a:endParaRPr lang="ja-JP" sz="1600" b="0"/>
          </a:p>
        </p:txBody>
      </p:sp>
      <p:sp>
        <p:nvSpPr>
          <p:cNvPr id="2" name="スライド番号プレースホルダー 1">
            <a:extLst>
              <a:ext uri="{FF2B5EF4-FFF2-40B4-BE49-F238E27FC236}">
                <a16:creationId xmlns:a16="http://schemas.microsoft.com/office/drawing/2014/main" id="{83D987E4-05D3-4FAD-A2F1-8D99351ABEDA}"/>
              </a:ext>
            </a:extLst>
          </p:cNvPr>
          <p:cNvSpPr>
            <a:spLocks noGrp="1"/>
          </p:cNvSpPr>
          <p:nvPr>
            <p:ph type="sldNum" sz="quarter" idx="12"/>
          </p:nvPr>
        </p:nvSpPr>
        <p:spPr/>
        <p:txBody>
          <a:bodyPr/>
          <a:lstStyle/>
          <a:p>
            <a:fld id="{E28785FB-366A-49F3-B842-F6DCBAD5BBAB}" type="slidenum">
              <a:rPr kumimoji="1" lang="ja-JP" altLang="en-US" smtClean="0"/>
              <a:t>2</a:t>
            </a:fld>
            <a:endParaRPr kumimoji="1" lang="ja-JP" altLang="en-US"/>
          </a:p>
        </p:txBody>
      </p:sp>
    </p:spTree>
    <p:extLst>
      <p:ext uri="{BB962C8B-B14F-4D97-AF65-F5344CB8AC3E}">
        <p14:creationId xmlns:p14="http://schemas.microsoft.com/office/powerpoint/2010/main" val="35457836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22AFB-2303-5B4C-094F-9B9D2F947A6B}"/>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4D46C61-9FBB-350A-D792-E9ED13758E0D}"/>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F05767D0-E132-AFF7-D0D8-8FBC137669DA}"/>
              </a:ext>
            </a:extLst>
          </p:cNvPr>
          <p:cNvSpPr txBox="1"/>
          <p:nvPr/>
        </p:nvSpPr>
        <p:spPr>
          <a:xfrm>
            <a:off x="1187198" y="-1176397"/>
            <a:ext cx="1319981" cy="6994222"/>
          </a:xfrm>
          <a:prstGeom prst="rect">
            <a:avLst/>
          </a:prstGeom>
          <a:noFill/>
        </p:spPr>
        <p:txBody>
          <a:bodyPr wrap="square" rtlCol="0">
            <a:spAutoFit/>
          </a:bodyPr>
          <a:lstStyle/>
          <a:p>
            <a:pPr algn="ctr"/>
            <a:r>
              <a:rPr lang="en-US" altLang="ja-JP" sz="44850" b="1" dirty="0">
                <a:solidFill>
                  <a:schemeClr val="bg1"/>
                </a:solidFill>
                <a:latin typeface="ＭＳ Ｐゴシック" panose="020B0600070205080204" pitchFamily="50" charset="-128"/>
                <a:ea typeface="ＭＳ Ｐゴシック" panose="020B0600070205080204" pitchFamily="50" charset="-128"/>
              </a:rPr>
              <a:t>1</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C637023E-778E-3706-47ED-1EEDD11118C4}"/>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対象論文</a:t>
            </a:r>
          </a:p>
        </p:txBody>
      </p:sp>
      <p:sp>
        <p:nvSpPr>
          <p:cNvPr id="4" name="スライド番号プレースホルダー 3">
            <a:extLst>
              <a:ext uri="{FF2B5EF4-FFF2-40B4-BE49-F238E27FC236}">
                <a16:creationId xmlns:a16="http://schemas.microsoft.com/office/drawing/2014/main" id="{D039B7CF-FB20-2250-4974-B2605A88801B}"/>
              </a:ext>
            </a:extLst>
          </p:cNvPr>
          <p:cNvSpPr>
            <a:spLocks noGrp="1"/>
          </p:cNvSpPr>
          <p:nvPr>
            <p:ph type="sldNum" sz="quarter" idx="12"/>
          </p:nvPr>
        </p:nvSpPr>
        <p:spPr/>
        <p:txBody>
          <a:bodyPr/>
          <a:lstStyle/>
          <a:p>
            <a:fld id="{E28785FB-366A-49F3-B842-F6DCBAD5BBAB}" type="slidenum">
              <a:rPr kumimoji="1" lang="ja-JP" altLang="en-US" smtClean="0"/>
              <a:t>3</a:t>
            </a:fld>
            <a:endParaRPr kumimoji="1" lang="ja-JP" altLang="en-US"/>
          </a:p>
        </p:txBody>
      </p:sp>
    </p:spTree>
    <p:extLst>
      <p:ext uri="{BB962C8B-B14F-4D97-AF65-F5344CB8AC3E}">
        <p14:creationId xmlns:p14="http://schemas.microsoft.com/office/powerpoint/2010/main" val="3454876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9BF2-2B60-1C64-1C35-565CB92B6D8A}"/>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1AD6C566-F247-67BA-9F47-6CC6C6535977}"/>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対象論文</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7F8822F8-18D7-76F1-C741-CDB23F79BDC1}"/>
              </a:ext>
            </a:extLst>
          </p:cNvPr>
          <p:cNvSpPr/>
          <p:nvPr/>
        </p:nvSpPr>
        <p:spPr>
          <a:xfrm>
            <a:off x="341456" y="1149465"/>
            <a:ext cx="664823" cy="668934"/>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ＭＳ Ｐゴシック" panose="020B0600070205080204" pitchFamily="50" charset="-128"/>
                <a:ea typeface="ＭＳ Ｐゴシック" panose="020B0600070205080204" pitchFamily="50" charset="-128"/>
              </a:rPr>
              <a:t>題</a:t>
            </a:r>
            <a:endParaRPr kumimoji="1" lang="en-US" altLang="ja-JP" b="1" dirty="0">
              <a:latin typeface="ＭＳ Ｐゴシック" panose="020B0600070205080204" pitchFamily="50" charset="-128"/>
              <a:ea typeface="ＭＳ Ｐゴシック" panose="020B0600070205080204" pitchFamily="50" charset="-128"/>
            </a:endParaRPr>
          </a:p>
          <a:p>
            <a:pPr algn="ctr"/>
            <a:r>
              <a:rPr kumimoji="1" lang="ja-JP" altLang="en-US" b="1" dirty="0">
                <a:latin typeface="ＭＳ Ｐゴシック" panose="020B0600070205080204" pitchFamily="50" charset="-128"/>
                <a:ea typeface="ＭＳ Ｐゴシック" panose="020B0600070205080204" pitchFamily="50" charset="-128"/>
              </a:rPr>
              <a:t>名</a:t>
            </a:r>
          </a:p>
        </p:txBody>
      </p:sp>
      <p:sp>
        <p:nvSpPr>
          <p:cNvPr id="14" name="正方形/長方形 13">
            <a:extLst>
              <a:ext uri="{FF2B5EF4-FFF2-40B4-BE49-F238E27FC236}">
                <a16:creationId xmlns:a16="http://schemas.microsoft.com/office/drawing/2014/main" id="{35E61F54-740E-6B03-E9E1-1A9864FABD84}"/>
              </a:ext>
            </a:extLst>
          </p:cNvPr>
          <p:cNvSpPr/>
          <p:nvPr/>
        </p:nvSpPr>
        <p:spPr>
          <a:xfrm>
            <a:off x="1082041" y="1149465"/>
            <a:ext cx="7868084" cy="668934"/>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Dataset</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and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Benchmark</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for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Reflection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Detection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in RGB and Lidar Data</a:t>
            </a:r>
            <a:endPar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5" name="正方形/長方形 14">
            <a:extLst>
              <a:ext uri="{FF2B5EF4-FFF2-40B4-BE49-F238E27FC236}">
                <a16:creationId xmlns:a16="http://schemas.microsoft.com/office/drawing/2014/main" id="{50FBA557-9FBC-0CF6-7F7A-7BB7BC226CEC}"/>
              </a:ext>
            </a:extLst>
          </p:cNvPr>
          <p:cNvSpPr/>
          <p:nvPr/>
        </p:nvSpPr>
        <p:spPr>
          <a:xfrm>
            <a:off x="1082041" y="1902816"/>
            <a:ext cx="7868083" cy="59973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err="1">
                <a:solidFill>
                  <a:schemeClr val="tx1">
                    <a:lumMod val="85000"/>
                    <a:lumOff val="15000"/>
                  </a:schemeClr>
                </a:solidFill>
                <a:latin typeface="ＭＳ Ｐゴシック" panose="020B0600070205080204" pitchFamily="50" charset="-128"/>
                <a:ea typeface="ＭＳ Ｐゴシック" panose="020B0600070205080204" pitchFamily="50" charset="-128"/>
              </a:rPr>
              <a:t>Xiting</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Zhao, Sören Schwertfeger</a:t>
            </a:r>
            <a:endPar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8E798890-9AA1-F0AE-888F-B1F72D325E5B}"/>
              </a:ext>
            </a:extLst>
          </p:cNvPr>
          <p:cNvSpPr/>
          <p:nvPr/>
        </p:nvSpPr>
        <p:spPr>
          <a:xfrm>
            <a:off x="341456" y="1902816"/>
            <a:ext cx="664823" cy="5997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著者</a:t>
            </a:r>
          </a:p>
        </p:txBody>
      </p:sp>
      <p:sp>
        <p:nvSpPr>
          <p:cNvPr id="26" name="正方形/長方形 25">
            <a:extLst>
              <a:ext uri="{FF2B5EF4-FFF2-40B4-BE49-F238E27FC236}">
                <a16:creationId xmlns:a16="http://schemas.microsoft.com/office/drawing/2014/main" id="{5761F393-399C-FBFF-47BD-A3D4AC093420}"/>
              </a:ext>
            </a:extLst>
          </p:cNvPr>
          <p:cNvSpPr/>
          <p:nvPr/>
        </p:nvSpPr>
        <p:spPr>
          <a:xfrm>
            <a:off x="1082040" y="2586971"/>
            <a:ext cx="7868083" cy="803930"/>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International Conference on 3D Vision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3DV 2024</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コンピュータビジョン分野の主要国際会議</a:t>
            </a:r>
          </a:p>
        </p:txBody>
      </p:sp>
      <p:sp>
        <p:nvSpPr>
          <p:cNvPr id="4" name="正方形/長方形 3">
            <a:extLst>
              <a:ext uri="{FF2B5EF4-FFF2-40B4-BE49-F238E27FC236}">
                <a16:creationId xmlns:a16="http://schemas.microsoft.com/office/drawing/2014/main" id="{18C70511-71B9-A452-9604-94DA2D924E33}"/>
              </a:ext>
            </a:extLst>
          </p:cNvPr>
          <p:cNvSpPr/>
          <p:nvPr/>
        </p:nvSpPr>
        <p:spPr>
          <a:xfrm>
            <a:off x="341454" y="2586970"/>
            <a:ext cx="664823" cy="80393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採択先</a:t>
            </a:r>
          </a:p>
        </p:txBody>
      </p:sp>
      <p:sp>
        <p:nvSpPr>
          <p:cNvPr id="6" name="テキスト ボックス 5">
            <a:extLst>
              <a:ext uri="{FF2B5EF4-FFF2-40B4-BE49-F238E27FC236}">
                <a16:creationId xmlns:a16="http://schemas.microsoft.com/office/drawing/2014/main" id="{C9C63873-3B2B-85AC-E125-6465A07794D7}"/>
              </a:ext>
            </a:extLst>
          </p:cNvPr>
          <p:cNvSpPr txBox="1"/>
          <p:nvPr/>
        </p:nvSpPr>
        <p:spPr>
          <a:xfrm>
            <a:off x="115748" y="539710"/>
            <a:ext cx="8190052" cy="338554"/>
          </a:xfrm>
          <a:prstGeom prst="rect">
            <a:avLst/>
          </a:prstGeom>
          <a:noFill/>
        </p:spPr>
        <p:txBody>
          <a:bodyPr wrap="square" rtlCol="0">
            <a:spAutoFit/>
          </a:bodyPr>
          <a:lstStyle/>
          <a:p>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データにおける反射検出のための</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3</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次元データセット</a:t>
            </a:r>
            <a:endParaRPr kumimoji="1"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6" name="正方形/長方形 15">
            <a:extLst>
              <a:ext uri="{FF2B5EF4-FFF2-40B4-BE49-F238E27FC236}">
                <a16:creationId xmlns:a16="http://schemas.microsoft.com/office/drawing/2014/main" id="{33BB090A-013D-B4F6-3B2F-F2E62CA79F0C}"/>
              </a:ext>
            </a:extLst>
          </p:cNvPr>
          <p:cNvSpPr/>
          <p:nvPr/>
        </p:nvSpPr>
        <p:spPr>
          <a:xfrm>
            <a:off x="349512" y="3475320"/>
            <a:ext cx="664823" cy="1209197"/>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概要</a:t>
            </a:r>
          </a:p>
        </p:txBody>
      </p:sp>
      <p:sp>
        <p:nvSpPr>
          <p:cNvPr id="18" name="正方形/長方形 17">
            <a:extLst>
              <a:ext uri="{FF2B5EF4-FFF2-40B4-BE49-F238E27FC236}">
                <a16:creationId xmlns:a16="http://schemas.microsoft.com/office/drawing/2014/main" id="{E29C57AC-FD16-950C-29F7-ACB94140401D}"/>
              </a:ext>
            </a:extLst>
          </p:cNvPr>
          <p:cNvSpPr/>
          <p:nvPr/>
        </p:nvSpPr>
        <p:spPr>
          <a:xfrm>
            <a:off x="1082041" y="3475322"/>
            <a:ext cx="7868083" cy="1209195"/>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鏡やガラスを含む環境では、</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やカメラによる観測に反射、透過、欠損が生じる。</a:t>
            </a:r>
            <a:endPar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本論文は、このような反射現象を検出するために、</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画像、マルチリターン</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点群、</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次元分類　　ラベルを含む大規模データセット「</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」を構築し、既存の点群・画像セグメンテーション手法を評価している。</a:t>
            </a:r>
          </a:p>
        </p:txBody>
      </p:sp>
      <p:sp>
        <p:nvSpPr>
          <p:cNvPr id="2" name="スライド番号プレースホルダー 1">
            <a:extLst>
              <a:ext uri="{FF2B5EF4-FFF2-40B4-BE49-F238E27FC236}">
                <a16:creationId xmlns:a16="http://schemas.microsoft.com/office/drawing/2014/main" id="{3211830E-018B-F614-89BB-4CDD8CC4E794}"/>
              </a:ext>
            </a:extLst>
          </p:cNvPr>
          <p:cNvSpPr>
            <a:spLocks noGrp="1"/>
          </p:cNvSpPr>
          <p:nvPr>
            <p:ph type="sldNum" sz="quarter" idx="12"/>
          </p:nvPr>
        </p:nvSpPr>
        <p:spPr/>
        <p:txBody>
          <a:bodyPr/>
          <a:lstStyle/>
          <a:p>
            <a:fld id="{E28785FB-366A-49F3-B842-F6DCBAD5BBAB}" type="slidenum">
              <a:rPr kumimoji="1" lang="ja-JP" altLang="en-US" smtClean="0"/>
              <a:t>4</a:t>
            </a:fld>
            <a:endParaRPr kumimoji="1" lang="ja-JP" altLang="en-US"/>
          </a:p>
        </p:txBody>
      </p:sp>
    </p:spTree>
    <p:extLst>
      <p:ext uri="{BB962C8B-B14F-4D97-AF65-F5344CB8AC3E}">
        <p14:creationId xmlns:p14="http://schemas.microsoft.com/office/powerpoint/2010/main" val="2392131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D7E2-3392-6EF7-261B-BBDA17E348E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81A9BDE-29E3-BD1B-7DD0-19D34A1AB9CB}"/>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49E40517-B3F2-380C-98C6-4723AE7B9E40}"/>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2</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D42CAB5F-7259-2FEE-67DE-9943D8D75F82}"/>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研究背景と目的</a:t>
            </a:r>
          </a:p>
        </p:txBody>
      </p:sp>
      <p:sp>
        <p:nvSpPr>
          <p:cNvPr id="4" name="スライド番号プレースホルダー 3">
            <a:extLst>
              <a:ext uri="{FF2B5EF4-FFF2-40B4-BE49-F238E27FC236}">
                <a16:creationId xmlns:a16="http://schemas.microsoft.com/office/drawing/2014/main" id="{9912E81E-4123-D232-5CC7-7E717F37A00E}"/>
              </a:ext>
            </a:extLst>
          </p:cNvPr>
          <p:cNvSpPr>
            <a:spLocks noGrp="1"/>
          </p:cNvSpPr>
          <p:nvPr>
            <p:ph type="sldNum" sz="quarter" idx="12"/>
          </p:nvPr>
        </p:nvSpPr>
        <p:spPr/>
        <p:txBody>
          <a:bodyPr/>
          <a:lstStyle/>
          <a:p>
            <a:fld id="{E28785FB-366A-49F3-B842-F6DCBAD5BBAB}" type="slidenum">
              <a:rPr kumimoji="1" lang="ja-JP" altLang="en-US" smtClean="0"/>
              <a:t>5</a:t>
            </a:fld>
            <a:endParaRPr kumimoji="1" lang="ja-JP" altLang="en-US"/>
          </a:p>
        </p:txBody>
      </p:sp>
    </p:spTree>
    <p:extLst>
      <p:ext uri="{BB962C8B-B14F-4D97-AF65-F5344CB8AC3E}">
        <p14:creationId xmlns:p14="http://schemas.microsoft.com/office/powerpoint/2010/main" val="3993192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7DFEB-29D3-8CFD-88B3-C46A9D8CC0C3}"/>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083E17C7-7D7B-DFA3-33C5-90237175824F}"/>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研究背景と目的</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3" name="テキスト ボックス 12">
            <a:extLst>
              <a:ext uri="{FF2B5EF4-FFF2-40B4-BE49-F238E27FC236}">
                <a16:creationId xmlns:a16="http://schemas.microsoft.com/office/drawing/2014/main" id="{AA48C7FA-2003-0448-73B7-6C2F08D3969B}"/>
              </a:ext>
            </a:extLst>
          </p:cNvPr>
          <p:cNvSpPr txBox="1"/>
          <p:nvPr/>
        </p:nvSpPr>
        <p:spPr>
          <a:xfrm>
            <a:off x="115748" y="539710"/>
            <a:ext cx="5564529" cy="369332"/>
          </a:xfrm>
          <a:prstGeom prst="rect">
            <a:avLst/>
          </a:prstGeom>
          <a:noFill/>
        </p:spPr>
        <p:txBody>
          <a:bodyPr wrap="square" rtlCol="0">
            <a:spAutoFit/>
          </a:bodyPr>
          <a:lstStyle/>
          <a:p>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反射面は</a:t>
            </a:r>
            <a:r>
              <a:rPr lang="en-US" altLang="ja-JP"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による三次元認識を不安定にする</a:t>
            </a:r>
            <a:endParaRPr kumimoji="1"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3C9E71F0-B78A-1622-33EA-7075BB45B18F}"/>
              </a:ext>
            </a:extLst>
          </p:cNvPr>
          <p:cNvSpPr/>
          <p:nvPr/>
        </p:nvSpPr>
        <p:spPr>
          <a:xfrm>
            <a:off x="341455" y="984989"/>
            <a:ext cx="761034" cy="2857803"/>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背景</a:t>
            </a:r>
          </a:p>
        </p:txBody>
      </p:sp>
      <p:sp>
        <p:nvSpPr>
          <p:cNvPr id="14" name="正方形/長方形 13">
            <a:extLst>
              <a:ext uri="{FF2B5EF4-FFF2-40B4-BE49-F238E27FC236}">
                <a16:creationId xmlns:a16="http://schemas.microsoft.com/office/drawing/2014/main" id="{EFC3DF9E-F401-A24D-BC1E-84B28649405C}"/>
              </a:ext>
            </a:extLst>
          </p:cNvPr>
          <p:cNvSpPr/>
          <p:nvPr/>
        </p:nvSpPr>
        <p:spPr>
          <a:xfrm>
            <a:off x="1180618" y="984989"/>
            <a:ext cx="7769506" cy="2857803"/>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一般的な</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処理では、レーザーパルスは経路上で最初に存在する物体表面に反射し、その表面位置に点を生成すると仮定される。しかし、鏡やガラスでは、以下のような観測が生じる。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反射面そのものから返る点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ガラスを透過し、背後の物体から返る点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鏡面で反射した後、別の物体から返る点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吸収や鏡面反射によって点が得られない欠損</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特に鏡面で二次反射した点は、実際の物体ではなく、鏡の奥側に存在する仮想的な点として観測される。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これらを通常点として地図へ登録すると、以下の問題が発生する。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ファントムウォールの生成</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ゴースト物体の登録</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走行可能領域の過小評価</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自己位置推定・経路計画の失敗</a:t>
            </a:r>
          </a:p>
        </p:txBody>
      </p:sp>
      <p:sp>
        <p:nvSpPr>
          <p:cNvPr id="8" name="正方形/長方形 7">
            <a:extLst>
              <a:ext uri="{FF2B5EF4-FFF2-40B4-BE49-F238E27FC236}">
                <a16:creationId xmlns:a16="http://schemas.microsoft.com/office/drawing/2014/main" id="{41214546-C6C6-911D-5B7D-1A256C7A429D}"/>
              </a:ext>
            </a:extLst>
          </p:cNvPr>
          <p:cNvSpPr/>
          <p:nvPr/>
        </p:nvSpPr>
        <p:spPr>
          <a:xfrm>
            <a:off x="341454" y="4343400"/>
            <a:ext cx="761035" cy="476780"/>
          </a:xfrm>
          <a:prstGeom prst="rect">
            <a:avLst/>
          </a:prstGeom>
          <a:solidFill>
            <a:srgbClr val="D04A0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目的</a:t>
            </a:r>
          </a:p>
        </p:txBody>
      </p:sp>
      <p:sp>
        <p:nvSpPr>
          <p:cNvPr id="27" name="正方形/長方形 26">
            <a:extLst>
              <a:ext uri="{FF2B5EF4-FFF2-40B4-BE49-F238E27FC236}">
                <a16:creationId xmlns:a16="http://schemas.microsoft.com/office/drawing/2014/main" id="{40FEB24C-42C0-89DA-A2BA-B82CFDABCDBC}"/>
              </a:ext>
            </a:extLst>
          </p:cNvPr>
          <p:cNvSpPr/>
          <p:nvPr/>
        </p:nvSpPr>
        <p:spPr>
          <a:xfrm>
            <a:off x="1180618" y="4343400"/>
            <a:ext cx="7777829" cy="476780"/>
          </a:xfrm>
          <a:prstGeom prst="rect">
            <a:avLst/>
          </a:prstGeom>
          <a:solidFill>
            <a:schemeClr val="bg1"/>
          </a:solidFill>
          <a:ln>
            <a:solidFill>
              <a:srgbClr val="D04A0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反射環境における認識手法を学習・評価するための、大規模な三次元マルチモーダルデータセットの構築</a:t>
            </a:r>
          </a:p>
        </p:txBody>
      </p:sp>
      <p:sp>
        <p:nvSpPr>
          <p:cNvPr id="28" name="フローチャート: 組合せ 27">
            <a:extLst>
              <a:ext uri="{FF2B5EF4-FFF2-40B4-BE49-F238E27FC236}">
                <a16:creationId xmlns:a16="http://schemas.microsoft.com/office/drawing/2014/main" id="{1C5CC462-7121-694B-D6A1-889370AAEA18}"/>
              </a:ext>
            </a:extLst>
          </p:cNvPr>
          <p:cNvSpPr/>
          <p:nvPr/>
        </p:nvSpPr>
        <p:spPr>
          <a:xfrm>
            <a:off x="1133962" y="3918739"/>
            <a:ext cx="7769506" cy="348714"/>
          </a:xfrm>
          <a:prstGeom prst="flowChartMerg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スライド番号プレースホルダー 1">
            <a:extLst>
              <a:ext uri="{FF2B5EF4-FFF2-40B4-BE49-F238E27FC236}">
                <a16:creationId xmlns:a16="http://schemas.microsoft.com/office/drawing/2014/main" id="{6538CC01-2D13-39AE-1EB2-5DA392D709E1}"/>
              </a:ext>
            </a:extLst>
          </p:cNvPr>
          <p:cNvSpPr>
            <a:spLocks noGrp="1"/>
          </p:cNvSpPr>
          <p:nvPr>
            <p:ph type="sldNum" sz="quarter" idx="12"/>
          </p:nvPr>
        </p:nvSpPr>
        <p:spPr/>
        <p:txBody>
          <a:bodyPr/>
          <a:lstStyle/>
          <a:p>
            <a:fld id="{E28785FB-366A-49F3-B842-F6DCBAD5BBAB}" type="slidenum">
              <a:rPr kumimoji="1" lang="ja-JP" altLang="en-US" smtClean="0"/>
              <a:t>6</a:t>
            </a:fld>
            <a:endParaRPr kumimoji="1" lang="ja-JP" altLang="en-US"/>
          </a:p>
        </p:txBody>
      </p:sp>
    </p:spTree>
    <p:extLst>
      <p:ext uri="{BB962C8B-B14F-4D97-AF65-F5344CB8AC3E}">
        <p14:creationId xmlns:p14="http://schemas.microsoft.com/office/powerpoint/2010/main" val="802696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66D6-FEA4-CAE5-9481-459BEAED5261}"/>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888DD8F-6394-D5BD-F3EE-90B31780BDE0}"/>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3384E56D-4DE4-D8F2-99D0-69D7C3A00A88}"/>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3</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9551C370-9D70-B8A6-C42A-53B077B093DA}"/>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既存研究の問題点</a:t>
            </a:r>
            <a:endParaRPr kumimoji="1" lang="ja-JP" altLang="en-US" sz="3000"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スライド番号プレースホルダー 3">
            <a:extLst>
              <a:ext uri="{FF2B5EF4-FFF2-40B4-BE49-F238E27FC236}">
                <a16:creationId xmlns:a16="http://schemas.microsoft.com/office/drawing/2014/main" id="{C6C64CFF-DCF3-DCD9-AA38-5E642DB6D45F}"/>
              </a:ext>
            </a:extLst>
          </p:cNvPr>
          <p:cNvSpPr>
            <a:spLocks noGrp="1"/>
          </p:cNvSpPr>
          <p:nvPr>
            <p:ph type="sldNum" sz="quarter" idx="12"/>
          </p:nvPr>
        </p:nvSpPr>
        <p:spPr/>
        <p:txBody>
          <a:bodyPr/>
          <a:lstStyle/>
          <a:p>
            <a:fld id="{E28785FB-366A-49F3-B842-F6DCBAD5BBAB}" type="slidenum">
              <a:rPr kumimoji="1" lang="ja-JP" altLang="en-US" smtClean="0"/>
              <a:t>7</a:t>
            </a:fld>
            <a:endParaRPr kumimoji="1" lang="ja-JP" altLang="en-US"/>
          </a:p>
        </p:txBody>
      </p:sp>
    </p:spTree>
    <p:extLst>
      <p:ext uri="{BB962C8B-B14F-4D97-AF65-F5344CB8AC3E}">
        <p14:creationId xmlns:p14="http://schemas.microsoft.com/office/powerpoint/2010/main" val="2150328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357D5-2C6B-25DC-5782-6E7D27F9FE81}"/>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EB97DE01-8542-76B8-B2C8-A774A509CFF8}"/>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既存研究の問題点</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3" name="テキスト ボックス 12">
            <a:extLst>
              <a:ext uri="{FF2B5EF4-FFF2-40B4-BE49-F238E27FC236}">
                <a16:creationId xmlns:a16="http://schemas.microsoft.com/office/drawing/2014/main" id="{A3D8D631-044F-436C-1F3D-7AA2B805B4D6}"/>
              </a:ext>
            </a:extLst>
          </p:cNvPr>
          <p:cNvSpPr txBox="1"/>
          <p:nvPr/>
        </p:nvSpPr>
        <p:spPr>
          <a:xfrm>
            <a:off x="115748" y="539710"/>
            <a:ext cx="5564529" cy="369332"/>
          </a:xfrm>
          <a:prstGeom prst="rect">
            <a:avLst/>
          </a:prstGeom>
          <a:noFill/>
        </p:spPr>
        <p:txBody>
          <a:bodyPr wrap="square" rtlCol="0">
            <a:spAutoFit/>
          </a:bodyPr>
          <a:lstStyle/>
          <a:p>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反射検出のための三次元教師データが不足していた</a:t>
            </a:r>
            <a:endParaRPr kumimoji="1"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9" name="正方形/長方形 8">
            <a:extLst>
              <a:ext uri="{FF2B5EF4-FFF2-40B4-BE49-F238E27FC236}">
                <a16:creationId xmlns:a16="http://schemas.microsoft.com/office/drawing/2014/main" id="{13FDE181-82FF-689A-FD45-74A707483C38}"/>
              </a:ext>
            </a:extLst>
          </p:cNvPr>
          <p:cNvSpPr/>
          <p:nvPr/>
        </p:nvSpPr>
        <p:spPr>
          <a:xfrm>
            <a:off x="1076801" y="988644"/>
            <a:ext cx="538226" cy="668934"/>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①</a:t>
            </a:r>
          </a:p>
        </p:txBody>
      </p:sp>
      <p:sp>
        <p:nvSpPr>
          <p:cNvPr id="15" name="正方形/長方形 14">
            <a:extLst>
              <a:ext uri="{FF2B5EF4-FFF2-40B4-BE49-F238E27FC236}">
                <a16:creationId xmlns:a16="http://schemas.microsoft.com/office/drawing/2014/main" id="{8C9B6A61-4A27-DAEE-BD2D-DAD78D0830AD}"/>
              </a:ext>
            </a:extLst>
          </p:cNvPr>
          <p:cNvSpPr/>
          <p:nvPr/>
        </p:nvSpPr>
        <p:spPr>
          <a:xfrm>
            <a:off x="1693875" y="988644"/>
            <a:ext cx="7247923" cy="668934"/>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二次元画像中心</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既存データセットの多くは、画像上のガラスまたは鏡のマスクのみを提供している。反射によって生じた</a:t>
            </a:r>
            <a:r>
              <a:rPr kumimoji="1" lang="en-US" altLang="ja-JP"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点を三次元空間上で識別することはできない。</a:t>
            </a:r>
          </a:p>
        </p:txBody>
      </p:sp>
      <p:sp>
        <p:nvSpPr>
          <p:cNvPr id="8" name="正方形/長方形 7">
            <a:extLst>
              <a:ext uri="{FF2B5EF4-FFF2-40B4-BE49-F238E27FC236}">
                <a16:creationId xmlns:a16="http://schemas.microsoft.com/office/drawing/2014/main" id="{74A19538-5304-B0C8-039C-281753E26322}"/>
              </a:ext>
            </a:extLst>
          </p:cNvPr>
          <p:cNvSpPr/>
          <p:nvPr/>
        </p:nvSpPr>
        <p:spPr>
          <a:xfrm>
            <a:off x="333130" y="988644"/>
            <a:ext cx="664823" cy="27756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600" b="1" dirty="0">
                <a:latin typeface="ＭＳ Ｐゴシック" panose="020B0600070205080204" pitchFamily="50" charset="-128"/>
                <a:ea typeface="ＭＳ Ｐゴシック" panose="020B0600070205080204" pitchFamily="50" charset="-128"/>
              </a:rPr>
              <a:t>既存研究の問題点</a:t>
            </a:r>
          </a:p>
        </p:txBody>
      </p:sp>
      <p:sp>
        <p:nvSpPr>
          <p:cNvPr id="10" name="正方形/長方形 9">
            <a:extLst>
              <a:ext uri="{FF2B5EF4-FFF2-40B4-BE49-F238E27FC236}">
                <a16:creationId xmlns:a16="http://schemas.microsoft.com/office/drawing/2014/main" id="{5FE72C92-C21A-89D8-9788-6E1331DE4A4C}"/>
              </a:ext>
            </a:extLst>
          </p:cNvPr>
          <p:cNvSpPr/>
          <p:nvPr/>
        </p:nvSpPr>
        <p:spPr>
          <a:xfrm>
            <a:off x="1076801" y="1726778"/>
            <a:ext cx="538226" cy="118406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②</a:t>
            </a:r>
          </a:p>
        </p:txBody>
      </p:sp>
      <p:sp>
        <p:nvSpPr>
          <p:cNvPr id="11" name="正方形/長方形 10">
            <a:extLst>
              <a:ext uri="{FF2B5EF4-FFF2-40B4-BE49-F238E27FC236}">
                <a16:creationId xmlns:a16="http://schemas.microsoft.com/office/drawing/2014/main" id="{3F4602AD-56BE-CB84-0D49-5DFA7267335C}"/>
              </a:ext>
            </a:extLst>
          </p:cNvPr>
          <p:cNvSpPr/>
          <p:nvPr/>
        </p:nvSpPr>
        <p:spPr>
          <a:xfrm>
            <a:off x="1076801" y="2991504"/>
            <a:ext cx="538226" cy="77277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③</a:t>
            </a:r>
          </a:p>
        </p:txBody>
      </p:sp>
      <p:sp>
        <p:nvSpPr>
          <p:cNvPr id="26" name="正方形/長方形 25">
            <a:extLst>
              <a:ext uri="{FF2B5EF4-FFF2-40B4-BE49-F238E27FC236}">
                <a16:creationId xmlns:a16="http://schemas.microsoft.com/office/drawing/2014/main" id="{57EDE1FC-B1D8-718E-B5DC-9AB6AB3ACF91}"/>
              </a:ext>
            </a:extLst>
          </p:cNvPr>
          <p:cNvSpPr/>
          <p:nvPr/>
        </p:nvSpPr>
        <p:spPr>
          <a:xfrm>
            <a:off x="1693875" y="1726778"/>
            <a:ext cx="7247923" cy="1184062"/>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反射現象を区別するラベルがない</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既存の</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データセットには、以下を区別するラベルがない。</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反射面上の点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仮想位置に生成された反射点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ガラス背後の実物体点</a:t>
            </a:r>
          </a:p>
        </p:txBody>
      </p:sp>
      <p:sp>
        <p:nvSpPr>
          <p:cNvPr id="27" name="正方形/長方形 26">
            <a:extLst>
              <a:ext uri="{FF2B5EF4-FFF2-40B4-BE49-F238E27FC236}">
                <a16:creationId xmlns:a16="http://schemas.microsoft.com/office/drawing/2014/main" id="{C7112A5C-9B4B-7D1E-78F8-8AD150A973C2}"/>
              </a:ext>
            </a:extLst>
          </p:cNvPr>
          <p:cNvSpPr/>
          <p:nvPr/>
        </p:nvSpPr>
        <p:spPr>
          <a:xfrm>
            <a:off x="1702200" y="2991504"/>
            <a:ext cx="7247923" cy="77277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マルチリターン情報が十分に利用されていない</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近年の</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は、一つのレーザーパルスから複数のリターンを取得できる。しかし、多くの手法は一つのリターンしか利用しておらず、途中の反射や透過に関する情報を活用できていない。</a:t>
            </a:r>
          </a:p>
        </p:txBody>
      </p:sp>
      <p:sp>
        <p:nvSpPr>
          <p:cNvPr id="4" name="正方形/長方形 3">
            <a:extLst>
              <a:ext uri="{FF2B5EF4-FFF2-40B4-BE49-F238E27FC236}">
                <a16:creationId xmlns:a16="http://schemas.microsoft.com/office/drawing/2014/main" id="{B95A9E45-97ED-DB0E-FC05-60C66396DBA3}"/>
              </a:ext>
            </a:extLst>
          </p:cNvPr>
          <p:cNvSpPr/>
          <p:nvPr/>
        </p:nvSpPr>
        <p:spPr>
          <a:xfrm>
            <a:off x="341454" y="4258140"/>
            <a:ext cx="664823" cy="749706"/>
          </a:xfrm>
          <a:prstGeom prst="rect">
            <a:avLst/>
          </a:prstGeom>
          <a:solidFill>
            <a:srgbClr val="D04A0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kumimoji="1" lang="ja-JP" altLang="en-US" sz="1400" b="1" dirty="0">
                <a:latin typeface="ＭＳ Ｐゴシック" panose="020B0600070205080204" pitchFamily="50" charset="-128"/>
                <a:ea typeface="ＭＳ Ｐゴシック" panose="020B0600070205080204" pitchFamily="50" charset="-128"/>
              </a:rPr>
              <a:t>必</a:t>
            </a:r>
            <a:endParaRPr kumimoji="1" lang="en-US" altLang="ja-JP" sz="1400" b="1" dirty="0">
              <a:latin typeface="ＭＳ Ｐゴシック" panose="020B0600070205080204" pitchFamily="50" charset="-128"/>
              <a:ea typeface="ＭＳ Ｐゴシック" panose="020B0600070205080204" pitchFamily="50" charset="-128"/>
            </a:endParaRPr>
          </a:p>
          <a:p>
            <a:pPr algn="ctr"/>
            <a:r>
              <a:rPr kumimoji="1" lang="ja-JP" altLang="en-US" sz="1400" b="1" dirty="0">
                <a:latin typeface="ＭＳ Ｐゴシック" panose="020B0600070205080204" pitchFamily="50" charset="-128"/>
                <a:ea typeface="ＭＳ Ｐゴシック" panose="020B0600070205080204" pitchFamily="50" charset="-128"/>
              </a:rPr>
              <a:t>要</a:t>
            </a:r>
            <a:endParaRPr kumimoji="1" lang="en-US" altLang="ja-JP" sz="1400" b="1" dirty="0">
              <a:latin typeface="ＭＳ Ｐゴシック" panose="020B0600070205080204" pitchFamily="50" charset="-128"/>
              <a:ea typeface="ＭＳ Ｐゴシック" panose="020B0600070205080204" pitchFamily="50" charset="-128"/>
            </a:endParaRPr>
          </a:p>
          <a:p>
            <a:pPr algn="ctr"/>
            <a:r>
              <a:rPr kumimoji="1" lang="ja-JP" altLang="en-US" sz="1400" b="1" dirty="0">
                <a:latin typeface="ＭＳ Ｐゴシック" panose="020B0600070205080204" pitchFamily="50" charset="-128"/>
                <a:ea typeface="ＭＳ Ｐゴシック" panose="020B0600070205080204" pitchFamily="50" charset="-128"/>
              </a:rPr>
              <a:t>性</a:t>
            </a:r>
          </a:p>
        </p:txBody>
      </p:sp>
      <p:sp>
        <p:nvSpPr>
          <p:cNvPr id="6" name="正方形/長方形 5">
            <a:extLst>
              <a:ext uri="{FF2B5EF4-FFF2-40B4-BE49-F238E27FC236}">
                <a16:creationId xmlns:a16="http://schemas.microsoft.com/office/drawing/2014/main" id="{E32C30A9-F2A1-1463-6834-8669C5B078AD}"/>
              </a:ext>
            </a:extLst>
          </p:cNvPr>
          <p:cNvSpPr/>
          <p:nvPr/>
        </p:nvSpPr>
        <p:spPr>
          <a:xfrm>
            <a:off x="1076802" y="4258140"/>
            <a:ext cx="7881646" cy="749705"/>
          </a:xfrm>
          <a:prstGeom prst="rect">
            <a:avLst/>
          </a:prstGeom>
          <a:solidFill>
            <a:schemeClr val="bg1"/>
          </a:solidFill>
          <a:ln>
            <a:solidFill>
              <a:srgbClr val="D04A0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350" b="1" dirty="0">
                <a:solidFill>
                  <a:srgbClr val="D04A02"/>
                </a:solidFill>
                <a:latin typeface="ＭＳ Ｐゴシック" panose="020B0600070205080204" pitchFamily="50" charset="-128"/>
                <a:ea typeface="ＭＳ Ｐゴシック" panose="020B0600070205080204" pitchFamily="50" charset="-128"/>
              </a:rPr>
              <a:t>RGB</a:t>
            </a:r>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画像、マルチリターン</a:t>
            </a:r>
            <a:r>
              <a:rPr kumimoji="1" lang="en-US" altLang="ja-JP" sz="1350" b="1" dirty="0">
                <a:solidFill>
                  <a:srgbClr val="D04A02"/>
                </a:solidFill>
                <a:latin typeface="ＭＳ Ｐゴシック" panose="020B0600070205080204" pitchFamily="50" charset="-128"/>
                <a:ea typeface="ＭＳ Ｐゴシック" panose="020B0600070205080204" pitchFamily="50" charset="-128"/>
              </a:rPr>
              <a:t>LiDAR</a:t>
            </a:r>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点群、三次元反射ラベルが位置合わせされたデータセット</a:t>
            </a:r>
          </a:p>
        </p:txBody>
      </p:sp>
      <p:sp>
        <p:nvSpPr>
          <p:cNvPr id="16" name="フローチャート: 組合せ 15">
            <a:extLst>
              <a:ext uri="{FF2B5EF4-FFF2-40B4-BE49-F238E27FC236}">
                <a16:creationId xmlns:a16="http://schemas.microsoft.com/office/drawing/2014/main" id="{0B6246B9-ECFA-8E90-A07D-C6A6A7817B96}"/>
              </a:ext>
            </a:extLst>
          </p:cNvPr>
          <p:cNvSpPr/>
          <p:nvPr/>
        </p:nvSpPr>
        <p:spPr>
          <a:xfrm>
            <a:off x="1133962" y="3833480"/>
            <a:ext cx="7769506" cy="348714"/>
          </a:xfrm>
          <a:prstGeom prst="flowChartMerg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スライド番号プレースホルダー 1">
            <a:extLst>
              <a:ext uri="{FF2B5EF4-FFF2-40B4-BE49-F238E27FC236}">
                <a16:creationId xmlns:a16="http://schemas.microsoft.com/office/drawing/2014/main" id="{33ADD7D6-4BEF-7CDD-B1CD-57826204E122}"/>
              </a:ext>
            </a:extLst>
          </p:cNvPr>
          <p:cNvSpPr>
            <a:spLocks noGrp="1"/>
          </p:cNvSpPr>
          <p:nvPr>
            <p:ph type="sldNum" sz="quarter" idx="12"/>
          </p:nvPr>
        </p:nvSpPr>
        <p:spPr/>
        <p:txBody>
          <a:bodyPr/>
          <a:lstStyle/>
          <a:p>
            <a:fld id="{E28785FB-366A-49F3-B842-F6DCBAD5BBAB}" type="slidenum">
              <a:rPr kumimoji="1" lang="ja-JP" altLang="en-US" smtClean="0"/>
              <a:t>8</a:t>
            </a:fld>
            <a:endParaRPr kumimoji="1" lang="ja-JP" altLang="en-US"/>
          </a:p>
        </p:txBody>
      </p:sp>
    </p:spTree>
    <p:extLst>
      <p:ext uri="{BB962C8B-B14F-4D97-AF65-F5344CB8AC3E}">
        <p14:creationId xmlns:p14="http://schemas.microsoft.com/office/powerpoint/2010/main" val="14194946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E84B9-3DCE-309D-009C-1330F29AA983}"/>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BDE060C-EAE5-AD2C-23A6-E144C72A89EC}"/>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BDCE9B0C-22BE-F5F1-6971-8409E649D664}"/>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4</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A9C28E02-38A5-FF93-28EE-E0A41F809B15}"/>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データ取得方式</a:t>
            </a:r>
          </a:p>
        </p:txBody>
      </p:sp>
      <p:sp>
        <p:nvSpPr>
          <p:cNvPr id="4" name="スライド番号プレースホルダー 3">
            <a:extLst>
              <a:ext uri="{FF2B5EF4-FFF2-40B4-BE49-F238E27FC236}">
                <a16:creationId xmlns:a16="http://schemas.microsoft.com/office/drawing/2014/main" id="{4618924D-4862-893E-04F6-81ED8FE58BB6}"/>
              </a:ext>
            </a:extLst>
          </p:cNvPr>
          <p:cNvSpPr>
            <a:spLocks noGrp="1"/>
          </p:cNvSpPr>
          <p:nvPr>
            <p:ph type="sldNum" sz="quarter" idx="12"/>
          </p:nvPr>
        </p:nvSpPr>
        <p:spPr/>
        <p:txBody>
          <a:bodyPr/>
          <a:lstStyle/>
          <a:p>
            <a:fld id="{E28785FB-366A-49F3-B842-F6DCBAD5BBAB}" type="slidenum">
              <a:rPr kumimoji="1" lang="ja-JP" altLang="en-US" smtClean="0"/>
              <a:t>9</a:t>
            </a:fld>
            <a:endParaRPr kumimoji="1" lang="ja-JP" altLang="en-US"/>
          </a:p>
        </p:txBody>
      </p:sp>
    </p:spTree>
    <p:extLst>
      <p:ext uri="{BB962C8B-B14F-4D97-AF65-F5344CB8AC3E}">
        <p14:creationId xmlns:p14="http://schemas.microsoft.com/office/powerpoint/2010/main" val="3632455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5DC34-4EAF-B465-129A-5D770A45D591}"/>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91A6F25-33B3-13FB-8958-B45C6BDDD100}"/>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386E0836-B8C9-00FC-6272-CF48F4AA90C2}"/>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CFF9EE1E-82D5-5470-6E53-37F32451F361}"/>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4.1</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データ取得プラットフォーム</a:t>
            </a:r>
          </a:p>
        </p:txBody>
      </p:sp>
      <p:sp>
        <p:nvSpPr>
          <p:cNvPr id="2" name="スライド番号プレースホルダー 1">
            <a:extLst>
              <a:ext uri="{FF2B5EF4-FFF2-40B4-BE49-F238E27FC236}">
                <a16:creationId xmlns:a16="http://schemas.microsoft.com/office/drawing/2014/main" id="{608333FA-028E-8775-3D61-088AAF234645}"/>
              </a:ext>
            </a:extLst>
          </p:cNvPr>
          <p:cNvSpPr>
            <a:spLocks noGrp="1"/>
          </p:cNvSpPr>
          <p:nvPr>
            <p:ph type="sldNum" sz="quarter" idx="12"/>
          </p:nvPr>
        </p:nvSpPr>
        <p:spPr/>
        <p:txBody>
          <a:bodyPr/>
          <a:lstStyle/>
          <a:p>
            <a:fld id="{E28785FB-366A-49F3-B842-F6DCBAD5BBAB}" type="slidenum">
              <a:rPr kumimoji="1" lang="ja-JP" altLang="en-US" smtClean="0"/>
              <a:t>10</a:t>
            </a:fld>
            <a:endParaRPr kumimoji="1" lang="ja-JP" altLang="en-US"/>
          </a:p>
        </p:txBody>
      </p:sp>
    </p:spTree>
    <p:extLst>
      <p:ext uri="{BB962C8B-B14F-4D97-AF65-F5344CB8AC3E}">
        <p14:creationId xmlns:p14="http://schemas.microsoft.com/office/powerpoint/2010/main" val="4189331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3種類のLiDARを同一プラットフォームに搭載し、return特性を比較する</a:t>
            </a:r>
            <a:endParaRPr lang="en-US" sz="2100" dirty="0"/>
          </a:p>
        </p:txBody>
      </p:sp>
      <p:pic>
        <p:nvPicPr>
          <p:cNvPr id="5" name="Image 0" descr="3DRef data collection platform"/>
          <p:cNvPicPr>
            <a:picLocks noChangeAspect="1"/>
          </p:cNvPicPr>
          <p:nvPr/>
        </p:nvPicPr>
        <p:blipFill>
          <a:blip r:embed="rId3"/>
          <a:stretch>
            <a:fillRect/>
          </a:stretch>
        </p:blipFill>
        <p:spPr>
          <a:xfrm>
            <a:off x="647430" y="877824"/>
            <a:ext cx="2865659" cy="3474720"/>
          </a:xfrm>
          <a:prstGeom prst="rect">
            <a:avLst/>
          </a:prstGeom>
        </p:spPr>
      </p:pic>
      <p:sp>
        <p:nvSpPr>
          <p:cNvPr id="6" name="Shape 3"/>
          <p:cNvSpPr/>
          <p:nvPr/>
        </p:nvSpPr>
        <p:spPr>
          <a:xfrm>
            <a:off x="3822192" y="987552"/>
            <a:ext cx="1184148"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 name="Text 4"/>
          <p:cNvSpPr/>
          <p:nvPr/>
        </p:nvSpPr>
        <p:spPr>
          <a:xfrm>
            <a:off x="3849624" y="1005840"/>
            <a:ext cx="1129284" cy="442570"/>
          </a:xfrm>
          <a:prstGeom prst="rect">
            <a:avLst/>
          </a:prstGeom>
          <a:noFill/>
          <a:ln/>
        </p:spPr>
        <p:txBody>
          <a:bodyPr wrap="square" lIns="0" tIns="0" rIns="0" bIns="0" rtlCol="0" anchor="ctr">
            <a:normAutofit/>
          </a:bodyPr>
          <a:lstStyle/>
          <a:p>
            <a:pPr algn="ctr"/>
            <a:r>
              <a:rPr lang="en-US" altLang="ja-JP"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Sensor</a:t>
            </a:r>
            <a:endParaRPr lang="en-US" altLang="ja-JP" sz="1400" dirty="0">
              <a:latin typeface="ＭＳ Ｐゴシック" panose="020B0600070205080204" pitchFamily="50" charset="-128"/>
              <a:ea typeface="ＭＳ Ｐゴシック" panose="020B0600070205080204" pitchFamily="50" charset="-128"/>
            </a:endParaRPr>
          </a:p>
        </p:txBody>
      </p:sp>
      <p:sp>
        <p:nvSpPr>
          <p:cNvPr id="10" name="Shape 7"/>
          <p:cNvSpPr/>
          <p:nvPr/>
        </p:nvSpPr>
        <p:spPr>
          <a:xfrm>
            <a:off x="6474684" y="987552"/>
            <a:ext cx="2084100"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1" name="Text 8"/>
          <p:cNvSpPr/>
          <p:nvPr/>
        </p:nvSpPr>
        <p:spPr>
          <a:xfrm>
            <a:off x="6502116" y="1005840"/>
            <a:ext cx="2029236" cy="442570"/>
          </a:xfrm>
          <a:prstGeom prst="rect">
            <a:avLst/>
          </a:prstGeom>
          <a:noFill/>
          <a:ln/>
        </p:spPr>
        <p:txBody>
          <a:bodyPr wrap="square" lIns="0" tIns="0" rIns="0" bIns="0" rtlCol="0" anchor="ctr">
            <a:normAutofit/>
          </a:bodyPr>
          <a:lstStyle/>
          <a:p>
            <a:pPr marL="0" indent="0" algn="ctr">
              <a:buNone/>
            </a:pPr>
            <a:r>
              <a:rPr lang="ja-JP" altLang="en-US"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取得データ</a:t>
            </a:r>
            <a:endParaRPr lang="en-US" sz="1400" dirty="0">
              <a:latin typeface="ＭＳ Ｐゴシック" panose="020B0600070205080204" pitchFamily="50" charset="-128"/>
              <a:ea typeface="ＭＳ Ｐゴシック" panose="020B0600070205080204" pitchFamily="50" charset="-128"/>
            </a:endParaRPr>
          </a:p>
        </p:txBody>
      </p:sp>
      <p:sp>
        <p:nvSpPr>
          <p:cNvPr id="12" name="Shape 9"/>
          <p:cNvSpPr/>
          <p:nvPr/>
        </p:nvSpPr>
        <p:spPr>
          <a:xfrm>
            <a:off x="3822192" y="1466698"/>
            <a:ext cx="1184148"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3" name="Text 10"/>
          <p:cNvSpPr/>
          <p:nvPr/>
        </p:nvSpPr>
        <p:spPr>
          <a:xfrm>
            <a:off x="3849624" y="1484986"/>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Ouster OS0-128</a:t>
            </a:r>
            <a:endParaRPr lang="en-US" sz="1100" dirty="0">
              <a:latin typeface="ＭＳ Ｐゴシック" panose="020B0600070205080204" pitchFamily="50" charset="-128"/>
              <a:ea typeface="ＭＳ Ｐゴシック" panose="020B0600070205080204" pitchFamily="50" charset="-128"/>
            </a:endParaRPr>
          </a:p>
        </p:txBody>
      </p:sp>
      <p:sp>
        <p:nvSpPr>
          <p:cNvPr id="14" name="Shape 11"/>
          <p:cNvSpPr/>
          <p:nvPr/>
        </p:nvSpPr>
        <p:spPr>
          <a:xfrm>
            <a:off x="5006340" y="1466698"/>
            <a:ext cx="1468344"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5" name="Text 12"/>
          <p:cNvSpPr/>
          <p:nvPr/>
        </p:nvSpPr>
        <p:spPr>
          <a:xfrm>
            <a:off x="5033772" y="1484986"/>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回転式</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Lidar</a:t>
            </a:r>
            <a:endParaRPr lang="en-US" sz="1100" dirty="0">
              <a:latin typeface="ＭＳ Ｐゴシック" panose="020B0600070205080204" pitchFamily="50" charset="-128"/>
              <a:ea typeface="ＭＳ Ｐゴシック" panose="020B0600070205080204" pitchFamily="50" charset="-128"/>
            </a:endParaRPr>
          </a:p>
        </p:txBody>
      </p:sp>
      <p:sp>
        <p:nvSpPr>
          <p:cNvPr id="16" name="Shape 13"/>
          <p:cNvSpPr/>
          <p:nvPr/>
        </p:nvSpPr>
        <p:spPr>
          <a:xfrm>
            <a:off x="6474684" y="1466698"/>
            <a:ext cx="2084100"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7" name="Text 14"/>
          <p:cNvSpPr/>
          <p:nvPr/>
        </p:nvSpPr>
        <p:spPr>
          <a:xfrm>
            <a:off x="6502116" y="1484986"/>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最強・第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2</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最強リターン</a:t>
            </a:r>
            <a:endParaRPr lang="en-US" sz="1100" dirty="0">
              <a:latin typeface="ＭＳ Ｐゴシック" panose="020B0600070205080204" pitchFamily="50" charset="-128"/>
              <a:ea typeface="ＭＳ Ｐゴシック" panose="020B0600070205080204" pitchFamily="50" charset="-128"/>
            </a:endParaRPr>
          </a:p>
        </p:txBody>
      </p:sp>
      <p:sp>
        <p:nvSpPr>
          <p:cNvPr id="18" name="Shape 15"/>
          <p:cNvSpPr/>
          <p:nvPr/>
        </p:nvSpPr>
        <p:spPr>
          <a:xfrm>
            <a:off x="3822192" y="1945843"/>
            <a:ext cx="1184148"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9" name="Text 16"/>
          <p:cNvSpPr/>
          <p:nvPr/>
        </p:nvSpPr>
        <p:spPr>
          <a:xfrm>
            <a:off x="3849624" y="1964131"/>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Hesai QT64</a:t>
            </a:r>
            <a:endParaRPr lang="en-US" sz="1100" dirty="0">
              <a:latin typeface="ＭＳ Ｐゴシック" panose="020B0600070205080204" pitchFamily="50" charset="-128"/>
              <a:ea typeface="ＭＳ Ｐゴシック" panose="020B0600070205080204" pitchFamily="50" charset="-128"/>
            </a:endParaRPr>
          </a:p>
        </p:txBody>
      </p:sp>
      <p:sp>
        <p:nvSpPr>
          <p:cNvPr id="20" name="Shape 17"/>
          <p:cNvSpPr/>
          <p:nvPr/>
        </p:nvSpPr>
        <p:spPr>
          <a:xfrm>
            <a:off x="5006340" y="1945843"/>
            <a:ext cx="1468344"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1" name="Text 18"/>
          <p:cNvSpPr/>
          <p:nvPr/>
        </p:nvSpPr>
        <p:spPr>
          <a:xfrm>
            <a:off x="5033772" y="1964131"/>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回転式</a:t>
            </a:r>
            <a:r>
              <a:rPr lang="en-US" altLang="ja-JP" sz="1100" dirty="0">
                <a:solidFill>
                  <a:srgbClr val="20242A"/>
                </a:solidFill>
                <a:latin typeface="ＭＳ Ｐゴシック" panose="020B0600070205080204" pitchFamily="50" charset="-128"/>
                <a:ea typeface="ＭＳ Ｐゴシック" panose="020B0600070205080204" pitchFamily="50" charset="-128"/>
              </a:rPr>
              <a:t>Lidar</a:t>
            </a:r>
            <a:endParaRPr lang="en-US" sz="1100" dirty="0">
              <a:latin typeface="ＭＳ Ｐゴシック" panose="020B0600070205080204" pitchFamily="50" charset="-128"/>
              <a:ea typeface="ＭＳ Ｐゴシック" panose="020B0600070205080204" pitchFamily="50" charset="-128"/>
            </a:endParaRPr>
          </a:p>
        </p:txBody>
      </p:sp>
      <p:sp>
        <p:nvSpPr>
          <p:cNvPr id="22" name="Shape 19"/>
          <p:cNvSpPr/>
          <p:nvPr/>
        </p:nvSpPr>
        <p:spPr>
          <a:xfrm>
            <a:off x="6474684" y="1945843"/>
            <a:ext cx="2084100"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3" name="Text 20"/>
          <p:cNvSpPr/>
          <p:nvPr/>
        </p:nvSpPr>
        <p:spPr>
          <a:xfrm>
            <a:off x="6502116" y="1964131"/>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第</a:t>
            </a:r>
            <a:r>
              <a:rPr lang="en-US" altLang="ja-JP" sz="1100" dirty="0">
                <a:solidFill>
                  <a:srgbClr val="20242A"/>
                </a:solidFill>
                <a:latin typeface="ＭＳ Ｐゴシック" panose="020B0600070205080204" pitchFamily="50" charset="-128"/>
                <a:ea typeface="ＭＳ Ｐゴシック" panose="020B0600070205080204" pitchFamily="50" charset="-128"/>
              </a:rPr>
              <a:t>1</a:t>
            </a:r>
            <a:r>
              <a:rPr lang="ja-JP" altLang="en-US" sz="1100" dirty="0">
                <a:solidFill>
                  <a:srgbClr val="20242A"/>
                </a:solidFill>
                <a:latin typeface="ＭＳ Ｐゴシック" panose="020B0600070205080204" pitchFamily="50" charset="-128"/>
                <a:ea typeface="ＭＳ Ｐゴシック" panose="020B0600070205080204" pitchFamily="50" charset="-128"/>
              </a:rPr>
              <a:t>・第</a:t>
            </a:r>
            <a:r>
              <a:rPr lang="en-US" altLang="ja-JP" sz="1100" dirty="0">
                <a:solidFill>
                  <a:srgbClr val="20242A"/>
                </a:solidFill>
                <a:latin typeface="ＭＳ Ｐゴシック" panose="020B0600070205080204" pitchFamily="50" charset="-128"/>
                <a:ea typeface="ＭＳ Ｐゴシック" panose="020B0600070205080204" pitchFamily="50" charset="-128"/>
              </a:rPr>
              <a:t>2</a:t>
            </a:r>
            <a:r>
              <a:rPr lang="ja-JP" altLang="en-US" sz="1100" dirty="0">
                <a:solidFill>
                  <a:srgbClr val="20242A"/>
                </a:solidFill>
                <a:latin typeface="ＭＳ Ｐゴシック" panose="020B0600070205080204" pitchFamily="50" charset="-128"/>
                <a:ea typeface="ＭＳ Ｐゴシック" panose="020B0600070205080204" pitchFamily="50" charset="-128"/>
              </a:rPr>
              <a:t>リターン</a:t>
            </a:r>
            <a:endParaRPr lang="en-US" sz="1100" dirty="0">
              <a:latin typeface="ＭＳ Ｐゴシック" panose="020B0600070205080204" pitchFamily="50" charset="-128"/>
              <a:ea typeface="ＭＳ Ｐゴシック" panose="020B0600070205080204" pitchFamily="50" charset="-128"/>
            </a:endParaRPr>
          </a:p>
        </p:txBody>
      </p:sp>
      <p:sp>
        <p:nvSpPr>
          <p:cNvPr id="24" name="Shape 21"/>
          <p:cNvSpPr/>
          <p:nvPr/>
        </p:nvSpPr>
        <p:spPr>
          <a:xfrm>
            <a:off x="3822192" y="2424989"/>
            <a:ext cx="1184148"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5" name="Text 22"/>
          <p:cNvSpPr/>
          <p:nvPr/>
        </p:nvSpPr>
        <p:spPr>
          <a:xfrm>
            <a:off x="3849624" y="2443277"/>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Livox Avia</a:t>
            </a:r>
            <a:endParaRPr lang="en-US" sz="1100" dirty="0">
              <a:latin typeface="ＭＳ Ｐゴシック" panose="020B0600070205080204" pitchFamily="50" charset="-128"/>
              <a:ea typeface="ＭＳ Ｐゴシック" panose="020B0600070205080204" pitchFamily="50" charset="-128"/>
            </a:endParaRPr>
          </a:p>
        </p:txBody>
      </p:sp>
      <p:sp>
        <p:nvSpPr>
          <p:cNvPr id="26" name="Shape 23"/>
          <p:cNvSpPr/>
          <p:nvPr/>
        </p:nvSpPr>
        <p:spPr>
          <a:xfrm>
            <a:off x="5006340" y="2424989"/>
            <a:ext cx="1468344"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7" name="Text 24"/>
          <p:cNvSpPr/>
          <p:nvPr/>
        </p:nvSpPr>
        <p:spPr>
          <a:xfrm>
            <a:off x="5033772" y="2443277"/>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ソリッドステート</a:t>
            </a:r>
            <a:r>
              <a:rPr lang="en-US" altLang="ja-JP" sz="1100" dirty="0">
                <a:solidFill>
                  <a:srgbClr val="20242A"/>
                </a:solidFill>
                <a:latin typeface="ＭＳ Ｐゴシック" panose="020B0600070205080204" pitchFamily="50" charset="-128"/>
                <a:ea typeface="ＭＳ Ｐゴシック" panose="020B0600070205080204" pitchFamily="50" charset="-128"/>
              </a:rPr>
              <a:t>Lidar</a:t>
            </a:r>
            <a:endParaRPr lang="en-US" sz="1100" dirty="0">
              <a:latin typeface="ＭＳ Ｐゴシック" panose="020B0600070205080204" pitchFamily="50" charset="-128"/>
              <a:ea typeface="ＭＳ Ｐゴシック" panose="020B0600070205080204" pitchFamily="50" charset="-128"/>
            </a:endParaRPr>
          </a:p>
        </p:txBody>
      </p:sp>
      <p:sp>
        <p:nvSpPr>
          <p:cNvPr id="28" name="Shape 25"/>
          <p:cNvSpPr/>
          <p:nvPr/>
        </p:nvSpPr>
        <p:spPr>
          <a:xfrm>
            <a:off x="6474684" y="2424989"/>
            <a:ext cx="2084100"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9" name="Text 26"/>
          <p:cNvSpPr/>
          <p:nvPr/>
        </p:nvSpPr>
        <p:spPr>
          <a:xfrm>
            <a:off x="6502116" y="2443277"/>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1</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2</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リターン</a:t>
            </a:r>
            <a:endParaRPr lang="en-US" sz="1100" dirty="0">
              <a:latin typeface="ＭＳ Ｐゴシック" panose="020B0600070205080204" pitchFamily="50" charset="-128"/>
              <a:ea typeface="ＭＳ Ｐゴシック" panose="020B0600070205080204" pitchFamily="50" charset="-128"/>
            </a:endParaRPr>
          </a:p>
        </p:txBody>
      </p:sp>
      <p:sp>
        <p:nvSpPr>
          <p:cNvPr id="30" name="Shape 27"/>
          <p:cNvSpPr/>
          <p:nvPr/>
        </p:nvSpPr>
        <p:spPr>
          <a:xfrm>
            <a:off x="3822192" y="2904134"/>
            <a:ext cx="1184148"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1" name="Text 28"/>
          <p:cNvSpPr/>
          <p:nvPr/>
        </p:nvSpPr>
        <p:spPr>
          <a:xfrm>
            <a:off x="3849624" y="2922422"/>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Insta360</a:t>
            </a:r>
            <a:endParaRPr lang="en-US" sz="1100" dirty="0">
              <a:latin typeface="ＭＳ Ｐゴシック" panose="020B0600070205080204" pitchFamily="50" charset="-128"/>
              <a:ea typeface="ＭＳ Ｐゴシック" panose="020B0600070205080204" pitchFamily="50" charset="-128"/>
            </a:endParaRPr>
          </a:p>
        </p:txBody>
      </p:sp>
      <p:sp>
        <p:nvSpPr>
          <p:cNvPr id="32" name="Shape 29"/>
          <p:cNvSpPr/>
          <p:nvPr/>
        </p:nvSpPr>
        <p:spPr>
          <a:xfrm>
            <a:off x="5006340" y="2904134"/>
            <a:ext cx="1468344"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3" name="Text 30"/>
          <p:cNvSpPr/>
          <p:nvPr/>
        </p:nvSpPr>
        <p:spPr>
          <a:xfrm>
            <a:off x="5033772" y="2922422"/>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魚眼カメラ</a:t>
            </a:r>
            <a:endParaRPr lang="en-US" sz="1100" dirty="0">
              <a:latin typeface="ＭＳ Ｐゴシック" panose="020B0600070205080204" pitchFamily="50" charset="-128"/>
              <a:ea typeface="ＭＳ Ｐゴシック" panose="020B0600070205080204" pitchFamily="50" charset="-128"/>
            </a:endParaRPr>
          </a:p>
        </p:txBody>
      </p:sp>
      <p:sp>
        <p:nvSpPr>
          <p:cNvPr id="34" name="Shape 31"/>
          <p:cNvSpPr/>
          <p:nvPr/>
        </p:nvSpPr>
        <p:spPr>
          <a:xfrm>
            <a:off x="6474684" y="2904134"/>
            <a:ext cx="2084100"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5" name="Text 32"/>
          <p:cNvSpPr/>
          <p:nvPr/>
        </p:nvSpPr>
        <p:spPr>
          <a:xfrm>
            <a:off x="6502116" y="2922422"/>
            <a:ext cx="2029236"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RGB</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カメラ</a:t>
            </a:r>
            <a:endParaRPr lang="en-US" sz="1100" dirty="0">
              <a:latin typeface="ＭＳ Ｐゴシック" panose="020B0600070205080204" pitchFamily="50" charset="-128"/>
              <a:ea typeface="ＭＳ Ｐゴシック" panose="020B0600070205080204" pitchFamily="50" charset="-128"/>
            </a:endParaRPr>
          </a:p>
        </p:txBody>
      </p:sp>
      <p:sp>
        <p:nvSpPr>
          <p:cNvPr id="36" name="Shape 33"/>
          <p:cNvSpPr/>
          <p:nvPr/>
        </p:nvSpPr>
        <p:spPr>
          <a:xfrm>
            <a:off x="3822192" y="3575304"/>
            <a:ext cx="4736592" cy="694944"/>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sz="2000">
              <a:latin typeface="ＭＳ Ｐゴシック" panose="020B0600070205080204" pitchFamily="50" charset="-128"/>
              <a:ea typeface="ＭＳ Ｐゴシック" panose="020B0600070205080204" pitchFamily="50" charset="-128"/>
            </a:endParaRPr>
          </a:p>
        </p:txBody>
      </p:sp>
      <p:sp>
        <p:nvSpPr>
          <p:cNvPr id="37" name="Shape 34"/>
          <p:cNvSpPr/>
          <p:nvPr/>
        </p:nvSpPr>
        <p:spPr>
          <a:xfrm>
            <a:off x="3822192" y="3575304"/>
            <a:ext cx="50292" cy="694944"/>
          </a:xfrm>
          <a:prstGeom prst="rect">
            <a:avLst/>
          </a:prstGeom>
          <a:solidFill>
            <a:srgbClr val="2A9D8F"/>
          </a:solidFill>
          <a:ln w="12700">
            <a:solidFill>
              <a:srgbClr val="2A9D8F"/>
            </a:solidFill>
            <a:prstDash val="solid"/>
          </a:ln>
        </p:spPr>
        <p:txBody>
          <a:bodyPr/>
          <a:lstStyle/>
          <a:p>
            <a:endParaRPr lang="ja-JP" altLang="en-US" sz="2000">
              <a:latin typeface="ＭＳ Ｐゴシック" panose="020B0600070205080204" pitchFamily="50" charset="-128"/>
              <a:ea typeface="ＭＳ Ｐゴシック" panose="020B0600070205080204" pitchFamily="50" charset="-128"/>
            </a:endParaRPr>
          </a:p>
        </p:txBody>
      </p:sp>
      <p:sp>
        <p:nvSpPr>
          <p:cNvPr id="38" name="Text 35"/>
          <p:cNvSpPr/>
          <p:nvPr/>
        </p:nvSpPr>
        <p:spPr>
          <a:xfrm>
            <a:off x="3986784" y="3648456"/>
            <a:ext cx="4462272" cy="237744"/>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ＭＳ Ｐゴシック" panose="020B0600070205080204" pitchFamily="50" charset="-128"/>
                <a:ea typeface="ＭＳ Ｐゴシック" panose="020B0600070205080204" pitchFamily="50" charset="-128"/>
                <a:cs typeface="Yu Gothic" pitchFamily="34" charset="-120"/>
              </a:rPr>
              <a:t>同期</a:t>
            </a:r>
            <a:endParaRPr lang="en-US" sz="1400" dirty="0">
              <a:latin typeface="ＭＳ Ｐゴシック" panose="020B0600070205080204" pitchFamily="50" charset="-128"/>
              <a:ea typeface="ＭＳ Ｐゴシック" panose="020B0600070205080204" pitchFamily="50" charset="-128"/>
            </a:endParaRPr>
          </a:p>
        </p:txBody>
      </p:sp>
      <p:sp>
        <p:nvSpPr>
          <p:cNvPr id="39" name="Text 36"/>
          <p:cNvSpPr/>
          <p:nvPr/>
        </p:nvSpPr>
        <p:spPr>
          <a:xfrm>
            <a:off x="3986784" y="3931920"/>
            <a:ext cx="4462272" cy="246888"/>
          </a:xfrm>
          <a:prstGeom prst="rect">
            <a:avLst/>
          </a:prstGeom>
          <a:noFill/>
          <a:ln/>
        </p:spPr>
        <p:txBody>
          <a:bodyPr wrap="square" lIns="12700" tIns="0" rIns="0" bIns="25400" rtlCol="0" anchor="t">
            <a:noAutofit/>
          </a:bodyPr>
          <a:lstStyle/>
          <a:p>
            <a:pPr marL="0" indent="0">
              <a:buNone/>
            </a:pPr>
            <a:r>
              <a:rPr lang="en-US" sz="1200" dirty="0">
                <a:solidFill>
                  <a:srgbClr val="4D5966"/>
                </a:solidFill>
                <a:latin typeface="ＭＳ Ｐゴシック" panose="020B0600070205080204" pitchFamily="50" charset="-128"/>
                <a:ea typeface="ＭＳ Ｐゴシック" panose="020B0600070205080204" pitchFamily="50" charset="-128"/>
                <a:cs typeface="Yu Gothic" pitchFamily="34" charset="-120"/>
              </a:rPr>
              <a:t>PTP hardware synchronization：センサ間時刻差を1 ms以内に制御</a:t>
            </a:r>
            <a:endParaRPr lang="en-US" sz="1200" dirty="0">
              <a:latin typeface="ＭＳ Ｐゴシック" panose="020B0600070205080204" pitchFamily="50" charset="-128"/>
              <a:ea typeface="ＭＳ Ｐゴシック" panose="020B0600070205080204" pitchFamily="50" charset="-128"/>
            </a:endParaRPr>
          </a:p>
        </p:txBody>
      </p:sp>
      <p:sp>
        <p:nvSpPr>
          <p:cNvPr id="40" name="Text 37"/>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2; Table 2; Sec. 3.1</a:t>
            </a:r>
            <a:endParaRPr lang="en-US" sz="850" dirty="0"/>
          </a:p>
        </p:txBody>
      </p:sp>
      <p:sp>
        <p:nvSpPr>
          <p:cNvPr id="42" name="テキスト ボックス 41">
            <a:extLst>
              <a:ext uri="{FF2B5EF4-FFF2-40B4-BE49-F238E27FC236}">
                <a16:creationId xmlns:a16="http://schemas.microsoft.com/office/drawing/2014/main" id="{91D01CF1-BC4E-A038-A972-A75E36E1B4D3}"/>
              </a:ext>
            </a:extLst>
          </p:cNvPr>
          <p:cNvSpPr txBox="1"/>
          <p:nvPr/>
        </p:nvSpPr>
        <p:spPr>
          <a:xfrm>
            <a:off x="115748" y="135654"/>
            <a:ext cx="5564529" cy="415498"/>
          </a:xfrm>
          <a:prstGeom prst="rect">
            <a:avLst/>
          </a:prstGeom>
          <a:noFill/>
        </p:spPr>
        <p:txBody>
          <a:bodyPr wrap="square" rtlCol="0">
            <a:spAutoFit/>
          </a:bodyPr>
          <a:lstStyle/>
          <a:p>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データ取得プラットフォーム</a:t>
            </a:r>
          </a:p>
        </p:txBody>
      </p:sp>
      <p:sp>
        <p:nvSpPr>
          <p:cNvPr id="46" name="Shape 3">
            <a:extLst>
              <a:ext uri="{FF2B5EF4-FFF2-40B4-BE49-F238E27FC236}">
                <a16:creationId xmlns:a16="http://schemas.microsoft.com/office/drawing/2014/main" id="{3431A790-198E-FB7A-A108-ADD83A43D203}"/>
              </a:ext>
            </a:extLst>
          </p:cNvPr>
          <p:cNvSpPr/>
          <p:nvPr/>
        </p:nvSpPr>
        <p:spPr>
          <a:xfrm>
            <a:off x="5006340" y="987552"/>
            <a:ext cx="1468344"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dirty="0">
              <a:latin typeface="ＭＳ Ｐゴシック" panose="020B0600070205080204" pitchFamily="50" charset="-128"/>
              <a:ea typeface="ＭＳ Ｐゴシック" panose="020B0600070205080204" pitchFamily="50" charset="-128"/>
            </a:endParaRPr>
          </a:p>
        </p:txBody>
      </p:sp>
      <p:sp>
        <p:nvSpPr>
          <p:cNvPr id="50" name="Text 4">
            <a:extLst>
              <a:ext uri="{FF2B5EF4-FFF2-40B4-BE49-F238E27FC236}">
                <a16:creationId xmlns:a16="http://schemas.microsoft.com/office/drawing/2014/main" id="{5D5B191D-7585-1191-C815-A355DE44AC45}"/>
              </a:ext>
            </a:extLst>
          </p:cNvPr>
          <p:cNvSpPr/>
          <p:nvPr/>
        </p:nvSpPr>
        <p:spPr>
          <a:xfrm>
            <a:off x="5175870" y="999208"/>
            <a:ext cx="1129284" cy="442570"/>
          </a:xfrm>
          <a:prstGeom prst="rect">
            <a:avLst/>
          </a:prstGeom>
          <a:noFill/>
          <a:ln/>
        </p:spPr>
        <p:txBody>
          <a:bodyPr wrap="square" lIns="0" tIns="0" rIns="0" bIns="0" rtlCol="0" anchor="ctr">
            <a:normAutofit/>
          </a:bodyPr>
          <a:lstStyle/>
          <a:p>
            <a:pPr algn="ctr"/>
            <a:r>
              <a:rPr lang="ja-JP" altLang="en-US"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方式</a:t>
            </a:r>
            <a:endParaRPr lang="en-US" altLang="ja-JP" sz="1400" dirty="0">
              <a:latin typeface="ＭＳ Ｐゴシック" panose="020B0600070205080204" pitchFamily="50" charset="-128"/>
              <a:ea typeface="ＭＳ Ｐゴシック" panose="020B0600070205080204" pitchFamily="50" charset="-128"/>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EF124-C8D8-9C35-84E5-59E40DFFF09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977A4F4-ABE6-E309-AF9F-77BF419AF383}"/>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E74E6F09-5D1E-D07B-DF36-4DCBBF931EB5}"/>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7D4B7EA5-3CCB-CB90-C2B6-4A6AC3865701}"/>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4.2</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データ取得環境</a:t>
            </a:r>
          </a:p>
        </p:txBody>
      </p:sp>
      <p:sp>
        <p:nvSpPr>
          <p:cNvPr id="2" name="スライド番号プレースホルダー 1">
            <a:extLst>
              <a:ext uri="{FF2B5EF4-FFF2-40B4-BE49-F238E27FC236}">
                <a16:creationId xmlns:a16="http://schemas.microsoft.com/office/drawing/2014/main" id="{FBE55223-B578-4C99-9BE1-AB8313D85279}"/>
              </a:ext>
            </a:extLst>
          </p:cNvPr>
          <p:cNvSpPr>
            <a:spLocks noGrp="1"/>
          </p:cNvSpPr>
          <p:nvPr>
            <p:ph type="sldNum" sz="quarter" idx="12"/>
          </p:nvPr>
        </p:nvSpPr>
        <p:spPr/>
        <p:txBody>
          <a:bodyPr/>
          <a:lstStyle/>
          <a:p>
            <a:fld id="{E28785FB-366A-49F3-B842-F6DCBAD5BBAB}" type="slidenum">
              <a:rPr kumimoji="1" lang="ja-JP" altLang="en-US" smtClean="0"/>
              <a:t>12</a:t>
            </a:fld>
            <a:endParaRPr kumimoji="1" lang="ja-JP" altLang="en-US"/>
          </a:p>
        </p:txBody>
      </p:sp>
    </p:spTree>
    <p:extLst>
      <p:ext uri="{BB962C8B-B14F-4D97-AF65-F5344CB8AC3E}">
        <p14:creationId xmlns:p14="http://schemas.microsoft.com/office/powerpoint/2010/main" val="2899040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3シーケンスは反射材・視点・入射角の多様性を意図して収集された</a:t>
            </a:r>
            <a:endParaRPr lang="en-US" sz="2100" dirty="0"/>
          </a:p>
        </p:txBody>
      </p:sp>
      <p:pic>
        <p:nvPicPr>
          <p:cNvPr id="5" name="Image 0" descr="Seq.1｜鏡・床から天井までの窓"/>
          <p:cNvPicPr>
            <a:picLocks noChangeAspect="1"/>
          </p:cNvPicPr>
          <p:nvPr/>
        </p:nvPicPr>
        <p:blipFill>
          <a:blip r:embed="rId3"/>
          <a:stretch>
            <a:fillRect/>
          </a:stretch>
        </p:blipFill>
        <p:spPr>
          <a:xfrm>
            <a:off x="502920" y="1356187"/>
            <a:ext cx="2514600" cy="1885950"/>
          </a:xfrm>
          <a:prstGeom prst="rect">
            <a:avLst/>
          </a:prstGeom>
        </p:spPr>
      </p:pic>
      <p:sp>
        <p:nvSpPr>
          <p:cNvPr id="6" name="Text 3"/>
          <p:cNvSpPr/>
          <p:nvPr/>
        </p:nvSpPr>
        <p:spPr>
          <a:xfrm>
            <a:off x="502920" y="3341577"/>
            <a:ext cx="2514600" cy="1597369"/>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Seq.1｜鏡</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のある廊下</a:t>
            </a:r>
            <a:endParaRPr lang="en-US" altLang="ja-JP"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altLang="ja-JP" sz="700" b="1"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壁掛け鏡</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床から天井までの窓</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鏡による壁</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天井の反射</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pic>
        <p:nvPicPr>
          <p:cNvPr id="9" name="Image 1" descr="Seq.2｜会議室・全面ガラス"/>
          <p:cNvPicPr>
            <a:picLocks noChangeAspect="1"/>
          </p:cNvPicPr>
          <p:nvPr/>
        </p:nvPicPr>
        <p:blipFill>
          <a:blip r:embed="rId4"/>
          <a:stretch>
            <a:fillRect/>
          </a:stretch>
        </p:blipFill>
        <p:spPr>
          <a:xfrm>
            <a:off x="3246120" y="1357027"/>
            <a:ext cx="2514600" cy="1884269"/>
          </a:xfrm>
          <a:prstGeom prst="rect">
            <a:avLst/>
          </a:prstGeom>
        </p:spPr>
      </p:pic>
      <p:sp>
        <p:nvSpPr>
          <p:cNvPr id="10" name="Text 6"/>
          <p:cNvSpPr/>
          <p:nvPr/>
        </p:nvSpPr>
        <p:spPr>
          <a:xfrm>
            <a:off x="3246120" y="3341577"/>
            <a:ext cx="2514600" cy="1597369"/>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Seq.2｜</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オフィス・会議室</a:t>
            </a:r>
            <a:endParaRPr lang="en-US" altLang="ja-JP"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sz="8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全面ガラスの会議室</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ガラスドア</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ガラス手すり</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鏡およびその他の反射物体</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pic>
        <p:nvPicPr>
          <p:cNvPr id="13" name="Image 2" descr="Seq.3｜手すり・掲示・TV・白板"/>
          <p:cNvPicPr>
            <a:picLocks noChangeAspect="1"/>
          </p:cNvPicPr>
          <p:nvPr/>
        </p:nvPicPr>
        <p:blipFill>
          <a:blip r:embed="rId5"/>
          <a:stretch>
            <a:fillRect/>
          </a:stretch>
        </p:blipFill>
        <p:spPr>
          <a:xfrm>
            <a:off x="5989320" y="1357027"/>
            <a:ext cx="2514600" cy="1884269"/>
          </a:xfrm>
          <a:prstGeom prst="rect">
            <a:avLst/>
          </a:prstGeom>
        </p:spPr>
      </p:pic>
      <p:sp>
        <p:nvSpPr>
          <p:cNvPr id="14" name="Text 9"/>
          <p:cNvSpPr/>
          <p:nvPr/>
        </p:nvSpPr>
        <p:spPr>
          <a:xfrm>
            <a:off x="5989320" y="3341578"/>
            <a:ext cx="2514600" cy="1597368"/>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Seq.3｜</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フロア</a:t>
            </a:r>
            <a:endPar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sz="900" b="1"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大型窓</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ガラス手すり</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TV</a:t>
            </a: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ホワイトボード</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ポスターや施釉タイル</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2" name="テキスト ボックス 21">
            <a:extLst>
              <a:ext uri="{FF2B5EF4-FFF2-40B4-BE49-F238E27FC236}">
                <a16:creationId xmlns:a16="http://schemas.microsoft.com/office/drawing/2014/main" id="{F2CA5D7E-C980-E76D-FB85-4D1A3E05240A}"/>
              </a:ext>
            </a:extLst>
          </p:cNvPr>
          <p:cNvSpPr txBox="1"/>
          <p:nvPr/>
        </p:nvSpPr>
        <p:spPr>
          <a:xfrm>
            <a:off x="115748" y="135654"/>
            <a:ext cx="5564529" cy="415498"/>
          </a:xfrm>
          <a:prstGeom prst="rect">
            <a:avLst/>
          </a:prstGeom>
          <a:noFill/>
        </p:spPr>
        <p:txBody>
          <a:bodyPr wrap="square" rtlCol="0">
            <a:spAutoFit/>
          </a:bodyPr>
          <a:lstStyle/>
          <a:p>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データ環境</a:t>
            </a:r>
          </a:p>
        </p:txBody>
      </p:sp>
      <p:sp>
        <p:nvSpPr>
          <p:cNvPr id="24" name="テキスト ボックス 23">
            <a:extLst>
              <a:ext uri="{FF2B5EF4-FFF2-40B4-BE49-F238E27FC236}">
                <a16:creationId xmlns:a16="http://schemas.microsoft.com/office/drawing/2014/main" id="{C27CEB73-AAF0-252C-9CCE-F760DF577AFE}"/>
              </a:ext>
            </a:extLst>
          </p:cNvPr>
          <p:cNvSpPr txBox="1"/>
          <p:nvPr/>
        </p:nvSpPr>
        <p:spPr>
          <a:xfrm>
            <a:off x="115748" y="539710"/>
            <a:ext cx="8912504" cy="338554"/>
          </a:xfrm>
          <a:prstGeom prst="rect">
            <a:avLst/>
          </a:prstGeom>
          <a:noFill/>
        </p:spPr>
        <p:txBody>
          <a:bodyPr wrap="square" rtlCol="0">
            <a:spAutoFit/>
          </a:bodyPr>
          <a:lstStyle/>
          <a:p>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異なる</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環境でデータをラベル付き</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点群：</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48,024</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フレーム </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 </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ラベル付き</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画像：</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3,799</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枚を収集</a:t>
            </a:r>
            <a:endParaRPr kumimoji="1"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8626-CEA1-33A1-BFD5-17D6B1AFD4E3}"/>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B6E1DBE7-0F20-54DA-9688-D91DF2012BA4}"/>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3068AE3C-1A61-3ACF-4857-8AEF9422AD4F}"/>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a:solidFill>
                  <a:schemeClr val="bg1"/>
                </a:solidFill>
                <a:latin typeface="ＭＳ Ｐゴシック" panose="020B0600070205080204" pitchFamily="50" charset="-128"/>
                <a:ea typeface="ＭＳ Ｐゴシック" panose="020B0600070205080204" pitchFamily="50" charset="-128"/>
              </a:rPr>
              <a:t>5</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FD3E5C2C-67C2-0FE7-E0C7-FFB44935A55C}"/>
              </a:ext>
            </a:extLst>
          </p:cNvPr>
          <p:cNvSpPr txBox="1"/>
          <p:nvPr/>
        </p:nvSpPr>
        <p:spPr>
          <a:xfrm>
            <a:off x="3694376" y="1778258"/>
            <a:ext cx="4889091" cy="553998"/>
          </a:xfrm>
          <a:prstGeom prst="rect">
            <a:avLst/>
          </a:prstGeom>
          <a:noFill/>
        </p:spPr>
        <p:txBody>
          <a:bodyPr wrap="square" rtlCol="0">
            <a:spAutoFit/>
          </a:bodyPr>
          <a:lstStyle/>
          <a:p>
            <a:r>
              <a:rPr kumimoji="1" lang="ja-JP" altLang="en-US" sz="3000">
                <a:solidFill>
                  <a:schemeClr val="bg1"/>
                </a:solidFill>
                <a:latin typeface="ＭＳ Ｐゴシック" panose="020B0600070205080204" pitchFamily="50" charset="-128"/>
                <a:ea typeface="ＭＳ Ｐゴシック" panose="020B0600070205080204" pitchFamily="50" charset="-128"/>
              </a:rPr>
              <a:t>ベンチマーク結果</a:t>
            </a:r>
            <a:endParaRPr kumimoji="1" lang="ja-JP" altLang="en-US" sz="3000"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スライド番号プレースホルダー 3">
            <a:extLst>
              <a:ext uri="{FF2B5EF4-FFF2-40B4-BE49-F238E27FC236}">
                <a16:creationId xmlns:a16="http://schemas.microsoft.com/office/drawing/2014/main" id="{A99CFE1D-682F-7FA7-03D9-B51A7926CED8}"/>
              </a:ext>
            </a:extLst>
          </p:cNvPr>
          <p:cNvSpPr>
            <a:spLocks noGrp="1"/>
          </p:cNvSpPr>
          <p:nvPr>
            <p:ph type="sldNum" sz="quarter" idx="12"/>
          </p:nvPr>
        </p:nvSpPr>
        <p:spPr/>
        <p:txBody>
          <a:bodyPr/>
          <a:lstStyle/>
          <a:p>
            <a:fld id="{E28785FB-366A-49F3-B842-F6DCBAD5BBAB}" type="slidenum">
              <a:rPr kumimoji="1" lang="ja-JP" altLang="en-US" smtClean="0"/>
              <a:t>14</a:t>
            </a:fld>
            <a:endParaRPr kumimoji="1" lang="ja-JP" altLang="en-US"/>
          </a:p>
        </p:txBody>
      </p:sp>
    </p:spTree>
    <p:extLst>
      <p:ext uri="{BB962C8B-B14F-4D97-AF65-F5344CB8AC3E}">
        <p14:creationId xmlns:p14="http://schemas.microsoft.com/office/powerpoint/2010/main" val="770420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5" name="Shape 3"/>
          <p:cNvSpPr/>
          <p:nvPr/>
        </p:nvSpPr>
        <p:spPr>
          <a:xfrm>
            <a:off x="438912" y="1323267"/>
            <a:ext cx="1310884" cy="372291"/>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 name="Text 4"/>
          <p:cNvSpPr/>
          <p:nvPr/>
        </p:nvSpPr>
        <p:spPr>
          <a:xfrm>
            <a:off x="466344" y="1341555"/>
            <a:ext cx="1256020" cy="335715"/>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Method</a:t>
            </a:r>
            <a:endParaRPr lang="en-US" sz="1600" dirty="0">
              <a:latin typeface="ＭＳ Ｐゴシック" panose="020B0600070205080204" pitchFamily="50" charset="-128"/>
              <a:ea typeface="ＭＳ Ｐゴシック" panose="020B0600070205080204" pitchFamily="50" charset="-128"/>
            </a:endParaRPr>
          </a:p>
        </p:txBody>
      </p:sp>
      <p:sp>
        <p:nvSpPr>
          <p:cNvPr id="7" name="Shape 5"/>
          <p:cNvSpPr/>
          <p:nvPr/>
        </p:nvSpPr>
        <p:spPr>
          <a:xfrm>
            <a:off x="1749796" y="1323267"/>
            <a:ext cx="73737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 name="Text 6"/>
          <p:cNvSpPr/>
          <p:nvPr/>
        </p:nvSpPr>
        <p:spPr>
          <a:xfrm>
            <a:off x="1777228" y="1341555"/>
            <a:ext cx="68250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Return</a:t>
            </a:r>
            <a:endParaRPr lang="en-US" sz="1600" dirty="0">
              <a:latin typeface="ＭＳ Ｐゴシック" panose="020B0600070205080204" pitchFamily="50" charset="-128"/>
              <a:ea typeface="ＭＳ Ｐゴシック" panose="020B0600070205080204" pitchFamily="50" charset="-128"/>
            </a:endParaRPr>
          </a:p>
        </p:txBody>
      </p:sp>
      <p:sp>
        <p:nvSpPr>
          <p:cNvPr id="9" name="Shape 7"/>
          <p:cNvSpPr/>
          <p:nvPr/>
        </p:nvSpPr>
        <p:spPr>
          <a:xfrm>
            <a:off x="2487168" y="1323267"/>
            <a:ext cx="819302" cy="372291"/>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 name="Text 8"/>
          <p:cNvSpPr/>
          <p:nvPr/>
        </p:nvSpPr>
        <p:spPr>
          <a:xfrm>
            <a:off x="2514600" y="1341555"/>
            <a:ext cx="764438" cy="335715"/>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mIoU</a:t>
            </a:r>
            <a:endParaRPr lang="en-US" sz="1600" dirty="0">
              <a:latin typeface="ＭＳ Ｐゴシック" panose="020B0600070205080204" pitchFamily="50" charset="-128"/>
              <a:ea typeface="ＭＳ Ｐゴシック" panose="020B0600070205080204" pitchFamily="50" charset="-128"/>
            </a:endParaRPr>
          </a:p>
        </p:txBody>
      </p:sp>
      <p:sp>
        <p:nvSpPr>
          <p:cNvPr id="11" name="Shape 9"/>
          <p:cNvSpPr/>
          <p:nvPr/>
        </p:nvSpPr>
        <p:spPr>
          <a:xfrm>
            <a:off x="3306470"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 name="Text 10"/>
          <p:cNvSpPr/>
          <p:nvPr/>
        </p:nvSpPr>
        <p:spPr>
          <a:xfrm>
            <a:off x="3333902"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Normal</a:t>
            </a:r>
            <a:endParaRPr lang="en-US" sz="1600" dirty="0">
              <a:latin typeface="ＭＳ Ｐゴシック" panose="020B0600070205080204" pitchFamily="50" charset="-128"/>
              <a:ea typeface="ＭＳ Ｐゴシック" panose="020B0600070205080204" pitchFamily="50" charset="-128"/>
            </a:endParaRPr>
          </a:p>
        </p:txBody>
      </p:sp>
      <p:sp>
        <p:nvSpPr>
          <p:cNvPr id="13" name="Shape 11"/>
          <p:cNvSpPr/>
          <p:nvPr/>
        </p:nvSpPr>
        <p:spPr>
          <a:xfrm>
            <a:off x="4207703" y="1323267"/>
            <a:ext cx="81930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4" name="Text 12"/>
          <p:cNvSpPr/>
          <p:nvPr/>
        </p:nvSpPr>
        <p:spPr>
          <a:xfrm>
            <a:off x="4235135" y="1341555"/>
            <a:ext cx="76443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Glass</a:t>
            </a:r>
            <a:endParaRPr lang="en-US" sz="1600" dirty="0">
              <a:latin typeface="ＭＳ Ｐゴシック" panose="020B0600070205080204" pitchFamily="50" charset="-128"/>
              <a:ea typeface="ＭＳ Ｐゴシック" panose="020B0600070205080204" pitchFamily="50" charset="-128"/>
            </a:endParaRPr>
          </a:p>
        </p:txBody>
      </p:sp>
      <p:sp>
        <p:nvSpPr>
          <p:cNvPr id="15" name="Shape 13"/>
          <p:cNvSpPr/>
          <p:nvPr/>
        </p:nvSpPr>
        <p:spPr>
          <a:xfrm>
            <a:off x="5027005" y="1323267"/>
            <a:ext cx="81930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6" name="Text 14"/>
          <p:cNvSpPr/>
          <p:nvPr/>
        </p:nvSpPr>
        <p:spPr>
          <a:xfrm>
            <a:off x="5054437" y="1341555"/>
            <a:ext cx="76443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Mirror</a:t>
            </a:r>
            <a:endParaRPr lang="en-US" sz="1600" dirty="0">
              <a:latin typeface="ＭＳ Ｐゴシック" panose="020B0600070205080204" pitchFamily="50" charset="-128"/>
              <a:ea typeface="ＭＳ Ｐゴシック" panose="020B0600070205080204" pitchFamily="50" charset="-128"/>
            </a:endParaRPr>
          </a:p>
        </p:txBody>
      </p:sp>
      <p:sp>
        <p:nvSpPr>
          <p:cNvPr id="17" name="Shape 15"/>
          <p:cNvSpPr/>
          <p:nvPr/>
        </p:nvSpPr>
        <p:spPr>
          <a:xfrm>
            <a:off x="5846308"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8" name="Text 16"/>
          <p:cNvSpPr/>
          <p:nvPr/>
        </p:nvSpPr>
        <p:spPr>
          <a:xfrm>
            <a:off x="5873740"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Other</a:t>
            </a:r>
            <a:endParaRPr lang="en-US" sz="1600" dirty="0">
              <a:latin typeface="ＭＳ Ｐゴシック" panose="020B0600070205080204" pitchFamily="50" charset="-128"/>
              <a:ea typeface="ＭＳ Ｐゴシック" panose="020B0600070205080204" pitchFamily="50" charset="-128"/>
            </a:endParaRPr>
          </a:p>
        </p:txBody>
      </p:sp>
      <p:sp>
        <p:nvSpPr>
          <p:cNvPr id="19" name="Shape 17"/>
          <p:cNvSpPr/>
          <p:nvPr/>
        </p:nvSpPr>
        <p:spPr>
          <a:xfrm>
            <a:off x="6747540"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0" name="Text 18"/>
          <p:cNvSpPr/>
          <p:nvPr/>
        </p:nvSpPr>
        <p:spPr>
          <a:xfrm>
            <a:off x="6774972"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Reflect.</a:t>
            </a:r>
            <a:endParaRPr lang="en-US" sz="1600" dirty="0">
              <a:latin typeface="ＭＳ Ｐゴシック" panose="020B0600070205080204" pitchFamily="50" charset="-128"/>
              <a:ea typeface="ＭＳ Ｐゴシック" panose="020B0600070205080204" pitchFamily="50" charset="-128"/>
            </a:endParaRPr>
          </a:p>
        </p:txBody>
      </p:sp>
      <p:sp>
        <p:nvSpPr>
          <p:cNvPr id="21" name="Shape 19"/>
          <p:cNvSpPr/>
          <p:nvPr/>
        </p:nvSpPr>
        <p:spPr>
          <a:xfrm>
            <a:off x="7648773" y="1323267"/>
            <a:ext cx="98316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2" name="Text 20"/>
          <p:cNvSpPr/>
          <p:nvPr/>
        </p:nvSpPr>
        <p:spPr>
          <a:xfrm>
            <a:off x="7676205" y="1341555"/>
            <a:ext cx="92829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Obstacle</a:t>
            </a:r>
            <a:endParaRPr lang="en-US" sz="1600" dirty="0">
              <a:latin typeface="ＭＳ Ｐゴシック" panose="020B0600070205080204" pitchFamily="50" charset="-128"/>
              <a:ea typeface="ＭＳ Ｐゴシック" panose="020B0600070205080204" pitchFamily="50" charset="-128"/>
            </a:endParaRPr>
          </a:p>
        </p:txBody>
      </p:sp>
      <p:sp>
        <p:nvSpPr>
          <p:cNvPr id="23" name="Shape 21"/>
          <p:cNvSpPr/>
          <p:nvPr/>
        </p:nvSpPr>
        <p:spPr>
          <a:xfrm>
            <a:off x="438912" y="1695558"/>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4" name="Text 22"/>
          <p:cNvSpPr/>
          <p:nvPr/>
        </p:nvSpPr>
        <p:spPr>
          <a:xfrm>
            <a:off x="466344" y="1713846"/>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Minkowski</a:t>
            </a:r>
            <a:endParaRPr lang="en-US" sz="1400" dirty="0">
              <a:latin typeface="ＭＳ Ｐゴシック" panose="020B0600070205080204" pitchFamily="50" charset="-128"/>
              <a:ea typeface="ＭＳ Ｐゴシック" panose="020B0600070205080204" pitchFamily="50" charset="-128"/>
            </a:endParaRPr>
          </a:p>
        </p:txBody>
      </p:sp>
      <p:sp>
        <p:nvSpPr>
          <p:cNvPr id="25" name="Shape 23"/>
          <p:cNvSpPr/>
          <p:nvPr/>
        </p:nvSpPr>
        <p:spPr>
          <a:xfrm>
            <a:off x="1749796" y="1695558"/>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6" name="Text 24"/>
          <p:cNvSpPr/>
          <p:nvPr/>
        </p:nvSpPr>
        <p:spPr>
          <a:xfrm>
            <a:off x="1777228" y="1713846"/>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27" name="Shape 25"/>
          <p:cNvSpPr/>
          <p:nvPr/>
        </p:nvSpPr>
        <p:spPr>
          <a:xfrm>
            <a:off x="2487168"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8" name="Text 26"/>
          <p:cNvSpPr/>
          <p:nvPr/>
        </p:nvSpPr>
        <p:spPr>
          <a:xfrm>
            <a:off x="2514600"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81.55</a:t>
            </a:r>
            <a:endParaRPr lang="en-US" sz="1400" dirty="0">
              <a:latin typeface="ＭＳ Ｐゴシック" panose="020B0600070205080204" pitchFamily="50" charset="-128"/>
              <a:ea typeface="ＭＳ Ｐゴシック" panose="020B0600070205080204" pitchFamily="50" charset="-128"/>
            </a:endParaRPr>
          </a:p>
        </p:txBody>
      </p:sp>
      <p:sp>
        <p:nvSpPr>
          <p:cNvPr id="29" name="Shape 27"/>
          <p:cNvSpPr/>
          <p:nvPr/>
        </p:nvSpPr>
        <p:spPr>
          <a:xfrm>
            <a:off x="3306470"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0" name="Text 28"/>
          <p:cNvSpPr/>
          <p:nvPr/>
        </p:nvSpPr>
        <p:spPr>
          <a:xfrm>
            <a:off x="3333902"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96.52</a:t>
            </a:r>
            <a:endParaRPr lang="en-US" sz="1400" dirty="0">
              <a:latin typeface="ＭＳ Ｐゴシック" panose="020B0600070205080204" pitchFamily="50" charset="-128"/>
              <a:ea typeface="ＭＳ Ｐゴシック" panose="020B0600070205080204" pitchFamily="50" charset="-128"/>
            </a:endParaRPr>
          </a:p>
        </p:txBody>
      </p:sp>
      <p:sp>
        <p:nvSpPr>
          <p:cNvPr id="31" name="Shape 29"/>
          <p:cNvSpPr/>
          <p:nvPr/>
        </p:nvSpPr>
        <p:spPr>
          <a:xfrm>
            <a:off x="4207703"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2" name="Text 30"/>
          <p:cNvSpPr/>
          <p:nvPr/>
        </p:nvSpPr>
        <p:spPr>
          <a:xfrm>
            <a:off x="4235135"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69.40</a:t>
            </a:r>
            <a:endParaRPr lang="en-US" sz="1400" dirty="0">
              <a:latin typeface="ＭＳ Ｐゴシック" panose="020B0600070205080204" pitchFamily="50" charset="-128"/>
              <a:ea typeface="ＭＳ Ｐゴシック" panose="020B0600070205080204" pitchFamily="50" charset="-128"/>
            </a:endParaRPr>
          </a:p>
        </p:txBody>
      </p:sp>
      <p:sp>
        <p:nvSpPr>
          <p:cNvPr id="33" name="Shape 31"/>
          <p:cNvSpPr/>
          <p:nvPr/>
        </p:nvSpPr>
        <p:spPr>
          <a:xfrm>
            <a:off x="5027005"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4" name="Text 32"/>
          <p:cNvSpPr/>
          <p:nvPr/>
        </p:nvSpPr>
        <p:spPr>
          <a:xfrm>
            <a:off x="5054437"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76.51</a:t>
            </a:r>
            <a:endParaRPr lang="en-US" sz="1400" dirty="0">
              <a:latin typeface="ＭＳ Ｐゴシック" panose="020B0600070205080204" pitchFamily="50" charset="-128"/>
              <a:ea typeface="ＭＳ Ｐゴシック" panose="020B0600070205080204" pitchFamily="50" charset="-128"/>
            </a:endParaRPr>
          </a:p>
        </p:txBody>
      </p:sp>
      <p:sp>
        <p:nvSpPr>
          <p:cNvPr id="35" name="Shape 33"/>
          <p:cNvSpPr/>
          <p:nvPr/>
        </p:nvSpPr>
        <p:spPr>
          <a:xfrm>
            <a:off x="5846308"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6" name="Text 34"/>
          <p:cNvSpPr/>
          <p:nvPr/>
        </p:nvSpPr>
        <p:spPr>
          <a:xfrm>
            <a:off x="5873740"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84.96</a:t>
            </a:r>
            <a:endParaRPr lang="en-US" sz="1400" dirty="0">
              <a:latin typeface="ＭＳ Ｐゴシック" panose="020B0600070205080204" pitchFamily="50" charset="-128"/>
              <a:ea typeface="ＭＳ Ｐゴシック" panose="020B0600070205080204" pitchFamily="50" charset="-128"/>
            </a:endParaRPr>
          </a:p>
        </p:txBody>
      </p:sp>
      <p:sp>
        <p:nvSpPr>
          <p:cNvPr id="37" name="Shape 35"/>
          <p:cNvSpPr/>
          <p:nvPr/>
        </p:nvSpPr>
        <p:spPr>
          <a:xfrm>
            <a:off x="6747540"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8" name="Text 36"/>
          <p:cNvSpPr/>
          <p:nvPr/>
        </p:nvSpPr>
        <p:spPr>
          <a:xfrm>
            <a:off x="6774972"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84.45</a:t>
            </a:r>
            <a:endParaRPr lang="en-US" sz="1400" dirty="0">
              <a:latin typeface="ＭＳ Ｐゴシック" panose="020B0600070205080204" pitchFamily="50" charset="-128"/>
              <a:ea typeface="ＭＳ Ｐゴシック" panose="020B0600070205080204" pitchFamily="50" charset="-128"/>
            </a:endParaRPr>
          </a:p>
        </p:txBody>
      </p:sp>
      <p:sp>
        <p:nvSpPr>
          <p:cNvPr id="39" name="Shape 37"/>
          <p:cNvSpPr/>
          <p:nvPr/>
        </p:nvSpPr>
        <p:spPr>
          <a:xfrm>
            <a:off x="7648773" y="1695558"/>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0" name="Text 38"/>
          <p:cNvSpPr/>
          <p:nvPr/>
        </p:nvSpPr>
        <p:spPr>
          <a:xfrm>
            <a:off x="7676205" y="1713846"/>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77.45</a:t>
            </a:r>
            <a:endParaRPr lang="en-US" sz="1400" dirty="0">
              <a:latin typeface="ＭＳ Ｐゴシック" panose="020B0600070205080204" pitchFamily="50" charset="-128"/>
              <a:ea typeface="ＭＳ Ｐゴシック" panose="020B0600070205080204" pitchFamily="50" charset="-128"/>
            </a:endParaRPr>
          </a:p>
        </p:txBody>
      </p:sp>
      <p:sp>
        <p:nvSpPr>
          <p:cNvPr id="41" name="Shape 39"/>
          <p:cNvSpPr/>
          <p:nvPr/>
        </p:nvSpPr>
        <p:spPr>
          <a:xfrm>
            <a:off x="438912" y="2067850"/>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2" name="Text 40"/>
          <p:cNvSpPr/>
          <p:nvPr/>
        </p:nvSpPr>
        <p:spPr>
          <a:xfrm>
            <a:off x="466344" y="2086138"/>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Minkowski</a:t>
            </a:r>
            <a:endParaRPr lang="en-US" sz="1400" dirty="0">
              <a:latin typeface="ＭＳ Ｐゴシック" panose="020B0600070205080204" pitchFamily="50" charset="-128"/>
              <a:ea typeface="ＭＳ Ｐゴシック" panose="020B0600070205080204" pitchFamily="50" charset="-128"/>
            </a:endParaRPr>
          </a:p>
        </p:txBody>
      </p:sp>
      <p:sp>
        <p:nvSpPr>
          <p:cNvPr id="43" name="Shape 41"/>
          <p:cNvSpPr/>
          <p:nvPr/>
        </p:nvSpPr>
        <p:spPr>
          <a:xfrm>
            <a:off x="1749796" y="2067850"/>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4" name="Text 42"/>
          <p:cNvSpPr/>
          <p:nvPr/>
        </p:nvSpPr>
        <p:spPr>
          <a:xfrm>
            <a:off x="1777228" y="2086138"/>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45" name="Shape 43"/>
          <p:cNvSpPr/>
          <p:nvPr/>
        </p:nvSpPr>
        <p:spPr>
          <a:xfrm>
            <a:off x="2487168"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6" name="Text 44"/>
          <p:cNvSpPr/>
          <p:nvPr/>
        </p:nvSpPr>
        <p:spPr>
          <a:xfrm>
            <a:off x="2514600"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82.11</a:t>
            </a:r>
            <a:endParaRPr lang="en-US" sz="1400" dirty="0">
              <a:latin typeface="ＭＳ Ｐゴシック" panose="020B0600070205080204" pitchFamily="50" charset="-128"/>
              <a:ea typeface="ＭＳ Ｐゴシック" panose="020B0600070205080204" pitchFamily="50" charset="-128"/>
            </a:endParaRPr>
          </a:p>
        </p:txBody>
      </p:sp>
      <p:sp>
        <p:nvSpPr>
          <p:cNvPr id="47" name="Shape 45"/>
          <p:cNvSpPr/>
          <p:nvPr/>
        </p:nvSpPr>
        <p:spPr>
          <a:xfrm>
            <a:off x="3306470"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8" name="Text 46"/>
          <p:cNvSpPr/>
          <p:nvPr/>
        </p:nvSpPr>
        <p:spPr>
          <a:xfrm>
            <a:off x="3333902"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96.75</a:t>
            </a:r>
            <a:endParaRPr lang="en-US" sz="1400" dirty="0">
              <a:latin typeface="ＭＳ Ｐゴシック" panose="020B0600070205080204" pitchFamily="50" charset="-128"/>
              <a:ea typeface="ＭＳ Ｐゴシック" panose="020B0600070205080204" pitchFamily="50" charset="-128"/>
            </a:endParaRPr>
          </a:p>
        </p:txBody>
      </p:sp>
      <p:sp>
        <p:nvSpPr>
          <p:cNvPr id="49" name="Shape 47"/>
          <p:cNvSpPr/>
          <p:nvPr/>
        </p:nvSpPr>
        <p:spPr>
          <a:xfrm>
            <a:off x="4207703"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0" name="Text 48"/>
          <p:cNvSpPr/>
          <p:nvPr/>
        </p:nvSpPr>
        <p:spPr>
          <a:xfrm>
            <a:off x="4235135"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70.27</a:t>
            </a:r>
            <a:endParaRPr lang="en-US" sz="1400" dirty="0">
              <a:latin typeface="ＭＳ Ｐゴシック" panose="020B0600070205080204" pitchFamily="50" charset="-128"/>
              <a:ea typeface="ＭＳ Ｐゴシック" panose="020B0600070205080204" pitchFamily="50" charset="-128"/>
            </a:endParaRPr>
          </a:p>
        </p:txBody>
      </p:sp>
      <p:sp>
        <p:nvSpPr>
          <p:cNvPr id="51" name="Shape 49"/>
          <p:cNvSpPr/>
          <p:nvPr/>
        </p:nvSpPr>
        <p:spPr>
          <a:xfrm>
            <a:off x="5027005"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2" name="Text 50"/>
          <p:cNvSpPr/>
          <p:nvPr/>
        </p:nvSpPr>
        <p:spPr>
          <a:xfrm>
            <a:off x="5054437"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74.38</a:t>
            </a:r>
            <a:endParaRPr lang="en-US" sz="1400" dirty="0">
              <a:latin typeface="ＭＳ Ｐゴシック" panose="020B0600070205080204" pitchFamily="50" charset="-128"/>
              <a:ea typeface="ＭＳ Ｐゴシック" panose="020B0600070205080204" pitchFamily="50" charset="-128"/>
            </a:endParaRPr>
          </a:p>
        </p:txBody>
      </p:sp>
      <p:sp>
        <p:nvSpPr>
          <p:cNvPr id="53" name="Shape 51"/>
          <p:cNvSpPr/>
          <p:nvPr/>
        </p:nvSpPr>
        <p:spPr>
          <a:xfrm>
            <a:off x="5846308"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4" name="Text 52"/>
          <p:cNvSpPr/>
          <p:nvPr/>
        </p:nvSpPr>
        <p:spPr>
          <a:xfrm>
            <a:off x="5873740"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84.95</a:t>
            </a:r>
            <a:endParaRPr lang="en-US" sz="1400" dirty="0">
              <a:latin typeface="ＭＳ Ｐゴシック" panose="020B0600070205080204" pitchFamily="50" charset="-128"/>
              <a:ea typeface="ＭＳ Ｐゴシック" panose="020B0600070205080204" pitchFamily="50" charset="-128"/>
            </a:endParaRPr>
          </a:p>
        </p:txBody>
      </p:sp>
      <p:sp>
        <p:nvSpPr>
          <p:cNvPr id="55" name="Shape 53"/>
          <p:cNvSpPr/>
          <p:nvPr/>
        </p:nvSpPr>
        <p:spPr>
          <a:xfrm>
            <a:off x="6747540"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6" name="Text 54"/>
          <p:cNvSpPr/>
          <p:nvPr/>
        </p:nvSpPr>
        <p:spPr>
          <a:xfrm>
            <a:off x="6774972"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86.44</a:t>
            </a:r>
            <a:endParaRPr lang="en-US" sz="1400" dirty="0">
              <a:latin typeface="ＭＳ Ｐゴシック" panose="020B0600070205080204" pitchFamily="50" charset="-128"/>
              <a:ea typeface="ＭＳ Ｐゴシック" panose="020B0600070205080204" pitchFamily="50" charset="-128"/>
            </a:endParaRPr>
          </a:p>
        </p:txBody>
      </p:sp>
      <p:sp>
        <p:nvSpPr>
          <p:cNvPr id="57" name="Shape 55"/>
          <p:cNvSpPr/>
          <p:nvPr/>
        </p:nvSpPr>
        <p:spPr>
          <a:xfrm>
            <a:off x="7648773" y="2067850"/>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8" name="Text 56"/>
          <p:cNvSpPr/>
          <p:nvPr/>
        </p:nvSpPr>
        <p:spPr>
          <a:xfrm>
            <a:off x="7676205" y="2086138"/>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79.90</a:t>
            </a:r>
            <a:endParaRPr lang="en-US" sz="1400" dirty="0">
              <a:latin typeface="ＭＳ Ｐゴシック" panose="020B0600070205080204" pitchFamily="50" charset="-128"/>
              <a:ea typeface="ＭＳ Ｐゴシック" panose="020B0600070205080204" pitchFamily="50" charset="-128"/>
            </a:endParaRPr>
          </a:p>
        </p:txBody>
      </p:sp>
      <p:sp>
        <p:nvSpPr>
          <p:cNvPr id="59" name="Shape 57"/>
          <p:cNvSpPr/>
          <p:nvPr/>
        </p:nvSpPr>
        <p:spPr>
          <a:xfrm>
            <a:off x="438912" y="2440141"/>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0" name="Text 58"/>
          <p:cNvSpPr/>
          <p:nvPr/>
        </p:nvSpPr>
        <p:spPr>
          <a:xfrm>
            <a:off x="466344" y="2458429"/>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SPVCNN</a:t>
            </a:r>
            <a:endParaRPr lang="en-US" sz="1400" dirty="0">
              <a:latin typeface="ＭＳ Ｐゴシック" panose="020B0600070205080204" pitchFamily="50" charset="-128"/>
              <a:ea typeface="ＭＳ Ｐゴシック" panose="020B0600070205080204" pitchFamily="50" charset="-128"/>
            </a:endParaRPr>
          </a:p>
        </p:txBody>
      </p:sp>
      <p:sp>
        <p:nvSpPr>
          <p:cNvPr id="61" name="Shape 59"/>
          <p:cNvSpPr/>
          <p:nvPr/>
        </p:nvSpPr>
        <p:spPr>
          <a:xfrm>
            <a:off x="1749796" y="2440141"/>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2" name="Text 60"/>
          <p:cNvSpPr/>
          <p:nvPr/>
        </p:nvSpPr>
        <p:spPr>
          <a:xfrm>
            <a:off x="1777228" y="2458429"/>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63" name="Shape 61"/>
          <p:cNvSpPr/>
          <p:nvPr/>
        </p:nvSpPr>
        <p:spPr>
          <a:xfrm>
            <a:off x="2487168"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4" name="Text 62"/>
          <p:cNvSpPr/>
          <p:nvPr/>
        </p:nvSpPr>
        <p:spPr>
          <a:xfrm>
            <a:off x="2514600"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81.85</a:t>
            </a:r>
            <a:endParaRPr lang="en-US" sz="1400" dirty="0">
              <a:latin typeface="ＭＳ Ｐゴシック" panose="020B0600070205080204" pitchFamily="50" charset="-128"/>
              <a:ea typeface="ＭＳ Ｐゴシック" panose="020B0600070205080204" pitchFamily="50" charset="-128"/>
            </a:endParaRPr>
          </a:p>
        </p:txBody>
      </p:sp>
      <p:sp>
        <p:nvSpPr>
          <p:cNvPr id="65" name="Shape 63"/>
          <p:cNvSpPr/>
          <p:nvPr/>
        </p:nvSpPr>
        <p:spPr>
          <a:xfrm>
            <a:off x="3306470"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6" name="Text 64"/>
          <p:cNvSpPr/>
          <p:nvPr/>
        </p:nvSpPr>
        <p:spPr>
          <a:xfrm>
            <a:off x="3333902"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96.53</a:t>
            </a:r>
            <a:endParaRPr lang="en-US" sz="1400" dirty="0">
              <a:latin typeface="ＭＳ Ｐゴシック" panose="020B0600070205080204" pitchFamily="50" charset="-128"/>
              <a:ea typeface="ＭＳ Ｐゴシック" panose="020B0600070205080204" pitchFamily="50" charset="-128"/>
            </a:endParaRPr>
          </a:p>
        </p:txBody>
      </p:sp>
      <p:sp>
        <p:nvSpPr>
          <p:cNvPr id="67" name="Shape 65"/>
          <p:cNvSpPr/>
          <p:nvPr/>
        </p:nvSpPr>
        <p:spPr>
          <a:xfrm>
            <a:off x="4207703"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8" name="Text 66"/>
          <p:cNvSpPr/>
          <p:nvPr/>
        </p:nvSpPr>
        <p:spPr>
          <a:xfrm>
            <a:off x="4235135"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69.77</a:t>
            </a:r>
            <a:endParaRPr lang="en-US" sz="1400" dirty="0">
              <a:latin typeface="ＭＳ Ｐゴシック" panose="020B0600070205080204" pitchFamily="50" charset="-128"/>
              <a:ea typeface="ＭＳ Ｐゴシック" panose="020B0600070205080204" pitchFamily="50" charset="-128"/>
            </a:endParaRPr>
          </a:p>
        </p:txBody>
      </p:sp>
      <p:sp>
        <p:nvSpPr>
          <p:cNvPr id="69" name="Shape 67"/>
          <p:cNvSpPr/>
          <p:nvPr/>
        </p:nvSpPr>
        <p:spPr>
          <a:xfrm>
            <a:off x="5027005"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0" name="Text 68"/>
          <p:cNvSpPr/>
          <p:nvPr/>
        </p:nvSpPr>
        <p:spPr>
          <a:xfrm>
            <a:off x="5054437"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77.77</a:t>
            </a:r>
            <a:endParaRPr lang="en-US" sz="1400" dirty="0">
              <a:latin typeface="ＭＳ Ｐゴシック" panose="020B0600070205080204" pitchFamily="50" charset="-128"/>
              <a:ea typeface="ＭＳ Ｐゴシック" panose="020B0600070205080204" pitchFamily="50" charset="-128"/>
            </a:endParaRPr>
          </a:p>
        </p:txBody>
      </p:sp>
      <p:sp>
        <p:nvSpPr>
          <p:cNvPr id="71" name="Shape 69"/>
          <p:cNvSpPr/>
          <p:nvPr/>
        </p:nvSpPr>
        <p:spPr>
          <a:xfrm>
            <a:off x="5846308"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2" name="Text 70"/>
          <p:cNvSpPr/>
          <p:nvPr/>
        </p:nvSpPr>
        <p:spPr>
          <a:xfrm>
            <a:off x="5873740"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84.15</a:t>
            </a:r>
            <a:endParaRPr lang="en-US" sz="1400" dirty="0">
              <a:latin typeface="ＭＳ Ｐゴシック" panose="020B0600070205080204" pitchFamily="50" charset="-128"/>
              <a:ea typeface="ＭＳ Ｐゴシック" panose="020B0600070205080204" pitchFamily="50" charset="-128"/>
            </a:endParaRPr>
          </a:p>
        </p:txBody>
      </p:sp>
      <p:sp>
        <p:nvSpPr>
          <p:cNvPr id="73" name="Shape 71"/>
          <p:cNvSpPr/>
          <p:nvPr/>
        </p:nvSpPr>
        <p:spPr>
          <a:xfrm>
            <a:off x="6747540"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4" name="Text 72"/>
          <p:cNvSpPr/>
          <p:nvPr/>
        </p:nvSpPr>
        <p:spPr>
          <a:xfrm>
            <a:off x="6774972"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84.72</a:t>
            </a:r>
            <a:endParaRPr lang="en-US" sz="1400" dirty="0">
              <a:latin typeface="ＭＳ Ｐゴシック" panose="020B0600070205080204" pitchFamily="50" charset="-128"/>
              <a:ea typeface="ＭＳ Ｐゴシック" panose="020B0600070205080204" pitchFamily="50" charset="-128"/>
            </a:endParaRPr>
          </a:p>
        </p:txBody>
      </p:sp>
      <p:sp>
        <p:nvSpPr>
          <p:cNvPr id="75" name="Shape 73"/>
          <p:cNvSpPr/>
          <p:nvPr/>
        </p:nvSpPr>
        <p:spPr>
          <a:xfrm>
            <a:off x="7648773" y="2440141"/>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6" name="Text 74"/>
          <p:cNvSpPr/>
          <p:nvPr/>
        </p:nvSpPr>
        <p:spPr>
          <a:xfrm>
            <a:off x="7676205" y="2458429"/>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78.16</a:t>
            </a:r>
            <a:endParaRPr lang="en-US" sz="1400" dirty="0">
              <a:latin typeface="ＭＳ Ｐゴシック" panose="020B0600070205080204" pitchFamily="50" charset="-128"/>
              <a:ea typeface="ＭＳ Ｐゴシック" panose="020B0600070205080204" pitchFamily="50" charset="-128"/>
            </a:endParaRPr>
          </a:p>
        </p:txBody>
      </p:sp>
      <p:sp>
        <p:nvSpPr>
          <p:cNvPr id="77" name="Shape 75"/>
          <p:cNvSpPr/>
          <p:nvPr/>
        </p:nvSpPr>
        <p:spPr>
          <a:xfrm>
            <a:off x="438912" y="2812433"/>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8" name="Text 76"/>
          <p:cNvSpPr/>
          <p:nvPr/>
        </p:nvSpPr>
        <p:spPr>
          <a:xfrm>
            <a:off x="466344" y="2830721"/>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SPVCNN</a:t>
            </a:r>
            <a:endParaRPr lang="en-US" sz="1400" dirty="0">
              <a:latin typeface="ＭＳ Ｐゴシック" panose="020B0600070205080204" pitchFamily="50" charset="-128"/>
              <a:ea typeface="ＭＳ Ｐゴシック" panose="020B0600070205080204" pitchFamily="50" charset="-128"/>
            </a:endParaRPr>
          </a:p>
        </p:txBody>
      </p:sp>
      <p:sp>
        <p:nvSpPr>
          <p:cNvPr id="79" name="Shape 77"/>
          <p:cNvSpPr/>
          <p:nvPr/>
        </p:nvSpPr>
        <p:spPr>
          <a:xfrm>
            <a:off x="1749796" y="2812433"/>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0" name="Text 78"/>
          <p:cNvSpPr/>
          <p:nvPr/>
        </p:nvSpPr>
        <p:spPr>
          <a:xfrm>
            <a:off x="1777228" y="2830721"/>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81" name="Shape 79"/>
          <p:cNvSpPr/>
          <p:nvPr/>
        </p:nvSpPr>
        <p:spPr>
          <a:xfrm>
            <a:off x="2487168"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2" name="Text 80"/>
          <p:cNvSpPr/>
          <p:nvPr/>
        </p:nvSpPr>
        <p:spPr>
          <a:xfrm>
            <a:off x="2514600"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82.14</a:t>
            </a:r>
            <a:endParaRPr lang="en-US" sz="1400" dirty="0">
              <a:latin typeface="ＭＳ Ｐゴシック" panose="020B0600070205080204" pitchFamily="50" charset="-128"/>
              <a:ea typeface="ＭＳ Ｐゴシック" panose="020B0600070205080204" pitchFamily="50" charset="-128"/>
            </a:endParaRPr>
          </a:p>
        </p:txBody>
      </p:sp>
      <p:sp>
        <p:nvSpPr>
          <p:cNvPr id="83" name="Shape 81"/>
          <p:cNvSpPr/>
          <p:nvPr/>
        </p:nvSpPr>
        <p:spPr>
          <a:xfrm>
            <a:off x="3306470"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4" name="Text 82"/>
          <p:cNvSpPr/>
          <p:nvPr/>
        </p:nvSpPr>
        <p:spPr>
          <a:xfrm>
            <a:off x="3333902"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96.67</a:t>
            </a:r>
            <a:endParaRPr lang="en-US" sz="1400" dirty="0">
              <a:latin typeface="ＭＳ Ｐゴシック" panose="020B0600070205080204" pitchFamily="50" charset="-128"/>
              <a:ea typeface="ＭＳ Ｐゴシック" panose="020B0600070205080204" pitchFamily="50" charset="-128"/>
            </a:endParaRPr>
          </a:p>
        </p:txBody>
      </p:sp>
      <p:sp>
        <p:nvSpPr>
          <p:cNvPr id="85" name="Shape 83"/>
          <p:cNvSpPr/>
          <p:nvPr/>
        </p:nvSpPr>
        <p:spPr>
          <a:xfrm>
            <a:off x="4207703"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6" name="Text 84"/>
          <p:cNvSpPr/>
          <p:nvPr/>
        </p:nvSpPr>
        <p:spPr>
          <a:xfrm>
            <a:off x="4235135"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69.42</a:t>
            </a:r>
            <a:endParaRPr lang="en-US" sz="1400" dirty="0">
              <a:latin typeface="ＭＳ Ｐゴシック" panose="020B0600070205080204" pitchFamily="50" charset="-128"/>
              <a:ea typeface="ＭＳ Ｐゴシック" panose="020B0600070205080204" pitchFamily="50" charset="-128"/>
            </a:endParaRPr>
          </a:p>
        </p:txBody>
      </p:sp>
      <p:sp>
        <p:nvSpPr>
          <p:cNvPr id="87" name="Shape 85"/>
          <p:cNvSpPr/>
          <p:nvPr/>
        </p:nvSpPr>
        <p:spPr>
          <a:xfrm>
            <a:off x="5027005"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8" name="Text 86"/>
          <p:cNvSpPr/>
          <p:nvPr/>
        </p:nvSpPr>
        <p:spPr>
          <a:xfrm>
            <a:off x="5054437"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77.60</a:t>
            </a:r>
            <a:endParaRPr lang="en-US" sz="1400" dirty="0">
              <a:latin typeface="ＭＳ Ｐゴシック" panose="020B0600070205080204" pitchFamily="50" charset="-128"/>
              <a:ea typeface="ＭＳ Ｐゴシック" panose="020B0600070205080204" pitchFamily="50" charset="-128"/>
            </a:endParaRPr>
          </a:p>
        </p:txBody>
      </p:sp>
      <p:sp>
        <p:nvSpPr>
          <p:cNvPr id="89" name="Shape 87"/>
          <p:cNvSpPr/>
          <p:nvPr/>
        </p:nvSpPr>
        <p:spPr>
          <a:xfrm>
            <a:off x="5846308"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0" name="Text 88"/>
          <p:cNvSpPr/>
          <p:nvPr/>
        </p:nvSpPr>
        <p:spPr>
          <a:xfrm>
            <a:off x="5873740"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86.42</a:t>
            </a:r>
            <a:endParaRPr lang="en-US" sz="1400" dirty="0">
              <a:latin typeface="ＭＳ Ｐゴシック" panose="020B0600070205080204" pitchFamily="50" charset="-128"/>
              <a:ea typeface="ＭＳ Ｐゴシック" panose="020B0600070205080204" pitchFamily="50" charset="-128"/>
            </a:endParaRPr>
          </a:p>
        </p:txBody>
      </p:sp>
      <p:sp>
        <p:nvSpPr>
          <p:cNvPr id="91" name="Shape 89"/>
          <p:cNvSpPr/>
          <p:nvPr/>
        </p:nvSpPr>
        <p:spPr>
          <a:xfrm>
            <a:off x="6747540"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2" name="Text 90"/>
          <p:cNvSpPr/>
          <p:nvPr/>
        </p:nvSpPr>
        <p:spPr>
          <a:xfrm>
            <a:off x="6774972"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84.89</a:t>
            </a:r>
            <a:endParaRPr lang="en-US" sz="1400" dirty="0">
              <a:latin typeface="ＭＳ Ｐゴシック" panose="020B0600070205080204" pitchFamily="50" charset="-128"/>
              <a:ea typeface="ＭＳ Ｐゴシック" panose="020B0600070205080204" pitchFamily="50" charset="-128"/>
            </a:endParaRPr>
          </a:p>
        </p:txBody>
      </p:sp>
      <p:sp>
        <p:nvSpPr>
          <p:cNvPr id="93" name="Shape 91"/>
          <p:cNvSpPr/>
          <p:nvPr/>
        </p:nvSpPr>
        <p:spPr>
          <a:xfrm>
            <a:off x="7648773" y="2812433"/>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4" name="Text 92"/>
          <p:cNvSpPr/>
          <p:nvPr/>
        </p:nvSpPr>
        <p:spPr>
          <a:xfrm>
            <a:off x="7676205" y="2830721"/>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77.86</a:t>
            </a:r>
            <a:endParaRPr lang="en-US" sz="1400" dirty="0">
              <a:latin typeface="ＭＳ Ｐゴシック" panose="020B0600070205080204" pitchFamily="50" charset="-128"/>
              <a:ea typeface="ＭＳ Ｐゴシック" panose="020B0600070205080204" pitchFamily="50" charset="-128"/>
            </a:endParaRPr>
          </a:p>
        </p:txBody>
      </p:sp>
      <p:sp>
        <p:nvSpPr>
          <p:cNvPr id="95" name="Shape 93"/>
          <p:cNvSpPr/>
          <p:nvPr/>
        </p:nvSpPr>
        <p:spPr>
          <a:xfrm>
            <a:off x="438912" y="3184724"/>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6" name="Text 94"/>
          <p:cNvSpPr/>
          <p:nvPr/>
        </p:nvSpPr>
        <p:spPr>
          <a:xfrm>
            <a:off x="466344" y="3203012"/>
            <a:ext cx="1256020" cy="335715"/>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Cylinder3D</a:t>
            </a:r>
            <a:endParaRPr lang="en-US" sz="1400" dirty="0">
              <a:latin typeface="ＭＳ Ｐゴシック" panose="020B0600070205080204" pitchFamily="50" charset="-128"/>
              <a:ea typeface="ＭＳ Ｐゴシック" panose="020B0600070205080204" pitchFamily="50" charset="-128"/>
            </a:endParaRPr>
          </a:p>
        </p:txBody>
      </p:sp>
      <p:sp>
        <p:nvSpPr>
          <p:cNvPr id="97" name="Shape 95"/>
          <p:cNvSpPr/>
          <p:nvPr/>
        </p:nvSpPr>
        <p:spPr>
          <a:xfrm>
            <a:off x="1749796" y="3184724"/>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8" name="Text 96"/>
          <p:cNvSpPr/>
          <p:nvPr/>
        </p:nvSpPr>
        <p:spPr>
          <a:xfrm>
            <a:off x="1777228" y="3203012"/>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99" name="Shape 97"/>
          <p:cNvSpPr/>
          <p:nvPr/>
        </p:nvSpPr>
        <p:spPr>
          <a:xfrm>
            <a:off x="2487168"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0" name="Text 98"/>
          <p:cNvSpPr/>
          <p:nvPr/>
        </p:nvSpPr>
        <p:spPr>
          <a:xfrm>
            <a:off x="2514600" y="3203012"/>
            <a:ext cx="764438"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83.72</a:t>
            </a:r>
            <a:endParaRPr lang="en-US" sz="1400" dirty="0">
              <a:latin typeface="ＭＳ Ｐゴシック" panose="020B0600070205080204" pitchFamily="50" charset="-128"/>
              <a:ea typeface="ＭＳ Ｐゴシック" panose="020B0600070205080204" pitchFamily="50" charset="-128"/>
            </a:endParaRPr>
          </a:p>
        </p:txBody>
      </p:sp>
      <p:sp>
        <p:nvSpPr>
          <p:cNvPr id="101" name="Shape 99"/>
          <p:cNvSpPr/>
          <p:nvPr/>
        </p:nvSpPr>
        <p:spPr>
          <a:xfrm>
            <a:off x="3306470"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2" name="Text 100"/>
          <p:cNvSpPr/>
          <p:nvPr/>
        </p:nvSpPr>
        <p:spPr>
          <a:xfrm>
            <a:off x="3333902"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96.84</a:t>
            </a:r>
            <a:endParaRPr lang="en-US" sz="1400" dirty="0">
              <a:latin typeface="ＭＳ Ｐゴシック" panose="020B0600070205080204" pitchFamily="50" charset="-128"/>
              <a:ea typeface="ＭＳ Ｐゴシック" panose="020B0600070205080204" pitchFamily="50" charset="-128"/>
            </a:endParaRPr>
          </a:p>
        </p:txBody>
      </p:sp>
      <p:sp>
        <p:nvSpPr>
          <p:cNvPr id="103" name="Shape 101"/>
          <p:cNvSpPr/>
          <p:nvPr/>
        </p:nvSpPr>
        <p:spPr>
          <a:xfrm>
            <a:off x="4207703"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4" name="Text 102"/>
          <p:cNvSpPr/>
          <p:nvPr/>
        </p:nvSpPr>
        <p:spPr>
          <a:xfrm>
            <a:off x="4235135" y="3203012"/>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69.78</a:t>
            </a:r>
            <a:endParaRPr lang="en-US" sz="1400" dirty="0">
              <a:latin typeface="ＭＳ Ｐゴシック" panose="020B0600070205080204" pitchFamily="50" charset="-128"/>
              <a:ea typeface="ＭＳ Ｐゴシック" panose="020B0600070205080204" pitchFamily="50" charset="-128"/>
            </a:endParaRPr>
          </a:p>
        </p:txBody>
      </p:sp>
      <p:sp>
        <p:nvSpPr>
          <p:cNvPr id="105" name="Shape 103"/>
          <p:cNvSpPr/>
          <p:nvPr/>
        </p:nvSpPr>
        <p:spPr>
          <a:xfrm>
            <a:off x="5027005"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6" name="Text 104"/>
          <p:cNvSpPr/>
          <p:nvPr/>
        </p:nvSpPr>
        <p:spPr>
          <a:xfrm>
            <a:off x="5054437" y="3203012"/>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79.87</a:t>
            </a:r>
            <a:endParaRPr lang="en-US" sz="1400" dirty="0">
              <a:latin typeface="ＭＳ Ｐゴシック" panose="020B0600070205080204" pitchFamily="50" charset="-128"/>
              <a:ea typeface="ＭＳ Ｐゴシック" panose="020B0600070205080204" pitchFamily="50" charset="-128"/>
            </a:endParaRPr>
          </a:p>
        </p:txBody>
      </p:sp>
      <p:sp>
        <p:nvSpPr>
          <p:cNvPr id="107" name="Shape 105"/>
          <p:cNvSpPr/>
          <p:nvPr/>
        </p:nvSpPr>
        <p:spPr>
          <a:xfrm>
            <a:off x="5846308"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8" name="Text 106"/>
          <p:cNvSpPr/>
          <p:nvPr/>
        </p:nvSpPr>
        <p:spPr>
          <a:xfrm>
            <a:off x="5873740"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83.76</a:t>
            </a:r>
            <a:endParaRPr lang="en-US" sz="1400" dirty="0">
              <a:latin typeface="ＭＳ Ｐゴシック" panose="020B0600070205080204" pitchFamily="50" charset="-128"/>
              <a:ea typeface="ＭＳ Ｐゴシック" panose="020B0600070205080204" pitchFamily="50" charset="-128"/>
            </a:endParaRPr>
          </a:p>
        </p:txBody>
      </p:sp>
      <p:sp>
        <p:nvSpPr>
          <p:cNvPr id="109" name="Shape 107"/>
          <p:cNvSpPr/>
          <p:nvPr/>
        </p:nvSpPr>
        <p:spPr>
          <a:xfrm>
            <a:off x="6747540"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0" name="Text 108"/>
          <p:cNvSpPr/>
          <p:nvPr/>
        </p:nvSpPr>
        <p:spPr>
          <a:xfrm>
            <a:off x="6774972"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88.58</a:t>
            </a:r>
            <a:endParaRPr lang="en-US" sz="1400" dirty="0">
              <a:latin typeface="ＭＳ Ｐゴシック" panose="020B0600070205080204" pitchFamily="50" charset="-128"/>
              <a:ea typeface="ＭＳ Ｐゴシック" panose="020B0600070205080204" pitchFamily="50" charset="-128"/>
            </a:endParaRPr>
          </a:p>
        </p:txBody>
      </p:sp>
      <p:sp>
        <p:nvSpPr>
          <p:cNvPr id="111" name="Shape 109"/>
          <p:cNvSpPr/>
          <p:nvPr/>
        </p:nvSpPr>
        <p:spPr>
          <a:xfrm>
            <a:off x="7648773" y="3184724"/>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2" name="Text 110"/>
          <p:cNvSpPr/>
          <p:nvPr/>
        </p:nvSpPr>
        <p:spPr>
          <a:xfrm>
            <a:off x="7676205" y="3203012"/>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83.49</a:t>
            </a:r>
            <a:endParaRPr lang="en-US" sz="1400" dirty="0">
              <a:latin typeface="ＭＳ Ｐゴシック" panose="020B0600070205080204" pitchFamily="50" charset="-128"/>
              <a:ea typeface="ＭＳ Ｐゴシック" panose="020B0600070205080204" pitchFamily="50" charset="-128"/>
            </a:endParaRPr>
          </a:p>
        </p:txBody>
      </p:sp>
      <p:sp>
        <p:nvSpPr>
          <p:cNvPr id="113" name="Shape 111"/>
          <p:cNvSpPr/>
          <p:nvPr/>
        </p:nvSpPr>
        <p:spPr>
          <a:xfrm>
            <a:off x="438912" y="3557016"/>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4" name="Text 112"/>
          <p:cNvSpPr/>
          <p:nvPr/>
        </p:nvSpPr>
        <p:spPr>
          <a:xfrm>
            <a:off x="466344" y="3575304"/>
            <a:ext cx="1256020" cy="335715"/>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Cylinder3D</a:t>
            </a:r>
            <a:endParaRPr lang="en-US" sz="1400" dirty="0">
              <a:latin typeface="ＭＳ Ｐゴシック" panose="020B0600070205080204" pitchFamily="50" charset="-128"/>
              <a:ea typeface="ＭＳ Ｐゴシック" panose="020B0600070205080204" pitchFamily="50" charset="-128"/>
            </a:endParaRPr>
          </a:p>
        </p:txBody>
      </p:sp>
      <p:sp>
        <p:nvSpPr>
          <p:cNvPr id="115" name="Shape 113"/>
          <p:cNvSpPr/>
          <p:nvPr/>
        </p:nvSpPr>
        <p:spPr>
          <a:xfrm>
            <a:off x="1749796" y="3557016"/>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6" name="Text 114"/>
          <p:cNvSpPr/>
          <p:nvPr/>
        </p:nvSpPr>
        <p:spPr>
          <a:xfrm>
            <a:off x="1777228" y="3575304"/>
            <a:ext cx="682508" cy="335715"/>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117" name="Shape 115"/>
          <p:cNvSpPr/>
          <p:nvPr/>
        </p:nvSpPr>
        <p:spPr>
          <a:xfrm>
            <a:off x="2487168"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8" name="Text 116"/>
          <p:cNvSpPr/>
          <p:nvPr/>
        </p:nvSpPr>
        <p:spPr>
          <a:xfrm>
            <a:off x="2514600" y="3575304"/>
            <a:ext cx="764438" cy="335715"/>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83.92</a:t>
            </a:r>
            <a:endParaRPr lang="en-US" sz="1400" dirty="0">
              <a:latin typeface="ＭＳ Ｐゴシック" panose="020B0600070205080204" pitchFamily="50" charset="-128"/>
              <a:ea typeface="ＭＳ Ｐゴシック" panose="020B0600070205080204" pitchFamily="50" charset="-128"/>
            </a:endParaRPr>
          </a:p>
        </p:txBody>
      </p:sp>
      <p:sp>
        <p:nvSpPr>
          <p:cNvPr id="119" name="Shape 117"/>
          <p:cNvSpPr/>
          <p:nvPr/>
        </p:nvSpPr>
        <p:spPr>
          <a:xfrm>
            <a:off x="3306470"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0" name="Text 118"/>
          <p:cNvSpPr/>
          <p:nvPr/>
        </p:nvSpPr>
        <p:spPr>
          <a:xfrm>
            <a:off x="3333902" y="3575304"/>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96.96</a:t>
            </a:r>
            <a:endParaRPr lang="en-US" sz="1400" dirty="0">
              <a:latin typeface="ＭＳ Ｐゴシック" panose="020B0600070205080204" pitchFamily="50" charset="-128"/>
              <a:ea typeface="ＭＳ Ｐゴシック" panose="020B0600070205080204" pitchFamily="50" charset="-128"/>
            </a:endParaRPr>
          </a:p>
        </p:txBody>
      </p:sp>
      <p:sp>
        <p:nvSpPr>
          <p:cNvPr id="121" name="Shape 119"/>
          <p:cNvSpPr/>
          <p:nvPr/>
        </p:nvSpPr>
        <p:spPr>
          <a:xfrm>
            <a:off x="4207703"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2" name="Text 120"/>
          <p:cNvSpPr/>
          <p:nvPr/>
        </p:nvSpPr>
        <p:spPr>
          <a:xfrm>
            <a:off x="4235135" y="3575304"/>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70.02</a:t>
            </a:r>
            <a:endParaRPr lang="en-US" sz="1400" dirty="0">
              <a:latin typeface="ＭＳ Ｐゴシック" panose="020B0600070205080204" pitchFamily="50" charset="-128"/>
              <a:ea typeface="ＭＳ Ｐゴシック" panose="020B0600070205080204" pitchFamily="50" charset="-128"/>
            </a:endParaRPr>
          </a:p>
        </p:txBody>
      </p:sp>
      <p:sp>
        <p:nvSpPr>
          <p:cNvPr id="123" name="Shape 121"/>
          <p:cNvSpPr/>
          <p:nvPr/>
        </p:nvSpPr>
        <p:spPr>
          <a:xfrm>
            <a:off x="5027005"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4" name="Text 122"/>
          <p:cNvSpPr/>
          <p:nvPr/>
        </p:nvSpPr>
        <p:spPr>
          <a:xfrm>
            <a:off x="5054437" y="3575304"/>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79.68</a:t>
            </a:r>
            <a:endParaRPr lang="en-US" sz="1400" dirty="0">
              <a:latin typeface="ＭＳ Ｐゴシック" panose="020B0600070205080204" pitchFamily="50" charset="-128"/>
              <a:ea typeface="ＭＳ Ｐゴシック" panose="020B0600070205080204" pitchFamily="50" charset="-128"/>
            </a:endParaRPr>
          </a:p>
        </p:txBody>
      </p:sp>
      <p:sp>
        <p:nvSpPr>
          <p:cNvPr id="125" name="Shape 123"/>
          <p:cNvSpPr/>
          <p:nvPr/>
        </p:nvSpPr>
        <p:spPr>
          <a:xfrm>
            <a:off x="5846308"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6" name="Text 124"/>
          <p:cNvSpPr/>
          <p:nvPr/>
        </p:nvSpPr>
        <p:spPr>
          <a:xfrm>
            <a:off x="5873740" y="3575304"/>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83.58</a:t>
            </a:r>
            <a:endParaRPr lang="en-US" sz="1400" dirty="0">
              <a:latin typeface="ＭＳ Ｐゴシック" panose="020B0600070205080204" pitchFamily="50" charset="-128"/>
              <a:ea typeface="ＭＳ Ｐゴシック" panose="020B0600070205080204" pitchFamily="50" charset="-128"/>
            </a:endParaRPr>
          </a:p>
        </p:txBody>
      </p:sp>
      <p:sp>
        <p:nvSpPr>
          <p:cNvPr id="127" name="Shape 125"/>
          <p:cNvSpPr/>
          <p:nvPr/>
        </p:nvSpPr>
        <p:spPr>
          <a:xfrm>
            <a:off x="6747540"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8" name="Text 126"/>
          <p:cNvSpPr/>
          <p:nvPr/>
        </p:nvSpPr>
        <p:spPr>
          <a:xfrm>
            <a:off x="6774972" y="3575304"/>
            <a:ext cx="846369"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89.28</a:t>
            </a:r>
            <a:endParaRPr lang="en-US" sz="1400" dirty="0">
              <a:latin typeface="ＭＳ Ｐゴシック" panose="020B0600070205080204" pitchFamily="50" charset="-128"/>
              <a:ea typeface="ＭＳ Ｐゴシック" panose="020B0600070205080204" pitchFamily="50" charset="-128"/>
            </a:endParaRPr>
          </a:p>
        </p:txBody>
      </p:sp>
      <p:sp>
        <p:nvSpPr>
          <p:cNvPr id="129" name="Shape 127"/>
          <p:cNvSpPr/>
          <p:nvPr/>
        </p:nvSpPr>
        <p:spPr>
          <a:xfrm>
            <a:off x="7648773" y="3557016"/>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30" name="Text 128"/>
          <p:cNvSpPr/>
          <p:nvPr/>
        </p:nvSpPr>
        <p:spPr>
          <a:xfrm>
            <a:off x="7676205" y="3575304"/>
            <a:ext cx="928299"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83.99</a:t>
            </a:r>
            <a:endParaRPr lang="en-US" sz="1400" dirty="0">
              <a:latin typeface="ＭＳ Ｐゴシック" panose="020B0600070205080204" pitchFamily="50" charset="-128"/>
              <a:ea typeface="ＭＳ Ｐゴシック" panose="020B0600070205080204" pitchFamily="50" charset="-128"/>
            </a:endParaRPr>
          </a:p>
        </p:txBody>
      </p:sp>
      <p:sp>
        <p:nvSpPr>
          <p:cNvPr id="144" name="テキスト ボックス 143">
            <a:extLst>
              <a:ext uri="{FF2B5EF4-FFF2-40B4-BE49-F238E27FC236}">
                <a16:creationId xmlns:a16="http://schemas.microsoft.com/office/drawing/2014/main" id="{9E093081-AB52-129E-67F1-CDCB06E075B1}"/>
              </a:ext>
            </a:extLst>
          </p:cNvPr>
          <p:cNvSpPr txBox="1"/>
          <p:nvPr/>
        </p:nvSpPr>
        <p:spPr>
          <a:xfrm>
            <a:off x="115748" y="135654"/>
            <a:ext cx="5564529" cy="415498"/>
          </a:xfrm>
          <a:prstGeom prst="rect">
            <a:avLst/>
          </a:prstGeom>
          <a:noFill/>
        </p:spPr>
        <p:txBody>
          <a:bodyPr wrap="square" rtlCol="0">
            <a:spAutoFit/>
          </a:bodyPr>
          <a:lstStyle/>
          <a:p>
            <a:r>
              <a:rPr kumimoji="1"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結果</a:t>
            </a:r>
          </a:p>
        </p:txBody>
      </p:sp>
      <p:sp>
        <p:nvSpPr>
          <p:cNvPr id="146" name="テキスト ボックス 145">
            <a:extLst>
              <a:ext uri="{FF2B5EF4-FFF2-40B4-BE49-F238E27FC236}">
                <a16:creationId xmlns:a16="http://schemas.microsoft.com/office/drawing/2014/main" id="{1F7A4C7E-6ED5-E91E-4AD8-503FB1AA140F}"/>
              </a:ext>
            </a:extLst>
          </p:cNvPr>
          <p:cNvSpPr txBox="1"/>
          <p:nvPr/>
        </p:nvSpPr>
        <p:spPr>
          <a:xfrm>
            <a:off x="115748" y="539710"/>
            <a:ext cx="8912504" cy="338554"/>
          </a:xfrm>
          <a:prstGeom prst="rect">
            <a:avLst/>
          </a:prstGeom>
          <a:noFill/>
        </p:spPr>
        <p:txBody>
          <a:bodyPr wrap="square" rtlCol="0">
            <a:spAutoFit/>
          </a:bodyPr>
          <a:lstStyle/>
          <a:p>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では</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Cylinder3D</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が最高、</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return</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追加の全体改善は小さい</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78581" y="4413700"/>
            <a:ext cx="7452360" cy="475488"/>
          </a:xfrm>
          <a:prstGeom prst="rect">
            <a:avLst/>
          </a:prstGeom>
          <a:noFill/>
          <a:ln/>
        </p:spPr>
        <p:txBody>
          <a:bodyPr wrap="square" lIns="0" tIns="0" rIns="0" bIns="0" rtlCol="0" anchor="ctr">
            <a:normAutofit/>
          </a:bodyPr>
          <a:lstStyle/>
          <a:p>
            <a:pPr marL="0" indent="0">
              <a:buNone/>
            </a:pPr>
            <a:endParaRPr lang="en-US" sz="2100" dirty="0">
              <a:solidFill>
                <a:schemeClr val="tx1">
                  <a:lumMod val="85000"/>
                  <a:lumOff val="15000"/>
                </a:schemeClr>
              </a:solidFill>
            </a:endParaRPr>
          </a:p>
        </p:txBody>
      </p:sp>
      <p:sp>
        <p:nvSpPr>
          <p:cNvPr id="5" name="Shape 3"/>
          <p:cNvSpPr/>
          <p:nvPr/>
        </p:nvSpPr>
        <p:spPr>
          <a:xfrm>
            <a:off x="658368" y="1229988"/>
            <a:ext cx="1408908" cy="390906"/>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 name="Text 4"/>
          <p:cNvSpPr/>
          <p:nvPr/>
        </p:nvSpPr>
        <p:spPr>
          <a:xfrm>
            <a:off x="685800" y="1248276"/>
            <a:ext cx="1354044" cy="354330"/>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Method</a:t>
            </a:r>
            <a:endParaRPr lang="en-US" sz="1600" dirty="0">
              <a:latin typeface="ＭＳ Ｐゴシック" panose="020B0600070205080204" pitchFamily="50" charset="-128"/>
              <a:ea typeface="ＭＳ Ｐゴシック" panose="020B0600070205080204" pitchFamily="50" charset="-128"/>
            </a:endParaRPr>
          </a:p>
        </p:txBody>
      </p:sp>
      <p:sp>
        <p:nvSpPr>
          <p:cNvPr id="7" name="Shape 5"/>
          <p:cNvSpPr/>
          <p:nvPr/>
        </p:nvSpPr>
        <p:spPr>
          <a:xfrm>
            <a:off x="2067276" y="1229988"/>
            <a:ext cx="140890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 name="Text 6"/>
          <p:cNvSpPr/>
          <p:nvPr/>
        </p:nvSpPr>
        <p:spPr>
          <a:xfrm>
            <a:off x="2094708" y="1248276"/>
            <a:ext cx="135404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Training data</a:t>
            </a:r>
            <a:endParaRPr lang="en-US" sz="1600" dirty="0">
              <a:latin typeface="ＭＳ Ｐゴシック" panose="020B0600070205080204" pitchFamily="50" charset="-128"/>
              <a:ea typeface="ＭＳ Ｐゴシック" panose="020B0600070205080204" pitchFamily="50" charset="-128"/>
            </a:endParaRPr>
          </a:p>
        </p:txBody>
      </p:sp>
      <p:sp>
        <p:nvSpPr>
          <p:cNvPr id="9" name="Shape 7"/>
          <p:cNvSpPr/>
          <p:nvPr/>
        </p:nvSpPr>
        <p:spPr>
          <a:xfrm>
            <a:off x="3476183" y="1229988"/>
            <a:ext cx="140890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0" name="Text 8"/>
          <p:cNvSpPr/>
          <p:nvPr/>
        </p:nvSpPr>
        <p:spPr>
          <a:xfrm>
            <a:off x="3503615" y="1248276"/>
            <a:ext cx="135404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Original test</a:t>
            </a:r>
            <a:endParaRPr lang="en-US" sz="1600" dirty="0">
              <a:latin typeface="ＭＳ Ｐゴシック" panose="020B0600070205080204" pitchFamily="50" charset="-128"/>
              <a:ea typeface="ＭＳ Ｐゴシック" panose="020B0600070205080204" pitchFamily="50" charset="-128"/>
            </a:endParaRPr>
          </a:p>
        </p:txBody>
      </p:sp>
      <p:sp>
        <p:nvSpPr>
          <p:cNvPr id="11" name="Shape 9"/>
          <p:cNvSpPr/>
          <p:nvPr/>
        </p:nvSpPr>
        <p:spPr>
          <a:xfrm>
            <a:off x="4885091" y="1229988"/>
            <a:ext cx="172199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2" name="Text 10"/>
          <p:cNvSpPr/>
          <p:nvPr/>
        </p:nvSpPr>
        <p:spPr>
          <a:xfrm>
            <a:off x="4912523" y="1248276"/>
            <a:ext cx="166713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3DRef target</a:t>
            </a:r>
            <a:endParaRPr lang="en-US" sz="1600" dirty="0">
              <a:latin typeface="ＭＳ Ｐゴシック" panose="020B0600070205080204" pitchFamily="50" charset="-128"/>
              <a:ea typeface="ＭＳ Ｐゴシック" panose="020B0600070205080204" pitchFamily="50" charset="-128"/>
            </a:endParaRPr>
          </a:p>
        </p:txBody>
      </p:sp>
      <p:sp>
        <p:nvSpPr>
          <p:cNvPr id="13" name="Shape 11"/>
          <p:cNvSpPr/>
          <p:nvPr/>
        </p:nvSpPr>
        <p:spPr>
          <a:xfrm>
            <a:off x="6607089" y="1229988"/>
            <a:ext cx="1878543"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4" name="Text 12"/>
          <p:cNvSpPr/>
          <p:nvPr/>
        </p:nvSpPr>
        <p:spPr>
          <a:xfrm>
            <a:off x="6634521" y="1248276"/>
            <a:ext cx="1823679"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3DRef mIoU</a:t>
            </a:r>
            <a:endParaRPr lang="en-US" sz="1600" dirty="0">
              <a:latin typeface="ＭＳ Ｐゴシック" panose="020B0600070205080204" pitchFamily="50" charset="-128"/>
              <a:ea typeface="ＭＳ Ｐゴシック" panose="020B0600070205080204" pitchFamily="50" charset="-128"/>
            </a:endParaRPr>
          </a:p>
        </p:txBody>
      </p:sp>
      <p:sp>
        <p:nvSpPr>
          <p:cNvPr id="15" name="Shape 13"/>
          <p:cNvSpPr/>
          <p:nvPr/>
        </p:nvSpPr>
        <p:spPr>
          <a:xfrm>
            <a:off x="658368"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6" name="Text 14"/>
          <p:cNvSpPr/>
          <p:nvPr/>
        </p:nvSpPr>
        <p:spPr>
          <a:xfrm>
            <a:off x="685800"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GlassSemNet</a:t>
            </a:r>
            <a:endParaRPr lang="en-US" sz="1400" dirty="0">
              <a:latin typeface="ＭＳ Ｐゴシック" panose="020B0600070205080204" pitchFamily="50" charset="-128"/>
              <a:ea typeface="ＭＳ Ｐゴシック" panose="020B0600070205080204" pitchFamily="50" charset="-128"/>
            </a:endParaRPr>
          </a:p>
        </p:txBody>
      </p:sp>
      <p:sp>
        <p:nvSpPr>
          <p:cNvPr id="17" name="Shape 15"/>
          <p:cNvSpPr/>
          <p:nvPr/>
        </p:nvSpPr>
        <p:spPr>
          <a:xfrm>
            <a:off x="2067276"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8" name="Text 16"/>
          <p:cNvSpPr/>
          <p:nvPr/>
        </p:nvSpPr>
        <p:spPr>
          <a:xfrm>
            <a:off x="2094708"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GDD</a:t>
            </a:r>
            <a:endParaRPr lang="en-US" sz="1400" dirty="0">
              <a:latin typeface="ＭＳ Ｐゴシック" panose="020B0600070205080204" pitchFamily="50" charset="-128"/>
              <a:ea typeface="ＭＳ Ｐゴシック" panose="020B0600070205080204" pitchFamily="50" charset="-128"/>
            </a:endParaRPr>
          </a:p>
        </p:txBody>
      </p:sp>
      <p:sp>
        <p:nvSpPr>
          <p:cNvPr id="19" name="Shape 17"/>
          <p:cNvSpPr/>
          <p:nvPr/>
        </p:nvSpPr>
        <p:spPr>
          <a:xfrm>
            <a:off x="3476183"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0" name="Text 18"/>
          <p:cNvSpPr/>
          <p:nvPr/>
        </p:nvSpPr>
        <p:spPr>
          <a:xfrm>
            <a:off x="3503615"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90.80</a:t>
            </a:r>
            <a:endParaRPr lang="en-US" sz="1400" dirty="0">
              <a:latin typeface="ＭＳ Ｐゴシック" panose="020B0600070205080204" pitchFamily="50" charset="-128"/>
              <a:ea typeface="ＭＳ Ｐゴシック" panose="020B0600070205080204" pitchFamily="50" charset="-128"/>
            </a:endParaRPr>
          </a:p>
        </p:txBody>
      </p:sp>
      <p:sp>
        <p:nvSpPr>
          <p:cNvPr id="21" name="Shape 19"/>
          <p:cNvSpPr/>
          <p:nvPr/>
        </p:nvSpPr>
        <p:spPr>
          <a:xfrm>
            <a:off x="4885091" y="1620894"/>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2" name="Text 20"/>
          <p:cNvSpPr/>
          <p:nvPr/>
        </p:nvSpPr>
        <p:spPr>
          <a:xfrm>
            <a:off x="4912523" y="1639182"/>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a:t>
            </a:r>
            <a:endParaRPr lang="en-US" sz="1400" dirty="0">
              <a:latin typeface="ＭＳ Ｐゴシック" panose="020B0600070205080204" pitchFamily="50" charset="-128"/>
              <a:ea typeface="ＭＳ Ｐゴシック" panose="020B0600070205080204" pitchFamily="50" charset="-128"/>
            </a:endParaRPr>
          </a:p>
        </p:txBody>
      </p:sp>
      <p:sp>
        <p:nvSpPr>
          <p:cNvPr id="23" name="Shape 21"/>
          <p:cNvSpPr/>
          <p:nvPr/>
        </p:nvSpPr>
        <p:spPr>
          <a:xfrm>
            <a:off x="6607089" y="1620894"/>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4" name="Text 22"/>
          <p:cNvSpPr/>
          <p:nvPr/>
        </p:nvSpPr>
        <p:spPr>
          <a:xfrm>
            <a:off x="6634521" y="1639182"/>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53.69</a:t>
            </a:r>
            <a:endParaRPr lang="en-US" sz="1400" dirty="0">
              <a:latin typeface="ＭＳ Ｐゴシック" panose="020B0600070205080204" pitchFamily="50" charset="-128"/>
              <a:ea typeface="ＭＳ Ｐゴシック" panose="020B0600070205080204" pitchFamily="50" charset="-128"/>
            </a:endParaRPr>
          </a:p>
        </p:txBody>
      </p:sp>
      <p:sp>
        <p:nvSpPr>
          <p:cNvPr id="25" name="Shape 23"/>
          <p:cNvSpPr/>
          <p:nvPr/>
        </p:nvSpPr>
        <p:spPr>
          <a:xfrm>
            <a:off x="658368"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6" name="Text 24"/>
          <p:cNvSpPr/>
          <p:nvPr/>
        </p:nvSpPr>
        <p:spPr>
          <a:xfrm>
            <a:off x="685800"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HetNet</a:t>
            </a:r>
            <a:endParaRPr lang="en-US" sz="1400" dirty="0">
              <a:latin typeface="ＭＳ Ｐゴシック" panose="020B0600070205080204" pitchFamily="50" charset="-128"/>
              <a:ea typeface="ＭＳ Ｐゴシック" panose="020B0600070205080204" pitchFamily="50" charset="-128"/>
            </a:endParaRPr>
          </a:p>
        </p:txBody>
      </p:sp>
      <p:sp>
        <p:nvSpPr>
          <p:cNvPr id="27" name="Shape 25"/>
          <p:cNvSpPr/>
          <p:nvPr/>
        </p:nvSpPr>
        <p:spPr>
          <a:xfrm>
            <a:off x="2067276"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8" name="Text 26"/>
          <p:cNvSpPr/>
          <p:nvPr/>
        </p:nvSpPr>
        <p:spPr>
          <a:xfrm>
            <a:off x="2094708"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PMD</a:t>
            </a:r>
            <a:endParaRPr lang="en-US" sz="1400" dirty="0">
              <a:latin typeface="ＭＳ Ｐゴシック" panose="020B0600070205080204" pitchFamily="50" charset="-128"/>
              <a:ea typeface="ＭＳ Ｐゴシック" panose="020B0600070205080204" pitchFamily="50" charset="-128"/>
            </a:endParaRPr>
          </a:p>
        </p:txBody>
      </p:sp>
      <p:sp>
        <p:nvSpPr>
          <p:cNvPr id="29" name="Shape 27"/>
          <p:cNvSpPr/>
          <p:nvPr/>
        </p:nvSpPr>
        <p:spPr>
          <a:xfrm>
            <a:off x="3476183"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0" name="Text 28"/>
          <p:cNvSpPr/>
          <p:nvPr/>
        </p:nvSpPr>
        <p:spPr>
          <a:xfrm>
            <a:off x="3503615"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69.00</a:t>
            </a:r>
            <a:endParaRPr lang="en-US" sz="1400" dirty="0">
              <a:latin typeface="ＭＳ Ｐゴシック" panose="020B0600070205080204" pitchFamily="50" charset="-128"/>
              <a:ea typeface="ＭＳ Ｐゴシック" panose="020B0600070205080204" pitchFamily="50" charset="-128"/>
            </a:endParaRPr>
          </a:p>
        </p:txBody>
      </p:sp>
      <p:sp>
        <p:nvSpPr>
          <p:cNvPr id="31" name="Shape 29"/>
          <p:cNvSpPr/>
          <p:nvPr/>
        </p:nvSpPr>
        <p:spPr>
          <a:xfrm>
            <a:off x="4885091" y="2011800"/>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2" name="Text 30"/>
          <p:cNvSpPr/>
          <p:nvPr/>
        </p:nvSpPr>
        <p:spPr>
          <a:xfrm>
            <a:off x="4912523" y="2030088"/>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33" name="Shape 31"/>
          <p:cNvSpPr/>
          <p:nvPr/>
        </p:nvSpPr>
        <p:spPr>
          <a:xfrm>
            <a:off x="6607089" y="2011800"/>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4" name="Text 32"/>
          <p:cNvSpPr/>
          <p:nvPr/>
        </p:nvSpPr>
        <p:spPr>
          <a:xfrm>
            <a:off x="6634521" y="2030088"/>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44.05</a:t>
            </a:r>
            <a:endParaRPr lang="en-US" sz="1400" dirty="0">
              <a:latin typeface="ＭＳ Ｐゴシック" panose="020B0600070205080204" pitchFamily="50" charset="-128"/>
              <a:ea typeface="ＭＳ Ｐゴシック" panose="020B0600070205080204" pitchFamily="50" charset="-128"/>
            </a:endParaRPr>
          </a:p>
        </p:txBody>
      </p:sp>
      <p:sp>
        <p:nvSpPr>
          <p:cNvPr id="35" name="Shape 33"/>
          <p:cNvSpPr/>
          <p:nvPr/>
        </p:nvSpPr>
        <p:spPr>
          <a:xfrm>
            <a:off x="658368"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6" name="Text 34"/>
          <p:cNvSpPr/>
          <p:nvPr/>
        </p:nvSpPr>
        <p:spPr>
          <a:xfrm>
            <a:off x="685800"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SATNet</a:t>
            </a:r>
            <a:endParaRPr lang="en-US" sz="1400" dirty="0">
              <a:latin typeface="ＭＳ Ｐゴシック" panose="020B0600070205080204" pitchFamily="50" charset="-128"/>
              <a:ea typeface="ＭＳ Ｐゴシック" panose="020B0600070205080204" pitchFamily="50" charset="-128"/>
            </a:endParaRPr>
          </a:p>
        </p:txBody>
      </p:sp>
      <p:sp>
        <p:nvSpPr>
          <p:cNvPr id="37" name="Shape 35"/>
          <p:cNvSpPr/>
          <p:nvPr/>
        </p:nvSpPr>
        <p:spPr>
          <a:xfrm>
            <a:off x="2067276"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8" name="Text 36"/>
          <p:cNvSpPr/>
          <p:nvPr/>
        </p:nvSpPr>
        <p:spPr>
          <a:xfrm>
            <a:off x="2094708"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RGBD</a:t>
            </a:r>
            <a:endParaRPr lang="en-US" sz="1400" dirty="0">
              <a:latin typeface="ＭＳ Ｐゴシック" panose="020B0600070205080204" pitchFamily="50" charset="-128"/>
              <a:ea typeface="ＭＳ Ｐゴシック" panose="020B0600070205080204" pitchFamily="50" charset="-128"/>
            </a:endParaRPr>
          </a:p>
        </p:txBody>
      </p:sp>
      <p:sp>
        <p:nvSpPr>
          <p:cNvPr id="39" name="Shape 37"/>
          <p:cNvSpPr/>
          <p:nvPr/>
        </p:nvSpPr>
        <p:spPr>
          <a:xfrm>
            <a:off x="3476183"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0" name="Text 38"/>
          <p:cNvSpPr/>
          <p:nvPr/>
        </p:nvSpPr>
        <p:spPr>
          <a:xfrm>
            <a:off x="3503615"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78.42</a:t>
            </a:r>
            <a:endParaRPr lang="en-US" sz="1400" dirty="0">
              <a:latin typeface="ＭＳ Ｐゴシック" panose="020B0600070205080204" pitchFamily="50" charset="-128"/>
              <a:ea typeface="ＭＳ Ｐゴシック" panose="020B0600070205080204" pitchFamily="50" charset="-128"/>
            </a:endParaRPr>
          </a:p>
        </p:txBody>
      </p:sp>
      <p:sp>
        <p:nvSpPr>
          <p:cNvPr id="41" name="Shape 39"/>
          <p:cNvSpPr/>
          <p:nvPr/>
        </p:nvSpPr>
        <p:spPr>
          <a:xfrm>
            <a:off x="4885091" y="2402706"/>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2" name="Text 40"/>
          <p:cNvSpPr/>
          <p:nvPr/>
        </p:nvSpPr>
        <p:spPr>
          <a:xfrm>
            <a:off x="4912523" y="2420994"/>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43" name="Shape 41"/>
          <p:cNvSpPr/>
          <p:nvPr/>
        </p:nvSpPr>
        <p:spPr>
          <a:xfrm>
            <a:off x="6607089" y="2402706"/>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4" name="Text 42"/>
          <p:cNvSpPr/>
          <p:nvPr/>
        </p:nvSpPr>
        <p:spPr>
          <a:xfrm>
            <a:off x="6634521" y="2420994"/>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49.46</a:t>
            </a:r>
            <a:endParaRPr lang="en-US" sz="1400" dirty="0">
              <a:latin typeface="ＭＳ Ｐゴシック" panose="020B0600070205080204" pitchFamily="50" charset="-128"/>
              <a:ea typeface="ＭＳ Ｐゴシック" panose="020B0600070205080204" pitchFamily="50" charset="-128"/>
            </a:endParaRPr>
          </a:p>
        </p:txBody>
      </p:sp>
      <p:sp>
        <p:nvSpPr>
          <p:cNvPr id="45" name="Shape 43"/>
          <p:cNvSpPr/>
          <p:nvPr/>
        </p:nvSpPr>
        <p:spPr>
          <a:xfrm>
            <a:off x="658368"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6" name="Text 44"/>
          <p:cNvSpPr/>
          <p:nvPr/>
        </p:nvSpPr>
        <p:spPr>
          <a:xfrm>
            <a:off x="685800"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47" name="Shape 45"/>
          <p:cNvSpPr/>
          <p:nvPr/>
        </p:nvSpPr>
        <p:spPr>
          <a:xfrm>
            <a:off x="2067276"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8" name="Text 46"/>
          <p:cNvSpPr/>
          <p:nvPr/>
        </p:nvSpPr>
        <p:spPr>
          <a:xfrm>
            <a:off x="2094708"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GDD</a:t>
            </a:r>
            <a:endParaRPr lang="en-US" sz="1400" dirty="0">
              <a:latin typeface="ＭＳ Ｐゴシック" panose="020B0600070205080204" pitchFamily="50" charset="-128"/>
              <a:ea typeface="ＭＳ Ｐゴシック" panose="020B0600070205080204" pitchFamily="50" charset="-128"/>
            </a:endParaRPr>
          </a:p>
        </p:txBody>
      </p:sp>
      <p:sp>
        <p:nvSpPr>
          <p:cNvPr id="49" name="Shape 47"/>
          <p:cNvSpPr/>
          <p:nvPr/>
        </p:nvSpPr>
        <p:spPr>
          <a:xfrm>
            <a:off x="3476183"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0" name="Text 48"/>
          <p:cNvSpPr/>
          <p:nvPr/>
        </p:nvSpPr>
        <p:spPr>
          <a:xfrm>
            <a:off x="3503615"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88.72</a:t>
            </a:r>
            <a:endParaRPr lang="en-US" sz="1400" dirty="0">
              <a:latin typeface="ＭＳ Ｐゴシック" panose="020B0600070205080204" pitchFamily="50" charset="-128"/>
              <a:ea typeface="ＭＳ Ｐゴシック" panose="020B0600070205080204" pitchFamily="50" charset="-128"/>
            </a:endParaRPr>
          </a:p>
        </p:txBody>
      </p:sp>
      <p:sp>
        <p:nvSpPr>
          <p:cNvPr id="51" name="Shape 49"/>
          <p:cNvSpPr/>
          <p:nvPr/>
        </p:nvSpPr>
        <p:spPr>
          <a:xfrm>
            <a:off x="4885091" y="2793612"/>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2" name="Text 50"/>
          <p:cNvSpPr/>
          <p:nvPr/>
        </p:nvSpPr>
        <p:spPr>
          <a:xfrm>
            <a:off x="4912523" y="2811900"/>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a:t>
            </a:r>
            <a:endParaRPr lang="en-US" sz="1400" dirty="0">
              <a:latin typeface="ＭＳ Ｐゴシック" panose="020B0600070205080204" pitchFamily="50" charset="-128"/>
              <a:ea typeface="ＭＳ Ｐゴシック" panose="020B0600070205080204" pitchFamily="50" charset="-128"/>
            </a:endParaRPr>
          </a:p>
        </p:txBody>
      </p:sp>
      <p:sp>
        <p:nvSpPr>
          <p:cNvPr id="53" name="Shape 51"/>
          <p:cNvSpPr/>
          <p:nvPr/>
        </p:nvSpPr>
        <p:spPr>
          <a:xfrm>
            <a:off x="6607089" y="2793612"/>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4" name="Text 52"/>
          <p:cNvSpPr/>
          <p:nvPr/>
        </p:nvSpPr>
        <p:spPr>
          <a:xfrm>
            <a:off x="6634521" y="2811900"/>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60.49</a:t>
            </a:r>
            <a:endParaRPr lang="en-US" sz="1400" dirty="0">
              <a:latin typeface="ＭＳ Ｐゴシック" panose="020B0600070205080204" pitchFamily="50" charset="-128"/>
              <a:ea typeface="ＭＳ Ｐゴシック" panose="020B0600070205080204" pitchFamily="50" charset="-128"/>
            </a:endParaRPr>
          </a:p>
        </p:txBody>
      </p:sp>
      <p:sp>
        <p:nvSpPr>
          <p:cNvPr id="55" name="Shape 53"/>
          <p:cNvSpPr/>
          <p:nvPr/>
        </p:nvSpPr>
        <p:spPr>
          <a:xfrm>
            <a:off x="658368"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6" name="Text 54"/>
          <p:cNvSpPr/>
          <p:nvPr/>
        </p:nvSpPr>
        <p:spPr>
          <a:xfrm>
            <a:off x="685800"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57" name="Shape 55"/>
          <p:cNvSpPr/>
          <p:nvPr/>
        </p:nvSpPr>
        <p:spPr>
          <a:xfrm>
            <a:off x="2067276"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8" name="Text 56"/>
          <p:cNvSpPr/>
          <p:nvPr/>
        </p:nvSpPr>
        <p:spPr>
          <a:xfrm>
            <a:off x="2094708"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MSD</a:t>
            </a:r>
            <a:endParaRPr lang="en-US" sz="1400" dirty="0">
              <a:latin typeface="ＭＳ Ｐゴシック" panose="020B0600070205080204" pitchFamily="50" charset="-128"/>
              <a:ea typeface="ＭＳ Ｐゴシック" panose="020B0600070205080204" pitchFamily="50" charset="-128"/>
            </a:endParaRPr>
          </a:p>
        </p:txBody>
      </p:sp>
      <p:sp>
        <p:nvSpPr>
          <p:cNvPr id="59" name="Shape 57"/>
          <p:cNvSpPr/>
          <p:nvPr/>
        </p:nvSpPr>
        <p:spPr>
          <a:xfrm>
            <a:off x="3476183"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0" name="Text 58"/>
          <p:cNvSpPr/>
          <p:nvPr/>
        </p:nvSpPr>
        <p:spPr>
          <a:xfrm>
            <a:off x="3503615"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80.33</a:t>
            </a:r>
            <a:endParaRPr lang="en-US" sz="1400" dirty="0">
              <a:latin typeface="ＭＳ Ｐゴシック" panose="020B0600070205080204" pitchFamily="50" charset="-128"/>
              <a:ea typeface="ＭＳ Ｐゴシック" panose="020B0600070205080204" pitchFamily="50" charset="-128"/>
            </a:endParaRPr>
          </a:p>
        </p:txBody>
      </p:sp>
      <p:sp>
        <p:nvSpPr>
          <p:cNvPr id="61" name="Shape 59"/>
          <p:cNvSpPr/>
          <p:nvPr/>
        </p:nvSpPr>
        <p:spPr>
          <a:xfrm>
            <a:off x="4885091" y="3184518"/>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2" name="Text 60"/>
          <p:cNvSpPr/>
          <p:nvPr/>
        </p:nvSpPr>
        <p:spPr>
          <a:xfrm>
            <a:off x="4912523" y="3202806"/>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63" name="Shape 61"/>
          <p:cNvSpPr/>
          <p:nvPr/>
        </p:nvSpPr>
        <p:spPr>
          <a:xfrm>
            <a:off x="6607089" y="3184518"/>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4" name="Text 62"/>
          <p:cNvSpPr/>
          <p:nvPr/>
        </p:nvSpPr>
        <p:spPr>
          <a:xfrm>
            <a:off x="6634521" y="3202806"/>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57.61</a:t>
            </a:r>
            <a:endParaRPr lang="en-US" sz="1400" dirty="0">
              <a:latin typeface="ＭＳ Ｐゴシック" panose="020B0600070205080204" pitchFamily="50" charset="-128"/>
              <a:ea typeface="ＭＳ Ｐゴシック" panose="020B0600070205080204" pitchFamily="50" charset="-128"/>
            </a:endParaRPr>
          </a:p>
        </p:txBody>
      </p:sp>
      <p:sp>
        <p:nvSpPr>
          <p:cNvPr id="65" name="Shape 63"/>
          <p:cNvSpPr/>
          <p:nvPr/>
        </p:nvSpPr>
        <p:spPr>
          <a:xfrm>
            <a:off x="658368"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6" name="Text 64"/>
          <p:cNvSpPr/>
          <p:nvPr/>
        </p:nvSpPr>
        <p:spPr>
          <a:xfrm>
            <a:off x="685800" y="3593712"/>
            <a:ext cx="1354044" cy="354330"/>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SATNet*</a:t>
            </a:r>
            <a:endParaRPr lang="en-US" sz="1400" dirty="0">
              <a:latin typeface="ＭＳ Ｐゴシック" panose="020B0600070205080204" pitchFamily="50" charset="-128"/>
              <a:ea typeface="ＭＳ Ｐゴシック" panose="020B0600070205080204" pitchFamily="50" charset="-128"/>
            </a:endParaRPr>
          </a:p>
        </p:txBody>
      </p:sp>
      <p:sp>
        <p:nvSpPr>
          <p:cNvPr id="67" name="Shape 65"/>
          <p:cNvSpPr/>
          <p:nvPr/>
        </p:nvSpPr>
        <p:spPr>
          <a:xfrm>
            <a:off x="2067276"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8" name="Text 66"/>
          <p:cNvSpPr/>
          <p:nvPr/>
        </p:nvSpPr>
        <p:spPr>
          <a:xfrm>
            <a:off x="2094708" y="359371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3DRef</a:t>
            </a:r>
            <a:endParaRPr lang="en-US" sz="1400" dirty="0">
              <a:latin typeface="ＭＳ Ｐゴシック" panose="020B0600070205080204" pitchFamily="50" charset="-128"/>
              <a:ea typeface="ＭＳ Ｐゴシック" panose="020B0600070205080204" pitchFamily="50" charset="-128"/>
            </a:endParaRPr>
          </a:p>
        </p:txBody>
      </p:sp>
      <p:sp>
        <p:nvSpPr>
          <p:cNvPr id="69" name="Shape 67"/>
          <p:cNvSpPr/>
          <p:nvPr/>
        </p:nvSpPr>
        <p:spPr>
          <a:xfrm>
            <a:off x="3476183"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0" name="Text 68"/>
          <p:cNvSpPr/>
          <p:nvPr/>
        </p:nvSpPr>
        <p:spPr>
          <a:xfrm>
            <a:off x="3503615" y="359371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a:t>
            </a:r>
            <a:endParaRPr lang="en-US" sz="1400" dirty="0">
              <a:latin typeface="ＭＳ Ｐゴシック" panose="020B0600070205080204" pitchFamily="50" charset="-128"/>
              <a:ea typeface="ＭＳ Ｐゴシック" panose="020B0600070205080204" pitchFamily="50" charset="-128"/>
            </a:endParaRPr>
          </a:p>
        </p:txBody>
      </p:sp>
      <p:sp>
        <p:nvSpPr>
          <p:cNvPr id="71" name="Shape 69"/>
          <p:cNvSpPr/>
          <p:nvPr/>
        </p:nvSpPr>
        <p:spPr>
          <a:xfrm>
            <a:off x="4885091" y="3575424"/>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2" name="Text 70"/>
          <p:cNvSpPr/>
          <p:nvPr/>
        </p:nvSpPr>
        <p:spPr>
          <a:xfrm>
            <a:off x="4912523" y="3593712"/>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 / All</a:t>
            </a:r>
            <a:endParaRPr lang="en-US" sz="1400" dirty="0">
              <a:latin typeface="ＭＳ Ｐゴシック" panose="020B0600070205080204" pitchFamily="50" charset="-128"/>
              <a:ea typeface="ＭＳ Ｐゴシック" panose="020B0600070205080204" pitchFamily="50" charset="-128"/>
            </a:endParaRPr>
          </a:p>
        </p:txBody>
      </p:sp>
      <p:sp>
        <p:nvSpPr>
          <p:cNvPr id="73" name="Shape 71"/>
          <p:cNvSpPr/>
          <p:nvPr/>
        </p:nvSpPr>
        <p:spPr>
          <a:xfrm>
            <a:off x="6607089" y="3575424"/>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4" name="Text 72"/>
          <p:cNvSpPr/>
          <p:nvPr/>
        </p:nvSpPr>
        <p:spPr>
          <a:xfrm>
            <a:off x="6634521" y="3593712"/>
            <a:ext cx="1823679" cy="354330"/>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82.47 / 68.81</a:t>
            </a:r>
            <a:endParaRPr lang="en-US" sz="1400" dirty="0">
              <a:latin typeface="ＭＳ Ｐゴシック" panose="020B0600070205080204" pitchFamily="50" charset="-128"/>
              <a:ea typeface="ＭＳ Ｐゴシック" panose="020B0600070205080204" pitchFamily="50" charset="-128"/>
            </a:endParaRPr>
          </a:p>
        </p:txBody>
      </p:sp>
      <p:sp>
        <p:nvSpPr>
          <p:cNvPr id="75" name="Shape 73"/>
          <p:cNvSpPr/>
          <p:nvPr/>
        </p:nvSpPr>
        <p:spPr>
          <a:xfrm>
            <a:off x="658368"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6" name="Text 74"/>
          <p:cNvSpPr/>
          <p:nvPr/>
        </p:nvSpPr>
        <p:spPr>
          <a:xfrm>
            <a:off x="685800" y="3984618"/>
            <a:ext cx="1354044" cy="354330"/>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77" name="Shape 75"/>
          <p:cNvSpPr/>
          <p:nvPr/>
        </p:nvSpPr>
        <p:spPr>
          <a:xfrm>
            <a:off x="2067276"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8" name="Text 76"/>
          <p:cNvSpPr/>
          <p:nvPr/>
        </p:nvSpPr>
        <p:spPr>
          <a:xfrm>
            <a:off x="2094708" y="398461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3DRef</a:t>
            </a:r>
            <a:endParaRPr lang="en-US" sz="1400" dirty="0">
              <a:latin typeface="ＭＳ Ｐゴシック" panose="020B0600070205080204" pitchFamily="50" charset="-128"/>
              <a:ea typeface="ＭＳ Ｐゴシック" panose="020B0600070205080204" pitchFamily="50" charset="-128"/>
            </a:endParaRPr>
          </a:p>
        </p:txBody>
      </p:sp>
      <p:sp>
        <p:nvSpPr>
          <p:cNvPr id="79" name="Shape 77"/>
          <p:cNvSpPr/>
          <p:nvPr/>
        </p:nvSpPr>
        <p:spPr>
          <a:xfrm>
            <a:off x="3476183"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0" name="Text 78"/>
          <p:cNvSpPr/>
          <p:nvPr/>
        </p:nvSpPr>
        <p:spPr>
          <a:xfrm>
            <a:off x="3503615" y="398461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a:t>
            </a:r>
            <a:endParaRPr lang="en-US" sz="1400" dirty="0">
              <a:latin typeface="ＭＳ Ｐゴシック" panose="020B0600070205080204" pitchFamily="50" charset="-128"/>
              <a:ea typeface="ＭＳ Ｐゴシック" panose="020B0600070205080204" pitchFamily="50" charset="-128"/>
            </a:endParaRPr>
          </a:p>
        </p:txBody>
      </p:sp>
      <p:sp>
        <p:nvSpPr>
          <p:cNvPr id="81" name="Shape 79"/>
          <p:cNvSpPr/>
          <p:nvPr/>
        </p:nvSpPr>
        <p:spPr>
          <a:xfrm>
            <a:off x="4885091" y="3966330"/>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2" name="Text 80"/>
          <p:cNvSpPr/>
          <p:nvPr/>
        </p:nvSpPr>
        <p:spPr>
          <a:xfrm>
            <a:off x="4912523" y="3984618"/>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 / All</a:t>
            </a:r>
            <a:endParaRPr lang="en-US" sz="1400" dirty="0">
              <a:latin typeface="ＭＳ Ｐゴシック" panose="020B0600070205080204" pitchFamily="50" charset="-128"/>
              <a:ea typeface="ＭＳ Ｐゴシック" panose="020B0600070205080204" pitchFamily="50" charset="-128"/>
            </a:endParaRPr>
          </a:p>
        </p:txBody>
      </p:sp>
      <p:sp>
        <p:nvSpPr>
          <p:cNvPr id="83" name="Shape 81"/>
          <p:cNvSpPr/>
          <p:nvPr/>
        </p:nvSpPr>
        <p:spPr>
          <a:xfrm>
            <a:off x="6607089" y="3966330"/>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4" name="Text 82"/>
          <p:cNvSpPr/>
          <p:nvPr/>
        </p:nvSpPr>
        <p:spPr>
          <a:xfrm>
            <a:off x="6634521" y="3984618"/>
            <a:ext cx="1823679" cy="354330"/>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86.71 / 87.60</a:t>
            </a:r>
            <a:endParaRPr lang="en-US" sz="1400" dirty="0">
              <a:latin typeface="ＭＳ Ｐゴシック" panose="020B0600070205080204" pitchFamily="50" charset="-128"/>
              <a:ea typeface="ＭＳ Ｐゴシック" panose="020B0600070205080204" pitchFamily="50" charset="-128"/>
            </a:endParaRPr>
          </a:p>
        </p:txBody>
      </p:sp>
      <p:sp>
        <p:nvSpPr>
          <p:cNvPr id="90" name="テキスト ボックス 89">
            <a:extLst>
              <a:ext uri="{FF2B5EF4-FFF2-40B4-BE49-F238E27FC236}">
                <a16:creationId xmlns:a16="http://schemas.microsoft.com/office/drawing/2014/main" id="{C4CD79C8-1601-5F45-F01A-AD4042EA1208}"/>
              </a:ext>
            </a:extLst>
          </p:cNvPr>
          <p:cNvSpPr txBox="1"/>
          <p:nvPr/>
        </p:nvSpPr>
        <p:spPr>
          <a:xfrm>
            <a:off x="115748" y="135654"/>
            <a:ext cx="5564529" cy="415498"/>
          </a:xfrm>
          <a:prstGeom prst="rect">
            <a:avLst/>
          </a:prstGeom>
          <a:noFill/>
        </p:spPr>
        <p:txBody>
          <a:bodyPr wrap="square" rtlCol="0">
            <a:spAutoFit/>
          </a:bodyPr>
          <a:lstStyle/>
          <a:p>
            <a:r>
              <a:rPr kumimoji="1"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結果</a:t>
            </a:r>
          </a:p>
        </p:txBody>
      </p:sp>
      <p:sp>
        <p:nvSpPr>
          <p:cNvPr id="92" name="テキスト ボックス 91">
            <a:extLst>
              <a:ext uri="{FF2B5EF4-FFF2-40B4-BE49-F238E27FC236}">
                <a16:creationId xmlns:a16="http://schemas.microsoft.com/office/drawing/2014/main" id="{67569D57-FDD5-EB7D-9D8B-4CD7934DBF2B}"/>
              </a:ext>
            </a:extLst>
          </p:cNvPr>
          <p:cNvSpPr txBox="1"/>
          <p:nvPr/>
        </p:nvSpPr>
        <p:spPr>
          <a:xfrm>
            <a:off x="115748" y="539710"/>
            <a:ext cx="8912504" cy="338554"/>
          </a:xfrm>
          <a:prstGeom prst="rect">
            <a:avLst/>
          </a:prstGeom>
          <a:noFill/>
        </p:spPr>
        <p:txBody>
          <a:bodyPr wrap="square" rtlCol="0">
            <a:spAutoFit/>
          </a:bodyPr>
          <a:lstStyle/>
          <a:p>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モデルは既存データから</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3DRef</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へ移すと大きく低下し、再学習で回復する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D7765-4E10-05C0-2469-93ACA9DE0438}"/>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2EF4D7E3-93E8-0334-92AE-D29D6C7B0A12}"/>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F043814C-BE31-6B0E-3B09-0F68D4EBEFA4}"/>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6</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C721BFCE-F180-869D-FAC1-B03B9396FABD}"/>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まとめ</a:t>
            </a:r>
          </a:p>
        </p:txBody>
      </p:sp>
      <p:sp>
        <p:nvSpPr>
          <p:cNvPr id="4" name="スライド番号プレースホルダー 3">
            <a:extLst>
              <a:ext uri="{FF2B5EF4-FFF2-40B4-BE49-F238E27FC236}">
                <a16:creationId xmlns:a16="http://schemas.microsoft.com/office/drawing/2014/main" id="{542B5CFF-7788-CE61-A1BF-D4752ED05F7E}"/>
              </a:ext>
            </a:extLst>
          </p:cNvPr>
          <p:cNvSpPr>
            <a:spLocks noGrp="1"/>
          </p:cNvSpPr>
          <p:nvPr>
            <p:ph type="sldNum" sz="quarter" idx="12"/>
          </p:nvPr>
        </p:nvSpPr>
        <p:spPr/>
        <p:txBody>
          <a:bodyPr/>
          <a:lstStyle/>
          <a:p>
            <a:fld id="{E28785FB-366A-49F3-B842-F6DCBAD5BBAB}" type="slidenum">
              <a:rPr kumimoji="1" lang="ja-JP" altLang="en-US" smtClean="0"/>
              <a:t>17</a:t>
            </a:fld>
            <a:endParaRPr kumimoji="1" lang="ja-JP" altLang="en-US"/>
          </a:p>
        </p:txBody>
      </p:sp>
    </p:spTree>
    <p:extLst>
      <p:ext uri="{BB962C8B-B14F-4D97-AF65-F5344CB8AC3E}">
        <p14:creationId xmlns:p14="http://schemas.microsoft.com/office/powerpoint/2010/main" val="37952074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7187A-8820-1969-FB36-D91BEA857B7F}"/>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1DB98E6C-3EBF-C141-4610-8C294A3F8BA0}"/>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まとめ</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B0D6F604-A68A-3732-2991-0F60848C310E}"/>
              </a:ext>
            </a:extLst>
          </p:cNvPr>
          <p:cNvSpPr/>
          <p:nvPr/>
        </p:nvSpPr>
        <p:spPr>
          <a:xfrm>
            <a:off x="341455" y="1050404"/>
            <a:ext cx="1281897" cy="18604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成果</a:t>
            </a:r>
          </a:p>
        </p:txBody>
      </p:sp>
      <p:sp>
        <p:nvSpPr>
          <p:cNvPr id="14" name="正方形/長方形 13">
            <a:extLst>
              <a:ext uri="{FF2B5EF4-FFF2-40B4-BE49-F238E27FC236}">
                <a16:creationId xmlns:a16="http://schemas.microsoft.com/office/drawing/2014/main" id="{A870B9B7-A669-E327-51BD-8EBE90F2864D}"/>
              </a:ext>
            </a:extLst>
          </p:cNvPr>
          <p:cNvSpPr/>
          <p:nvPr/>
        </p:nvSpPr>
        <p:spPr>
          <a:xfrm>
            <a:off x="1702200" y="1050404"/>
            <a:ext cx="7247924" cy="186043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画像・マルチリターン</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2D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ラベルを含む大規模データセット</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を構築</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メッシュとレイキャスティングによる点群ラベル生成手法を提案</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ガラス・鏡・反射点・ガラス背後の障害物を区別</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の既存セグメンテーション手法を比較評価</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マルチリターン情報の有効性とセンサ間の性能差を確認</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での再学習により</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反射検出性能が大幅に向上</a:t>
            </a:r>
          </a:p>
        </p:txBody>
      </p:sp>
      <p:sp>
        <p:nvSpPr>
          <p:cNvPr id="4" name="正方形/長方形 3">
            <a:extLst>
              <a:ext uri="{FF2B5EF4-FFF2-40B4-BE49-F238E27FC236}">
                <a16:creationId xmlns:a16="http://schemas.microsoft.com/office/drawing/2014/main" id="{433E8A44-EDAC-9A89-0F63-AD3A9041C061}"/>
              </a:ext>
            </a:extLst>
          </p:cNvPr>
          <p:cNvSpPr/>
          <p:nvPr/>
        </p:nvSpPr>
        <p:spPr>
          <a:xfrm>
            <a:off x="341455" y="3002877"/>
            <a:ext cx="1281897" cy="1276109"/>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限界</a:t>
            </a:r>
          </a:p>
        </p:txBody>
      </p:sp>
      <p:sp>
        <p:nvSpPr>
          <p:cNvPr id="6" name="正方形/長方形 5">
            <a:extLst>
              <a:ext uri="{FF2B5EF4-FFF2-40B4-BE49-F238E27FC236}">
                <a16:creationId xmlns:a16="http://schemas.microsoft.com/office/drawing/2014/main" id="{D0CF1868-1664-F295-EACA-906918783448}"/>
              </a:ext>
            </a:extLst>
          </p:cNvPr>
          <p:cNvSpPr/>
          <p:nvPr/>
        </p:nvSpPr>
        <p:spPr>
          <a:xfrm>
            <a:off x="1702200" y="3002877"/>
            <a:ext cx="7247924" cy="1276109"/>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センサ・反射材料・環境の多様化</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と</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の融合</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深度・偏光情報の利用</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自己教師あり・半教師あり学習への拡張</a:t>
            </a:r>
          </a:p>
        </p:txBody>
      </p:sp>
      <p:sp>
        <p:nvSpPr>
          <p:cNvPr id="2" name="スライド番号プレースホルダー 1">
            <a:extLst>
              <a:ext uri="{FF2B5EF4-FFF2-40B4-BE49-F238E27FC236}">
                <a16:creationId xmlns:a16="http://schemas.microsoft.com/office/drawing/2014/main" id="{0E65B331-EBA4-8611-2392-13B2524C4813}"/>
              </a:ext>
            </a:extLst>
          </p:cNvPr>
          <p:cNvSpPr>
            <a:spLocks noGrp="1"/>
          </p:cNvSpPr>
          <p:nvPr>
            <p:ph type="sldNum" sz="quarter" idx="12"/>
          </p:nvPr>
        </p:nvSpPr>
        <p:spPr/>
        <p:txBody>
          <a:bodyPr/>
          <a:lstStyle/>
          <a:p>
            <a:fld id="{E28785FB-366A-49F3-B842-F6DCBAD5BBAB}" type="slidenum">
              <a:rPr kumimoji="1" lang="ja-JP" altLang="en-US" smtClean="0"/>
              <a:t>18</a:t>
            </a:fld>
            <a:endParaRPr kumimoji="1" lang="ja-JP" altLang="en-US"/>
          </a:p>
        </p:txBody>
      </p:sp>
    </p:spTree>
    <p:extLst>
      <p:ext uri="{BB962C8B-B14F-4D97-AF65-F5344CB8AC3E}">
        <p14:creationId xmlns:p14="http://schemas.microsoft.com/office/powerpoint/2010/main" val="3300641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2866C-7627-D270-00AC-B231404CA276}"/>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54F312D7-1C69-5E40-54B3-FE83FE572D27}"/>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62B2795F-CE63-F5B1-ACE3-7AA56B6EC4FD}"/>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7</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01171158-5788-E2DF-8BFD-A55C294110AE}"/>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研究の目的と計画</a:t>
            </a:r>
          </a:p>
        </p:txBody>
      </p:sp>
      <p:sp>
        <p:nvSpPr>
          <p:cNvPr id="4" name="スライド番号プレースホルダー 3">
            <a:extLst>
              <a:ext uri="{FF2B5EF4-FFF2-40B4-BE49-F238E27FC236}">
                <a16:creationId xmlns:a16="http://schemas.microsoft.com/office/drawing/2014/main" id="{1D535A34-3CC7-C295-9E58-FCA876971530}"/>
              </a:ext>
            </a:extLst>
          </p:cNvPr>
          <p:cNvSpPr>
            <a:spLocks noGrp="1"/>
          </p:cNvSpPr>
          <p:nvPr>
            <p:ph type="sldNum" sz="quarter" idx="12"/>
          </p:nvPr>
        </p:nvSpPr>
        <p:spPr/>
        <p:txBody>
          <a:bodyPr/>
          <a:lstStyle/>
          <a:p>
            <a:fld id="{E28785FB-366A-49F3-B842-F6DCBAD5BBAB}" type="slidenum">
              <a:rPr kumimoji="1" lang="ja-JP" altLang="en-US" smtClean="0"/>
              <a:t>19</a:t>
            </a:fld>
            <a:endParaRPr kumimoji="1" lang="ja-JP" altLang="en-US"/>
          </a:p>
        </p:txBody>
      </p:sp>
    </p:spTree>
    <p:extLst>
      <p:ext uri="{BB962C8B-B14F-4D97-AF65-F5344CB8AC3E}">
        <p14:creationId xmlns:p14="http://schemas.microsoft.com/office/powerpoint/2010/main" val="199209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65492-DA93-ED85-5066-CCE9055372C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1E57B919-8C45-FC9C-D8AD-3E1E4C7D1857}"/>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5E6D213D-FD0A-4725-3692-7D341DC2C476}"/>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5330E48C-037F-8F59-82C3-09D9BCF30C99}"/>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7.1</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研究の目的</a:t>
            </a:r>
          </a:p>
        </p:txBody>
      </p:sp>
      <p:sp>
        <p:nvSpPr>
          <p:cNvPr id="2" name="スライド番号プレースホルダー 1">
            <a:extLst>
              <a:ext uri="{FF2B5EF4-FFF2-40B4-BE49-F238E27FC236}">
                <a16:creationId xmlns:a16="http://schemas.microsoft.com/office/drawing/2014/main" id="{961C560C-E4B0-012D-A3B2-D30A83F86DBE}"/>
              </a:ext>
            </a:extLst>
          </p:cNvPr>
          <p:cNvSpPr>
            <a:spLocks noGrp="1"/>
          </p:cNvSpPr>
          <p:nvPr>
            <p:ph type="sldNum" sz="quarter" idx="12"/>
          </p:nvPr>
        </p:nvSpPr>
        <p:spPr/>
        <p:txBody>
          <a:bodyPr/>
          <a:lstStyle/>
          <a:p>
            <a:fld id="{E28785FB-366A-49F3-B842-F6DCBAD5BBAB}" type="slidenum">
              <a:rPr kumimoji="1" lang="ja-JP" altLang="en-US" smtClean="0"/>
              <a:t>20</a:t>
            </a:fld>
            <a:endParaRPr kumimoji="1" lang="ja-JP" altLang="en-US"/>
          </a:p>
        </p:txBody>
      </p:sp>
    </p:spTree>
    <p:extLst>
      <p:ext uri="{BB962C8B-B14F-4D97-AF65-F5344CB8AC3E}">
        <p14:creationId xmlns:p14="http://schemas.microsoft.com/office/powerpoint/2010/main" val="8157956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コンテンツ プレースホルダー 2">
                <a:extLst>
                  <a:ext uri="{FF2B5EF4-FFF2-40B4-BE49-F238E27FC236}">
                    <a16:creationId xmlns:a16="http://schemas.microsoft.com/office/drawing/2014/main" id="{4C8C74B0-0714-383D-204C-42820462C2DD}"/>
                  </a:ext>
                </a:extLst>
              </p:cNvPr>
              <p:cNvSpPr txBox="1">
                <a:spLocks/>
              </p:cNvSpPr>
              <p:nvPr/>
            </p:nvSpPr>
            <p:spPr>
              <a:xfrm>
                <a:off x="628650" y="782836"/>
                <a:ext cx="8315326" cy="3881438"/>
              </a:xfrm>
              <a:prstGeom prst="rect">
                <a:avLst/>
              </a:prstGeom>
            </p:spPr>
            <p:txBody>
              <a:bodyPr vert="horz" lIns="68580" tIns="34290" rIns="68580" bIns="3429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本研究では、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観測点が鏡面反射による</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である確率を推定し、その確率を世界座標上で時空間的に統合することで、反射環境における物理的占有状態の不確実性を表現する確率的デジタルツイン構築手法を提案する。</a:t>
                </a:r>
                <a:endParaRPr lang="ja-JP"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ja-JP" altLang="ja-JP" sz="2100" i="1" dirty="0">
                              <a:latin typeface="Cambria Math" panose="02040503050406030204" pitchFamily="18" charset="0"/>
                            </a:rPr>
                          </m:ctrlPr>
                        </m:eqArrPr>
                        <m:e>
                          <m:r>
                            <a:rPr lang="ja-JP" altLang="ja-JP" sz="2100" dirty="0">
                              <a:latin typeface="Cambria Math" panose="02040503050406030204" pitchFamily="18" charset="0"/>
                            </a:rPr>
                            <m:t> </m:t>
                          </m:r>
                          <m:r>
                            <a:rPr lang="ja-JP" altLang="ja-JP" sz="2100" i="1" dirty="0">
                              <a:latin typeface="Cambria Math" panose="02040503050406030204" pitchFamily="18" charset="0"/>
                            </a:rPr>
                            <m:t>𝑃</m:t>
                          </m:r>
                          <m:d>
                            <m:dPr>
                              <m:ctrlPr>
                                <a:rPr lang="ja-JP" altLang="ja-JP" sz="2100" i="1" dirty="0">
                                  <a:latin typeface="Cambria Math" panose="02040503050406030204" pitchFamily="18" charset="0"/>
                                </a:rPr>
                              </m:ctrlPr>
                            </m:dPr>
                            <m:e>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𝐺</m:t>
                                  </m:r>
                                </m:e>
                                <m:sub>
                                  <m:r>
                                    <a:rPr lang="ja-JP" altLang="ja-JP" sz="2100" i="1" dirty="0">
                                      <a:latin typeface="Cambria Math" panose="02040503050406030204" pitchFamily="18" charset="0"/>
                                    </a:rPr>
                                    <m:t>𝑣</m:t>
                                  </m:r>
                                </m:sub>
                              </m:sSub>
                              <m:r>
                                <a:rPr lang="ja-JP" altLang="ja-JP" sz="2100" dirty="0">
                                  <a:latin typeface="Cambria Math" panose="02040503050406030204" pitchFamily="18" charset="0"/>
                                </a:rPr>
                                <m:t>=1∣</m:t>
                              </m:r>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e>
                          </m:d>
                          <m:r>
                            <a:rPr lang="ja-JP" altLang="ja-JP" sz="2100" dirty="0">
                              <a:latin typeface="Cambria Math" panose="02040503050406030204" pitchFamily="18" charset="0"/>
                            </a:rPr>
                            <m:t>,</m:t>
                          </m:r>
                        </m:e>
                        <m:e>
                          <m:r>
                            <a:rPr lang="ja-JP" altLang="ja-JP" sz="2100" dirty="0">
                              <a:latin typeface="Cambria Math" panose="02040503050406030204" pitchFamily="18" charset="0"/>
                            </a:rPr>
                            <m:t> </m:t>
                          </m:r>
                          <m:r>
                            <a:rPr lang="ja-JP" altLang="ja-JP" sz="2100" i="1" dirty="0">
                              <a:latin typeface="Cambria Math" panose="02040503050406030204" pitchFamily="18" charset="0"/>
                            </a:rPr>
                            <m:t>𝑃</m:t>
                          </m:r>
                          <m:d>
                            <m:dPr>
                              <m:ctrlPr>
                                <a:rPr lang="ja-JP" altLang="ja-JP" sz="2100" i="1" dirty="0">
                                  <a:latin typeface="Cambria Math" panose="02040503050406030204" pitchFamily="18" charset="0"/>
                                </a:rPr>
                              </m:ctrlPr>
                            </m:dPr>
                            <m:e>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𝑂</m:t>
                                  </m:r>
                                </m:e>
                                <m:sub>
                                  <m:r>
                                    <a:rPr lang="ja-JP" altLang="ja-JP" sz="2100" i="1" dirty="0">
                                      <a:latin typeface="Cambria Math" panose="02040503050406030204" pitchFamily="18" charset="0"/>
                                    </a:rPr>
                                    <m:t>𝑣</m:t>
                                  </m:r>
                                </m:sub>
                              </m:sSub>
                              <m:r>
                                <a:rPr lang="ja-JP" altLang="ja-JP" sz="2100" dirty="0">
                                  <a:latin typeface="Cambria Math" panose="02040503050406030204" pitchFamily="18" charset="0"/>
                                </a:rPr>
                                <m:t>=1∣</m:t>
                              </m:r>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endParaRPr lang="ja-JP"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を別々に推定・保持する確率的デジタルツインを構築する。</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ここで、</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𝐺</m:t>
                        </m:r>
                      </m:e>
                      <m:sub>
                        <m:r>
                          <a:rPr lang="ja-JP" altLang="ja-JP" sz="2100" i="1" dirty="0">
                            <a:latin typeface="Cambria Math" panose="02040503050406030204" pitchFamily="18" charset="0"/>
                          </a:rPr>
                          <m:t>𝑣</m:t>
                        </m:r>
                      </m:sub>
                    </m:sSub>
                  </m:oMath>
                </a14:m>
                <a:r>
                  <a:rPr lang="ja-JP" altLang="ja-JP" sz="2100" dirty="0">
                    <a:latin typeface="ＭＳ Ｐゴシック" panose="020B0600070205080204" pitchFamily="50" charset="-128"/>
                    <a:ea typeface="ＭＳ Ｐゴシック" panose="020B0600070205080204" pitchFamily="50" charset="-128"/>
                  </a:rPr>
                  <a:t>は</a:t>
                </a:r>
                <a14:m>
                  <m:oMath xmlns:m="http://schemas.openxmlformats.org/officeDocument/2006/math">
                    <m:r>
                      <m:rPr>
                        <m:sty m:val="p"/>
                      </m:rPr>
                      <a:rPr lang="ja-JP" altLang="ja-JP" sz="2100" dirty="0">
                        <a:latin typeface="Cambria Math" panose="02040503050406030204" pitchFamily="18" charset="0"/>
                      </a:rPr>
                      <m:t>voxel</m:t>
                    </m:r>
                    <m:r>
                      <a:rPr lang="en-US" altLang="ja-JP" sz="2100" i="1" dirty="0">
                        <a:latin typeface="Cambria Math" panose="02040503050406030204" pitchFamily="18" charset="0"/>
                      </a:rPr>
                      <m:t> </m:t>
                    </m:r>
                    <m:r>
                      <a:rPr lang="ja-JP" altLang="ja-JP" sz="2100" i="1" dirty="0">
                        <a:latin typeface="Cambria Math" panose="02040503050406030204" pitchFamily="18" charset="0"/>
                      </a:rPr>
                      <m:t>𝑣</m:t>
                    </m:r>
                  </m:oMath>
                </a14:m>
                <a:r>
                  <a:rPr lang="ja-JP" altLang="ja-JP" sz="2100" dirty="0">
                    <a:latin typeface="ＭＳ Ｐゴシック" panose="020B0600070205080204" pitchFamily="50" charset="-128"/>
                    <a:ea typeface="ＭＳ Ｐゴシック" panose="020B0600070205080204" pitchFamily="50" charset="-128"/>
                  </a:rPr>
                  <a:t>に蓄積された観測がghost由来である事象、</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𝑂</m:t>
                        </m:r>
                      </m:e>
                      <m:sub>
                        <m:r>
                          <a:rPr lang="ja-JP" altLang="ja-JP" sz="2100" i="1" dirty="0">
                            <a:latin typeface="Cambria Math" panose="02040503050406030204" pitchFamily="18" charset="0"/>
                          </a:rPr>
                          <m:t>𝑣</m:t>
                        </m:r>
                      </m:sub>
                    </m:sSub>
                  </m:oMath>
                </a14:m>
                <a:r>
                  <a:rPr lang="ja-JP" altLang="ja-JP" sz="2100" dirty="0">
                    <a:latin typeface="ＭＳ Ｐゴシック" panose="020B0600070205080204" pitchFamily="50" charset="-128"/>
                    <a:ea typeface="ＭＳ Ｐゴシック" panose="020B0600070205080204" pitchFamily="50" charset="-128"/>
                  </a:rPr>
                  <a:t> はvoxel </a:t>
                </a:r>
                <a14:m>
                  <m:oMath xmlns:m="http://schemas.openxmlformats.org/officeDocument/2006/math">
                    <m:r>
                      <a:rPr lang="ja-JP" altLang="ja-JP" sz="2100" i="1" dirty="0">
                        <a:latin typeface="Cambria Math" panose="02040503050406030204" pitchFamily="18" charset="0"/>
                      </a:rPr>
                      <m:t>𝑣</m:t>
                    </m:r>
                  </m:oMath>
                </a14:m>
                <a:r>
                  <a:rPr lang="ja-JP" altLang="ja-JP" sz="2100" dirty="0">
                    <a:latin typeface="ＭＳ Ｐゴシック" panose="020B0600070205080204" pitchFamily="50" charset="-128"/>
                    <a:ea typeface="ＭＳ Ｐゴシック" panose="020B0600070205080204" pitchFamily="50" charset="-128"/>
                  </a:rPr>
                  <a:t> が実際の物理表面によって占有されている事象、</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oMath>
                </a14:m>
                <a:r>
                  <a:rPr lang="ja-JP" altLang="ja-JP" sz="2100" dirty="0">
                    <a:latin typeface="ＭＳ Ｐゴシック" panose="020B0600070205080204" pitchFamily="50" charset="-128"/>
                    <a:ea typeface="ＭＳ Ｐゴシック" panose="020B0600070205080204" pitchFamily="50" charset="-128"/>
                  </a:rPr>
                  <a:t> は時刻1から</a:t>
                </a:r>
                <a14:m>
                  <m:oMath xmlns:m="http://schemas.openxmlformats.org/officeDocument/2006/math">
                    <m:r>
                      <a:rPr lang="ja-JP" altLang="ja-JP" sz="2100" i="1" dirty="0">
                        <a:latin typeface="Cambria Math" panose="02040503050406030204" pitchFamily="18" charset="0"/>
                      </a:rPr>
                      <m:t>𝑡</m:t>
                    </m:r>
                  </m:oMath>
                </a14:m>
                <a:r>
                  <a:rPr lang="ja-JP" altLang="ja-JP" sz="2100" dirty="0">
                    <a:latin typeface="ＭＳ Ｐゴシック" panose="020B0600070205080204" pitchFamily="50" charset="-128"/>
                    <a:ea typeface="ＭＳ Ｐゴシック" panose="020B0600070205080204" pitchFamily="50" charset="-128"/>
                  </a:rPr>
                  <a:t>までの観測を表す。</a:t>
                </a:r>
              </a:p>
            </p:txBody>
          </p:sp>
        </mc:Choice>
        <mc:Fallback xmlns="">
          <p:sp>
            <p:nvSpPr>
              <p:cNvPr id="6" name="コンテンツ プレースホルダー 2">
                <a:extLst>
                  <a:ext uri="{FF2B5EF4-FFF2-40B4-BE49-F238E27FC236}">
                    <a16:creationId xmlns:a16="http://schemas.microsoft.com/office/drawing/2014/main" id="{4C8C74B0-0714-383D-204C-42820462C2DD}"/>
                  </a:ext>
                </a:extLst>
              </p:cNvPr>
              <p:cNvSpPr txBox="1">
                <a:spLocks noRot="1" noChangeAspect="1" noMove="1" noResize="1" noEditPoints="1" noAdjustHandles="1" noChangeArrowheads="1" noChangeShapeType="1" noTextEdit="1"/>
              </p:cNvSpPr>
              <p:nvPr/>
            </p:nvSpPr>
            <p:spPr>
              <a:xfrm>
                <a:off x="628650" y="782836"/>
                <a:ext cx="8315326" cy="3881438"/>
              </a:xfrm>
              <a:prstGeom prst="rect">
                <a:avLst/>
              </a:prstGeom>
              <a:blipFill>
                <a:blip r:embed="rId3"/>
                <a:stretch>
                  <a:fillRect l="-660" t="-628" r="-220"/>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34A39D85-4129-9F73-F4E2-6F3204289E6B}"/>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研究目的</a:t>
            </a:r>
            <a:r>
              <a:rPr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1</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 name="スライド番号プレースホルダー 1">
            <a:extLst>
              <a:ext uri="{FF2B5EF4-FFF2-40B4-BE49-F238E27FC236}">
                <a16:creationId xmlns:a16="http://schemas.microsoft.com/office/drawing/2014/main" id="{0B8F42FB-215B-6723-90D5-2C5BDFB8BB08}"/>
              </a:ext>
            </a:extLst>
          </p:cNvPr>
          <p:cNvSpPr>
            <a:spLocks noGrp="1"/>
          </p:cNvSpPr>
          <p:nvPr>
            <p:ph type="sldNum" sz="quarter" idx="12"/>
          </p:nvPr>
        </p:nvSpPr>
        <p:spPr/>
        <p:txBody>
          <a:bodyPr/>
          <a:lstStyle/>
          <a:p>
            <a:fld id="{AEA74714-EFF8-4255-A09A-B157B324D722}" type="slidenum">
              <a:rPr kumimoji="1" lang="ja-JP" altLang="en-US" smtClean="0"/>
              <a:t>21</a:t>
            </a:fld>
            <a:endParaRPr kumimoji="1" lang="ja-JP" altLang="en-US"/>
          </a:p>
        </p:txBody>
      </p:sp>
    </p:spTree>
    <p:extLst>
      <p:ext uri="{BB962C8B-B14F-4D97-AF65-F5344CB8AC3E}">
        <p14:creationId xmlns:p14="http://schemas.microsoft.com/office/powerpoint/2010/main" val="27639316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386ED-EC79-CF48-15C7-BB2AF2A6DB9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コンテンツ プレースホルダー 2">
                <a:extLst>
                  <a:ext uri="{FF2B5EF4-FFF2-40B4-BE49-F238E27FC236}">
                    <a16:creationId xmlns:a16="http://schemas.microsoft.com/office/drawing/2014/main" id="{2BCDB8B1-47B0-0DB6-552A-9305E209B047}"/>
                  </a:ext>
                </a:extLst>
              </p:cNvPr>
              <p:cNvSpPr txBox="1">
                <a:spLocks/>
              </p:cNvSpPr>
              <p:nvPr/>
            </p:nvSpPr>
            <p:spPr>
              <a:xfrm>
                <a:off x="628650" y="647701"/>
                <a:ext cx="8315326" cy="4419599"/>
              </a:xfrm>
              <a:prstGeom prst="rect">
                <a:avLst/>
              </a:prstGeom>
            </p:spPr>
            <p:txBody>
              <a:bodyPr vert="horz" lIns="68580" tIns="34290" rIns="68580" bIns="3429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buNone/>
                </a:pP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点の発生は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点単体の反射強度や</a:t>
                </a:r>
                <a:r>
                  <a:rPr lang="en-US" altLang="ja-JP" sz="2100" dirty="0">
                    <a:latin typeface="ＭＳ Ｐゴシック" panose="020B0600070205080204" pitchFamily="50" charset="-128"/>
                    <a:ea typeface="ＭＳ Ｐゴシック" panose="020B0600070205080204" pitchFamily="50" charset="-128"/>
                  </a:rPr>
                  <a:t>return</a:t>
                </a:r>
                <a:r>
                  <a:rPr lang="ja-JP" altLang="en-US" sz="2100" dirty="0">
                    <a:latin typeface="ＭＳ Ｐゴシック" panose="020B0600070205080204" pitchFamily="50" charset="-128"/>
                    <a:ea typeface="ＭＳ Ｐゴシック" panose="020B0600070205080204" pitchFamily="50" charset="-128"/>
                  </a:rPr>
                  <a:t>情報だけでなく、鏡面・ガラス面の位置、境界および外観と関係する。このため本研究では、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のみを用いる単一モーダル手法と、</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点群およびカメラ画像を統合するマルチモーダル手法を構築し、両者の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確率推定性能を比較する。</a:t>
                </a: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具体的には、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のみを用いた場合の点</a:t>
                </a:r>
                <a14:m>
                  <m:oMath xmlns:m="http://schemas.openxmlformats.org/officeDocument/2006/math">
                    <m:r>
                      <a:rPr lang="en-US" altLang="ja-JP" sz="2100" dirty="0">
                        <a:latin typeface="Cambria Math" panose="02040503050406030204" pitchFamily="18" charset="0"/>
                      </a:rPr>
                      <m:t> </m:t>
                    </m:r>
                    <m:r>
                      <a:rPr lang="en-US" altLang="ja-JP" sz="2100" i="1" dirty="0">
                        <a:latin typeface="Cambria Math" panose="02040503050406030204" pitchFamily="18" charset="0"/>
                      </a:rPr>
                      <m:t>𝑖</m:t>
                    </m:r>
                  </m:oMath>
                </a14:m>
                <a:r>
                  <a:rPr lang="ja-JP" altLang="en-US" sz="2100" dirty="0">
                    <a:latin typeface="ＭＳ Ｐゴシック" panose="020B0600070205080204" pitchFamily="50" charset="-128"/>
                    <a:ea typeface="ＭＳ Ｐゴシック" panose="020B0600070205080204" pitchFamily="50" charset="-128"/>
                  </a:rPr>
                  <a:t> 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確率を</a:t>
                </a: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en-US" altLang="ja-JP" sz="2100" i="1" dirty="0">
                              <a:latin typeface="Cambria Math" panose="02040503050406030204" pitchFamily="18" charset="0"/>
                            </a:rPr>
                          </m:ctrlPr>
                        </m:eqArrPr>
                        <m:e>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𝑞</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r>
                            <a:rPr lang="en-US" altLang="ja-JP" sz="2100" dirty="0">
                              <a:latin typeface="Cambria Math" panose="02040503050406030204" pitchFamily="18" charset="0"/>
                            </a:rPr>
                            <m:t>=</m:t>
                          </m:r>
                          <m:r>
                            <a:rPr lang="en-US" altLang="ja-JP" sz="2100" i="1" dirty="0">
                              <a:latin typeface="Cambria Math" panose="02040503050406030204" pitchFamily="18" charset="0"/>
                            </a:rPr>
                            <m:t>𝑃</m:t>
                          </m:r>
                          <m:d>
                            <m:dPr>
                              <m:ctrlPr>
                                <a:rPr lang="en-US" altLang="ja-JP" sz="2100" i="1" dirty="0">
                                  <a:latin typeface="Cambria Math" panose="02040503050406030204" pitchFamily="18" charset="0"/>
                                </a:rPr>
                              </m:ctrlPr>
                            </m:dPr>
                            <m:e>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𝐺</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Sub>
                              <m:r>
                                <a:rPr lang="en-US" altLang="ja-JP" sz="2100" dirty="0">
                                  <a:latin typeface="Cambria Math" panose="02040503050406030204" pitchFamily="18" charset="0"/>
                                </a:rPr>
                                <m:t>=1∣</m:t>
                              </m:r>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とし、</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およびカメラ画像を用いた場合の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確率を</a:t>
                </a: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en-US" altLang="ja-JP" sz="2100" i="1" dirty="0">
                              <a:latin typeface="Cambria Math" panose="02040503050406030204" pitchFamily="18" charset="0"/>
                            </a:rPr>
                          </m:ctrlPr>
                        </m:eqArrPr>
                        <m:e>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𝑞</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LC</m:t>
                              </m:r>
                            </m:sup>
                          </m:sSubSup>
                          <m:r>
                            <a:rPr lang="en-US" altLang="ja-JP" sz="2100" dirty="0">
                              <a:latin typeface="Cambria Math" panose="02040503050406030204" pitchFamily="18" charset="0"/>
                            </a:rPr>
                            <m:t>=</m:t>
                          </m:r>
                          <m:r>
                            <a:rPr lang="en-US" altLang="ja-JP" sz="2100" i="1" dirty="0">
                              <a:latin typeface="Cambria Math" panose="02040503050406030204" pitchFamily="18" charset="0"/>
                            </a:rPr>
                            <m:t>𝑃</m:t>
                          </m:r>
                          <m:d>
                            <m:dPr>
                              <m:ctrlPr>
                                <a:rPr lang="en-US" altLang="ja-JP" sz="2100" i="1" dirty="0">
                                  <a:latin typeface="Cambria Math" panose="02040503050406030204" pitchFamily="18" charset="0"/>
                                </a:rPr>
                              </m:ctrlPr>
                            </m:dPr>
                            <m:e>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𝐺</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Sub>
                              <m:r>
                                <a:rPr lang="en-US" altLang="ja-JP" sz="2100" dirty="0">
                                  <a:latin typeface="Cambria Math" panose="02040503050406030204" pitchFamily="18" charset="0"/>
                                </a:rPr>
                                <m:t>=1∣</m:t>
                              </m:r>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r>
                                <a:rPr lang="en-US" altLang="ja-JP" sz="2100" dirty="0">
                                  <a:latin typeface="Cambria Math" panose="02040503050406030204" pitchFamily="18" charset="0"/>
                                </a:rPr>
                                <m:t>,</m:t>
                              </m:r>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𝐼</m:t>
                                  </m:r>
                                </m:e>
                                <m:sub>
                                  <m:r>
                                    <a:rPr lang="en-US" altLang="ja-JP" sz="2100" i="1" dirty="0">
                                      <a:latin typeface="Cambria Math" panose="02040503050406030204" pitchFamily="18" charset="0"/>
                                    </a:rPr>
                                    <m:t>𝑡</m:t>
                                  </m:r>
                                </m:sub>
                              </m:sSub>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とする。ここで、</a:t>
                </a:r>
                <a14:m>
                  <m:oMath xmlns:m="http://schemas.openxmlformats.org/officeDocument/2006/math">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oMath>
                </a14:m>
                <a:r>
                  <a:rPr lang="ja-JP" altLang="en-US" sz="2100" dirty="0">
                    <a:latin typeface="ＭＳ Ｐゴシック" panose="020B0600070205080204" pitchFamily="50" charset="-128"/>
                    <a:ea typeface="ＭＳ Ｐゴシック" panose="020B0600070205080204" pitchFamily="50" charset="-128"/>
                  </a:rPr>
                  <a:t>は時刻</a:t>
                </a:r>
                <a14:m>
                  <m:oMath xmlns:m="http://schemas.openxmlformats.org/officeDocument/2006/math">
                    <m:r>
                      <a:rPr lang="en-US" altLang="ja-JP" sz="2100" i="1" dirty="0">
                        <a:latin typeface="Cambria Math" panose="02040503050406030204" pitchFamily="18" charset="0"/>
                      </a:rPr>
                      <m:t>𝑡</m:t>
                    </m:r>
                  </m:oMath>
                </a14:m>
                <a:r>
                  <a:rPr lang="ja-JP" altLang="en-US" sz="2100" dirty="0">
                    <a:latin typeface="ＭＳ Ｐゴシック" panose="020B0600070205080204" pitchFamily="50" charset="-128"/>
                    <a:ea typeface="ＭＳ Ｐゴシック" panose="020B0600070205080204" pitchFamily="50" charset="-128"/>
                  </a:rPr>
                  <a:t>の</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観測、</a:t>
                </a:r>
                <a14:m>
                  <m:oMath xmlns:m="http://schemas.openxmlformats.org/officeDocument/2006/math">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𝐼</m:t>
                        </m:r>
                      </m:e>
                      <m:sub>
                        <m:r>
                          <a:rPr lang="en-US" altLang="ja-JP" sz="2100" i="1" dirty="0">
                            <a:latin typeface="Cambria Math" panose="02040503050406030204" pitchFamily="18" charset="0"/>
                          </a:rPr>
                          <m:t>𝑡</m:t>
                        </m:r>
                      </m:sub>
                    </m:sSub>
                  </m:oMath>
                </a14:m>
                <a:r>
                  <a:rPr lang="en-US" altLang="ja-JP" sz="2100" dirty="0">
                    <a:latin typeface="ＭＳ Ｐゴシック" panose="020B0600070205080204" pitchFamily="50" charset="-128"/>
                    <a:ea typeface="ＭＳ Ｐゴシック" panose="020B0600070205080204" pitchFamily="50" charset="-128"/>
                  </a:rPr>
                  <a:t> </a:t>
                </a:r>
                <a:r>
                  <a:rPr lang="ja-JP" altLang="en-US" sz="2100" dirty="0">
                    <a:latin typeface="ＭＳ Ｐゴシック" panose="020B0600070205080204" pitchFamily="50" charset="-128"/>
                    <a:ea typeface="ＭＳ Ｐゴシック" panose="020B0600070205080204" pitchFamily="50" charset="-128"/>
                  </a:rPr>
                  <a:t>は対応するカメラ画像である。</a:t>
                </a: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これらの確率を世界座標上の</a:t>
                </a:r>
                <a:r>
                  <a:rPr lang="en-US" altLang="ja-JP" sz="2100" dirty="0">
                    <a:latin typeface="ＭＳ Ｐゴシック" panose="020B0600070205080204" pitchFamily="50" charset="-128"/>
                    <a:ea typeface="ＭＳ Ｐゴシック" panose="020B0600070205080204" pitchFamily="50" charset="-128"/>
                  </a:rPr>
                  <a:t>voxel</a:t>
                </a:r>
                <a:r>
                  <a:rPr lang="ja-JP" altLang="en-US" sz="2100" dirty="0">
                    <a:latin typeface="ＭＳ Ｐゴシック" panose="020B0600070205080204" pitchFamily="50" charset="-128"/>
                    <a:ea typeface="ＭＳ Ｐゴシック" panose="020B0600070205080204" pitchFamily="50" charset="-128"/>
                  </a:rPr>
                  <a:t>へ時空間的に統合し、</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のみの場合と</a:t>
                </a:r>
                <a:r>
                  <a:rPr lang="en-US" altLang="ja-JP" sz="2100" dirty="0">
                    <a:latin typeface="ＭＳ Ｐゴシック" panose="020B0600070205080204" pitchFamily="50" charset="-128"/>
                    <a:ea typeface="ＭＳ Ｐゴシック" panose="020B0600070205080204" pitchFamily="50" charset="-128"/>
                  </a:rPr>
                  <a:t>LiDAR--Camera</a:t>
                </a:r>
                <a:r>
                  <a:rPr lang="ja-JP" altLang="en-US" sz="2100" dirty="0">
                    <a:latin typeface="ＭＳ Ｐゴシック" panose="020B0600070205080204" pitchFamily="50" charset="-128"/>
                    <a:ea typeface="ＭＳ Ｐゴシック" panose="020B0600070205080204" pitchFamily="50" charset="-128"/>
                  </a:rPr>
                  <a:t>融合の場合について、</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確率および物理占有確率の精度を比較する。</a:t>
                </a:r>
                <a:endParaRPr lang="ja-JP" altLang="ja-JP" sz="2100" dirty="0">
                  <a:latin typeface="ＭＳ Ｐゴシック" panose="020B0600070205080204" pitchFamily="50" charset="-128"/>
                  <a:ea typeface="ＭＳ Ｐゴシック" panose="020B0600070205080204" pitchFamily="50" charset="-128"/>
                </a:endParaRPr>
              </a:p>
            </p:txBody>
          </p:sp>
        </mc:Choice>
        <mc:Fallback xmlns="">
          <p:sp>
            <p:nvSpPr>
              <p:cNvPr id="6" name="コンテンツ プレースホルダー 2">
                <a:extLst>
                  <a:ext uri="{FF2B5EF4-FFF2-40B4-BE49-F238E27FC236}">
                    <a16:creationId xmlns:a16="http://schemas.microsoft.com/office/drawing/2014/main" id="{2BCDB8B1-47B0-0DB6-552A-9305E209B047}"/>
                  </a:ext>
                </a:extLst>
              </p:cNvPr>
              <p:cNvSpPr txBox="1">
                <a:spLocks noRot="1" noChangeAspect="1" noMove="1" noResize="1" noEditPoints="1" noAdjustHandles="1" noChangeArrowheads="1" noChangeShapeType="1" noTextEdit="1"/>
              </p:cNvSpPr>
              <p:nvPr/>
            </p:nvSpPr>
            <p:spPr>
              <a:xfrm>
                <a:off x="628650" y="647701"/>
                <a:ext cx="8315326" cy="4419599"/>
              </a:xfrm>
              <a:prstGeom prst="rect">
                <a:avLst/>
              </a:prstGeom>
              <a:blipFill>
                <a:blip r:embed="rId3"/>
                <a:stretch>
                  <a:fillRect l="-953" t="-966" r="-220"/>
                </a:stretch>
              </a:blipFill>
            </p:spPr>
            <p:txBody>
              <a:bodyPr/>
              <a:lstStyle/>
              <a:p>
                <a:r>
                  <a:rPr lang="ja-JP" altLang="en-US">
                    <a:noFill/>
                  </a:rPr>
                  <a:t> </a:t>
                </a:r>
              </a:p>
            </p:txBody>
          </p:sp>
        </mc:Fallback>
      </mc:AlternateContent>
      <p:sp>
        <p:nvSpPr>
          <p:cNvPr id="13" name="タイトル 12">
            <a:extLst>
              <a:ext uri="{FF2B5EF4-FFF2-40B4-BE49-F238E27FC236}">
                <a16:creationId xmlns:a16="http://schemas.microsoft.com/office/drawing/2014/main" id="{322951F5-21C9-D050-4AF3-BAEA5BA28000}"/>
              </a:ext>
            </a:extLst>
          </p:cNvPr>
          <p:cNvSpPr>
            <a:spLocks noGrp="1"/>
          </p:cNvSpPr>
          <p:nvPr>
            <p:ph type="title"/>
          </p:nvPr>
        </p:nvSpPr>
        <p:spPr/>
        <p:txBody>
          <a:bodyPr/>
          <a:lstStyle/>
          <a:p>
            <a:endParaRPr lang="ja-JP" altLang="en-US" dirty="0"/>
          </a:p>
        </p:txBody>
      </p:sp>
      <p:sp>
        <p:nvSpPr>
          <p:cNvPr id="17" name="テキスト ボックス 16">
            <a:extLst>
              <a:ext uri="{FF2B5EF4-FFF2-40B4-BE49-F238E27FC236}">
                <a16:creationId xmlns:a16="http://schemas.microsoft.com/office/drawing/2014/main" id="{448ED47E-E264-D600-6D0F-63231B64899F}"/>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研究目的</a:t>
            </a:r>
            <a:r>
              <a:rPr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2</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 name="スライド番号プレースホルダー 1">
            <a:extLst>
              <a:ext uri="{FF2B5EF4-FFF2-40B4-BE49-F238E27FC236}">
                <a16:creationId xmlns:a16="http://schemas.microsoft.com/office/drawing/2014/main" id="{99542292-6A8A-66A1-381E-E2AFFE4EA893}"/>
              </a:ext>
            </a:extLst>
          </p:cNvPr>
          <p:cNvSpPr>
            <a:spLocks noGrp="1"/>
          </p:cNvSpPr>
          <p:nvPr>
            <p:ph type="sldNum" sz="quarter" idx="12"/>
          </p:nvPr>
        </p:nvSpPr>
        <p:spPr/>
        <p:txBody>
          <a:bodyPr/>
          <a:lstStyle/>
          <a:p>
            <a:fld id="{AEA74714-EFF8-4255-A09A-B157B324D722}" type="slidenum">
              <a:rPr kumimoji="1" lang="ja-JP" altLang="en-US" smtClean="0"/>
              <a:t>22</a:t>
            </a:fld>
            <a:endParaRPr kumimoji="1" lang="ja-JP" altLang="en-US"/>
          </a:p>
        </p:txBody>
      </p:sp>
    </p:spTree>
    <p:extLst>
      <p:ext uri="{BB962C8B-B14F-4D97-AF65-F5344CB8AC3E}">
        <p14:creationId xmlns:p14="http://schemas.microsoft.com/office/powerpoint/2010/main" val="9443468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50787-DFF3-1FDD-FFDE-DAA06F46ED7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A7B2702-5D8B-C5DC-A261-DE251F97B85A}"/>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27CDDFE3-F5A9-6B0D-56AA-C2E87024AB8A}"/>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F07ED527-7340-21B8-E78E-737141A2546F}"/>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7.2</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研究の計画</a:t>
            </a:r>
          </a:p>
        </p:txBody>
      </p:sp>
      <p:sp>
        <p:nvSpPr>
          <p:cNvPr id="2" name="スライド番号プレースホルダー 1">
            <a:extLst>
              <a:ext uri="{FF2B5EF4-FFF2-40B4-BE49-F238E27FC236}">
                <a16:creationId xmlns:a16="http://schemas.microsoft.com/office/drawing/2014/main" id="{712E33B4-C18A-5B17-2E6C-50DB5BFC240D}"/>
              </a:ext>
            </a:extLst>
          </p:cNvPr>
          <p:cNvSpPr>
            <a:spLocks noGrp="1"/>
          </p:cNvSpPr>
          <p:nvPr>
            <p:ph type="sldNum" sz="quarter" idx="12"/>
          </p:nvPr>
        </p:nvSpPr>
        <p:spPr/>
        <p:txBody>
          <a:bodyPr/>
          <a:lstStyle/>
          <a:p>
            <a:fld id="{E28785FB-366A-49F3-B842-F6DCBAD5BBAB}" type="slidenum">
              <a:rPr kumimoji="1" lang="ja-JP" altLang="en-US" smtClean="0"/>
              <a:t>23</a:t>
            </a:fld>
            <a:endParaRPr kumimoji="1" lang="ja-JP" altLang="en-US"/>
          </a:p>
        </p:txBody>
      </p:sp>
    </p:spTree>
    <p:extLst>
      <p:ext uri="{BB962C8B-B14F-4D97-AF65-F5344CB8AC3E}">
        <p14:creationId xmlns:p14="http://schemas.microsoft.com/office/powerpoint/2010/main" val="6801042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4A2F2-0345-0833-D23E-105AA1B785B8}"/>
            </a:ext>
          </a:extLst>
        </p:cNvPr>
        <p:cNvGrpSpPr/>
        <p:nvPr/>
      </p:nvGrpSpPr>
      <p:grpSpPr>
        <a:xfrm>
          <a:off x="0" y="0"/>
          <a:ext cx="0" cy="0"/>
          <a:chOff x="0" y="0"/>
          <a:chExt cx="0" cy="0"/>
        </a:xfrm>
      </p:grpSpPr>
      <p:cxnSp>
        <p:nvCxnSpPr>
          <p:cNvPr id="29" name="直線コネクタ 28">
            <a:extLst>
              <a:ext uri="{FF2B5EF4-FFF2-40B4-BE49-F238E27FC236}">
                <a16:creationId xmlns:a16="http://schemas.microsoft.com/office/drawing/2014/main" id="{D3CC5764-0A1B-708F-76ED-91CFE55E0B5B}"/>
              </a:ext>
            </a:extLst>
          </p:cNvPr>
          <p:cNvCxnSpPr>
            <a:cxnSpLocks/>
            <a:stCxn id="3" idx="0"/>
            <a:endCxn id="23" idx="4"/>
          </p:cNvCxnSpPr>
          <p:nvPr/>
        </p:nvCxnSpPr>
        <p:spPr>
          <a:xfrm>
            <a:off x="1500188" y="637611"/>
            <a:ext cx="0" cy="4370235"/>
          </a:xfrm>
          <a:prstGeom prst="line">
            <a:avLst/>
          </a:prstGeom>
          <a:ln w="76200"/>
        </p:spPr>
        <p:style>
          <a:lnRef idx="1">
            <a:schemeClr val="accent2"/>
          </a:lnRef>
          <a:fillRef idx="0">
            <a:schemeClr val="accent2"/>
          </a:fillRef>
          <a:effectRef idx="0">
            <a:schemeClr val="accent2"/>
          </a:effectRef>
          <a:fontRef idx="minor">
            <a:schemeClr val="tx1"/>
          </a:fontRef>
        </p:style>
      </p:cxnSp>
      <p:sp>
        <p:nvSpPr>
          <p:cNvPr id="4" name="テキスト ボックス 3">
            <a:extLst>
              <a:ext uri="{FF2B5EF4-FFF2-40B4-BE49-F238E27FC236}">
                <a16:creationId xmlns:a16="http://schemas.microsoft.com/office/drawing/2014/main" id="{F7B0A5A3-D491-20AF-8C38-71DED6730D61}"/>
              </a:ext>
            </a:extLst>
          </p:cNvPr>
          <p:cNvSpPr txBox="1"/>
          <p:nvPr/>
        </p:nvSpPr>
        <p:spPr>
          <a:xfrm>
            <a:off x="115748" y="135654"/>
            <a:ext cx="1384440"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ゴシック" panose="020B0609070205080204" pitchFamily="49" charset="-128"/>
                <a:ea typeface="ＭＳ ゴシック" panose="020B0609070205080204" pitchFamily="49" charset="-128"/>
              </a:rPr>
              <a:t>研究計画</a:t>
            </a:r>
            <a:endParaRPr kumimoji="1" lang="ja-JP" altLang="en-US" sz="21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3" name="フローチャート: 結合子 2">
            <a:extLst>
              <a:ext uri="{FF2B5EF4-FFF2-40B4-BE49-F238E27FC236}">
                <a16:creationId xmlns:a16="http://schemas.microsoft.com/office/drawing/2014/main" id="{78A20D9B-3413-1DE8-796B-376DD5B308E5}"/>
              </a:ext>
            </a:extLst>
          </p:cNvPr>
          <p:cNvSpPr/>
          <p:nvPr/>
        </p:nvSpPr>
        <p:spPr>
          <a:xfrm>
            <a:off x="1247775" y="637611"/>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8</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7" name="フローチャート: 結合子 6">
            <a:extLst>
              <a:ext uri="{FF2B5EF4-FFF2-40B4-BE49-F238E27FC236}">
                <a16:creationId xmlns:a16="http://schemas.microsoft.com/office/drawing/2014/main" id="{92166DBA-60A5-1EAD-F453-0CE1A2E9C94B}"/>
              </a:ext>
            </a:extLst>
          </p:cNvPr>
          <p:cNvSpPr/>
          <p:nvPr/>
        </p:nvSpPr>
        <p:spPr>
          <a:xfrm>
            <a:off x="1247775" y="1189812"/>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9</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9" name="フローチャート: 結合子 8">
            <a:extLst>
              <a:ext uri="{FF2B5EF4-FFF2-40B4-BE49-F238E27FC236}">
                <a16:creationId xmlns:a16="http://schemas.microsoft.com/office/drawing/2014/main" id="{D7079AF3-285B-36B7-682A-F1571647C578}"/>
              </a:ext>
            </a:extLst>
          </p:cNvPr>
          <p:cNvSpPr/>
          <p:nvPr/>
        </p:nvSpPr>
        <p:spPr>
          <a:xfrm>
            <a:off x="1247775" y="1742013"/>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10</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1" name="フローチャート: 結合子 10">
            <a:extLst>
              <a:ext uri="{FF2B5EF4-FFF2-40B4-BE49-F238E27FC236}">
                <a16:creationId xmlns:a16="http://schemas.microsoft.com/office/drawing/2014/main" id="{C6BA3698-881F-66B8-089C-658C8973F055}"/>
              </a:ext>
            </a:extLst>
          </p:cNvPr>
          <p:cNvSpPr/>
          <p:nvPr/>
        </p:nvSpPr>
        <p:spPr>
          <a:xfrm>
            <a:off x="1247775" y="2294214"/>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11</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7" name="フローチャート: 結合子 16">
            <a:extLst>
              <a:ext uri="{FF2B5EF4-FFF2-40B4-BE49-F238E27FC236}">
                <a16:creationId xmlns:a16="http://schemas.microsoft.com/office/drawing/2014/main" id="{9A42CFEC-1F71-0F8B-3677-0C26B2D3A8F2}"/>
              </a:ext>
            </a:extLst>
          </p:cNvPr>
          <p:cNvSpPr/>
          <p:nvPr/>
        </p:nvSpPr>
        <p:spPr>
          <a:xfrm>
            <a:off x="1247775" y="2846415"/>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12</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9" name="フローチャート: 結合子 18">
            <a:extLst>
              <a:ext uri="{FF2B5EF4-FFF2-40B4-BE49-F238E27FC236}">
                <a16:creationId xmlns:a16="http://schemas.microsoft.com/office/drawing/2014/main" id="{692D40A3-F8F2-E0B8-296C-7FD0C0E841EA}"/>
              </a:ext>
            </a:extLst>
          </p:cNvPr>
          <p:cNvSpPr/>
          <p:nvPr/>
        </p:nvSpPr>
        <p:spPr>
          <a:xfrm>
            <a:off x="1247775" y="3398616"/>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1" name="フローチャート: 結合子 20">
            <a:extLst>
              <a:ext uri="{FF2B5EF4-FFF2-40B4-BE49-F238E27FC236}">
                <a16:creationId xmlns:a16="http://schemas.microsoft.com/office/drawing/2014/main" id="{2EF2F349-4691-D45F-6368-B2410182F724}"/>
              </a:ext>
            </a:extLst>
          </p:cNvPr>
          <p:cNvSpPr/>
          <p:nvPr/>
        </p:nvSpPr>
        <p:spPr>
          <a:xfrm>
            <a:off x="1247775" y="3950817"/>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2</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3" name="フローチャート: 結合子 22">
            <a:extLst>
              <a:ext uri="{FF2B5EF4-FFF2-40B4-BE49-F238E27FC236}">
                <a16:creationId xmlns:a16="http://schemas.microsoft.com/office/drawing/2014/main" id="{54FF679C-C96C-83B8-0007-9C597FCC771D}"/>
              </a:ext>
            </a:extLst>
          </p:cNvPr>
          <p:cNvSpPr/>
          <p:nvPr/>
        </p:nvSpPr>
        <p:spPr>
          <a:xfrm>
            <a:off x="1247775" y="4503021"/>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3</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5" name="テキスト ボックス 24">
            <a:extLst>
              <a:ext uri="{FF2B5EF4-FFF2-40B4-BE49-F238E27FC236}">
                <a16:creationId xmlns:a16="http://schemas.microsoft.com/office/drawing/2014/main" id="{28F2129E-0B96-9273-C1CE-B83B8848BA39}"/>
              </a:ext>
            </a:extLst>
          </p:cNvPr>
          <p:cNvSpPr txBox="1"/>
          <p:nvPr/>
        </p:nvSpPr>
        <p:spPr>
          <a:xfrm>
            <a:off x="438150" y="701205"/>
            <a:ext cx="5564529" cy="338554"/>
          </a:xfrm>
          <a:prstGeom prst="rect">
            <a:avLst/>
          </a:prstGeom>
          <a:noFill/>
        </p:spPr>
        <p:txBody>
          <a:bodyPr wrap="square" rtlCol="0">
            <a:spAutoFit/>
          </a:bodyPr>
          <a:lstStyle/>
          <a:p>
            <a:r>
              <a:rPr lang="en-US" altLang="ja-JP" sz="1600" dirty="0">
                <a:solidFill>
                  <a:schemeClr val="tx1">
                    <a:lumMod val="85000"/>
                    <a:lumOff val="15000"/>
                  </a:schemeClr>
                </a:solidFill>
                <a:latin typeface="ＭＳ ゴシック" panose="020B0609070205080204" pitchFamily="49" charset="-128"/>
                <a:ea typeface="ＭＳ ゴシック" panose="020B0609070205080204" pitchFamily="49" charset="-128"/>
              </a:rPr>
              <a:t>2026</a:t>
            </a:r>
            <a:r>
              <a:rPr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rPr>
              <a:t>年</a:t>
            </a:r>
            <a:endParaRPr kumimoji="1"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27" name="テキスト ボックス 26">
            <a:extLst>
              <a:ext uri="{FF2B5EF4-FFF2-40B4-BE49-F238E27FC236}">
                <a16:creationId xmlns:a16="http://schemas.microsoft.com/office/drawing/2014/main" id="{41B549F1-EA7B-6EE1-B184-ECE0C032A044}"/>
              </a:ext>
            </a:extLst>
          </p:cNvPr>
          <p:cNvSpPr txBox="1"/>
          <p:nvPr/>
        </p:nvSpPr>
        <p:spPr>
          <a:xfrm>
            <a:off x="438150" y="3481751"/>
            <a:ext cx="5564529" cy="338554"/>
          </a:xfrm>
          <a:prstGeom prst="rect">
            <a:avLst/>
          </a:prstGeom>
          <a:noFill/>
        </p:spPr>
        <p:txBody>
          <a:bodyPr wrap="square" rtlCol="0">
            <a:spAutoFit/>
          </a:bodyPr>
          <a:lstStyle/>
          <a:p>
            <a:r>
              <a:rPr lang="en-US" altLang="ja-JP" sz="1600" dirty="0">
                <a:solidFill>
                  <a:schemeClr val="tx1">
                    <a:lumMod val="85000"/>
                    <a:lumOff val="15000"/>
                  </a:schemeClr>
                </a:solidFill>
                <a:latin typeface="ＭＳ ゴシック" panose="020B0609070205080204" pitchFamily="49" charset="-128"/>
                <a:ea typeface="ＭＳ ゴシック" panose="020B0609070205080204" pitchFamily="49" charset="-128"/>
              </a:rPr>
              <a:t>2027</a:t>
            </a:r>
            <a:r>
              <a:rPr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rPr>
              <a:t>年</a:t>
            </a:r>
            <a:endParaRPr kumimoji="1"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31" name="正方形/長方形 30">
            <a:extLst>
              <a:ext uri="{FF2B5EF4-FFF2-40B4-BE49-F238E27FC236}">
                <a16:creationId xmlns:a16="http://schemas.microsoft.com/office/drawing/2014/main" id="{93272E9D-31F6-4075-5DB8-CB64E3561E24}"/>
              </a:ext>
            </a:extLst>
          </p:cNvPr>
          <p:cNvSpPr/>
          <p:nvPr/>
        </p:nvSpPr>
        <p:spPr>
          <a:xfrm>
            <a:off x="1828800" y="638728"/>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Cylinder3D等を用いて3DRefのベースラインを再現</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3" name="正方形/長方形 32">
            <a:extLst>
              <a:ext uri="{FF2B5EF4-FFF2-40B4-BE49-F238E27FC236}">
                <a16:creationId xmlns:a16="http://schemas.microsoft.com/office/drawing/2014/main" id="{447F96E7-54E9-FB2C-FF29-709F63F15B36}"/>
              </a:ext>
            </a:extLst>
          </p:cNvPr>
          <p:cNvSpPr/>
          <p:nvPr/>
        </p:nvSpPr>
        <p:spPr>
          <a:xfrm>
            <a:off x="1828800" y="1190614"/>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LiDAR単独の反射確率推定モデルを改善</a:t>
            </a:r>
            <a:endParaRPr lang="en-US" altLang="ja-JP" sz="1600" dirty="0">
              <a:latin typeface="ＭＳ ゴシック" panose="020B0609070205080204" pitchFamily="49" charset="-128"/>
              <a:ea typeface="ＭＳ ゴシック" panose="020B0609070205080204" pitchFamily="49" charset="-128"/>
            </a:endParaRPr>
          </a:p>
          <a:p>
            <a:r>
              <a:rPr lang="ja-JP" altLang="ja-JP" sz="1600" dirty="0">
                <a:latin typeface="ＭＳ ゴシック" panose="020B0609070205080204" pitchFamily="49" charset="-128"/>
                <a:ea typeface="ＭＳ ゴシック" panose="020B0609070205080204" pitchFamily="49" charset="-128"/>
              </a:rPr>
              <a:t>クラス不均衡対策と確率校正を実施</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5" name="正方形/長方形 34">
            <a:extLst>
              <a:ext uri="{FF2B5EF4-FFF2-40B4-BE49-F238E27FC236}">
                <a16:creationId xmlns:a16="http://schemas.microsoft.com/office/drawing/2014/main" id="{83413120-D54E-3323-3B9B-CBA04529DC17}"/>
              </a:ext>
            </a:extLst>
          </p:cNvPr>
          <p:cNvSpPr/>
          <p:nvPr/>
        </p:nvSpPr>
        <p:spPr>
          <a:xfrm>
            <a:off x="1828800" y="1743458"/>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物理占有確率とゴースト確率を分離したボクセル地図を実装</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7" name="正方形/長方形 36">
            <a:extLst>
              <a:ext uri="{FF2B5EF4-FFF2-40B4-BE49-F238E27FC236}">
                <a16:creationId xmlns:a16="http://schemas.microsoft.com/office/drawing/2014/main" id="{C378AC08-660F-5DEE-CE3B-DF2031BA7C36}"/>
              </a:ext>
            </a:extLst>
          </p:cNvPr>
          <p:cNvSpPr/>
          <p:nvPr/>
        </p:nvSpPr>
        <p:spPr>
          <a:xfrm>
            <a:off x="1828800" y="2295344"/>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Livox Aviaを用いて鏡面環境の独自データを収集</a:t>
            </a:r>
            <a:endParaRPr lang="en-US" altLang="ja-JP" sz="1600" dirty="0">
              <a:latin typeface="ＭＳ ゴシック" panose="020B0609070205080204" pitchFamily="49" charset="-128"/>
              <a:ea typeface="ＭＳ ゴシック" panose="020B0609070205080204" pitchFamily="49" charset="-128"/>
            </a:endParaRPr>
          </a:p>
          <a:p>
            <a:r>
              <a:rPr lang="ja-JP" altLang="ja-JP" sz="1600" dirty="0">
                <a:latin typeface="ＭＳ ゴシック" panose="020B0609070205080204" pitchFamily="49" charset="-128"/>
                <a:ea typeface="ＭＳ ゴシック" panose="020B0609070205080204" pitchFamily="49" charset="-128"/>
              </a:rPr>
              <a:t>鏡、人物、通常物体を異なる位置・角度から計測</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9" name="正方形/長方形 38">
            <a:extLst>
              <a:ext uri="{FF2B5EF4-FFF2-40B4-BE49-F238E27FC236}">
                <a16:creationId xmlns:a16="http://schemas.microsoft.com/office/drawing/2014/main" id="{1D51995B-7F23-8BF3-CD7E-8B34A536A13E}"/>
              </a:ext>
            </a:extLst>
          </p:cNvPr>
          <p:cNvSpPr/>
          <p:nvPr/>
        </p:nvSpPr>
        <p:spPr>
          <a:xfrm>
            <a:off x="1828800" y="2846415"/>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初期成果を発表。指摘を踏まえて手法と評価を修正</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1" name="正方形/長方形 40">
            <a:extLst>
              <a:ext uri="{FF2B5EF4-FFF2-40B4-BE49-F238E27FC236}">
                <a16:creationId xmlns:a16="http://schemas.microsoft.com/office/drawing/2014/main" id="{E6CC571A-6ED8-CDA5-DB39-ACE9D510384A}"/>
              </a:ext>
            </a:extLst>
          </p:cNvPr>
          <p:cNvSpPr/>
          <p:nvPr/>
        </p:nvSpPr>
        <p:spPr>
          <a:xfrm>
            <a:off x="1828800" y="3398301"/>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提案手法の本評価とアブレーションを実施</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3" name="正方形/長方形 42">
            <a:extLst>
              <a:ext uri="{FF2B5EF4-FFF2-40B4-BE49-F238E27FC236}">
                <a16:creationId xmlns:a16="http://schemas.microsoft.com/office/drawing/2014/main" id="{BB41B1C3-7179-C470-8B36-92E90903511E}"/>
              </a:ext>
            </a:extLst>
          </p:cNvPr>
          <p:cNvSpPr/>
          <p:nvPr/>
        </p:nvSpPr>
        <p:spPr>
          <a:xfrm>
            <a:off x="1828800" y="3951145"/>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追加実験、エラー分析、図表・動画作成。指導教員との論文推敲</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5" name="正方形/長方形 44">
            <a:extLst>
              <a:ext uri="{FF2B5EF4-FFF2-40B4-BE49-F238E27FC236}">
                <a16:creationId xmlns:a16="http://schemas.microsoft.com/office/drawing/2014/main" id="{66A1F5CC-5647-F34A-580D-4138BB0A1B4D}"/>
              </a:ext>
            </a:extLst>
          </p:cNvPr>
          <p:cNvSpPr/>
          <p:nvPr/>
        </p:nvSpPr>
        <p:spPr>
          <a:xfrm>
            <a:off x="1828800" y="4503031"/>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投稿版の最終確認。コード・実験条件・再現手順を整理</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56" name="スライド番号プレースホルダー 55">
            <a:extLst>
              <a:ext uri="{FF2B5EF4-FFF2-40B4-BE49-F238E27FC236}">
                <a16:creationId xmlns:a16="http://schemas.microsoft.com/office/drawing/2014/main" id="{F512AFC9-CAB8-B805-BC13-E6EA78175C25}"/>
              </a:ext>
            </a:extLst>
          </p:cNvPr>
          <p:cNvSpPr>
            <a:spLocks noGrp="1"/>
          </p:cNvSpPr>
          <p:nvPr>
            <p:ph type="sldNum" sz="quarter" idx="12"/>
          </p:nvPr>
        </p:nvSpPr>
        <p:spPr/>
        <p:txBody>
          <a:bodyPr/>
          <a:lstStyle/>
          <a:p>
            <a:fld id="{AEA74714-EFF8-4255-A09A-B157B324D722}" type="slidenum">
              <a:rPr kumimoji="1" lang="ja-JP" altLang="en-US" smtClean="0"/>
              <a:t>24</a:t>
            </a:fld>
            <a:endParaRPr kumimoji="1" lang="ja-JP" altLang="en-US"/>
          </a:p>
        </p:txBody>
      </p:sp>
    </p:spTree>
    <p:extLst>
      <p:ext uri="{BB962C8B-B14F-4D97-AF65-F5344CB8AC3E}">
        <p14:creationId xmlns:p14="http://schemas.microsoft.com/office/powerpoint/2010/main" val="13508660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AC2AE-6455-F8D7-D6B6-AF9211CD7317}"/>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438384E6-066D-D701-4CB2-E8A2F184F8F8}"/>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F6A03275-602D-E98B-C74B-2539F7CF91FA}"/>
              </a:ext>
            </a:extLst>
          </p:cNvPr>
          <p:cNvSpPr txBox="1"/>
          <p:nvPr/>
        </p:nvSpPr>
        <p:spPr>
          <a:xfrm>
            <a:off x="447677" y="1422337"/>
            <a:ext cx="5534023"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ご清聴ありがとうございました</a:t>
            </a:r>
            <a:endParaRPr kumimoji="1" lang="ja-JP" altLang="en-US" sz="3000" b="1" dirty="0">
              <a:solidFill>
                <a:schemeClr val="bg1"/>
              </a:solidFill>
              <a:latin typeface="ＭＳ Ｐゴシック" panose="020B0600070205080204" pitchFamily="50" charset="-128"/>
              <a:ea typeface="ＭＳ Ｐゴシック" panose="020B0600070205080204" pitchFamily="50" charset="-128"/>
            </a:endParaRPr>
          </a:p>
        </p:txBody>
      </p:sp>
      <p:sp>
        <p:nvSpPr>
          <p:cNvPr id="2" name="スライド番号プレースホルダー 1">
            <a:extLst>
              <a:ext uri="{FF2B5EF4-FFF2-40B4-BE49-F238E27FC236}">
                <a16:creationId xmlns:a16="http://schemas.microsoft.com/office/drawing/2014/main" id="{E45934C5-3818-A48E-AE08-EDCEC00CB1A3}"/>
              </a:ext>
            </a:extLst>
          </p:cNvPr>
          <p:cNvSpPr>
            <a:spLocks noGrp="1"/>
          </p:cNvSpPr>
          <p:nvPr>
            <p:ph type="sldNum" sz="quarter" idx="12"/>
          </p:nvPr>
        </p:nvSpPr>
        <p:spPr/>
        <p:txBody>
          <a:bodyPr/>
          <a:lstStyle/>
          <a:p>
            <a:fld id="{E28785FB-366A-49F3-B842-F6DCBAD5BBAB}" type="slidenum">
              <a:rPr kumimoji="1" lang="ja-JP" altLang="en-US" smtClean="0"/>
              <a:t>25</a:t>
            </a:fld>
            <a:endParaRPr kumimoji="1" lang="ja-JP" altLang="en-US"/>
          </a:p>
        </p:txBody>
      </p:sp>
    </p:spTree>
    <p:extLst>
      <p:ext uri="{BB962C8B-B14F-4D97-AF65-F5344CB8AC3E}">
        <p14:creationId xmlns:p14="http://schemas.microsoft.com/office/powerpoint/2010/main" val="1489960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反射面では「最初の実物表面から返る」というLiDAR仮定が破れる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Problem</a:t>
            </a:r>
            <a:endParaRPr lang="en-US" sz="950" dirty="0"/>
          </a:p>
        </p:txBody>
      </p:sp>
      <p:sp>
        <p:nvSpPr>
          <p:cNvPr id="5" name="Shape 3"/>
          <p:cNvSpPr/>
          <p:nvPr/>
        </p:nvSpPr>
        <p:spPr>
          <a:xfrm>
            <a:off x="566928"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66928" y="1005840"/>
            <a:ext cx="50292" cy="1920240"/>
          </a:xfrm>
          <a:prstGeom prst="rect">
            <a:avLst/>
          </a:prstGeom>
          <a:solidFill>
            <a:srgbClr val="2A9D8F"/>
          </a:solidFill>
          <a:ln w="12700">
            <a:solidFill>
              <a:srgbClr val="2A9D8F"/>
            </a:solidFill>
            <a:prstDash val="solid"/>
          </a:ln>
        </p:spPr>
        <p:txBody>
          <a:bodyPr/>
          <a:lstStyle/>
          <a:p>
            <a:endParaRPr lang="ja-JP" altLang="en-US"/>
          </a:p>
        </p:txBody>
      </p:sp>
      <p:sp>
        <p:nvSpPr>
          <p:cNvPr id="7" name="Text 5"/>
          <p:cNvSpPr/>
          <p:nvPr/>
        </p:nvSpPr>
        <p:spPr>
          <a:xfrm>
            <a:off x="731520"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① 表面で反射</a:t>
            </a:r>
            <a:endParaRPr lang="en-US" sz="1430" dirty="0"/>
          </a:p>
        </p:txBody>
      </p:sp>
      <p:sp>
        <p:nvSpPr>
          <p:cNvPr id="8" name="Text 6"/>
          <p:cNvSpPr/>
          <p:nvPr/>
        </p:nvSpPr>
        <p:spPr>
          <a:xfrm>
            <a:off x="731520"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反射材そのものから</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有効な点が返る</a:t>
            </a:r>
            <a:endParaRPr lang="en-US" sz="1330" dirty="0"/>
          </a:p>
        </p:txBody>
      </p:sp>
      <p:sp>
        <p:nvSpPr>
          <p:cNvPr id="9" name="Shape 7"/>
          <p:cNvSpPr/>
          <p:nvPr/>
        </p:nvSpPr>
        <p:spPr>
          <a:xfrm>
            <a:off x="859536" y="3246120"/>
            <a:ext cx="1188720" cy="0"/>
          </a:xfrm>
          <a:prstGeom prst="line">
            <a:avLst/>
          </a:prstGeom>
          <a:noFill/>
          <a:ln w="12700">
            <a:solidFill>
              <a:srgbClr val="2A9D8F"/>
            </a:solidFill>
            <a:prstDash val="solid"/>
            <a:headEnd type="none"/>
            <a:tailEnd type="triangle"/>
          </a:ln>
        </p:spPr>
        <p:txBody>
          <a:bodyPr/>
          <a:lstStyle/>
          <a:p>
            <a:endParaRPr lang="ja-JP" altLang="en-US"/>
          </a:p>
        </p:txBody>
      </p:sp>
      <p:sp>
        <p:nvSpPr>
          <p:cNvPr id="10" name="Shape 8"/>
          <p:cNvSpPr/>
          <p:nvPr/>
        </p:nvSpPr>
        <p:spPr>
          <a:xfrm>
            <a:off x="1280160" y="3099816"/>
            <a:ext cx="274320" cy="274320"/>
          </a:xfrm>
          <a:prstGeom prst="ellipse">
            <a:avLst/>
          </a:prstGeom>
          <a:solidFill>
            <a:srgbClr val="2A9D8F"/>
          </a:solidFill>
          <a:ln w="12700">
            <a:solidFill>
              <a:srgbClr val="2A9D8F"/>
            </a:solidFill>
            <a:prstDash val="solid"/>
          </a:ln>
        </p:spPr>
        <p:txBody>
          <a:bodyPr/>
          <a:lstStyle/>
          <a:p>
            <a:endParaRPr lang="ja-JP" altLang="en-US"/>
          </a:p>
        </p:txBody>
      </p:sp>
      <p:sp>
        <p:nvSpPr>
          <p:cNvPr id="11" name="Shape 9"/>
          <p:cNvSpPr/>
          <p:nvPr/>
        </p:nvSpPr>
        <p:spPr>
          <a:xfrm>
            <a:off x="2615184"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Shape 10"/>
          <p:cNvSpPr/>
          <p:nvPr/>
        </p:nvSpPr>
        <p:spPr>
          <a:xfrm>
            <a:off x="2615184" y="1005840"/>
            <a:ext cx="50292" cy="1920240"/>
          </a:xfrm>
          <a:prstGeom prst="rect">
            <a:avLst/>
          </a:prstGeom>
          <a:solidFill>
            <a:srgbClr val="2E75B6"/>
          </a:solidFill>
          <a:ln w="12700">
            <a:solidFill>
              <a:srgbClr val="2E75B6"/>
            </a:solidFill>
            <a:prstDash val="solid"/>
          </a:ln>
        </p:spPr>
        <p:txBody>
          <a:bodyPr/>
          <a:lstStyle/>
          <a:p>
            <a:endParaRPr lang="ja-JP" altLang="en-US"/>
          </a:p>
        </p:txBody>
      </p:sp>
      <p:sp>
        <p:nvSpPr>
          <p:cNvPr id="13" name="Text 11"/>
          <p:cNvSpPr/>
          <p:nvPr/>
        </p:nvSpPr>
        <p:spPr>
          <a:xfrm>
            <a:off x="2779776"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② 透過後の障害物</a:t>
            </a:r>
            <a:endParaRPr lang="en-US" sz="1430" dirty="0"/>
          </a:p>
        </p:txBody>
      </p:sp>
      <p:sp>
        <p:nvSpPr>
          <p:cNvPr id="14" name="Text 12"/>
          <p:cNvSpPr/>
          <p:nvPr/>
        </p:nvSpPr>
        <p:spPr>
          <a:xfrm>
            <a:off x="2779776"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ガラスを通過し</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背後の実物を観測</a:t>
            </a:r>
            <a:endParaRPr lang="en-US" sz="1330" dirty="0"/>
          </a:p>
        </p:txBody>
      </p:sp>
      <p:sp>
        <p:nvSpPr>
          <p:cNvPr id="15" name="Shape 13"/>
          <p:cNvSpPr/>
          <p:nvPr/>
        </p:nvSpPr>
        <p:spPr>
          <a:xfrm>
            <a:off x="2907792" y="3246120"/>
            <a:ext cx="1188720" cy="0"/>
          </a:xfrm>
          <a:prstGeom prst="line">
            <a:avLst/>
          </a:prstGeom>
          <a:noFill/>
          <a:ln w="12700">
            <a:solidFill>
              <a:srgbClr val="2E75B6"/>
            </a:solidFill>
            <a:prstDash val="solid"/>
            <a:headEnd type="none"/>
            <a:tailEnd type="triangle"/>
          </a:ln>
        </p:spPr>
        <p:txBody>
          <a:bodyPr/>
          <a:lstStyle/>
          <a:p>
            <a:endParaRPr lang="ja-JP" altLang="en-US"/>
          </a:p>
        </p:txBody>
      </p:sp>
      <p:sp>
        <p:nvSpPr>
          <p:cNvPr id="16" name="Shape 14"/>
          <p:cNvSpPr/>
          <p:nvPr/>
        </p:nvSpPr>
        <p:spPr>
          <a:xfrm>
            <a:off x="3328416" y="3099816"/>
            <a:ext cx="274320" cy="274320"/>
          </a:xfrm>
          <a:prstGeom prst="ellipse">
            <a:avLst/>
          </a:prstGeom>
          <a:solidFill>
            <a:srgbClr val="2E75B6"/>
          </a:solidFill>
          <a:ln w="12700">
            <a:solidFill>
              <a:srgbClr val="2E75B6"/>
            </a:solidFill>
            <a:prstDash val="solid"/>
          </a:ln>
        </p:spPr>
        <p:txBody>
          <a:bodyPr/>
          <a:lstStyle/>
          <a:p>
            <a:endParaRPr lang="ja-JP" altLang="en-US"/>
          </a:p>
        </p:txBody>
      </p:sp>
      <p:sp>
        <p:nvSpPr>
          <p:cNvPr id="17" name="Shape 15"/>
          <p:cNvSpPr/>
          <p:nvPr/>
        </p:nvSpPr>
        <p:spPr>
          <a:xfrm>
            <a:off x="4663440" y="1005840"/>
            <a:ext cx="1810512" cy="192024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663440" y="1005840"/>
            <a:ext cx="50292" cy="1920240"/>
          </a:xfrm>
          <a:prstGeom prst="rect">
            <a:avLst/>
          </a:prstGeom>
          <a:solidFill>
            <a:srgbClr val="ED7D31"/>
          </a:solidFill>
          <a:ln w="12700">
            <a:solidFill>
              <a:srgbClr val="ED7D31"/>
            </a:solidFill>
            <a:prstDash val="solid"/>
          </a:ln>
        </p:spPr>
        <p:txBody>
          <a:bodyPr/>
          <a:lstStyle/>
          <a:p>
            <a:endParaRPr lang="ja-JP" altLang="en-US"/>
          </a:p>
        </p:txBody>
      </p:sp>
      <p:sp>
        <p:nvSpPr>
          <p:cNvPr id="19" name="Text 17"/>
          <p:cNvSpPr/>
          <p:nvPr/>
        </p:nvSpPr>
        <p:spPr>
          <a:xfrm>
            <a:off x="4828032"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③ 多重反射・虚像</a:t>
            </a:r>
            <a:endParaRPr lang="en-US" sz="1430" dirty="0"/>
          </a:p>
        </p:txBody>
      </p:sp>
      <p:sp>
        <p:nvSpPr>
          <p:cNvPr id="20" name="Text 18"/>
          <p:cNvSpPr/>
          <p:nvPr/>
        </p:nvSpPr>
        <p:spPr>
          <a:xfrm>
            <a:off x="4828032"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鏡面経由で仮想位置に</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点が生成される</a:t>
            </a:r>
            <a:endParaRPr lang="en-US" sz="1330" dirty="0"/>
          </a:p>
        </p:txBody>
      </p:sp>
      <p:sp>
        <p:nvSpPr>
          <p:cNvPr id="21" name="Shape 19"/>
          <p:cNvSpPr/>
          <p:nvPr/>
        </p:nvSpPr>
        <p:spPr>
          <a:xfrm>
            <a:off x="4956048" y="3246120"/>
            <a:ext cx="1188720" cy="0"/>
          </a:xfrm>
          <a:prstGeom prst="line">
            <a:avLst/>
          </a:prstGeom>
          <a:noFill/>
          <a:ln w="12700">
            <a:solidFill>
              <a:srgbClr val="ED7D31"/>
            </a:solidFill>
            <a:prstDash val="solid"/>
            <a:headEnd type="none"/>
            <a:tailEnd type="triangle"/>
          </a:ln>
        </p:spPr>
        <p:txBody>
          <a:bodyPr/>
          <a:lstStyle/>
          <a:p>
            <a:endParaRPr lang="ja-JP" altLang="en-US"/>
          </a:p>
        </p:txBody>
      </p:sp>
      <p:sp>
        <p:nvSpPr>
          <p:cNvPr id="22" name="Shape 20"/>
          <p:cNvSpPr/>
          <p:nvPr/>
        </p:nvSpPr>
        <p:spPr>
          <a:xfrm>
            <a:off x="5376672" y="3099816"/>
            <a:ext cx="274320" cy="274320"/>
          </a:xfrm>
          <a:prstGeom prst="ellipse">
            <a:avLst/>
          </a:prstGeom>
          <a:solidFill>
            <a:srgbClr val="ED7D31"/>
          </a:solidFill>
          <a:ln w="12700">
            <a:solidFill>
              <a:srgbClr val="ED7D31"/>
            </a:solidFill>
            <a:prstDash val="solid"/>
          </a:ln>
        </p:spPr>
        <p:txBody>
          <a:bodyPr/>
          <a:lstStyle/>
          <a:p>
            <a:endParaRPr lang="ja-JP" altLang="en-US"/>
          </a:p>
        </p:txBody>
      </p:sp>
      <p:sp>
        <p:nvSpPr>
          <p:cNvPr id="23" name="Shape 21"/>
          <p:cNvSpPr/>
          <p:nvPr/>
        </p:nvSpPr>
        <p:spPr>
          <a:xfrm>
            <a:off x="6711696"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4" name="Shape 22"/>
          <p:cNvSpPr/>
          <p:nvPr/>
        </p:nvSpPr>
        <p:spPr>
          <a:xfrm>
            <a:off x="6711696" y="1005840"/>
            <a:ext cx="50292" cy="1920240"/>
          </a:xfrm>
          <a:prstGeom prst="rect">
            <a:avLst/>
          </a:prstGeom>
          <a:solidFill>
            <a:srgbClr val="C94C4C"/>
          </a:solidFill>
          <a:ln w="12700">
            <a:solidFill>
              <a:srgbClr val="C94C4C"/>
            </a:solidFill>
            <a:prstDash val="solid"/>
          </a:ln>
        </p:spPr>
        <p:txBody>
          <a:bodyPr/>
          <a:lstStyle/>
          <a:p>
            <a:endParaRPr lang="ja-JP" altLang="en-US"/>
          </a:p>
        </p:txBody>
      </p:sp>
      <p:sp>
        <p:nvSpPr>
          <p:cNvPr id="25" name="Text 23"/>
          <p:cNvSpPr/>
          <p:nvPr/>
        </p:nvSpPr>
        <p:spPr>
          <a:xfrm>
            <a:off x="6876288"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④ 無返答・欠測</a:t>
            </a:r>
            <a:endParaRPr lang="en-US" sz="1430" dirty="0"/>
          </a:p>
        </p:txBody>
      </p:sp>
      <p:sp>
        <p:nvSpPr>
          <p:cNvPr id="26" name="Text 24"/>
          <p:cNvSpPr/>
          <p:nvPr/>
        </p:nvSpPr>
        <p:spPr>
          <a:xfrm>
            <a:off x="6876288"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吸収・散乱・視野外で</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点が得られない</a:t>
            </a:r>
            <a:endParaRPr lang="en-US" sz="1330" dirty="0"/>
          </a:p>
        </p:txBody>
      </p:sp>
      <p:sp>
        <p:nvSpPr>
          <p:cNvPr id="27" name="Shape 25"/>
          <p:cNvSpPr/>
          <p:nvPr/>
        </p:nvSpPr>
        <p:spPr>
          <a:xfrm>
            <a:off x="7004304" y="3246120"/>
            <a:ext cx="1188720" cy="0"/>
          </a:xfrm>
          <a:prstGeom prst="line">
            <a:avLst/>
          </a:prstGeom>
          <a:noFill/>
          <a:ln w="12700">
            <a:solidFill>
              <a:srgbClr val="C94C4C"/>
            </a:solidFill>
            <a:prstDash val="solid"/>
            <a:headEnd type="none"/>
            <a:tailEnd type="triangle"/>
          </a:ln>
        </p:spPr>
        <p:txBody>
          <a:bodyPr/>
          <a:lstStyle/>
          <a:p>
            <a:endParaRPr lang="ja-JP" altLang="en-US"/>
          </a:p>
        </p:txBody>
      </p:sp>
      <p:sp>
        <p:nvSpPr>
          <p:cNvPr id="28" name="Shape 26"/>
          <p:cNvSpPr/>
          <p:nvPr/>
        </p:nvSpPr>
        <p:spPr>
          <a:xfrm>
            <a:off x="7424928" y="3099816"/>
            <a:ext cx="274320" cy="274320"/>
          </a:xfrm>
          <a:prstGeom prst="ellipse">
            <a:avLst/>
          </a:prstGeom>
          <a:solidFill>
            <a:srgbClr val="C94C4C"/>
          </a:solidFill>
          <a:ln w="12700">
            <a:solidFill>
              <a:srgbClr val="C94C4C"/>
            </a:solidFill>
            <a:prstDash val="solid"/>
          </a:ln>
        </p:spPr>
        <p:txBody>
          <a:bodyPr/>
          <a:lstStyle/>
          <a:p>
            <a:endParaRPr lang="ja-JP" altLang="en-US"/>
          </a:p>
        </p:txBody>
      </p:sp>
      <p:sp>
        <p:nvSpPr>
          <p:cNvPr id="29" name="Text 27"/>
          <p:cNvSpPr/>
          <p:nvPr/>
        </p:nvSpPr>
        <p:spPr>
          <a:xfrm>
            <a:off x="658368" y="3730752"/>
            <a:ext cx="7827264" cy="292608"/>
          </a:xfrm>
          <a:prstGeom prst="rect">
            <a:avLst/>
          </a:prstGeom>
          <a:noFill/>
          <a:ln/>
        </p:spPr>
        <p:txBody>
          <a:bodyPr wrap="square" lIns="0" tIns="0" rIns="0" bIns="0" rtlCol="0" anchor="ctr">
            <a:normAutofit/>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同一スキャン内で4現象が混在 → phantom wall・穴・誤った障害物</a:t>
            </a:r>
            <a:endParaRPr lang="en-US" sz="1700" dirty="0"/>
          </a:p>
        </p:txBody>
      </p:sp>
      <p:sp>
        <p:nvSpPr>
          <p:cNvPr id="30" name="Text 2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3DRefの貢献は、新規モデルよりも学習・比較を可能にする基盤の構築にある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Contributions</a:t>
            </a:r>
            <a:endParaRPr lang="en-US" sz="950" dirty="0"/>
          </a:p>
        </p:txBody>
      </p:sp>
      <p:sp>
        <p:nvSpPr>
          <p:cNvPr id="5" name="Shape 3"/>
          <p:cNvSpPr/>
          <p:nvPr/>
        </p:nvSpPr>
        <p:spPr>
          <a:xfrm>
            <a:off x="658368" y="896112"/>
            <a:ext cx="7827264" cy="749808"/>
          </a:xfrm>
          <a:prstGeom prst="rect">
            <a:avLst/>
          </a:prstGeom>
          <a:solidFill>
            <a:srgbClr val="EAF2F8"/>
          </a:solidFill>
          <a:ln w="12700">
            <a:solidFill>
              <a:srgbClr val="2E75B6"/>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Text 4"/>
          <p:cNvSpPr/>
          <p:nvPr/>
        </p:nvSpPr>
        <p:spPr>
          <a:xfrm>
            <a:off x="868680" y="1033272"/>
            <a:ext cx="7406640" cy="411480"/>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研究課題：多様な反射現象をRGBと3D LiDARで精密にラベル化し、既存手法を同一基準で比較できるか</a:t>
            </a:r>
            <a:endParaRPr lang="en-US" sz="1700" dirty="0"/>
          </a:p>
        </p:txBody>
      </p:sp>
      <p:sp>
        <p:nvSpPr>
          <p:cNvPr id="7" name="Shape 5"/>
          <p:cNvSpPr/>
          <p:nvPr/>
        </p:nvSpPr>
        <p:spPr>
          <a:xfrm>
            <a:off x="658368"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8" name="Shape 6"/>
          <p:cNvSpPr/>
          <p:nvPr/>
        </p:nvSpPr>
        <p:spPr>
          <a:xfrm>
            <a:off x="658368" y="1965960"/>
            <a:ext cx="50292" cy="1874520"/>
          </a:xfrm>
          <a:prstGeom prst="rect">
            <a:avLst/>
          </a:prstGeom>
          <a:solidFill>
            <a:srgbClr val="2E75B6"/>
          </a:solidFill>
          <a:ln w="12700">
            <a:solidFill>
              <a:srgbClr val="2E75B6"/>
            </a:solidFill>
            <a:prstDash val="solid"/>
          </a:ln>
        </p:spPr>
        <p:txBody>
          <a:bodyPr/>
          <a:lstStyle/>
          <a:p>
            <a:endParaRPr lang="ja-JP" altLang="en-US"/>
          </a:p>
        </p:txBody>
      </p:sp>
      <p:sp>
        <p:nvSpPr>
          <p:cNvPr id="9" name="Text 7"/>
          <p:cNvSpPr/>
          <p:nvPr/>
        </p:nvSpPr>
        <p:spPr>
          <a:xfrm>
            <a:off x="822960" y="203911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51,800超の整列データ</a:t>
            </a:r>
            <a:endParaRPr lang="en-US" sz="1600" dirty="0"/>
          </a:p>
        </p:txBody>
      </p:sp>
      <p:sp>
        <p:nvSpPr>
          <p:cNvPr id="10" name="Text 8"/>
          <p:cNvSpPr/>
          <p:nvPr/>
        </p:nvSpPr>
        <p:spPr>
          <a:xfrm>
            <a:off x="822960"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48,024点群＋3,799 RGB。3 LiDAR、3シーケンスの屋内データ。</a:t>
            </a:r>
            <a:endParaRPr lang="en-US" sz="1320" dirty="0"/>
          </a:p>
        </p:txBody>
      </p:sp>
      <p:sp>
        <p:nvSpPr>
          <p:cNvPr id="11" name="Shape 9"/>
          <p:cNvSpPr/>
          <p:nvPr/>
        </p:nvSpPr>
        <p:spPr>
          <a:xfrm>
            <a:off x="2798064" y="1856232"/>
            <a:ext cx="292608" cy="292608"/>
          </a:xfrm>
          <a:prstGeom prst="ellipse">
            <a:avLst/>
          </a:prstGeom>
          <a:solidFill>
            <a:srgbClr val="2E75B6"/>
          </a:solidFill>
          <a:ln w="12700">
            <a:solidFill>
              <a:srgbClr val="2E75B6"/>
            </a:solidFill>
            <a:prstDash val="solid"/>
          </a:ln>
        </p:spPr>
        <p:txBody>
          <a:bodyPr/>
          <a:lstStyle/>
          <a:p>
            <a:endParaRPr lang="ja-JP" altLang="en-US"/>
          </a:p>
        </p:txBody>
      </p:sp>
      <p:sp>
        <p:nvSpPr>
          <p:cNvPr id="12" name="Text 10"/>
          <p:cNvSpPr/>
          <p:nvPr/>
        </p:nvSpPr>
        <p:spPr>
          <a:xfrm>
            <a:off x="2798064"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3" name="Shape 11"/>
          <p:cNvSpPr/>
          <p:nvPr/>
        </p:nvSpPr>
        <p:spPr>
          <a:xfrm>
            <a:off x="3346704"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3346704" y="1965960"/>
            <a:ext cx="50292" cy="1874520"/>
          </a:xfrm>
          <a:prstGeom prst="rect">
            <a:avLst/>
          </a:prstGeom>
          <a:solidFill>
            <a:srgbClr val="2A9D8F"/>
          </a:solidFill>
          <a:ln w="12700">
            <a:solidFill>
              <a:srgbClr val="2A9D8F"/>
            </a:solidFill>
            <a:prstDash val="solid"/>
          </a:ln>
        </p:spPr>
        <p:txBody>
          <a:bodyPr/>
          <a:lstStyle/>
          <a:p>
            <a:endParaRPr lang="ja-JP" altLang="en-US"/>
          </a:p>
        </p:txBody>
      </p:sp>
      <p:sp>
        <p:nvSpPr>
          <p:cNvPr id="15" name="Text 13"/>
          <p:cNvSpPr/>
          <p:nvPr/>
        </p:nvSpPr>
        <p:spPr>
          <a:xfrm>
            <a:off x="3511296" y="203911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3D meshを正解の核に</a:t>
            </a:r>
            <a:endParaRPr lang="en-US" sz="1600" dirty="0"/>
          </a:p>
        </p:txBody>
      </p:sp>
      <p:sp>
        <p:nvSpPr>
          <p:cNvPr id="16" name="Text 14"/>
          <p:cNvSpPr/>
          <p:nvPr/>
        </p:nvSpPr>
        <p:spPr>
          <a:xfrm>
            <a:off x="3511296"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手修正した色付きmeshからray castingで点群ラベルと画像maskを生成。</a:t>
            </a:r>
            <a:endParaRPr lang="en-US" sz="1320" dirty="0"/>
          </a:p>
        </p:txBody>
      </p:sp>
      <p:sp>
        <p:nvSpPr>
          <p:cNvPr id="17" name="Shape 15"/>
          <p:cNvSpPr/>
          <p:nvPr/>
        </p:nvSpPr>
        <p:spPr>
          <a:xfrm>
            <a:off x="5486400" y="1856232"/>
            <a:ext cx="292608" cy="292608"/>
          </a:xfrm>
          <a:prstGeom prst="ellipse">
            <a:avLst/>
          </a:prstGeom>
          <a:solidFill>
            <a:srgbClr val="2A9D8F"/>
          </a:solidFill>
          <a:ln w="12700">
            <a:solidFill>
              <a:srgbClr val="2A9D8F"/>
            </a:solidFill>
            <a:prstDash val="solid"/>
          </a:ln>
        </p:spPr>
        <p:txBody>
          <a:bodyPr/>
          <a:lstStyle/>
          <a:p>
            <a:endParaRPr lang="ja-JP" altLang="en-US"/>
          </a:p>
        </p:txBody>
      </p:sp>
      <p:sp>
        <p:nvSpPr>
          <p:cNvPr id="18" name="Text 16"/>
          <p:cNvSpPr/>
          <p:nvPr/>
        </p:nvSpPr>
        <p:spPr>
          <a:xfrm>
            <a:off x="5486400"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9" name="Shape 17"/>
          <p:cNvSpPr/>
          <p:nvPr/>
        </p:nvSpPr>
        <p:spPr>
          <a:xfrm>
            <a:off x="6035040"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0" name="Shape 18"/>
          <p:cNvSpPr/>
          <p:nvPr/>
        </p:nvSpPr>
        <p:spPr>
          <a:xfrm>
            <a:off x="6035040" y="1965960"/>
            <a:ext cx="50292" cy="1874520"/>
          </a:xfrm>
          <a:prstGeom prst="rect">
            <a:avLst/>
          </a:prstGeom>
          <a:solidFill>
            <a:srgbClr val="ED7D31"/>
          </a:solidFill>
          <a:ln w="12700">
            <a:solidFill>
              <a:srgbClr val="ED7D31"/>
            </a:solidFill>
            <a:prstDash val="solid"/>
          </a:ln>
        </p:spPr>
        <p:txBody>
          <a:bodyPr/>
          <a:lstStyle/>
          <a:p>
            <a:endParaRPr lang="ja-JP" altLang="en-US"/>
          </a:p>
        </p:txBody>
      </p:sp>
      <p:sp>
        <p:nvSpPr>
          <p:cNvPr id="21" name="Text 19"/>
          <p:cNvSpPr/>
          <p:nvPr/>
        </p:nvSpPr>
        <p:spPr>
          <a:xfrm>
            <a:off x="6199632" y="2039112"/>
            <a:ext cx="2176272" cy="310896"/>
          </a:xfrm>
          <a:prstGeom prst="rect">
            <a:avLst/>
          </a:prstGeom>
          <a:noFill/>
          <a:ln/>
        </p:spPr>
        <p:txBody>
          <a:bodyPr wrap="square" lIns="0" tIns="0" rIns="0" bIns="0" rtlCol="0" anchor="t">
            <a:normAutofit fontScale="92500"/>
          </a:bodyPr>
          <a:lstStyle/>
          <a:p>
            <a:pPr marL="0" indent="0">
              <a:buNone/>
            </a:pPr>
            <a:r>
              <a:rPr lang="en-US" sz="1600" b="1" dirty="0">
                <a:solidFill>
                  <a:srgbClr val="17365D"/>
                </a:solidFill>
                <a:latin typeface="Yu Gothic" pitchFamily="34" charset="0"/>
                <a:ea typeface="Yu Gothic" pitchFamily="34" charset="-122"/>
                <a:cs typeface="Yu Gothic" pitchFamily="34" charset="-120"/>
              </a:rPr>
              <a:t>単一モダリティの基準値</a:t>
            </a:r>
            <a:endParaRPr lang="en-US" sz="1600" dirty="0"/>
          </a:p>
        </p:txBody>
      </p:sp>
      <p:sp>
        <p:nvSpPr>
          <p:cNvPr id="22" name="Text 20"/>
          <p:cNvSpPr/>
          <p:nvPr/>
        </p:nvSpPr>
        <p:spPr>
          <a:xfrm>
            <a:off x="6199632"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LiDAR 3手法、RGB 4手法を評価し、return番号の寄与も検証。</a:t>
            </a:r>
            <a:endParaRPr lang="en-US" sz="1320" dirty="0"/>
          </a:p>
        </p:txBody>
      </p:sp>
      <p:sp>
        <p:nvSpPr>
          <p:cNvPr id="23" name="Shape 21"/>
          <p:cNvSpPr/>
          <p:nvPr/>
        </p:nvSpPr>
        <p:spPr>
          <a:xfrm>
            <a:off x="8174736" y="1856232"/>
            <a:ext cx="292608" cy="292608"/>
          </a:xfrm>
          <a:prstGeom prst="ellipse">
            <a:avLst/>
          </a:prstGeom>
          <a:solidFill>
            <a:srgbClr val="ED7D31"/>
          </a:solidFill>
          <a:ln w="12700">
            <a:solidFill>
              <a:srgbClr val="ED7D31"/>
            </a:solidFill>
            <a:prstDash val="solid"/>
          </a:ln>
        </p:spPr>
        <p:txBody>
          <a:bodyPr/>
          <a:lstStyle/>
          <a:p>
            <a:endParaRPr lang="ja-JP" altLang="en-US"/>
          </a:p>
        </p:txBody>
      </p:sp>
      <p:sp>
        <p:nvSpPr>
          <p:cNvPr id="24" name="Text 22"/>
          <p:cNvSpPr/>
          <p:nvPr/>
        </p:nvSpPr>
        <p:spPr>
          <a:xfrm>
            <a:off x="8174736"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5" name="Text 2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Abstract; Sec. 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既存データは2D・単一材料が中心で、3D反射ラベルが欠けていた</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Related work</a:t>
            </a:r>
            <a:endParaRPr lang="en-US" sz="950" dirty="0"/>
          </a:p>
        </p:txBody>
      </p:sp>
      <p:sp>
        <p:nvSpPr>
          <p:cNvPr id="5" name="Shape 3"/>
          <p:cNvSpPr/>
          <p:nvPr/>
        </p:nvSpPr>
        <p:spPr>
          <a:xfrm>
            <a:off x="566928" y="932688"/>
            <a:ext cx="1370228" cy="424543"/>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594360" y="950976"/>
            <a:ext cx="1315364"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Dataset</a:t>
            </a:r>
            <a:endParaRPr lang="en-US" sz="1150" dirty="0"/>
          </a:p>
        </p:txBody>
      </p:sp>
      <p:sp>
        <p:nvSpPr>
          <p:cNvPr id="7" name="Shape 5"/>
          <p:cNvSpPr/>
          <p:nvPr/>
        </p:nvSpPr>
        <p:spPr>
          <a:xfrm>
            <a:off x="1937156" y="932688"/>
            <a:ext cx="964235" cy="424543"/>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1964588" y="950976"/>
            <a:ext cx="909371"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Modal.</a:t>
            </a:r>
            <a:endParaRPr lang="en-US" sz="1150" dirty="0"/>
          </a:p>
        </p:txBody>
      </p:sp>
      <p:sp>
        <p:nvSpPr>
          <p:cNvPr id="9" name="Shape 7"/>
          <p:cNvSpPr/>
          <p:nvPr/>
        </p:nvSpPr>
        <p:spPr>
          <a:xfrm>
            <a:off x="2901391" y="932688"/>
            <a:ext cx="1116482" cy="424543"/>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928823" y="950976"/>
            <a:ext cx="1061618"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Samples</a:t>
            </a:r>
            <a:endParaRPr lang="en-US" sz="1150" dirty="0"/>
          </a:p>
        </p:txBody>
      </p:sp>
      <p:sp>
        <p:nvSpPr>
          <p:cNvPr id="11" name="Shape 9"/>
          <p:cNvSpPr/>
          <p:nvPr/>
        </p:nvSpPr>
        <p:spPr>
          <a:xfrm>
            <a:off x="4017874" y="932688"/>
            <a:ext cx="1623974" cy="424543"/>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4045306" y="950976"/>
            <a:ext cx="1569110"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Target</a:t>
            </a:r>
            <a:endParaRPr lang="en-US" sz="1150" dirty="0"/>
          </a:p>
        </p:txBody>
      </p:sp>
      <p:sp>
        <p:nvSpPr>
          <p:cNvPr id="13" name="Shape 11"/>
          <p:cNvSpPr/>
          <p:nvPr/>
        </p:nvSpPr>
        <p:spPr>
          <a:xfrm>
            <a:off x="566928" y="1357231"/>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14" name="Text 12"/>
          <p:cNvSpPr/>
          <p:nvPr/>
        </p:nvSpPr>
        <p:spPr>
          <a:xfrm>
            <a:off x="594360" y="1375519"/>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GDD</a:t>
            </a:r>
            <a:endParaRPr lang="en-US" sz="1020" dirty="0"/>
          </a:p>
        </p:txBody>
      </p:sp>
      <p:sp>
        <p:nvSpPr>
          <p:cNvPr id="15" name="Shape 13"/>
          <p:cNvSpPr/>
          <p:nvPr/>
        </p:nvSpPr>
        <p:spPr>
          <a:xfrm>
            <a:off x="1937156" y="1357231"/>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16" name="Text 14"/>
          <p:cNvSpPr/>
          <p:nvPr/>
        </p:nvSpPr>
        <p:spPr>
          <a:xfrm>
            <a:off x="1964588" y="1375519"/>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17" name="Shape 15"/>
          <p:cNvSpPr/>
          <p:nvPr/>
        </p:nvSpPr>
        <p:spPr>
          <a:xfrm>
            <a:off x="2901391" y="1357231"/>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18" name="Text 16"/>
          <p:cNvSpPr/>
          <p:nvPr/>
        </p:nvSpPr>
        <p:spPr>
          <a:xfrm>
            <a:off x="2928823" y="1375519"/>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3,900</a:t>
            </a:r>
            <a:endParaRPr lang="en-US" sz="1020" dirty="0"/>
          </a:p>
        </p:txBody>
      </p:sp>
      <p:sp>
        <p:nvSpPr>
          <p:cNvPr id="19" name="Shape 17"/>
          <p:cNvSpPr/>
          <p:nvPr/>
        </p:nvSpPr>
        <p:spPr>
          <a:xfrm>
            <a:off x="4017874" y="1357231"/>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20" name="Text 18"/>
          <p:cNvSpPr/>
          <p:nvPr/>
        </p:nvSpPr>
        <p:spPr>
          <a:xfrm>
            <a:off x="4045306" y="1375519"/>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a:t>
            </a:r>
            <a:endParaRPr lang="en-US" sz="1020" dirty="0"/>
          </a:p>
        </p:txBody>
      </p:sp>
      <p:sp>
        <p:nvSpPr>
          <p:cNvPr id="21" name="Shape 19"/>
          <p:cNvSpPr/>
          <p:nvPr/>
        </p:nvSpPr>
        <p:spPr>
          <a:xfrm>
            <a:off x="566928" y="1781774"/>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22" name="Text 20"/>
          <p:cNvSpPr/>
          <p:nvPr/>
        </p:nvSpPr>
        <p:spPr>
          <a:xfrm>
            <a:off x="594360" y="1800062"/>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GSD</a:t>
            </a:r>
            <a:endParaRPr lang="en-US" sz="1020" dirty="0"/>
          </a:p>
        </p:txBody>
      </p:sp>
      <p:sp>
        <p:nvSpPr>
          <p:cNvPr id="23" name="Shape 21"/>
          <p:cNvSpPr/>
          <p:nvPr/>
        </p:nvSpPr>
        <p:spPr>
          <a:xfrm>
            <a:off x="1937156" y="1781774"/>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24" name="Text 22"/>
          <p:cNvSpPr/>
          <p:nvPr/>
        </p:nvSpPr>
        <p:spPr>
          <a:xfrm>
            <a:off x="1964588" y="1800062"/>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25" name="Shape 23"/>
          <p:cNvSpPr/>
          <p:nvPr/>
        </p:nvSpPr>
        <p:spPr>
          <a:xfrm>
            <a:off x="2901391" y="1781774"/>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26" name="Text 24"/>
          <p:cNvSpPr/>
          <p:nvPr/>
        </p:nvSpPr>
        <p:spPr>
          <a:xfrm>
            <a:off x="2928823" y="1800062"/>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4,102</a:t>
            </a:r>
            <a:endParaRPr lang="en-US" sz="1020" dirty="0"/>
          </a:p>
        </p:txBody>
      </p:sp>
      <p:sp>
        <p:nvSpPr>
          <p:cNvPr id="27" name="Shape 25"/>
          <p:cNvSpPr/>
          <p:nvPr/>
        </p:nvSpPr>
        <p:spPr>
          <a:xfrm>
            <a:off x="4017874" y="1781774"/>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28" name="Text 26"/>
          <p:cNvSpPr/>
          <p:nvPr/>
        </p:nvSpPr>
        <p:spPr>
          <a:xfrm>
            <a:off x="4045306" y="1800062"/>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a:t>
            </a:r>
            <a:endParaRPr lang="en-US" sz="1020" dirty="0"/>
          </a:p>
        </p:txBody>
      </p:sp>
      <p:sp>
        <p:nvSpPr>
          <p:cNvPr id="29" name="Shape 27"/>
          <p:cNvSpPr/>
          <p:nvPr/>
        </p:nvSpPr>
        <p:spPr>
          <a:xfrm>
            <a:off x="566928" y="2206317"/>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594360" y="2224605"/>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MSD</a:t>
            </a:r>
            <a:endParaRPr lang="en-US" sz="1020" dirty="0"/>
          </a:p>
        </p:txBody>
      </p:sp>
      <p:sp>
        <p:nvSpPr>
          <p:cNvPr id="31" name="Shape 29"/>
          <p:cNvSpPr/>
          <p:nvPr/>
        </p:nvSpPr>
        <p:spPr>
          <a:xfrm>
            <a:off x="1937156" y="2206317"/>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1964588" y="2224605"/>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33" name="Shape 31"/>
          <p:cNvSpPr/>
          <p:nvPr/>
        </p:nvSpPr>
        <p:spPr>
          <a:xfrm>
            <a:off x="2901391" y="2206317"/>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2928823" y="2224605"/>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4,018</a:t>
            </a:r>
            <a:endParaRPr lang="en-US" sz="1020" dirty="0"/>
          </a:p>
        </p:txBody>
      </p:sp>
      <p:sp>
        <p:nvSpPr>
          <p:cNvPr id="35" name="Shape 33"/>
          <p:cNvSpPr/>
          <p:nvPr/>
        </p:nvSpPr>
        <p:spPr>
          <a:xfrm>
            <a:off x="4017874" y="2206317"/>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045306" y="2224605"/>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a:t>
            </a:r>
            <a:endParaRPr lang="en-US" sz="1020" dirty="0"/>
          </a:p>
        </p:txBody>
      </p:sp>
      <p:sp>
        <p:nvSpPr>
          <p:cNvPr id="37" name="Shape 35"/>
          <p:cNvSpPr/>
          <p:nvPr/>
        </p:nvSpPr>
        <p:spPr>
          <a:xfrm>
            <a:off x="566928" y="2630859"/>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594360" y="2649147"/>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Mirror3D</a:t>
            </a:r>
            <a:endParaRPr lang="en-US" sz="1020" dirty="0"/>
          </a:p>
        </p:txBody>
      </p:sp>
      <p:sp>
        <p:nvSpPr>
          <p:cNvPr id="39" name="Shape 37"/>
          <p:cNvSpPr/>
          <p:nvPr/>
        </p:nvSpPr>
        <p:spPr>
          <a:xfrm>
            <a:off x="1937156" y="2630859"/>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1964588" y="2649147"/>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RGB-D</a:t>
            </a:r>
            <a:endParaRPr lang="en-US" sz="1020" dirty="0"/>
          </a:p>
        </p:txBody>
      </p:sp>
      <p:sp>
        <p:nvSpPr>
          <p:cNvPr id="41" name="Shape 39"/>
          <p:cNvSpPr/>
          <p:nvPr/>
        </p:nvSpPr>
        <p:spPr>
          <a:xfrm>
            <a:off x="2901391" y="2630859"/>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928823" y="2649147"/>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5,894</a:t>
            </a:r>
            <a:endParaRPr lang="en-US" sz="1020" dirty="0"/>
          </a:p>
        </p:txBody>
      </p:sp>
      <p:sp>
        <p:nvSpPr>
          <p:cNvPr id="43" name="Shape 41"/>
          <p:cNvSpPr/>
          <p:nvPr/>
        </p:nvSpPr>
        <p:spPr>
          <a:xfrm>
            <a:off x="4017874" y="2630859"/>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4045306" y="2649147"/>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a:t>
            </a:r>
            <a:endParaRPr lang="en-US" sz="1020" dirty="0"/>
          </a:p>
        </p:txBody>
      </p:sp>
      <p:sp>
        <p:nvSpPr>
          <p:cNvPr id="45" name="Shape 43"/>
          <p:cNvSpPr/>
          <p:nvPr/>
        </p:nvSpPr>
        <p:spPr>
          <a:xfrm>
            <a:off x="566928" y="3055402"/>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46" name="Text 44"/>
          <p:cNvSpPr/>
          <p:nvPr/>
        </p:nvSpPr>
        <p:spPr>
          <a:xfrm>
            <a:off x="594360" y="3073690"/>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TROSD</a:t>
            </a:r>
            <a:endParaRPr lang="en-US" sz="1020" dirty="0"/>
          </a:p>
        </p:txBody>
      </p:sp>
      <p:sp>
        <p:nvSpPr>
          <p:cNvPr id="47" name="Shape 45"/>
          <p:cNvSpPr/>
          <p:nvPr/>
        </p:nvSpPr>
        <p:spPr>
          <a:xfrm>
            <a:off x="1937156" y="3055402"/>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48" name="Text 46"/>
          <p:cNvSpPr/>
          <p:nvPr/>
        </p:nvSpPr>
        <p:spPr>
          <a:xfrm>
            <a:off x="1964588" y="3073690"/>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RGB-D</a:t>
            </a:r>
            <a:endParaRPr lang="en-US" sz="1020" dirty="0"/>
          </a:p>
        </p:txBody>
      </p:sp>
      <p:sp>
        <p:nvSpPr>
          <p:cNvPr id="49" name="Shape 47"/>
          <p:cNvSpPr/>
          <p:nvPr/>
        </p:nvSpPr>
        <p:spPr>
          <a:xfrm>
            <a:off x="2901391" y="3055402"/>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50" name="Text 48"/>
          <p:cNvSpPr/>
          <p:nvPr/>
        </p:nvSpPr>
        <p:spPr>
          <a:xfrm>
            <a:off x="2928823" y="3073690"/>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11,060</a:t>
            </a:r>
            <a:endParaRPr lang="en-US" sz="1020" dirty="0"/>
          </a:p>
        </p:txBody>
      </p:sp>
      <p:sp>
        <p:nvSpPr>
          <p:cNvPr id="51" name="Shape 49"/>
          <p:cNvSpPr/>
          <p:nvPr/>
        </p:nvSpPr>
        <p:spPr>
          <a:xfrm>
            <a:off x="4017874" y="3055402"/>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52" name="Text 50"/>
          <p:cNvSpPr/>
          <p:nvPr/>
        </p:nvSpPr>
        <p:spPr>
          <a:xfrm>
            <a:off x="4045306" y="3073690"/>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 &amp; Glass</a:t>
            </a:r>
            <a:endParaRPr lang="en-US" sz="1020" dirty="0"/>
          </a:p>
        </p:txBody>
      </p:sp>
      <p:sp>
        <p:nvSpPr>
          <p:cNvPr id="53" name="Shape 51"/>
          <p:cNvSpPr/>
          <p:nvPr/>
        </p:nvSpPr>
        <p:spPr>
          <a:xfrm>
            <a:off x="566928" y="3479945"/>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594360" y="3498233"/>
            <a:ext cx="1315364" cy="387967"/>
          </a:xfrm>
          <a:prstGeom prst="rect">
            <a:avLst/>
          </a:prstGeom>
          <a:noFill/>
          <a:ln/>
        </p:spPr>
        <p:txBody>
          <a:bodyPr wrap="square" lIns="0" tIns="0" rIns="0" bIns="0" rtlCol="0" anchor="ctr">
            <a:normAutofit/>
          </a:bodyPr>
          <a:lstStyle/>
          <a:p>
            <a:pPr marL="0" indent="0" algn="l">
              <a:buNone/>
            </a:pPr>
            <a:r>
              <a:rPr lang="en-US" sz="1020" b="1" dirty="0">
                <a:solidFill>
                  <a:srgbClr val="2E75B6"/>
                </a:solidFill>
                <a:latin typeface="Yu Gothic" pitchFamily="34" charset="0"/>
                <a:ea typeface="Yu Gothic" pitchFamily="34" charset="-122"/>
                <a:cs typeface="Yu Gothic" pitchFamily="34" charset="-120"/>
              </a:rPr>
              <a:t>3DRef</a:t>
            </a:r>
            <a:endParaRPr lang="en-US" sz="1020" dirty="0"/>
          </a:p>
        </p:txBody>
      </p:sp>
      <p:sp>
        <p:nvSpPr>
          <p:cNvPr id="55" name="Shape 53"/>
          <p:cNvSpPr/>
          <p:nvPr/>
        </p:nvSpPr>
        <p:spPr>
          <a:xfrm>
            <a:off x="1937156" y="3479945"/>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1964588" y="3498233"/>
            <a:ext cx="909371" cy="387967"/>
          </a:xfrm>
          <a:prstGeom prst="rect">
            <a:avLst/>
          </a:prstGeom>
          <a:noFill/>
          <a:ln/>
        </p:spPr>
        <p:txBody>
          <a:bodyPr wrap="square" lIns="0" tIns="0" rIns="0" bIns="0" rtlCol="0" anchor="ctr">
            <a:normAutofit/>
          </a:bodyPr>
          <a:lstStyle/>
          <a:p>
            <a:pPr marL="0" indent="0" algn="ctr">
              <a:buNone/>
            </a:pPr>
            <a:r>
              <a:rPr lang="en-US" sz="1020" b="1" dirty="0">
                <a:solidFill>
                  <a:srgbClr val="20242A"/>
                </a:solidFill>
                <a:latin typeface="Yu Gothic" pitchFamily="34" charset="0"/>
                <a:ea typeface="Yu Gothic" pitchFamily="34" charset="-122"/>
                <a:cs typeface="Yu Gothic" pitchFamily="34" charset="-120"/>
              </a:rPr>
              <a:t>LiDAR, RGB</a:t>
            </a:r>
            <a:endParaRPr lang="en-US" sz="1020" dirty="0"/>
          </a:p>
        </p:txBody>
      </p:sp>
      <p:sp>
        <p:nvSpPr>
          <p:cNvPr id="57" name="Shape 55"/>
          <p:cNvSpPr/>
          <p:nvPr/>
        </p:nvSpPr>
        <p:spPr>
          <a:xfrm>
            <a:off x="2901391" y="3479945"/>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2928823" y="3498233"/>
            <a:ext cx="1061618" cy="387967"/>
          </a:xfrm>
          <a:prstGeom prst="rect">
            <a:avLst/>
          </a:prstGeom>
          <a:noFill/>
          <a:ln/>
        </p:spPr>
        <p:txBody>
          <a:bodyPr wrap="square" lIns="0" tIns="0" rIns="0" bIns="0" rtlCol="0" anchor="ctr">
            <a:normAutofit/>
          </a:bodyPr>
          <a:lstStyle/>
          <a:p>
            <a:pPr marL="0" indent="0" algn="ctr">
              <a:buNone/>
            </a:pPr>
            <a:r>
              <a:rPr lang="en-US" sz="1020" b="1" dirty="0">
                <a:solidFill>
                  <a:srgbClr val="20242A"/>
                </a:solidFill>
                <a:latin typeface="Yu Gothic" pitchFamily="34" charset="0"/>
                <a:ea typeface="Yu Gothic" pitchFamily="34" charset="-122"/>
                <a:cs typeface="Yu Gothic" pitchFamily="34" charset="-120"/>
              </a:rPr>
              <a:t>48,024 / 3,799</a:t>
            </a:r>
            <a:endParaRPr lang="en-US" sz="1020" dirty="0"/>
          </a:p>
        </p:txBody>
      </p:sp>
      <p:sp>
        <p:nvSpPr>
          <p:cNvPr id="59" name="Shape 57"/>
          <p:cNvSpPr/>
          <p:nvPr/>
        </p:nvSpPr>
        <p:spPr>
          <a:xfrm>
            <a:off x="4017874" y="3479945"/>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60" name="Text 58"/>
          <p:cNvSpPr/>
          <p:nvPr/>
        </p:nvSpPr>
        <p:spPr>
          <a:xfrm>
            <a:off x="4045306" y="3498233"/>
            <a:ext cx="1569110" cy="387967"/>
          </a:xfrm>
          <a:prstGeom prst="rect">
            <a:avLst/>
          </a:prstGeom>
          <a:noFill/>
          <a:ln/>
        </p:spPr>
        <p:txBody>
          <a:bodyPr wrap="square" lIns="0" tIns="0" rIns="0" bIns="0" rtlCol="0" anchor="ctr">
            <a:normAutofit/>
          </a:bodyPr>
          <a:lstStyle/>
          <a:p>
            <a:pPr marL="0" indent="0" algn="ctr">
              <a:buNone/>
            </a:pPr>
            <a:r>
              <a:rPr lang="en-US" sz="1020" b="1" dirty="0">
                <a:solidFill>
                  <a:srgbClr val="2E75B6"/>
                </a:solidFill>
                <a:latin typeface="Yu Gothic" pitchFamily="34" charset="0"/>
                <a:ea typeface="Yu Gothic" pitchFamily="34" charset="-122"/>
                <a:cs typeface="Yu Gothic" pitchFamily="34" charset="-120"/>
              </a:rPr>
              <a:t>All reflective</a:t>
            </a:r>
            <a:endParaRPr lang="en-US" sz="1020" dirty="0"/>
          </a:p>
        </p:txBody>
      </p:sp>
      <p:sp>
        <p:nvSpPr>
          <p:cNvPr id="61" name="Shape 59"/>
          <p:cNvSpPr/>
          <p:nvPr/>
        </p:nvSpPr>
        <p:spPr>
          <a:xfrm>
            <a:off x="5888736" y="969264"/>
            <a:ext cx="2670048" cy="118872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2" name="Shape 60"/>
          <p:cNvSpPr/>
          <p:nvPr/>
        </p:nvSpPr>
        <p:spPr>
          <a:xfrm>
            <a:off x="5888736" y="969264"/>
            <a:ext cx="50292" cy="1188720"/>
          </a:xfrm>
          <a:prstGeom prst="rect">
            <a:avLst/>
          </a:prstGeom>
          <a:solidFill>
            <a:srgbClr val="2E75B6"/>
          </a:solidFill>
          <a:ln w="12700">
            <a:solidFill>
              <a:srgbClr val="2E75B6"/>
            </a:solidFill>
            <a:prstDash val="solid"/>
          </a:ln>
        </p:spPr>
        <p:txBody>
          <a:bodyPr/>
          <a:lstStyle/>
          <a:p>
            <a:endParaRPr lang="ja-JP" altLang="en-US"/>
          </a:p>
        </p:txBody>
      </p:sp>
      <p:sp>
        <p:nvSpPr>
          <p:cNvPr id="63" name="Text 61"/>
          <p:cNvSpPr/>
          <p:nvPr/>
        </p:nvSpPr>
        <p:spPr>
          <a:xfrm>
            <a:off x="6053328" y="1042416"/>
            <a:ext cx="239572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差分 1｜3D点ラベル</a:t>
            </a:r>
            <a:endParaRPr lang="en-US" sz="1600" dirty="0"/>
          </a:p>
        </p:txBody>
      </p:sp>
      <p:sp>
        <p:nvSpPr>
          <p:cNvPr id="64" name="Text 62"/>
          <p:cNvSpPr/>
          <p:nvPr/>
        </p:nvSpPr>
        <p:spPr>
          <a:xfrm>
            <a:off x="6053328" y="1389888"/>
            <a:ext cx="2395728" cy="676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主要LiDARデータセットには、反射面と虚像点の3Dラベルがない。</a:t>
            </a:r>
            <a:endParaRPr lang="en-US" sz="1320" dirty="0"/>
          </a:p>
        </p:txBody>
      </p:sp>
      <p:sp>
        <p:nvSpPr>
          <p:cNvPr id="65" name="Shape 63"/>
          <p:cNvSpPr/>
          <p:nvPr/>
        </p:nvSpPr>
        <p:spPr>
          <a:xfrm>
            <a:off x="5888736" y="2331720"/>
            <a:ext cx="2670048" cy="118872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6" name="Shape 64"/>
          <p:cNvSpPr/>
          <p:nvPr/>
        </p:nvSpPr>
        <p:spPr>
          <a:xfrm>
            <a:off x="5888736" y="2331720"/>
            <a:ext cx="50292" cy="1188720"/>
          </a:xfrm>
          <a:prstGeom prst="rect">
            <a:avLst/>
          </a:prstGeom>
          <a:solidFill>
            <a:srgbClr val="ED7D31"/>
          </a:solidFill>
          <a:ln w="12700">
            <a:solidFill>
              <a:srgbClr val="ED7D31"/>
            </a:solidFill>
            <a:prstDash val="solid"/>
          </a:ln>
        </p:spPr>
        <p:txBody>
          <a:bodyPr/>
          <a:lstStyle/>
          <a:p>
            <a:endParaRPr lang="ja-JP" altLang="en-US"/>
          </a:p>
        </p:txBody>
      </p:sp>
      <p:sp>
        <p:nvSpPr>
          <p:cNvPr id="67" name="Text 65"/>
          <p:cNvSpPr/>
          <p:nvPr/>
        </p:nvSpPr>
        <p:spPr>
          <a:xfrm>
            <a:off x="6053328" y="2404872"/>
            <a:ext cx="239572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差分 2｜現象の分離</a:t>
            </a:r>
            <a:endParaRPr lang="en-US" sz="1600" dirty="0"/>
          </a:p>
        </p:txBody>
      </p:sp>
      <p:sp>
        <p:nvSpPr>
          <p:cNvPr id="68" name="Text 66"/>
          <p:cNvSpPr/>
          <p:nvPr/>
        </p:nvSpPr>
        <p:spPr>
          <a:xfrm>
            <a:off x="6053328" y="2752344"/>
            <a:ext cx="2395728" cy="676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glass/mirrorだけでなく、reflection pointと背後障害物を区別。</a:t>
            </a:r>
            <a:endParaRPr lang="en-US" sz="1320" dirty="0"/>
          </a:p>
        </p:txBody>
      </p:sp>
      <p:sp>
        <p:nvSpPr>
          <p:cNvPr id="69" name="Shape 67"/>
          <p:cNvSpPr/>
          <p:nvPr/>
        </p:nvSpPr>
        <p:spPr>
          <a:xfrm>
            <a:off x="566928" y="4096512"/>
            <a:ext cx="8010144" cy="347472"/>
          </a:xfrm>
          <a:prstGeom prst="rect">
            <a:avLst/>
          </a:prstGeom>
          <a:solidFill>
            <a:srgbClr val="F8FAFB"/>
          </a:solidFill>
          <a:ln w="12700">
            <a:solidFill>
              <a:srgbClr val="2A9D8F"/>
            </a:solidFill>
            <a:prstDash val="solid"/>
          </a:ln>
        </p:spPr>
        <p:txBody>
          <a:bodyPr/>
          <a:lstStyle/>
          <a:p>
            <a:endParaRPr lang="ja-JP" altLang="en-US"/>
          </a:p>
        </p:txBody>
      </p:sp>
      <p:sp>
        <p:nvSpPr>
          <p:cNvPr id="70" name="Shape 68"/>
          <p:cNvSpPr/>
          <p:nvPr/>
        </p:nvSpPr>
        <p:spPr>
          <a:xfrm>
            <a:off x="566928" y="4096512"/>
            <a:ext cx="64008" cy="347472"/>
          </a:xfrm>
          <a:prstGeom prst="rect">
            <a:avLst/>
          </a:prstGeom>
          <a:solidFill>
            <a:srgbClr val="2A9D8F"/>
          </a:solidFill>
          <a:ln w="12700">
            <a:solidFill>
              <a:srgbClr val="2A9D8F"/>
            </a:solidFill>
            <a:prstDash val="solid"/>
          </a:ln>
        </p:spPr>
        <p:txBody>
          <a:bodyPr/>
          <a:lstStyle/>
          <a:p>
            <a:endParaRPr lang="ja-JP" altLang="en-US"/>
          </a:p>
        </p:txBody>
      </p:sp>
      <p:sp>
        <p:nvSpPr>
          <p:cNvPr id="71" name="Text 6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3DRefは「反射物体の2D領域」から「LiDARで生じた3D現象」へ対象を広げる。</a:t>
            </a:r>
            <a:endParaRPr lang="en-US" sz="1450" dirty="0"/>
          </a:p>
        </p:txBody>
      </p:sp>
      <p:sp>
        <p:nvSpPr>
          <p:cNvPr id="72" name="Text 7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1; Sec. 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multi-returnは中間反射と背後物体を分ける手掛かりになり得る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Hypothesis</a:t>
            </a:r>
            <a:endParaRPr lang="en-US" sz="950" dirty="0"/>
          </a:p>
        </p:txBody>
      </p:sp>
      <p:sp>
        <p:nvSpPr>
          <p:cNvPr id="5" name="Text 3"/>
          <p:cNvSpPr/>
          <p:nvPr/>
        </p:nvSpPr>
        <p:spPr>
          <a:xfrm>
            <a:off x="658368" y="896112"/>
            <a:ext cx="320040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1本のビームから複数のechoを返すLiDAR</a:t>
            </a:r>
            <a:endParaRPr lang="en-US" sz="1450" dirty="0"/>
          </a:p>
        </p:txBody>
      </p:sp>
      <p:sp>
        <p:nvSpPr>
          <p:cNvPr id="6" name="Shape 4"/>
          <p:cNvSpPr/>
          <p:nvPr/>
        </p:nvSpPr>
        <p:spPr>
          <a:xfrm>
            <a:off x="777240" y="2011680"/>
            <a:ext cx="320040" cy="320040"/>
          </a:xfrm>
          <a:prstGeom prst="ellipse">
            <a:avLst/>
          </a:prstGeom>
          <a:solidFill>
            <a:srgbClr val="17365D"/>
          </a:solidFill>
          <a:ln w="12700">
            <a:solidFill>
              <a:srgbClr val="17365D"/>
            </a:solidFill>
            <a:prstDash val="solid"/>
          </a:ln>
        </p:spPr>
        <p:txBody>
          <a:bodyPr/>
          <a:lstStyle/>
          <a:p>
            <a:endParaRPr lang="ja-JP" altLang="en-US"/>
          </a:p>
        </p:txBody>
      </p:sp>
      <p:sp>
        <p:nvSpPr>
          <p:cNvPr id="7" name="Text 5"/>
          <p:cNvSpPr/>
          <p:nvPr/>
        </p:nvSpPr>
        <p:spPr>
          <a:xfrm>
            <a:off x="566928" y="2395728"/>
            <a:ext cx="749808" cy="228600"/>
          </a:xfrm>
          <a:prstGeom prst="rect">
            <a:avLst/>
          </a:prstGeom>
          <a:noFill/>
          <a:ln/>
        </p:spPr>
        <p:txBody>
          <a:bodyPr wrap="square" lIns="0" tIns="0" rIns="0" bIns="0" rtlCol="0" anchor="ctr">
            <a:normAutofit/>
          </a:bodyPr>
          <a:lstStyle/>
          <a:p>
            <a:pPr marL="0" indent="0" algn="ctr">
              <a:buNone/>
            </a:pPr>
            <a:r>
              <a:rPr lang="en-US" sz="1250" b="1" dirty="0">
                <a:solidFill>
                  <a:srgbClr val="17365D"/>
                </a:solidFill>
                <a:latin typeface="Yu Gothic" pitchFamily="34" charset="0"/>
                <a:ea typeface="Yu Gothic" pitchFamily="34" charset="-122"/>
                <a:cs typeface="Yu Gothic" pitchFamily="34" charset="-120"/>
              </a:rPr>
              <a:t>LiDAR</a:t>
            </a:r>
            <a:endParaRPr lang="en-US" sz="1250" dirty="0"/>
          </a:p>
        </p:txBody>
      </p:sp>
      <p:sp>
        <p:nvSpPr>
          <p:cNvPr id="8" name="Shape 6"/>
          <p:cNvSpPr/>
          <p:nvPr/>
        </p:nvSpPr>
        <p:spPr>
          <a:xfrm>
            <a:off x="2240280" y="1143000"/>
            <a:ext cx="0" cy="2606040"/>
          </a:xfrm>
          <a:prstGeom prst="line">
            <a:avLst/>
          </a:prstGeom>
          <a:noFill/>
          <a:ln w="12700">
            <a:solidFill>
              <a:srgbClr val="2E75B6"/>
            </a:solidFill>
            <a:prstDash val="solid"/>
            <a:headEnd type="none"/>
            <a:tailEnd type="none"/>
          </a:ln>
        </p:spPr>
        <p:txBody>
          <a:bodyPr/>
          <a:lstStyle/>
          <a:p>
            <a:endParaRPr lang="ja-JP" altLang="en-US"/>
          </a:p>
        </p:txBody>
      </p:sp>
      <p:sp>
        <p:nvSpPr>
          <p:cNvPr id="9" name="Text 7"/>
          <p:cNvSpPr/>
          <p:nvPr/>
        </p:nvSpPr>
        <p:spPr>
          <a:xfrm>
            <a:off x="1865376" y="3813048"/>
            <a:ext cx="749808" cy="237744"/>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glass</a:t>
            </a:r>
            <a:endParaRPr lang="en-US" sz="1250" dirty="0"/>
          </a:p>
        </p:txBody>
      </p:sp>
      <p:sp>
        <p:nvSpPr>
          <p:cNvPr id="10" name="Shape 8"/>
          <p:cNvSpPr/>
          <p:nvPr/>
        </p:nvSpPr>
        <p:spPr>
          <a:xfrm>
            <a:off x="4846320" y="1143000"/>
            <a:ext cx="0" cy="2606040"/>
          </a:xfrm>
          <a:prstGeom prst="line">
            <a:avLst/>
          </a:prstGeom>
          <a:noFill/>
          <a:ln w="12700">
            <a:solidFill>
              <a:srgbClr val="ED7D31"/>
            </a:solidFill>
            <a:prstDash val="solid"/>
            <a:headEnd type="none"/>
            <a:tailEnd type="none"/>
          </a:ln>
        </p:spPr>
        <p:txBody>
          <a:bodyPr/>
          <a:lstStyle/>
          <a:p>
            <a:endParaRPr lang="ja-JP" altLang="en-US"/>
          </a:p>
        </p:txBody>
      </p:sp>
      <p:sp>
        <p:nvSpPr>
          <p:cNvPr id="11" name="Text 9"/>
          <p:cNvSpPr/>
          <p:nvPr/>
        </p:nvSpPr>
        <p:spPr>
          <a:xfrm>
            <a:off x="4352544" y="3813048"/>
            <a:ext cx="987552" cy="237744"/>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obstacle</a:t>
            </a:r>
            <a:endParaRPr lang="en-US" sz="1250" dirty="0"/>
          </a:p>
        </p:txBody>
      </p:sp>
      <p:sp>
        <p:nvSpPr>
          <p:cNvPr id="12" name="Shape 10"/>
          <p:cNvSpPr/>
          <p:nvPr/>
        </p:nvSpPr>
        <p:spPr>
          <a:xfrm>
            <a:off x="1097280" y="2157984"/>
            <a:ext cx="1115568" cy="0"/>
          </a:xfrm>
          <a:prstGeom prst="line">
            <a:avLst/>
          </a:prstGeom>
          <a:noFill/>
          <a:ln w="12700">
            <a:solidFill>
              <a:srgbClr val="2E75B6"/>
            </a:solidFill>
            <a:prstDash val="solid"/>
            <a:headEnd type="none"/>
            <a:tailEnd type="triangle"/>
          </a:ln>
        </p:spPr>
        <p:txBody>
          <a:bodyPr/>
          <a:lstStyle/>
          <a:p>
            <a:endParaRPr lang="ja-JP" altLang="en-US"/>
          </a:p>
        </p:txBody>
      </p:sp>
      <p:sp>
        <p:nvSpPr>
          <p:cNvPr id="13" name="Shape 11"/>
          <p:cNvSpPr/>
          <p:nvPr/>
        </p:nvSpPr>
        <p:spPr>
          <a:xfrm>
            <a:off x="1097280" y="2157984"/>
            <a:ext cx="3730752" cy="566928"/>
          </a:xfrm>
          <a:prstGeom prst="line">
            <a:avLst/>
          </a:prstGeom>
          <a:noFill/>
          <a:ln w="12700">
            <a:solidFill>
              <a:srgbClr val="ED7D31"/>
            </a:solidFill>
            <a:prstDash val="solid"/>
            <a:headEnd type="none"/>
            <a:tailEnd type="triangle"/>
          </a:ln>
        </p:spPr>
        <p:txBody>
          <a:bodyPr/>
          <a:lstStyle/>
          <a:p>
            <a:endParaRPr lang="ja-JP" altLang="en-US"/>
          </a:p>
        </p:txBody>
      </p:sp>
      <p:sp>
        <p:nvSpPr>
          <p:cNvPr id="14" name="Shape 12"/>
          <p:cNvSpPr/>
          <p:nvPr/>
        </p:nvSpPr>
        <p:spPr>
          <a:xfrm>
            <a:off x="1371600" y="1234440"/>
            <a:ext cx="1143000" cy="292608"/>
          </a:xfrm>
          <a:prstGeom prst="roundRect">
            <a:avLst>
              <a:gd name="adj" fmla="val 15625"/>
            </a:avLst>
          </a:prstGeom>
          <a:solidFill>
            <a:srgbClr val="EAF2F8"/>
          </a:solidFill>
          <a:ln w="12700">
            <a:solidFill>
              <a:srgbClr val="2E75B6"/>
            </a:solidFill>
            <a:prstDash val="solid"/>
          </a:ln>
        </p:spPr>
        <p:txBody>
          <a:bodyPr/>
          <a:lstStyle/>
          <a:p>
            <a:endParaRPr lang="ja-JP" altLang="en-US"/>
          </a:p>
        </p:txBody>
      </p:sp>
      <p:sp>
        <p:nvSpPr>
          <p:cNvPr id="15" name="Text 13"/>
          <p:cNvSpPr/>
          <p:nvPr/>
        </p:nvSpPr>
        <p:spPr>
          <a:xfrm>
            <a:off x="1371600" y="1234440"/>
            <a:ext cx="1143000" cy="292608"/>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1st return</a:t>
            </a:r>
            <a:endParaRPr lang="en-US" sz="1250" dirty="0"/>
          </a:p>
        </p:txBody>
      </p:sp>
      <p:sp>
        <p:nvSpPr>
          <p:cNvPr id="16" name="Shape 14"/>
          <p:cNvSpPr/>
          <p:nvPr/>
        </p:nvSpPr>
        <p:spPr>
          <a:xfrm>
            <a:off x="3474720" y="2907792"/>
            <a:ext cx="1600200" cy="292608"/>
          </a:xfrm>
          <a:prstGeom prst="roundRect">
            <a:avLst>
              <a:gd name="adj" fmla="val 15625"/>
            </a:avLst>
          </a:prstGeom>
          <a:solidFill>
            <a:srgbClr val="FCE4D6"/>
          </a:solidFill>
          <a:ln w="12700">
            <a:solidFill>
              <a:srgbClr val="ED7D31"/>
            </a:solidFill>
            <a:prstDash val="solid"/>
          </a:ln>
        </p:spPr>
        <p:txBody>
          <a:bodyPr/>
          <a:lstStyle/>
          <a:p>
            <a:endParaRPr lang="ja-JP" altLang="en-US"/>
          </a:p>
        </p:txBody>
      </p:sp>
      <p:sp>
        <p:nvSpPr>
          <p:cNvPr id="17" name="Text 15"/>
          <p:cNvSpPr/>
          <p:nvPr/>
        </p:nvSpPr>
        <p:spPr>
          <a:xfrm>
            <a:off x="3474720" y="2907792"/>
            <a:ext cx="1600200" cy="292608"/>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2nd / 3rd return</a:t>
            </a:r>
            <a:endParaRPr lang="en-US" sz="1250" dirty="0"/>
          </a:p>
        </p:txBody>
      </p:sp>
      <p:sp>
        <p:nvSpPr>
          <p:cNvPr id="18" name="Shape 16"/>
          <p:cNvSpPr/>
          <p:nvPr/>
        </p:nvSpPr>
        <p:spPr>
          <a:xfrm>
            <a:off x="5669280" y="1051560"/>
            <a:ext cx="2788920" cy="114300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9" name="Shape 17"/>
          <p:cNvSpPr/>
          <p:nvPr/>
        </p:nvSpPr>
        <p:spPr>
          <a:xfrm>
            <a:off x="5669280" y="1051560"/>
            <a:ext cx="50292" cy="1143000"/>
          </a:xfrm>
          <a:prstGeom prst="rect">
            <a:avLst/>
          </a:prstGeom>
          <a:solidFill>
            <a:srgbClr val="2A9D8F"/>
          </a:solidFill>
          <a:ln w="12700">
            <a:solidFill>
              <a:srgbClr val="2A9D8F"/>
            </a:solidFill>
            <a:prstDash val="solid"/>
          </a:ln>
        </p:spPr>
        <p:txBody>
          <a:bodyPr/>
          <a:lstStyle/>
          <a:p>
            <a:endParaRPr lang="ja-JP" altLang="en-US"/>
          </a:p>
        </p:txBody>
      </p:sp>
      <p:sp>
        <p:nvSpPr>
          <p:cNvPr id="20" name="Text 18"/>
          <p:cNvSpPr/>
          <p:nvPr/>
        </p:nvSpPr>
        <p:spPr>
          <a:xfrm>
            <a:off x="5833872" y="1124712"/>
            <a:ext cx="25146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検証する仮説</a:t>
            </a:r>
            <a:endParaRPr lang="en-US" sz="1600" dirty="0"/>
          </a:p>
        </p:txBody>
      </p:sp>
      <p:sp>
        <p:nvSpPr>
          <p:cNvPr id="21" name="Text 19"/>
          <p:cNvSpPr/>
          <p:nvPr/>
        </p:nvSpPr>
        <p:spPr>
          <a:xfrm>
            <a:off x="5833872" y="1472184"/>
            <a:ext cx="2514600" cy="63093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return番号を入力特徴に加えると、reflection / obstacle behindの識別が改善する。</a:t>
            </a:r>
            <a:endParaRPr lang="en-US" sz="1320" dirty="0"/>
          </a:p>
        </p:txBody>
      </p:sp>
      <p:sp>
        <p:nvSpPr>
          <p:cNvPr id="22" name="Shape 20"/>
          <p:cNvSpPr/>
          <p:nvPr/>
        </p:nvSpPr>
        <p:spPr>
          <a:xfrm>
            <a:off x="5669280" y="2487168"/>
            <a:ext cx="2788920" cy="11430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3" name="Shape 21"/>
          <p:cNvSpPr/>
          <p:nvPr/>
        </p:nvSpPr>
        <p:spPr>
          <a:xfrm>
            <a:off x="5669280" y="2487168"/>
            <a:ext cx="50292" cy="1143000"/>
          </a:xfrm>
          <a:prstGeom prst="rect">
            <a:avLst/>
          </a:prstGeom>
          <a:solidFill>
            <a:srgbClr val="ED7D31"/>
          </a:solidFill>
          <a:ln w="12700">
            <a:solidFill>
              <a:srgbClr val="ED7D31"/>
            </a:solidFill>
            <a:prstDash val="solid"/>
          </a:ln>
        </p:spPr>
        <p:txBody>
          <a:bodyPr/>
          <a:lstStyle/>
          <a:p>
            <a:endParaRPr lang="ja-JP" altLang="en-US"/>
          </a:p>
        </p:txBody>
      </p:sp>
      <p:sp>
        <p:nvSpPr>
          <p:cNvPr id="24" name="Text 22"/>
          <p:cNvSpPr/>
          <p:nvPr/>
        </p:nvSpPr>
        <p:spPr>
          <a:xfrm>
            <a:off x="5833872" y="2560320"/>
            <a:ext cx="25146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ただし注意</a:t>
            </a:r>
            <a:endParaRPr lang="en-US" sz="1600" dirty="0"/>
          </a:p>
        </p:txBody>
      </p:sp>
      <p:sp>
        <p:nvSpPr>
          <p:cNvPr id="25" name="Text 23"/>
          <p:cNvSpPr/>
          <p:nvPr/>
        </p:nvSpPr>
        <p:spPr>
          <a:xfrm>
            <a:off x="5833872" y="2907792"/>
            <a:ext cx="2514600" cy="63093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return生成規則と密度は機種ごとに異なるため、return番号は普遍的特徴とは限らない。</a:t>
            </a:r>
            <a:endParaRPr lang="en-US" sz="1320" dirty="0"/>
          </a:p>
        </p:txBody>
      </p:sp>
      <p:sp>
        <p:nvSpPr>
          <p:cNvPr id="26" name="Shape 24"/>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27" name="Shape 25"/>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8" name="Text 26"/>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後段のTable 4・5で、クラス選択性とmIoU改善を別々に確認する。</a:t>
            </a:r>
            <a:endParaRPr lang="en-US" sz="1450" dirty="0"/>
          </a:p>
        </p:txBody>
      </p:sp>
      <p:sp>
        <p:nvSpPr>
          <p:cNvPr id="29" name="Text 27"/>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1, 3.3,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factory calibration＋FARO整合＋MA-LIOで時空間整列を成立させる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Calibration</a:t>
            </a:r>
            <a:endParaRPr lang="en-US" sz="950" dirty="0"/>
          </a:p>
        </p:txBody>
      </p:sp>
      <p:sp>
        <p:nvSpPr>
          <p:cNvPr id="5" name="Shape 3"/>
          <p:cNvSpPr/>
          <p:nvPr/>
        </p:nvSpPr>
        <p:spPr>
          <a:xfrm>
            <a:off x="566928"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66928" y="1115568"/>
            <a:ext cx="50292" cy="1975104"/>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31520"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① Factory calibration</a:t>
            </a:r>
            <a:endParaRPr lang="en-US" sz="1240" dirty="0"/>
          </a:p>
        </p:txBody>
      </p:sp>
      <p:sp>
        <p:nvSpPr>
          <p:cNvPr id="8" name="Text 6"/>
          <p:cNvSpPr/>
          <p:nvPr/>
        </p:nvSpPr>
        <p:spPr>
          <a:xfrm>
            <a:off x="731520"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Ouster・camera・IMUの内部／外部校正</a:t>
            </a:r>
            <a:endParaRPr lang="en-US" sz="1150" dirty="0"/>
          </a:p>
        </p:txBody>
      </p:sp>
      <p:sp>
        <p:nvSpPr>
          <p:cNvPr id="9" name="Shape 7"/>
          <p:cNvSpPr/>
          <p:nvPr/>
        </p:nvSpPr>
        <p:spPr>
          <a:xfrm>
            <a:off x="2002536"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10" name="Shape 8"/>
          <p:cNvSpPr/>
          <p:nvPr/>
        </p:nvSpPr>
        <p:spPr>
          <a:xfrm>
            <a:off x="2194560"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9"/>
          <p:cNvSpPr/>
          <p:nvPr/>
        </p:nvSpPr>
        <p:spPr>
          <a:xfrm>
            <a:off x="2194560" y="1115568"/>
            <a:ext cx="50292" cy="1975104"/>
          </a:xfrm>
          <a:prstGeom prst="rect">
            <a:avLst/>
          </a:prstGeom>
          <a:solidFill>
            <a:srgbClr val="2A9D8F"/>
          </a:solidFill>
          <a:ln w="12700">
            <a:solidFill>
              <a:srgbClr val="2A9D8F"/>
            </a:solidFill>
            <a:prstDash val="solid"/>
          </a:ln>
        </p:spPr>
        <p:txBody>
          <a:bodyPr/>
          <a:lstStyle/>
          <a:p>
            <a:endParaRPr lang="ja-JP" altLang="en-US"/>
          </a:p>
        </p:txBody>
      </p:sp>
      <p:sp>
        <p:nvSpPr>
          <p:cNvPr id="12" name="Text 10"/>
          <p:cNvSpPr/>
          <p:nvPr/>
        </p:nvSpPr>
        <p:spPr>
          <a:xfrm>
            <a:off x="2359152"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② Initial extrinsic</a:t>
            </a:r>
            <a:endParaRPr lang="en-US" sz="1240" dirty="0"/>
          </a:p>
        </p:txBody>
      </p:sp>
      <p:sp>
        <p:nvSpPr>
          <p:cNvPr id="13" name="Text 11"/>
          <p:cNvSpPr/>
          <p:nvPr/>
        </p:nvSpPr>
        <p:spPr>
          <a:xfrm>
            <a:off x="2359152"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3 LiDARをFARO ground-truth fieldへregistration</a:t>
            </a:r>
            <a:endParaRPr lang="en-US" sz="1150" dirty="0"/>
          </a:p>
        </p:txBody>
      </p:sp>
      <p:sp>
        <p:nvSpPr>
          <p:cNvPr id="14" name="Shape 12"/>
          <p:cNvSpPr/>
          <p:nvPr/>
        </p:nvSpPr>
        <p:spPr>
          <a:xfrm>
            <a:off x="3630168"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15" name="Shape 13"/>
          <p:cNvSpPr/>
          <p:nvPr/>
        </p:nvSpPr>
        <p:spPr>
          <a:xfrm>
            <a:off x="3822192"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3822192" y="1115568"/>
            <a:ext cx="50292" cy="1975104"/>
          </a:xfrm>
          <a:prstGeom prst="rect">
            <a:avLst/>
          </a:prstGeom>
          <a:solidFill>
            <a:srgbClr val="8064A2"/>
          </a:solidFill>
          <a:ln w="12700">
            <a:solidFill>
              <a:srgbClr val="8064A2"/>
            </a:solidFill>
            <a:prstDash val="solid"/>
          </a:ln>
        </p:spPr>
        <p:txBody>
          <a:bodyPr/>
          <a:lstStyle/>
          <a:p>
            <a:endParaRPr lang="ja-JP" altLang="en-US"/>
          </a:p>
        </p:txBody>
      </p:sp>
      <p:sp>
        <p:nvSpPr>
          <p:cNvPr id="17" name="Text 15"/>
          <p:cNvSpPr/>
          <p:nvPr/>
        </p:nvSpPr>
        <p:spPr>
          <a:xfrm>
            <a:off x="3986784"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③ PTP sync</a:t>
            </a:r>
            <a:endParaRPr lang="en-US" sz="1240" dirty="0"/>
          </a:p>
        </p:txBody>
      </p:sp>
      <p:sp>
        <p:nvSpPr>
          <p:cNvPr id="18" name="Text 16"/>
          <p:cNvSpPr/>
          <p:nvPr/>
        </p:nvSpPr>
        <p:spPr>
          <a:xfrm>
            <a:off x="3986784"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hardware時刻同期（≤1 ms）</a:t>
            </a:r>
            <a:endParaRPr lang="en-US" sz="1150" dirty="0"/>
          </a:p>
        </p:txBody>
      </p:sp>
      <p:sp>
        <p:nvSpPr>
          <p:cNvPr id="19" name="Shape 17"/>
          <p:cNvSpPr/>
          <p:nvPr/>
        </p:nvSpPr>
        <p:spPr>
          <a:xfrm>
            <a:off x="5257800"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20" name="Shape 18"/>
          <p:cNvSpPr/>
          <p:nvPr/>
        </p:nvSpPr>
        <p:spPr>
          <a:xfrm>
            <a:off x="5449824"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1" name="Shape 19"/>
          <p:cNvSpPr/>
          <p:nvPr/>
        </p:nvSpPr>
        <p:spPr>
          <a:xfrm>
            <a:off x="5449824" y="1115568"/>
            <a:ext cx="50292" cy="1975104"/>
          </a:xfrm>
          <a:prstGeom prst="rect">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5614416"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④ MA-LIO</a:t>
            </a:r>
            <a:endParaRPr lang="en-US" sz="1240" dirty="0"/>
          </a:p>
        </p:txBody>
      </p:sp>
      <p:sp>
        <p:nvSpPr>
          <p:cNvPr id="23" name="Text 21"/>
          <p:cNvSpPr/>
          <p:nvPr/>
        </p:nvSpPr>
        <p:spPr>
          <a:xfrm>
            <a:off x="5614416"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連続時間B-splineでmotion distortion補正</a:t>
            </a:r>
            <a:endParaRPr lang="en-US" sz="1150" dirty="0"/>
          </a:p>
        </p:txBody>
      </p:sp>
      <p:sp>
        <p:nvSpPr>
          <p:cNvPr id="24" name="Shape 22"/>
          <p:cNvSpPr/>
          <p:nvPr/>
        </p:nvSpPr>
        <p:spPr>
          <a:xfrm>
            <a:off x="6885432"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25" name="Shape 23"/>
          <p:cNvSpPr/>
          <p:nvPr/>
        </p:nvSpPr>
        <p:spPr>
          <a:xfrm>
            <a:off x="7077456"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6" name="Shape 24"/>
          <p:cNvSpPr/>
          <p:nvPr/>
        </p:nvSpPr>
        <p:spPr>
          <a:xfrm>
            <a:off x="7077456" y="1115568"/>
            <a:ext cx="50292" cy="1975104"/>
          </a:xfrm>
          <a:prstGeom prst="rect">
            <a:avLst/>
          </a:prstGeom>
          <a:solidFill>
            <a:srgbClr val="C94C4C"/>
          </a:solidFill>
          <a:ln w="12700">
            <a:solidFill>
              <a:srgbClr val="C94C4C"/>
            </a:solidFill>
            <a:prstDash val="solid"/>
          </a:ln>
        </p:spPr>
        <p:txBody>
          <a:bodyPr/>
          <a:lstStyle/>
          <a:p>
            <a:endParaRPr lang="ja-JP" altLang="en-US"/>
          </a:p>
        </p:txBody>
      </p:sp>
      <p:sp>
        <p:nvSpPr>
          <p:cNvPr id="27" name="Text 25"/>
          <p:cNvSpPr/>
          <p:nvPr/>
        </p:nvSpPr>
        <p:spPr>
          <a:xfrm>
            <a:off x="7242048"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⑤ Global alignment</a:t>
            </a:r>
            <a:endParaRPr lang="en-US" sz="1240" dirty="0"/>
          </a:p>
        </p:txBody>
      </p:sp>
      <p:sp>
        <p:nvSpPr>
          <p:cNvPr id="28" name="Text 26"/>
          <p:cNvSpPr/>
          <p:nvPr/>
        </p:nvSpPr>
        <p:spPr>
          <a:xfrm>
            <a:off x="7242048"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時変extrinsicと残留timestampをオンライン補正</a:t>
            </a:r>
            <a:endParaRPr lang="en-US" sz="1150" dirty="0"/>
          </a:p>
        </p:txBody>
      </p:sp>
      <p:sp>
        <p:nvSpPr>
          <p:cNvPr id="29" name="Shape 27"/>
          <p:cNvSpPr/>
          <p:nvPr/>
        </p:nvSpPr>
        <p:spPr>
          <a:xfrm>
            <a:off x="987552" y="3419856"/>
            <a:ext cx="7168896" cy="493776"/>
          </a:xfrm>
          <a:prstGeom prst="rect">
            <a:avLst/>
          </a:prstGeom>
          <a:solidFill>
            <a:srgbClr val="EAF2F8"/>
          </a:solidFill>
          <a:ln w="12700">
            <a:solidFill>
              <a:srgbClr val="2E75B6"/>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30" name="Text 28"/>
          <p:cNvSpPr/>
          <p:nvPr/>
        </p:nvSpPr>
        <p:spPr>
          <a:xfrm>
            <a:off x="1188720" y="3529584"/>
            <a:ext cx="6766560" cy="274320"/>
          </a:xfrm>
          <a:prstGeom prst="rect">
            <a:avLst/>
          </a:prstGeom>
          <a:noFill/>
          <a:ln/>
        </p:spPr>
        <p:txBody>
          <a:bodyPr wrap="square" lIns="0" tIns="0" rIns="0" bIns="0" rtlCol="0" anchor="ctr">
            <a:normAutofit fontScale="92500"/>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出力：undistorted・global座標系に整列した3 LiDAR点群＋カメラ姿勢</a:t>
            </a:r>
            <a:endParaRPr lang="en-US" sz="1700" dirty="0"/>
          </a:p>
        </p:txBody>
      </p:sp>
      <p:sp>
        <p:nvSpPr>
          <p:cNvPr id="31" name="Shape 29"/>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32" name="Shape 30"/>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33" name="Text 3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注釈精度はmeshだけでなく、pose・extrinsic・timestampの整合精度にも依存する。</a:t>
            </a:r>
            <a:endParaRPr lang="en-US" sz="1450" dirty="0"/>
          </a:p>
        </p:txBody>
      </p:sp>
      <p:sp>
        <p:nvSpPr>
          <p:cNvPr id="34" name="Text 3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3.1; MA-LIO description</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正解の中心は、反射部を手修正・色分けした高精度3D meshである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Ground truth</a:t>
            </a:r>
            <a:endParaRPr lang="en-US" sz="950" dirty="0"/>
          </a:p>
        </p:txBody>
      </p:sp>
      <p:pic>
        <p:nvPicPr>
          <p:cNvPr id="5" name="Image 0" descr="3DRef overview and labeled mesh"/>
          <p:cNvPicPr>
            <a:picLocks noChangeAspect="1"/>
          </p:cNvPicPr>
          <p:nvPr/>
        </p:nvPicPr>
        <p:blipFill>
          <a:blip r:embed="rId3"/>
          <a:stretch>
            <a:fillRect/>
          </a:stretch>
        </p:blipFill>
        <p:spPr>
          <a:xfrm>
            <a:off x="944726" y="850392"/>
            <a:ext cx="2920292" cy="3438144"/>
          </a:xfrm>
          <a:prstGeom prst="rect">
            <a:avLst/>
          </a:prstGeom>
        </p:spPr>
      </p:pic>
      <p:sp>
        <p:nvSpPr>
          <p:cNvPr id="6" name="Shape 3"/>
          <p:cNvSpPr/>
          <p:nvPr/>
        </p:nvSpPr>
        <p:spPr>
          <a:xfrm>
            <a:off x="4553712" y="932688"/>
            <a:ext cx="3913632" cy="82296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4553712" y="932688"/>
            <a:ext cx="50292" cy="822960"/>
          </a:xfrm>
          <a:prstGeom prst="rect">
            <a:avLst/>
          </a:prstGeom>
          <a:solidFill>
            <a:srgbClr val="2E75B6"/>
          </a:solidFill>
          <a:ln w="12700">
            <a:solidFill>
              <a:srgbClr val="2E75B6"/>
            </a:solidFill>
            <a:prstDash val="solid"/>
          </a:ln>
        </p:spPr>
        <p:txBody>
          <a:bodyPr/>
          <a:lstStyle/>
          <a:p>
            <a:endParaRPr lang="ja-JP" altLang="en-US"/>
          </a:p>
        </p:txBody>
      </p:sp>
      <p:sp>
        <p:nvSpPr>
          <p:cNvPr id="8" name="Text 5"/>
          <p:cNvSpPr/>
          <p:nvPr/>
        </p:nvSpPr>
        <p:spPr>
          <a:xfrm>
            <a:off x="4718304" y="1005840"/>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① Polar scannerでtextured mesh生成</a:t>
            </a:r>
            <a:endParaRPr lang="en-US" sz="1400" dirty="0"/>
          </a:p>
        </p:txBody>
      </p:sp>
      <p:sp>
        <p:nvSpPr>
          <p:cNvPr id="9" name="Text 6"/>
          <p:cNvSpPr/>
          <p:nvPr/>
        </p:nvSpPr>
        <p:spPr>
          <a:xfrm>
            <a:off x="4718304" y="1353312"/>
            <a:ext cx="3639312" cy="310896"/>
          </a:xfrm>
          <a:prstGeom prst="rect">
            <a:avLst/>
          </a:prstGeom>
          <a:noFill/>
          <a:ln/>
        </p:spPr>
        <p:txBody>
          <a:bodyPr wrap="square" lIns="12700" tIns="0" rIns="0" bIns="25400" rtlCol="0" anchor="t">
            <a:normAutofit fontScale="85000" lnSpcReduction="20000"/>
          </a:bodyPr>
          <a:lstStyle/>
          <a:p>
            <a:pPr marL="0" indent="0">
              <a:buNone/>
            </a:pPr>
            <a:r>
              <a:rPr lang="en-US" sz="1250" dirty="0">
                <a:solidFill>
                  <a:srgbClr val="4D5966"/>
                </a:solidFill>
                <a:latin typeface="Yu Gothic" pitchFamily="34" charset="0"/>
                <a:ea typeface="Yu Gothic" pitchFamily="34" charset="-122"/>
                <a:cs typeface="Yu Gothic" pitchFamily="34" charset="-120"/>
              </a:rPr>
              <a:t>Ouster＋camera＋IMUの計測から、環境の幾何とtextureを再構成。</a:t>
            </a:r>
            <a:endParaRPr lang="en-US" sz="1250" dirty="0"/>
          </a:p>
        </p:txBody>
      </p:sp>
      <p:sp>
        <p:nvSpPr>
          <p:cNvPr id="10" name="Shape 7"/>
          <p:cNvSpPr/>
          <p:nvPr/>
        </p:nvSpPr>
        <p:spPr>
          <a:xfrm>
            <a:off x="4553712" y="1920240"/>
            <a:ext cx="3913632" cy="82296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4553712" y="1920240"/>
            <a:ext cx="50292" cy="822960"/>
          </a:xfrm>
          <a:prstGeom prst="rect">
            <a:avLst/>
          </a:prstGeom>
          <a:solidFill>
            <a:srgbClr val="ED7D31"/>
          </a:solidFill>
          <a:ln w="12700">
            <a:solidFill>
              <a:srgbClr val="ED7D31"/>
            </a:solidFill>
            <a:prstDash val="solid"/>
          </a:ln>
        </p:spPr>
        <p:txBody>
          <a:bodyPr/>
          <a:lstStyle/>
          <a:p>
            <a:endParaRPr lang="ja-JP" altLang="en-US"/>
          </a:p>
        </p:txBody>
      </p:sp>
      <p:sp>
        <p:nvSpPr>
          <p:cNvPr id="12" name="Text 9"/>
          <p:cNvSpPr/>
          <p:nvPr/>
        </p:nvSpPr>
        <p:spPr>
          <a:xfrm>
            <a:off x="4718304" y="1993392"/>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② 反射・ガラス由来の穴を手修正</a:t>
            </a:r>
            <a:endParaRPr lang="en-US" sz="1400" dirty="0"/>
          </a:p>
        </p:txBody>
      </p:sp>
      <p:sp>
        <p:nvSpPr>
          <p:cNvPr id="13" name="Text 10"/>
          <p:cNvSpPr/>
          <p:nvPr/>
        </p:nvSpPr>
        <p:spPr>
          <a:xfrm>
            <a:off x="4718304" y="2340864"/>
            <a:ext cx="3639312" cy="310896"/>
          </a:xfrm>
          <a:prstGeom prst="rect">
            <a:avLst/>
          </a:prstGeom>
          <a:noFill/>
          <a:ln/>
        </p:spPr>
        <p:txBody>
          <a:bodyPr wrap="square" lIns="12700" tIns="0" rIns="0" bIns="25400" rtlCol="0" anchor="t">
            <a:normAutofit fontScale="85000" lnSpcReduction="2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meshの欠損や誤形状を人手でcleaningし、正解幾何を補完。</a:t>
            </a:r>
            <a:endParaRPr lang="en-US" sz="1250" dirty="0"/>
          </a:p>
        </p:txBody>
      </p:sp>
      <p:sp>
        <p:nvSpPr>
          <p:cNvPr id="14" name="Shape 11"/>
          <p:cNvSpPr/>
          <p:nvPr/>
        </p:nvSpPr>
        <p:spPr>
          <a:xfrm>
            <a:off x="4553712" y="2907792"/>
            <a:ext cx="3913632" cy="82296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Shape 12"/>
          <p:cNvSpPr/>
          <p:nvPr/>
        </p:nvSpPr>
        <p:spPr>
          <a:xfrm>
            <a:off x="4553712" y="2907792"/>
            <a:ext cx="50292" cy="822960"/>
          </a:xfrm>
          <a:prstGeom prst="rect">
            <a:avLst/>
          </a:prstGeom>
          <a:solidFill>
            <a:srgbClr val="2A9D8F"/>
          </a:solidFill>
          <a:ln w="12700">
            <a:solidFill>
              <a:srgbClr val="2A9D8F"/>
            </a:solidFill>
            <a:prstDash val="solid"/>
          </a:ln>
        </p:spPr>
        <p:txBody>
          <a:bodyPr/>
          <a:lstStyle/>
          <a:p>
            <a:endParaRPr lang="ja-JP" altLang="en-US"/>
          </a:p>
        </p:txBody>
      </p:sp>
      <p:sp>
        <p:nvSpPr>
          <p:cNvPr id="16" name="Text 13"/>
          <p:cNvSpPr/>
          <p:nvPr/>
        </p:nvSpPr>
        <p:spPr>
          <a:xfrm>
            <a:off x="4718304" y="2980944"/>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③ texture上で反射材料を色分け</a:t>
            </a:r>
            <a:endParaRPr lang="en-US" sz="1400" dirty="0"/>
          </a:p>
        </p:txBody>
      </p:sp>
      <p:sp>
        <p:nvSpPr>
          <p:cNvPr id="17" name="Text 14"/>
          <p:cNvSpPr/>
          <p:nvPr/>
        </p:nvSpPr>
        <p:spPr>
          <a:xfrm>
            <a:off x="4718304" y="3328416"/>
            <a:ext cx="3639312" cy="310896"/>
          </a:xfrm>
          <a:prstGeom prst="rect">
            <a:avLst/>
          </a:prstGeom>
          <a:noFill/>
          <a:ln/>
        </p:spPr>
        <p:txBody>
          <a:bodyPr wrap="square" lIns="12700" tIns="0" rIns="0" bIns="25400" rtlCol="0" anchor="t">
            <a:normAutofit fontScale="85000"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glass / mirror / other reflectiveを手作業で領域指定。</a:t>
            </a:r>
            <a:endParaRPr lang="en-US" sz="1250" dirty="0"/>
          </a:p>
        </p:txBody>
      </p:sp>
      <p:sp>
        <p:nvSpPr>
          <p:cNvPr id="18" name="Shape 15"/>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19" name="Shape 16"/>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0" name="Text 17"/>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点ごとの人手注釈ではなく、1つの3D scene modelを全modalitiesの正解源にする。</a:t>
            </a:r>
            <a:endParaRPr lang="en-US" sz="1450" dirty="0"/>
          </a:p>
        </p:txBody>
      </p:sp>
      <p:sp>
        <p:nvSpPr>
          <p:cNvPr id="21" name="Text 1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1; Sec.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LiDAR点は『センサ原点→観測点』のrayとmeshの交点で自動ラベル化する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Point labeling</a:t>
            </a:r>
            <a:endParaRPr lang="en-US" sz="950" dirty="0"/>
          </a:p>
        </p:txBody>
      </p:sp>
      <p:sp>
        <p:nvSpPr>
          <p:cNvPr id="5" name="Shape 3"/>
          <p:cNvSpPr/>
          <p:nvPr/>
        </p:nvSpPr>
        <p:spPr>
          <a:xfrm>
            <a:off x="658368" y="1901952"/>
            <a:ext cx="347472" cy="347472"/>
          </a:xfrm>
          <a:prstGeom prst="ellipse">
            <a:avLst/>
          </a:prstGeom>
          <a:solidFill>
            <a:srgbClr val="17365D"/>
          </a:solidFill>
          <a:ln w="12700">
            <a:solidFill>
              <a:srgbClr val="17365D"/>
            </a:solidFill>
            <a:prstDash val="solid"/>
          </a:ln>
        </p:spPr>
        <p:txBody>
          <a:bodyPr/>
          <a:lstStyle/>
          <a:p>
            <a:endParaRPr lang="ja-JP" altLang="en-US"/>
          </a:p>
        </p:txBody>
      </p:sp>
      <p:sp>
        <p:nvSpPr>
          <p:cNvPr id="6" name="Text 4"/>
          <p:cNvSpPr/>
          <p:nvPr/>
        </p:nvSpPr>
        <p:spPr>
          <a:xfrm>
            <a:off x="475488" y="2331720"/>
            <a:ext cx="713232" cy="256032"/>
          </a:xfrm>
          <a:prstGeom prst="rect">
            <a:avLst/>
          </a:prstGeom>
          <a:noFill/>
          <a:ln/>
        </p:spPr>
        <p:txBody>
          <a:bodyPr wrap="square" lIns="0" tIns="0" rIns="0" bIns="0" rtlCol="0" anchor="ctr">
            <a:normAutofit fontScale="77500" lnSpcReduction="20000"/>
          </a:bodyPr>
          <a:lstStyle/>
          <a:p>
            <a:pPr marL="0" indent="0" algn="ctr">
              <a:buNone/>
            </a:pPr>
            <a:r>
              <a:rPr lang="en-US" sz="1250" b="1" dirty="0">
                <a:solidFill>
                  <a:srgbClr val="17365D"/>
                </a:solidFill>
                <a:latin typeface="Yu Gothic" pitchFamily="34" charset="0"/>
                <a:ea typeface="Yu Gothic" pitchFamily="34" charset="-122"/>
                <a:cs typeface="Yu Gothic" pitchFamily="34" charset="-120"/>
              </a:rPr>
              <a:t>LiDAR pose</a:t>
            </a:r>
            <a:endParaRPr lang="en-US" sz="1250" dirty="0"/>
          </a:p>
        </p:txBody>
      </p:sp>
      <p:sp>
        <p:nvSpPr>
          <p:cNvPr id="7" name="Shape 5"/>
          <p:cNvSpPr/>
          <p:nvPr/>
        </p:nvSpPr>
        <p:spPr>
          <a:xfrm>
            <a:off x="3794760" y="932688"/>
            <a:ext cx="0" cy="2852928"/>
          </a:xfrm>
          <a:prstGeom prst="line">
            <a:avLst/>
          </a:prstGeom>
          <a:noFill/>
          <a:ln w="12700">
            <a:solidFill>
              <a:srgbClr val="2E75B6"/>
            </a:solidFill>
            <a:prstDash val="solid"/>
            <a:headEnd type="none"/>
            <a:tailEnd type="none"/>
          </a:ln>
        </p:spPr>
        <p:txBody>
          <a:bodyPr/>
          <a:lstStyle/>
          <a:p>
            <a:endParaRPr lang="ja-JP" altLang="en-US"/>
          </a:p>
        </p:txBody>
      </p:sp>
      <p:sp>
        <p:nvSpPr>
          <p:cNvPr id="8" name="Text 6"/>
          <p:cNvSpPr/>
          <p:nvPr/>
        </p:nvSpPr>
        <p:spPr>
          <a:xfrm>
            <a:off x="3246120" y="3858768"/>
            <a:ext cx="1097280" cy="256032"/>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labeled mesh</a:t>
            </a:r>
            <a:endParaRPr lang="en-US" sz="1250" dirty="0"/>
          </a:p>
        </p:txBody>
      </p:sp>
      <p:sp>
        <p:nvSpPr>
          <p:cNvPr id="9" name="Shape 7"/>
          <p:cNvSpPr/>
          <p:nvPr/>
        </p:nvSpPr>
        <p:spPr>
          <a:xfrm>
            <a:off x="5559552" y="2487168"/>
            <a:ext cx="256032" cy="256032"/>
          </a:xfrm>
          <a:prstGeom prst="ellipse">
            <a:avLst/>
          </a:prstGeom>
          <a:solidFill>
            <a:srgbClr val="ED7D31"/>
          </a:solidFill>
          <a:ln w="12700">
            <a:solidFill>
              <a:srgbClr val="ED7D31"/>
            </a:solidFill>
            <a:prstDash val="solid"/>
          </a:ln>
        </p:spPr>
        <p:txBody>
          <a:bodyPr/>
          <a:lstStyle/>
          <a:p>
            <a:endParaRPr lang="ja-JP" altLang="en-US"/>
          </a:p>
        </p:txBody>
      </p:sp>
      <p:sp>
        <p:nvSpPr>
          <p:cNvPr id="10" name="Text 8"/>
          <p:cNvSpPr/>
          <p:nvPr/>
        </p:nvSpPr>
        <p:spPr>
          <a:xfrm>
            <a:off x="5065776" y="2834640"/>
            <a:ext cx="1243584" cy="256032"/>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measured point</a:t>
            </a:r>
            <a:endParaRPr lang="en-US" sz="1250" dirty="0"/>
          </a:p>
        </p:txBody>
      </p:sp>
      <p:sp>
        <p:nvSpPr>
          <p:cNvPr id="11" name="Shape 9"/>
          <p:cNvSpPr/>
          <p:nvPr/>
        </p:nvSpPr>
        <p:spPr>
          <a:xfrm>
            <a:off x="987552" y="2066544"/>
            <a:ext cx="4590288" cy="548640"/>
          </a:xfrm>
          <a:prstGeom prst="line">
            <a:avLst/>
          </a:prstGeom>
          <a:noFill/>
          <a:ln w="12700">
            <a:solidFill>
              <a:srgbClr val="ED7D31"/>
            </a:solidFill>
            <a:prstDash val="solid"/>
            <a:headEnd type="none"/>
            <a:tailEnd type="triangle"/>
          </a:ln>
        </p:spPr>
        <p:txBody>
          <a:bodyPr/>
          <a:lstStyle/>
          <a:p>
            <a:endParaRPr lang="ja-JP" altLang="en-US"/>
          </a:p>
        </p:txBody>
      </p:sp>
      <p:sp>
        <p:nvSpPr>
          <p:cNvPr id="12" name="Shape 10"/>
          <p:cNvSpPr/>
          <p:nvPr/>
        </p:nvSpPr>
        <p:spPr>
          <a:xfrm>
            <a:off x="3675888" y="2359152"/>
            <a:ext cx="237744" cy="237744"/>
          </a:xfrm>
          <a:prstGeom prst="ellipse">
            <a:avLst/>
          </a:prstGeom>
          <a:solidFill>
            <a:srgbClr val="2A9D8F"/>
          </a:solidFill>
          <a:ln w="12700">
            <a:solidFill>
              <a:srgbClr val="2A9D8F"/>
            </a:solidFill>
            <a:prstDash val="solid"/>
          </a:ln>
        </p:spPr>
        <p:txBody>
          <a:bodyPr/>
          <a:lstStyle/>
          <a:p>
            <a:endParaRPr lang="ja-JP" altLang="en-US"/>
          </a:p>
        </p:txBody>
      </p:sp>
      <p:sp>
        <p:nvSpPr>
          <p:cNvPr id="13" name="Shape 11"/>
          <p:cNvSpPr/>
          <p:nvPr/>
        </p:nvSpPr>
        <p:spPr>
          <a:xfrm>
            <a:off x="2980944" y="2670048"/>
            <a:ext cx="1627632" cy="292608"/>
          </a:xfrm>
          <a:prstGeom prst="roundRect">
            <a:avLst>
              <a:gd name="adj" fmla="val 15625"/>
            </a:avLst>
          </a:prstGeom>
          <a:solidFill>
            <a:srgbClr val="E7F4F2"/>
          </a:solidFill>
          <a:ln w="12700">
            <a:solidFill>
              <a:srgbClr val="2A9D8F"/>
            </a:solidFill>
            <a:prstDash val="solid"/>
          </a:ln>
        </p:spPr>
        <p:txBody>
          <a:bodyPr/>
          <a:lstStyle/>
          <a:p>
            <a:endParaRPr lang="ja-JP" altLang="en-US"/>
          </a:p>
        </p:txBody>
      </p:sp>
      <p:sp>
        <p:nvSpPr>
          <p:cNvPr id="14" name="Text 12"/>
          <p:cNvSpPr/>
          <p:nvPr/>
        </p:nvSpPr>
        <p:spPr>
          <a:xfrm>
            <a:off x="2980944" y="2670048"/>
            <a:ext cx="1627632" cy="292608"/>
          </a:xfrm>
          <a:prstGeom prst="rect">
            <a:avLst/>
          </a:prstGeom>
          <a:noFill/>
          <a:ln/>
        </p:spPr>
        <p:txBody>
          <a:bodyPr wrap="square" lIns="0" tIns="0" rIns="0" bIns="0" rtlCol="0" anchor="ctr">
            <a:normAutofit fontScale="85000" lnSpcReduction="10000"/>
          </a:bodyPr>
          <a:lstStyle/>
          <a:p>
            <a:pPr marL="0" indent="0" algn="ctr">
              <a:buNone/>
            </a:pPr>
            <a:r>
              <a:rPr lang="en-US" sz="1250" b="1" dirty="0">
                <a:solidFill>
                  <a:srgbClr val="2A9D8F"/>
                </a:solidFill>
                <a:latin typeface="Yu Gothic" pitchFamily="34" charset="0"/>
                <a:ea typeface="Yu Gothic" pitchFamily="34" charset="-122"/>
                <a:cs typeface="Yu Gothic" pitchFamily="34" charset="-120"/>
              </a:rPr>
              <a:t>first mesh intersection</a:t>
            </a:r>
            <a:endParaRPr lang="en-US" sz="1250" dirty="0"/>
          </a:p>
        </p:txBody>
      </p:sp>
      <p:sp>
        <p:nvSpPr>
          <p:cNvPr id="15" name="Shape 13"/>
          <p:cNvSpPr/>
          <p:nvPr/>
        </p:nvSpPr>
        <p:spPr>
          <a:xfrm>
            <a:off x="6291072" y="987552"/>
            <a:ext cx="2157984" cy="109728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6291072" y="987552"/>
            <a:ext cx="50292" cy="1097280"/>
          </a:xfrm>
          <a:prstGeom prst="rect">
            <a:avLst/>
          </a:prstGeom>
          <a:solidFill>
            <a:srgbClr val="2E75B6"/>
          </a:solidFill>
          <a:ln w="12700">
            <a:solidFill>
              <a:srgbClr val="2E75B6"/>
            </a:solidFill>
            <a:prstDash val="solid"/>
          </a:ln>
        </p:spPr>
        <p:txBody>
          <a:bodyPr/>
          <a:lstStyle/>
          <a:p>
            <a:endParaRPr lang="ja-JP" altLang="en-US"/>
          </a:p>
        </p:txBody>
      </p:sp>
      <p:sp>
        <p:nvSpPr>
          <p:cNvPr id="17" name="Text 15"/>
          <p:cNvSpPr/>
          <p:nvPr/>
        </p:nvSpPr>
        <p:spPr>
          <a:xfrm>
            <a:off x="6455664" y="1060704"/>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入力</a:t>
            </a:r>
            <a:endParaRPr lang="en-US" sz="1600" dirty="0"/>
          </a:p>
        </p:txBody>
      </p:sp>
      <p:sp>
        <p:nvSpPr>
          <p:cNvPr id="18" name="Text 16"/>
          <p:cNvSpPr/>
          <p:nvPr/>
        </p:nvSpPr>
        <p:spPr>
          <a:xfrm>
            <a:off x="6455664" y="1408176"/>
            <a:ext cx="1883664" cy="585216"/>
          </a:xfrm>
          <a:prstGeom prst="rect">
            <a:avLst/>
          </a:prstGeom>
          <a:noFill/>
          <a:ln/>
        </p:spPr>
        <p:txBody>
          <a:bodyPr wrap="square" lIns="12700" tIns="0" rIns="0" bIns="25400" rtlCol="0" anchor="t">
            <a:normAutofit/>
          </a:bodyPr>
          <a:lstStyle/>
          <a:p>
            <a:pPr marL="0" indent="0">
              <a:buNone/>
            </a:pPr>
            <a:r>
              <a:rPr lang="en-US" sz="1250" dirty="0">
                <a:solidFill>
                  <a:srgbClr val="4D5966"/>
                </a:solidFill>
                <a:latin typeface="Yu Gothic" pitchFamily="34" charset="0"/>
                <a:ea typeface="Yu Gothic" pitchFamily="34" charset="-122"/>
                <a:cs typeface="Yu Gothic" pitchFamily="34" charset="-120"/>
              </a:rPr>
              <a:t>点座標・LiDAR pose・色付きmesh</a:t>
            </a:r>
            <a:endParaRPr lang="en-US" sz="1250" dirty="0"/>
          </a:p>
        </p:txBody>
      </p:sp>
      <p:sp>
        <p:nvSpPr>
          <p:cNvPr id="19" name="Shape 17"/>
          <p:cNvSpPr/>
          <p:nvPr/>
        </p:nvSpPr>
        <p:spPr>
          <a:xfrm>
            <a:off x="6291072" y="2340864"/>
            <a:ext cx="2157984" cy="109728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0" name="Shape 18"/>
          <p:cNvSpPr/>
          <p:nvPr/>
        </p:nvSpPr>
        <p:spPr>
          <a:xfrm>
            <a:off x="6291072" y="2340864"/>
            <a:ext cx="50292" cy="1097280"/>
          </a:xfrm>
          <a:prstGeom prst="rect">
            <a:avLst/>
          </a:prstGeom>
          <a:solidFill>
            <a:srgbClr val="2A9D8F"/>
          </a:solidFill>
          <a:ln w="12700">
            <a:solidFill>
              <a:srgbClr val="2A9D8F"/>
            </a:solidFill>
            <a:prstDash val="solid"/>
          </a:ln>
        </p:spPr>
        <p:txBody>
          <a:bodyPr/>
          <a:lstStyle/>
          <a:p>
            <a:endParaRPr lang="ja-JP" altLang="en-US"/>
          </a:p>
        </p:txBody>
      </p:sp>
      <p:sp>
        <p:nvSpPr>
          <p:cNvPr id="21" name="Text 19"/>
          <p:cNvSpPr/>
          <p:nvPr/>
        </p:nvSpPr>
        <p:spPr>
          <a:xfrm>
            <a:off x="6455664" y="2414016"/>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出力</a:t>
            </a:r>
            <a:endParaRPr lang="en-US" sz="1600" dirty="0"/>
          </a:p>
        </p:txBody>
      </p:sp>
      <p:sp>
        <p:nvSpPr>
          <p:cNvPr id="22" name="Text 20"/>
          <p:cNvSpPr/>
          <p:nvPr/>
        </p:nvSpPr>
        <p:spPr>
          <a:xfrm>
            <a:off x="6455664" y="2761488"/>
            <a:ext cx="1883664" cy="585216"/>
          </a:xfrm>
          <a:prstGeom prst="rect">
            <a:avLst/>
          </a:prstGeom>
          <a:noFill/>
          <a:ln/>
        </p:spPr>
        <p:txBody>
          <a:bodyPr wrap="square" lIns="12700" tIns="0" rIns="0" bIns="25400" rtlCol="0" anchor="t">
            <a:normAutofit/>
          </a:bodyPr>
          <a:lstStyle/>
          <a:p>
            <a:pPr marL="0" indent="0">
              <a:buNone/>
            </a:pPr>
            <a:r>
              <a:rPr lang="en-US" sz="1250" dirty="0">
                <a:solidFill>
                  <a:srgbClr val="4D5966"/>
                </a:solidFill>
                <a:latin typeface="Yu Gothic" pitchFamily="34" charset="0"/>
                <a:ea typeface="Yu Gothic" pitchFamily="34" charset="-122"/>
                <a:cs typeface="Yu Gothic" pitchFamily="34" charset="-120"/>
              </a:rPr>
              <a:t>交差面の材料＋点の実在性に基づくclass ID</a:t>
            </a:r>
            <a:endParaRPr lang="en-US" sz="1250" dirty="0"/>
          </a:p>
        </p:txBody>
      </p:sp>
      <p:sp>
        <p:nvSpPr>
          <p:cNvPr id="23" name="Shape 21"/>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24" name="Shape 22"/>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5" name="Text 23"/>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Open3D ray castingにより、全フレームへ一貫した3Dラベルを展開する。</a:t>
            </a:r>
            <a:endParaRPr lang="en-US" sz="1450" dirty="0"/>
          </a:p>
        </p:txBody>
      </p:sp>
      <p:sp>
        <p:nvSpPr>
          <p:cNvPr id="26" name="Text 24"/>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RGB maskも同じmeshをcamera viewへrenderして生成する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Image labeling</a:t>
            </a:r>
            <a:endParaRPr lang="en-US" sz="950" dirty="0"/>
          </a:p>
        </p:txBody>
      </p:sp>
      <p:sp>
        <p:nvSpPr>
          <p:cNvPr id="5" name="Shape 3"/>
          <p:cNvSpPr/>
          <p:nvPr/>
        </p:nvSpPr>
        <p:spPr>
          <a:xfrm>
            <a:off x="594360"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1207008"/>
            <a:ext cx="50292" cy="114300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58952"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Camera pose + intrinsics</a:t>
            </a:r>
            <a:endParaRPr lang="en-US" sz="1260" dirty="0"/>
          </a:p>
        </p:txBody>
      </p:sp>
      <p:sp>
        <p:nvSpPr>
          <p:cNvPr id="8" name="Text 6"/>
          <p:cNvSpPr/>
          <p:nvPr/>
        </p:nvSpPr>
        <p:spPr>
          <a:xfrm>
            <a:off x="758952"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各frameの姿勢・内部パラメータ</a:t>
            </a:r>
            <a:endParaRPr lang="en-US" sz="1130" dirty="0"/>
          </a:p>
        </p:txBody>
      </p:sp>
      <p:sp>
        <p:nvSpPr>
          <p:cNvPr id="9" name="Shape 7"/>
          <p:cNvSpPr/>
          <p:nvPr/>
        </p:nvSpPr>
        <p:spPr>
          <a:xfrm>
            <a:off x="2039112"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10" name="Shape 8"/>
          <p:cNvSpPr/>
          <p:nvPr/>
        </p:nvSpPr>
        <p:spPr>
          <a:xfrm>
            <a:off x="2395728"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9"/>
          <p:cNvSpPr/>
          <p:nvPr/>
        </p:nvSpPr>
        <p:spPr>
          <a:xfrm>
            <a:off x="2395728" y="1207008"/>
            <a:ext cx="50292" cy="1143000"/>
          </a:xfrm>
          <a:prstGeom prst="rect">
            <a:avLst/>
          </a:prstGeom>
          <a:solidFill>
            <a:srgbClr val="2A9D8F"/>
          </a:solidFill>
          <a:ln w="12700">
            <a:solidFill>
              <a:srgbClr val="2A9D8F"/>
            </a:solidFill>
            <a:prstDash val="solid"/>
          </a:ln>
        </p:spPr>
        <p:txBody>
          <a:bodyPr/>
          <a:lstStyle/>
          <a:p>
            <a:endParaRPr lang="ja-JP" altLang="en-US"/>
          </a:p>
        </p:txBody>
      </p:sp>
      <p:sp>
        <p:nvSpPr>
          <p:cNvPr id="12" name="Text 10"/>
          <p:cNvSpPr/>
          <p:nvPr/>
        </p:nvSpPr>
        <p:spPr>
          <a:xfrm>
            <a:off x="2560320"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Labeled 3D mesh</a:t>
            </a:r>
            <a:endParaRPr lang="en-US" sz="1260" dirty="0"/>
          </a:p>
        </p:txBody>
      </p:sp>
      <p:sp>
        <p:nvSpPr>
          <p:cNvPr id="13" name="Text 11"/>
          <p:cNvSpPr/>
          <p:nvPr/>
        </p:nvSpPr>
        <p:spPr>
          <a:xfrm>
            <a:off x="2560320"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材料classをtextureへ符号化</a:t>
            </a:r>
            <a:endParaRPr lang="en-US" sz="1130" dirty="0"/>
          </a:p>
        </p:txBody>
      </p:sp>
      <p:sp>
        <p:nvSpPr>
          <p:cNvPr id="14" name="Shape 12"/>
          <p:cNvSpPr/>
          <p:nvPr/>
        </p:nvSpPr>
        <p:spPr>
          <a:xfrm>
            <a:off x="3840480"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15" name="Shape 13"/>
          <p:cNvSpPr/>
          <p:nvPr/>
        </p:nvSpPr>
        <p:spPr>
          <a:xfrm>
            <a:off x="4197096"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4197096" y="1207008"/>
            <a:ext cx="50292" cy="1143000"/>
          </a:xfrm>
          <a:prstGeom prst="rect">
            <a:avLst/>
          </a:prstGeom>
          <a:solidFill>
            <a:srgbClr val="8064A2"/>
          </a:solidFill>
          <a:ln w="12700">
            <a:solidFill>
              <a:srgbClr val="8064A2"/>
            </a:solidFill>
            <a:prstDash val="solid"/>
          </a:ln>
        </p:spPr>
        <p:txBody>
          <a:bodyPr/>
          <a:lstStyle/>
          <a:p>
            <a:endParaRPr lang="ja-JP" altLang="en-US"/>
          </a:p>
        </p:txBody>
      </p:sp>
      <p:sp>
        <p:nvSpPr>
          <p:cNvPr id="17" name="Text 15"/>
          <p:cNvSpPr/>
          <p:nvPr/>
        </p:nvSpPr>
        <p:spPr>
          <a:xfrm>
            <a:off x="4361688"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View rendering</a:t>
            </a:r>
            <a:endParaRPr lang="en-US" sz="1260" dirty="0"/>
          </a:p>
        </p:txBody>
      </p:sp>
      <p:sp>
        <p:nvSpPr>
          <p:cNvPr id="18" name="Text 16"/>
          <p:cNvSpPr/>
          <p:nvPr/>
        </p:nvSpPr>
        <p:spPr>
          <a:xfrm>
            <a:off x="4361688"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camera視点へ投影</a:t>
            </a:r>
            <a:endParaRPr lang="en-US" sz="1130" dirty="0"/>
          </a:p>
        </p:txBody>
      </p:sp>
      <p:sp>
        <p:nvSpPr>
          <p:cNvPr id="19" name="Shape 17"/>
          <p:cNvSpPr/>
          <p:nvPr/>
        </p:nvSpPr>
        <p:spPr>
          <a:xfrm>
            <a:off x="5641848"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20" name="Shape 18"/>
          <p:cNvSpPr/>
          <p:nvPr/>
        </p:nvSpPr>
        <p:spPr>
          <a:xfrm>
            <a:off x="5998464"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1" name="Shape 19"/>
          <p:cNvSpPr/>
          <p:nvPr/>
        </p:nvSpPr>
        <p:spPr>
          <a:xfrm>
            <a:off x="5998464" y="1207008"/>
            <a:ext cx="50292" cy="1143000"/>
          </a:xfrm>
          <a:prstGeom prst="rect">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6163056"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Class masks</a:t>
            </a:r>
            <a:endParaRPr lang="en-US" sz="1260" dirty="0"/>
          </a:p>
        </p:txBody>
      </p:sp>
      <p:sp>
        <p:nvSpPr>
          <p:cNvPr id="23" name="Text 21"/>
          <p:cNvSpPr/>
          <p:nvPr/>
        </p:nvSpPr>
        <p:spPr>
          <a:xfrm>
            <a:off x="6163056"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glass / mirror / other / all</a:t>
            </a:r>
            <a:endParaRPr lang="en-US" sz="1130" dirty="0"/>
          </a:p>
        </p:txBody>
      </p:sp>
      <p:sp>
        <p:nvSpPr>
          <p:cNvPr id="24" name="Shape 22"/>
          <p:cNvSpPr/>
          <p:nvPr/>
        </p:nvSpPr>
        <p:spPr>
          <a:xfrm>
            <a:off x="1005840" y="2834640"/>
            <a:ext cx="3246120" cy="9144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5" name="Shape 23"/>
          <p:cNvSpPr/>
          <p:nvPr/>
        </p:nvSpPr>
        <p:spPr>
          <a:xfrm>
            <a:off x="1005840" y="2834640"/>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26" name="Text 24"/>
          <p:cNvSpPr/>
          <p:nvPr/>
        </p:nvSpPr>
        <p:spPr>
          <a:xfrm>
            <a:off x="1170432" y="2907792"/>
            <a:ext cx="29718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魚眼画像の扱い</a:t>
            </a:r>
            <a:endParaRPr lang="en-US" sz="1600" dirty="0"/>
          </a:p>
        </p:txBody>
      </p:sp>
      <p:sp>
        <p:nvSpPr>
          <p:cNvPr id="27" name="Text 25"/>
          <p:cNvSpPr/>
          <p:nvPr/>
        </p:nvSpPr>
        <p:spPr>
          <a:xfrm>
            <a:off x="1170432" y="3255264"/>
            <a:ext cx="2971800" cy="402336"/>
          </a:xfrm>
          <a:prstGeom prst="rect">
            <a:avLst/>
          </a:prstGeom>
          <a:noFill/>
          <a:ln/>
        </p:spPr>
        <p:txBody>
          <a:bodyPr wrap="square" lIns="12700" tIns="0" rIns="0" bIns="25400" rtlCol="0" anchor="t">
            <a:normAutofit fontScale="92500"/>
          </a:bodyPr>
          <a:lstStyle/>
          <a:p>
            <a:pPr marL="0" indent="0">
              <a:buNone/>
            </a:pPr>
            <a:r>
              <a:rPr lang="en-US" sz="1300" dirty="0">
                <a:solidFill>
                  <a:srgbClr val="4D5966"/>
                </a:solidFill>
                <a:latin typeface="Yu Gothic" pitchFamily="34" charset="0"/>
                <a:ea typeface="Yu Gothic" pitchFamily="34" charset="-122"/>
                <a:cs typeface="Yu Gothic" pitchFamily="34" charset="-120"/>
              </a:rPr>
              <a:t>既存RGB segmentation手法と互換にするため、fisheyeをpinhole画像へundistort。</a:t>
            </a:r>
            <a:endParaRPr lang="en-US" sz="1300" dirty="0"/>
          </a:p>
        </p:txBody>
      </p:sp>
      <p:sp>
        <p:nvSpPr>
          <p:cNvPr id="28" name="Shape 26"/>
          <p:cNvSpPr/>
          <p:nvPr/>
        </p:nvSpPr>
        <p:spPr>
          <a:xfrm>
            <a:off x="4892040" y="2834640"/>
            <a:ext cx="3246120" cy="91440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9" name="Shape 27"/>
          <p:cNvSpPr/>
          <p:nvPr/>
        </p:nvSpPr>
        <p:spPr>
          <a:xfrm>
            <a:off x="4892040" y="2834640"/>
            <a:ext cx="50292" cy="914400"/>
          </a:xfrm>
          <a:prstGeom prst="rect">
            <a:avLst/>
          </a:prstGeom>
          <a:solidFill>
            <a:srgbClr val="2A9D8F"/>
          </a:solidFill>
          <a:ln w="12700">
            <a:solidFill>
              <a:srgbClr val="2A9D8F"/>
            </a:solidFill>
            <a:prstDash val="solid"/>
          </a:ln>
        </p:spPr>
        <p:txBody>
          <a:bodyPr/>
          <a:lstStyle/>
          <a:p>
            <a:endParaRPr lang="ja-JP" altLang="en-US"/>
          </a:p>
        </p:txBody>
      </p:sp>
      <p:sp>
        <p:nvSpPr>
          <p:cNvPr id="30" name="Text 28"/>
          <p:cNvSpPr/>
          <p:nvPr/>
        </p:nvSpPr>
        <p:spPr>
          <a:xfrm>
            <a:off x="5056632" y="2907792"/>
            <a:ext cx="29718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modalities間の一貫性</a:t>
            </a:r>
            <a:endParaRPr lang="en-US" sz="1600" dirty="0"/>
          </a:p>
        </p:txBody>
      </p:sp>
      <p:sp>
        <p:nvSpPr>
          <p:cNvPr id="31" name="Text 29"/>
          <p:cNvSpPr/>
          <p:nvPr/>
        </p:nvSpPr>
        <p:spPr>
          <a:xfrm>
            <a:off x="5056632" y="3255264"/>
            <a:ext cx="29718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点群と画像が同じ3D mesh由来のため、class定義と空間位置を共有。</a:t>
            </a:r>
            <a:endParaRPr lang="en-US" sz="1300" dirty="0"/>
          </a:p>
        </p:txBody>
      </p:sp>
      <p:sp>
        <p:nvSpPr>
          <p:cNvPr id="32" name="Shape 30"/>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33" name="Shape 31"/>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34" name="Text 32"/>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本論文の本質は、meshを介してRGBとLiDARの正解を同じ世界座標に結びつけた点。</a:t>
            </a:r>
            <a:endParaRPr lang="en-US" sz="1450" dirty="0"/>
          </a:p>
        </p:txBody>
      </p:sp>
      <p:sp>
        <p:nvSpPr>
          <p:cNvPr id="35" name="Text 3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7個のIDのうち、0を除く6クラスが意味のある評価対象となる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Label taxonomy</a:t>
            </a:r>
            <a:endParaRPr lang="en-US" sz="950" dirty="0"/>
          </a:p>
        </p:txBody>
      </p:sp>
      <p:sp>
        <p:nvSpPr>
          <p:cNvPr id="5" name="Shape 3"/>
          <p:cNvSpPr/>
          <p:nvPr/>
        </p:nvSpPr>
        <p:spPr>
          <a:xfrm>
            <a:off x="685800" y="932688"/>
            <a:ext cx="256032" cy="256032"/>
          </a:xfrm>
          <a:prstGeom prst="ellipse">
            <a:avLst/>
          </a:prstGeom>
          <a:solidFill>
            <a:srgbClr val="8C8C8C"/>
          </a:solidFill>
          <a:ln w="12700">
            <a:solidFill>
              <a:srgbClr val="8C8C8C"/>
            </a:solidFill>
            <a:prstDash val="solid"/>
          </a:ln>
        </p:spPr>
        <p:txBody>
          <a:bodyPr/>
          <a:lstStyle/>
          <a:p>
            <a:endParaRPr lang="ja-JP" altLang="en-US"/>
          </a:p>
        </p:txBody>
      </p:sp>
      <p:sp>
        <p:nvSpPr>
          <p:cNvPr id="6" name="Text 4"/>
          <p:cNvSpPr/>
          <p:nvPr/>
        </p:nvSpPr>
        <p:spPr>
          <a:xfrm>
            <a:off x="685800" y="932688"/>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0</a:t>
            </a:r>
            <a:endParaRPr lang="en-US" sz="1100" dirty="0"/>
          </a:p>
        </p:txBody>
      </p:sp>
      <p:sp>
        <p:nvSpPr>
          <p:cNvPr id="7" name="Text 5"/>
          <p:cNvSpPr/>
          <p:nvPr/>
        </p:nvSpPr>
        <p:spPr>
          <a:xfrm>
            <a:off x="1115568" y="877824"/>
            <a:ext cx="1874520" cy="347472"/>
          </a:xfrm>
          <a:prstGeom prst="rect">
            <a:avLst/>
          </a:prstGeom>
          <a:noFill/>
          <a:ln/>
        </p:spPr>
        <p:txBody>
          <a:bodyPr wrap="square" lIns="0" tIns="0" rIns="0" bIns="0" rtlCol="0" anchor="ctr">
            <a:normAutofit/>
          </a:bodyPr>
          <a:lstStyle/>
          <a:p>
            <a:pPr marL="0" indent="0">
              <a:buNone/>
            </a:pPr>
            <a:r>
              <a:rPr lang="en-US" sz="1400" b="1" dirty="0">
                <a:solidFill>
                  <a:srgbClr val="8C8C8C"/>
                </a:solidFill>
                <a:latin typeface="Yu Gothic" pitchFamily="34" charset="0"/>
                <a:ea typeface="Yu Gothic" pitchFamily="34" charset="-122"/>
                <a:cs typeface="Yu Gothic" pitchFamily="34" charset="-120"/>
              </a:rPr>
              <a:t>Unlabeled</a:t>
            </a:r>
            <a:endParaRPr lang="en-US" sz="1400" dirty="0"/>
          </a:p>
        </p:txBody>
      </p:sp>
      <p:sp>
        <p:nvSpPr>
          <p:cNvPr id="8" name="Text 6"/>
          <p:cNvSpPr/>
          <p:nvPr/>
        </p:nvSpPr>
        <p:spPr>
          <a:xfrm>
            <a:off x="3090672" y="877824"/>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mesh外・正解なし</a:t>
            </a:r>
            <a:endParaRPr lang="en-US" sz="1320" dirty="0"/>
          </a:p>
        </p:txBody>
      </p:sp>
      <p:sp>
        <p:nvSpPr>
          <p:cNvPr id="9" name="Shape 7"/>
          <p:cNvSpPr/>
          <p:nvPr/>
        </p:nvSpPr>
        <p:spPr>
          <a:xfrm>
            <a:off x="1097280" y="1271016"/>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10" name="Shape 8"/>
          <p:cNvSpPr/>
          <p:nvPr/>
        </p:nvSpPr>
        <p:spPr>
          <a:xfrm>
            <a:off x="685800" y="1362456"/>
            <a:ext cx="256032" cy="256032"/>
          </a:xfrm>
          <a:prstGeom prst="ellipse">
            <a:avLst/>
          </a:prstGeom>
          <a:solidFill>
            <a:srgbClr val="17365D"/>
          </a:solidFill>
          <a:ln w="12700">
            <a:solidFill>
              <a:srgbClr val="17365D"/>
            </a:solidFill>
            <a:prstDash val="solid"/>
          </a:ln>
        </p:spPr>
        <p:txBody>
          <a:bodyPr/>
          <a:lstStyle/>
          <a:p>
            <a:endParaRPr lang="ja-JP" altLang="en-US"/>
          </a:p>
        </p:txBody>
      </p:sp>
      <p:sp>
        <p:nvSpPr>
          <p:cNvPr id="11" name="Text 9"/>
          <p:cNvSpPr/>
          <p:nvPr/>
        </p:nvSpPr>
        <p:spPr>
          <a:xfrm>
            <a:off x="685800" y="1362456"/>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2" name="Text 10"/>
          <p:cNvSpPr/>
          <p:nvPr/>
        </p:nvSpPr>
        <p:spPr>
          <a:xfrm>
            <a:off x="1115568" y="1307592"/>
            <a:ext cx="1874520" cy="347472"/>
          </a:xfrm>
          <a:prstGeom prst="rect">
            <a:avLst/>
          </a:prstGeom>
          <a:noFill/>
          <a:ln/>
        </p:spPr>
        <p:txBody>
          <a:bodyPr wrap="square" lIns="0" tIns="0" rIns="0" bIns="0" rtlCol="0" anchor="ctr">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Normal</a:t>
            </a:r>
            <a:endParaRPr lang="en-US" sz="1400" dirty="0"/>
          </a:p>
        </p:txBody>
      </p:sp>
      <p:sp>
        <p:nvSpPr>
          <p:cNvPr id="13" name="Text 11"/>
          <p:cNvSpPr/>
          <p:nvPr/>
        </p:nvSpPr>
        <p:spPr>
          <a:xfrm>
            <a:off x="3090672" y="1307592"/>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通常の実表面</a:t>
            </a:r>
            <a:endParaRPr lang="en-US" sz="1320" dirty="0"/>
          </a:p>
        </p:txBody>
      </p:sp>
      <p:sp>
        <p:nvSpPr>
          <p:cNvPr id="14" name="Shape 12"/>
          <p:cNvSpPr/>
          <p:nvPr/>
        </p:nvSpPr>
        <p:spPr>
          <a:xfrm>
            <a:off x="1097280" y="1700784"/>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15" name="Shape 13"/>
          <p:cNvSpPr/>
          <p:nvPr/>
        </p:nvSpPr>
        <p:spPr>
          <a:xfrm>
            <a:off x="685800" y="1792224"/>
            <a:ext cx="256032" cy="256032"/>
          </a:xfrm>
          <a:prstGeom prst="ellipse">
            <a:avLst/>
          </a:prstGeom>
          <a:solidFill>
            <a:srgbClr val="2E75B6"/>
          </a:solidFill>
          <a:ln w="12700">
            <a:solidFill>
              <a:srgbClr val="2E75B6"/>
            </a:solidFill>
            <a:prstDash val="solid"/>
          </a:ln>
        </p:spPr>
        <p:txBody>
          <a:bodyPr/>
          <a:lstStyle/>
          <a:p>
            <a:endParaRPr lang="ja-JP" altLang="en-US"/>
          </a:p>
        </p:txBody>
      </p:sp>
      <p:sp>
        <p:nvSpPr>
          <p:cNvPr id="16" name="Text 14"/>
          <p:cNvSpPr/>
          <p:nvPr/>
        </p:nvSpPr>
        <p:spPr>
          <a:xfrm>
            <a:off x="685800" y="1792224"/>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7" name="Text 15"/>
          <p:cNvSpPr/>
          <p:nvPr/>
        </p:nvSpPr>
        <p:spPr>
          <a:xfrm>
            <a:off x="1115568" y="1737360"/>
            <a:ext cx="1874520" cy="347472"/>
          </a:xfrm>
          <a:prstGeom prst="rect">
            <a:avLst/>
          </a:prstGeom>
          <a:noFill/>
          <a:ln/>
        </p:spPr>
        <p:txBody>
          <a:bodyPr wrap="square" lIns="0" tIns="0" rIns="0" bIns="0" rtlCol="0" anchor="ctr">
            <a:normAutofit/>
          </a:bodyPr>
          <a:lstStyle/>
          <a:p>
            <a:pPr marL="0" indent="0">
              <a:buNone/>
            </a:pPr>
            <a:r>
              <a:rPr lang="en-US" sz="1400" b="1" dirty="0">
                <a:solidFill>
                  <a:srgbClr val="2E75B6"/>
                </a:solidFill>
                <a:latin typeface="Yu Gothic" pitchFamily="34" charset="0"/>
                <a:ea typeface="Yu Gothic" pitchFamily="34" charset="-122"/>
                <a:cs typeface="Yu Gothic" pitchFamily="34" charset="-120"/>
              </a:rPr>
              <a:t>Glass</a:t>
            </a:r>
            <a:endParaRPr lang="en-US" sz="1400" dirty="0"/>
          </a:p>
        </p:txBody>
      </p:sp>
      <p:sp>
        <p:nvSpPr>
          <p:cNvPr id="18" name="Text 16"/>
          <p:cNvSpPr/>
          <p:nvPr/>
        </p:nvSpPr>
        <p:spPr>
          <a:xfrm>
            <a:off x="3090672" y="1737360"/>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ガラス面</a:t>
            </a:r>
            <a:endParaRPr lang="en-US" sz="1320" dirty="0"/>
          </a:p>
        </p:txBody>
      </p:sp>
      <p:sp>
        <p:nvSpPr>
          <p:cNvPr id="19" name="Shape 17"/>
          <p:cNvSpPr/>
          <p:nvPr/>
        </p:nvSpPr>
        <p:spPr>
          <a:xfrm>
            <a:off x="1097280" y="2130552"/>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20" name="Shape 18"/>
          <p:cNvSpPr/>
          <p:nvPr/>
        </p:nvSpPr>
        <p:spPr>
          <a:xfrm>
            <a:off x="685800" y="2221992"/>
            <a:ext cx="256032" cy="256032"/>
          </a:xfrm>
          <a:prstGeom prst="ellipse">
            <a:avLst/>
          </a:prstGeom>
          <a:solidFill>
            <a:srgbClr val="8064A2"/>
          </a:solidFill>
          <a:ln w="12700">
            <a:solidFill>
              <a:srgbClr val="8064A2"/>
            </a:solidFill>
            <a:prstDash val="solid"/>
          </a:ln>
        </p:spPr>
        <p:txBody>
          <a:bodyPr/>
          <a:lstStyle/>
          <a:p>
            <a:endParaRPr lang="ja-JP" altLang="en-US"/>
          </a:p>
        </p:txBody>
      </p:sp>
      <p:sp>
        <p:nvSpPr>
          <p:cNvPr id="21" name="Text 19"/>
          <p:cNvSpPr/>
          <p:nvPr/>
        </p:nvSpPr>
        <p:spPr>
          <a:xfrm>
            <a:off x="685800" y="2221992"/>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2" name="Text 20"/>
          <p:cNvSpPr/>
          <p:nvPr/>
        </p:nvSpPr>
        <p:spPr>
          <a:xfrm>
            <a:off x="1115568" y="2167128"/>
            <a:ext cx="1874520" cy="347472"/>
          </a:xfrm>
          <a:prstGeom prst="rect">
            <a:avLst/>
          </a:prstGeom>
          <a:noFill/>
          <a:ln/>
        </p:spPr>
        <p:txBody>
          <a:bodyPr wrap="square" lIns="0" tIns="0" rIns="0" bIns="0" rtlCol="0" anchor="ctr">
            <a:normAutofit/>
          </a:bodyPr>
          <a:lstStyle/>
          <a:p>
            <a:pPr marL="0" indent="0">
              <a:buNone/>
            </a:pPr>
            <a:r>
              <a:rPr lang="en-US" sz="1400" b="1" dirty="0">
                <a:solidFill>
                  <a:srgbClr val="8064A2"/>
                </a:solidFill>
                <a:latin typeface="Yu Gothic" pitchFamily="34" charset="0"/>
                <a:ea typeface="Yu Gothic" pitchFamily="34" charset="-122"/>
                <a:cs typeface="Yu Gothic" pitchFamily="34" charset="-120"/>
              </a:rPr>
              <a:t>Mirror</a:t>
            </a:r>
            <a:endParaRPr lang="en-US" sz="1400" dirty="0"/>
          </a:p>
        </p:txBody>
      </p:sp>
      <p:sp>
        <p:nvSpPr>
          <p:cNvPr id="23" name="Text 21"/>
          <p:cNvSpPr/>
          <p:nvPr/>
        </p:nvSpPr>
        <p:spPr>
          <a:xfrm>
            <a:off x="3090672" y="2167128"/>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鏡面</a:t>
            </a:r>
            <a:endParaRPr lang="en-US" sz="1320" dirty="0"/>
          </a:p>
        </p:txBody>
      </p:sp>
      <p:sp>
        <p:nvSpPr>
          <p:cNvPr id="24" name="Shape 22"/>
          <p:cNvSpPr/>
          <p:nvPr/>
        </p:nvSpPr>
        <p:spPr>
          <a:xfrm>
            <a:off x="1097280" y="2560320"/>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25" name="Shape 23"/>
          <p:cNvSpPr/>
          <p:nvPr/>
        </p:nvSpPr>
        <p:spPr>
          <a:xfrm>
            <a:off x="685800" y="2651760"/>
            <a:ext cx="256032" cy="256032"/>
          </a:xfrm>
          <a:prstGeom prst="ellipse">
            <a:avLst/>
          </a:prstGeom>
          <a:solidFill>
            <a:srgbClr val="2A9D8F"/>
          </a:solidFill>
          <a:ln w="12700">
            <a:solidFill>
              <a:srgbClr val="2A9D8F"/>
            </a:solidFill>
            <a:prstDash val="solid"/>
          </a:ln>
        </p:spPr>
        <p:txBody>
          <a:bodyPr/>
          <a:lstStyle/>
          <a:p>
            <a:endParaRPr lang="ja-JP" altLang="en-US"/>
          </a:p>
        </p:txBody>
      </p:sp>
      <p:sp>
        <p:nvSpPr>
          <p:cNvPr id="26" name="Text 24"/>
          <p:cNvSpPr/>
          <p:nvPr/>
        </p:nvSpPr>
        <p:spPr>
          <a:xfrm>
            <a:off x="685800" y="2651760"/>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4</a:t>
            </a:r>
            <a:endParaRPr lang="en-US" sz="1100" dirty="0"/>
          </a:p>
        </p:txBody>
      </p:sp>
      <p:sp>
        <p:nvSpPr>
          <p:cNvPr id="27" name="Text 25"/>
          <p:cNvSpPr/>
          <p:nvPr/>
        </p:nvSpPr>
        <p:spPr>
          <a:xfrm>
            <a:off x="1115568" y="2596896"/>
            <a:ext cx="1874520" cy="347472"/>
          </a:xfrm>
          <a:prstGeom prst="rect">
            <a:avLst/>
          </a:prstGeom>
          <a:noFill/>
          <a:ln/>
        </p:spPr>
        <p:txBody>
          <a:bodyPr wrap="square" lIns="0" tIns="0" rIns="0" bIns="0" rtlCol="0" anchor="ctr">
            <a:normAutofit/>
          </a:bodyPr>
          <a:lstStyle/>
          <a:p>
            <a:pPr marL="0" indent="0">
              <a:buNone/>
            </a:pPr>
            <a:r>
              <a:rPr lang="en-US" sz="1400" b="1" dirty="0">
                <a:solidFill>
                  <a:srgbClr val="2A9D8F"/>
                </a:solidFill>
                <a:latin typeface="Yu Gothic" pitchFamily="34" charset="0"/>
                <a:ea typeface="Yu Gothic" pitchFamily="34" charset="-122"/>
                <a:cs typeface="Yu Gothic" pitchFamily="34" charset="-120"/>
              </a:rPr>
              <a:t>Other reflective</a:t>
            </a:r>
            <a:endParaRPr lang="en-US" sz="1400" dirty="0"/>
          </a:p>
        </p:txBody>
      </p:sp>
      <p:sp>
        <p:nvSpPr>
          <p:cNvPr id="28" name="Text 26"/>
          <p:cNvSpPr/>
          <p:nvPr/>
        </p:nvSpPr>
        <p:spPr>
          <a:xfrm>
            <a:off x="3090672" y="2596896"/>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アクリル、白板、TV、monitor、glazed tile等</a:t>
            </a:r>
            <a:endParaRPr lang="en-US" sz="1320" dirty="0"/>
          </a:p>
        </p:txBody>
      </p:sp>
      <p:sp>
        <p:nvSpPr>
          <p:cNvPr id="29" name="Shape 27"/>
          <p:cNvSpPr/>
          <p:nvPr/>
        </p:nvSpPr>
        <p:spPr>
          <a:xfrm>
            <a:off x="1097280" y="2990088"/>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30" name="Shape 28"/>
          <p:cNvSpPr/>
          <p:nvPr/>
        </p:nvSpPr>
        <p:spPr>
          <a:xfrm>
            <a:off x="685800" y="3081528"/>
            <a:ext cx="256032" cy="256032"/>
          </a:xfrm>
          <a:prstGeom prst="ellipse">
            <a:avLst/>
          </a:prstGeom>
          <a:solidFill>
            <a:srgbClr val="ED7D31"/>
          </a:solidFill>
          <a:ln w="12700">
            <a:solidFill>
              <a:srgbClr val="ED7D31"/>
            </a:solidFill>
            <a:prstDash val="solid"/>
          </a:ln>
        </p:spPr>
        <p:txBody>
          <a:bodyPr/>
          <a:lstStyle/>
          <a:p>
            <a:endParaRPr lang="ja-JP" altLang="en-US"/>
          </a:p>
        </p:txBody>
      </p:sp>
      <p:sp>
        <p:nvSpPr>
          <p:cNvPr id="31" name="Text 29"/>
          <p:cNvSpPr/>
          <p:nvPr/>
        </p:nvSpPr>
        <p:spPr>
          <a:xfrm>
            <a:off x="685800" y="3081528"/>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5</a:t>
            </a:r>
            <a:endParaRPr lang="en-US" sz="1100" dirty="0"/>
          </a:p>
        </p:txBody>
      </p:sp>
      <p:sp>
        <p:nvSpPr>
          <p:cNvPr id="32" name="Text 30"/>
          <p:cNvSpPr/>
          <p:nvPr/>
        </p:nvSpPr>
        <p:spPr>
          <a:xfrm>
            <a:off x="1115568" y="3026664"/>
            <a:ext cx="1874520" cy="347472"/>
          </a:xfrm>
          <a:prstGeom prst="rect">
            <a:avLst/>
          </a:prstGeom>
          <a:noFill/>
          <a:ln/>
        </p:spPr>
        <p:txBody>
          <a:bodyPr wrap="square" lIns="0" tIns="0" rIns="0" bIns="0" rtlCol="0" anchor="ctr">
            <a:normAutofit/>
          </a:bodyPr>
          <a:lstStyle/>
          <a:p>
            <a:pPr marL="0" indent="0">
              <a:buNone/>
            </a:pPr>
            <a:r>
              <a:rPr lang="en-US" sz="1400" b="1" dirty="0">
                <a:solidFill>
                  <a:srgbClr val="ED7D31"/>
                </a:solidFill>
                <a:latin typeface="Yu Gothic" pitchFamily="34" charset="0"/>
                <a:ea typeface="Yu Gothic" pitchFamily="34" charset="-122"/>
                <a:cs typeface="Yu Gothic" pitchFamily="34" charset="-120"/>
              </a:rPr>
              <a:t>Reflection point</a:t>
            </a:r>
            <a:endParaRPr lang="en-US" sz="1400" dirty="0"/>
          </a:p>
        </p:txBody>
      </p:sp>
      <p:sp>
        <p:nvSpPr>
          <p:cNvPr id="33" name="Text 31"/>
          <p:cNvSpPr/>
          <p:nvPr/>
        </p:nvSpPr>
        <p:spPr>
          <a:xfrm>
            <a:off x="3090672" y="3026664"/>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反射経路で生じた虚像点（実在表面ではない）</a:t>
            </a:r>
            <a:endParaRPr lang="en-US" sz="1320" dirty="0"/>
          </a:p>
        </p:txBody>
      </p:sp>
      <p:sp>
        <p:nvSpPr>
          <p:cNvPr id="34" name="Shape 32"/>
          <p:cNvSpPr/>
          <p:nvPr/>
        </p:nvSpPr>
        <p:spPr>
          <a:xfrm>
            <a:off x="1097280" y="3419856"/>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35" name="Shape 33"/>
          <p:cNvSpPr/>
          <p:nvPr/>
        </p:nvSpPr>
        <p:spPr>
          <a:xfrm>
            <a:off x="685800" y="3511296"/>
            <a:ext cx="256032" cy="256032"/>
          </a:xfrm>
          <a:prstGeom prst="ellipse">
            <a:avLst/>
          </a:prstGeom>
          <a:solidFill>
            <a:srgbClr val="C94C4C"/>
          </a:solidFill>
          <a:ln w="12700">
            <a:solidFill>
              <a:srgbClr val="C94C4C"/>
            </a:solidFill>
            <a:prstDash val="solid"/>
          </a:ln>
        </p:spPr>
        <p:txBody>
          <a:bodyPr/>
          <a:lstStyle/>
          <a:p>
            <a:endParaRPr lang="ja-JP" altLang="en-US"/>
          </a:p>
        </p:txBody>
      </p:sp>
      <p:sp>
        <p:nvSpPr>
          <p:cNvPr id="36" name="Text 34"/>
          <p:cNvSpPr/>
          <p:nvPr/>
        </p:nvSpPr>
        <p:spPr>
          <a:xfrm>
            <a:off x="685800" y="3511296"/>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6</a:t>
            </a:r>
            <a:endParaRPr lang="en-US" sz="1100" dirty="0"/>
          </a:p>
        </p:txBody>
      </p:sp>
      <p:sp>
        <p:nvSpPr>
          <p:cNvPr id="37" name="Text 35"/>
          <p:cNvSpPr/>
          <p:nvPr/>
        </p:nvSpPr>
        <p:spPr>
          <a:xfrm>
            <a:off x="1115568" y="3456432"/>
            <a:ext cx="1874520" cy="347472"/>
          </a:xfrm>
          <a:prstGeom prst="rect">
            <a:avLst/>
          </a:prstGeom>
          <a:noFill/>
          <a:ln/>
        </p:spPr>
        <p:txBody>
          <a:bodyPr wrap="square" lIns="0" tIns="0" rIns="0" bIns="0" rtlCol="0" anchor="ctr">
            <a:normAutofit fontScale="92500"/>
          </a:bodyPr>
          <a:lstStyle/>
          <a:p>
            <a:pPr marL="0" indent="0">
              <a:buNone/>
            </a:pPr>
            <a:r>
              <a:rPr lang="en-US" sz="1400" b="1" dirty="0">
                <a:solidFill>
                  <a:srgbClr val="C94C4C"/>
                </a:solidFill>
                <a:latin typeface="Yu Gothic" pitchFamily="34" charset="0"/>
                <a:ea typeface="Yu Gothic" pitchFamily="34" charset="-122"/>
                <a:cs typeface="Yu Gothic" pitchFamily="34" charset="-120"/>
              </a:rPr>
              <a:t>Obstacle behind glass</a:t>
            </a:r>
            <a:endParaRPr lang="en-US" sz="1400" dirty="0"/>
          </a:p>
        </p:txBody>
      </p:sp>
      <p:sp>
        <p:nvSpPr>
          <p:cNvPr id="38" name="Text 36"/>
          <p:cNvSpPr/>
          <p:nvPr/>
        </p:nvSpPr>
        <p:spPr>
          <a:xfrm>
            <a:off x="3090672" y="3456432"/>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透明ガラスを透過して得た背後障害物</a:t>
            </a:r>
            <a:endParaRPr lang="en-US" sz="1320" dirty="0"/>
          </a:p>
        </p:txBody>
      </p:sp>
      <p:sp>
        <p:nvSpPr>
          <p:cNvPr id="39" name="Shape 37"/>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40" name="Shape 38"/>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41" name="Text 3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“6 classes”と説明する場合も、配布ラベルにはID 0（Unlabeled）が含まれる。</a:t>
            </a:r>
            <a:endParaRPr lang="en-US" sz="1450" dirty="0"/>
          </a:p>
        </p:txBody>
      </p:sp>
      <p:sp>
        <p:nvSpPr>
          <p:cNvPr id="42" name="Text 4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 dataset label definition</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48,024点群と3,799画像を、raw・RGB・SemanticKITTI形式で公開する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Dataset scale</a:t>
            </a:r>
            <a:endParaRPr lang="en-US" sz="950" dirty="0"/>
          </a:p>
        </p:txBody>
      </p:sp>
      <p:sp>
        <p:nvSpPr>
          <p:cNvPr id="5" name="Shape 3"/>
          <p:cNvSpPr/>
          <p:nvPr/>
        </p:nvSpPr>
        <p:spPr>
          <a:xfrm>
            <a:off x="658368" y="941832"/>
            <a:ext cx="2240280"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Text 4"/>
          <p:cNvSpPr/>
          <p:nvPr/>
        </p:nvSpPr>
        <p:spPr>
          <a:xfrm>
            <a:off x="731520" y="1051560"/>
            <a:ext cx="2093976" cy="502920"/>
          </a:xfrm>
          <a:prstGeom prst="rect">
            <a:avLst/>
          </a:prstGeom>
          <a:noFill/>
          <a:ln/>
        </p:spPr>
        <p:txBody>
          <a:bodyPr wrap="square" lIns="0" tIns="0" rIns="0" bIns="0" rtlCol="0" anchor="ctr">
            <a:normAutofit/>
          </a:bodyPr>
          <a:lstStyle/>
          <a:p>
            <a:pPr marL="0" indent="0" algn="ctr">
              <a:buNone/>
            </a:pPr>
            <a:r>
              <a:rPr lang="en-US" sz="3100" b="1" dirty="0">
                <a:solidFill>
                  <a:srgbClr val="2E75B6"/>
                </a:solidFill>
                <a:latin typeface="Yu Gothic" pitchFamily="34" charset="0"/>
                <a:ea typeface="Yu Gothic" pitchFamily="34" charset="-122"/>
                <a:cs typeface="Yu Gothic" pitchFamily="34" charset="-120"/>
              </a:rPr>
              <a:t>48,024</a:t>
            </a:r>
            <a:endParaRPr lang="en-US" sz="3100" dirty="0"/>
          </a:p>
        </p:txBody>
      </p:sp>
      <p:sp>
        <p:nvSpPr>
          <p:cNvPr id="7" name="Text 5"/>
          <p:cNvSpPr/>
          <p:nvPr/>
        </p:nvSpPr>
        <p:spPr>
          <a:xfrm>
            <a:off x="749808" y="1600200"/>
            <a:ext cx="20574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labeled point clouds</a:t>
            </a:r>
            <a:endParaRPr lang="en-US" sz="1250" dirty="0"/>
          </a:p>
          <a:p>
            <a:pPr marL="0" indent="0" algn="ctr">
              <a:buNone/>
            </a:pPr>
            <a:r>
              <a:rPr lang="en-US" sz="1250" dirty="0">
                <a:solidFill>
                  <a:srgbClr val="4D5966"/>
                </a:solidFill>
                <a:latin typeface="Yu Gothic" pitchFamily="34" charset="0"/>
                <a:ea typeface="Yu Gothic" pitchFamily="34" charset="-122"/>
                <a:cs typeface="Yu Gothic" pitchFamily="34" charset="-120"/>
              </a:rPr>
              <a:t>= 16,008 × 3 LiDAR</a:t>
            </a:r>
            <a:endParaRPr lang="en-US" sz="1250" dirty="0"/>
          </a:p>
        </p:txBody>
      </p:sp>
      <p:sp>
        <p:nvSpPr>
          <p:cNvPr id="8" name="Shape 6"/>
          <p:cNvSpPr/>
          <p:nvPr/>
        </p:nvSpPr>
        <p:spPr>
          <a:xfrm>
            <a:off x="3127248" y="941832"/>
            <a:ext cx="2011680"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9" name="Text 7"/>
          <p:cNvSpPr/>
          <p:nvPr/>
        </p:nvSpPr>
        <p:spPr>
          <a:xfrm>
            <a:off x="3200400" y="1051560"/>
            <a:ext cx="1865376" cy="502920"/>
          </a:xfrm>
          <a:prstGeom prst="rect">
            <a:avLst/>
          </a:prstGeom>
          <a:noFill/>
          <a:ln/>
        </p:spPr>
        <p:txBody>
          <a:bodyPr wrap="square" lIns="0" tIns="0" rIns="0" bIns="0" rtlCol="0" anchor="ctr">
            <a:normAutofit/>
          </a:bodyPr>
          <a:lstStyle/>
          <a:p>
            <a:pPr marL="0" indent="0" algn="ctr">
              <a:buNone/>
            </a:pPr>
            <a:r>
              <a:rPr lang="en-US" sz="3100" b="1" dirty="0">
                <a:solidFill>
                  <a:srgbClr val="2A9D8F"/>
                </a:solidFill>
                <a:latin typeface="Yu Gothic" pitchFamily="34" charset="0"/>
                <a:ea typeface="Yu Gothic" pitchFamily="34" charset="-122"/>
                <a:cs typeface="Yu Gothic" pitchFamily="34" charset="-120"/>
              </a:rPr>
              <a:t>3,799</a:t>
            </a:r>
            <a:endParaRPr lang="en-US" sz="3100" dirty="0"/>
          </a:p>
        </p:txBody>
      </p:sp>
      <p:sp>
        <p:nvSpPr>
          <p:cNvPr id="10" name="Text 8"/>
          <p:cNvSpPr/>
          <p:nvPr/>
        </p:nvSpPr>
        <p:spPr>
          <a:xfrm>
            <a:off x="3218688" y="1600200"/>
            <a:ext cx="18288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labeled RGB images</a:t>
            </a:r>
            <a:endParaRPr lang="en-US" sz="1250" dirty="0"/>
          </a:p>
        </p:txBody>
      </p:sp>
      <p:sp>
        <p:nvSpPr>
          <p:cNvPr id="11" name="Shape 9"/>
          <p:cNvSpPr/>
          <p:nvPr/>
        </p:nvSpPr>
        <p:spPr>
          <a:xfrm>
            <a:off x="5367528" y="941832"/>
            <a:ext cx="1325880" cy="1389888"/>
          </a:xfrm>
          <a:prstGeom prst="roundRect">
            <a:avLst>
              <a:gd name="adj" fmla="val 3448"/>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Text 10"/>
          <p:cNvSpPr/>
          <p:nvPr/>
        </p:nvSpPr>
        <p:spPr>
          <a:xfrm>
            <a:off x="5440680" y="1051560"/>
            <a:ext cx="1179576" cy="502920"/>
          </a:xfrm>
          <a:prstGeom prst="rect">
            <a:avLst/>
          </a:prstGeom>
          <a:noFill/>
          <a:ln/>
        </p:spPr>
        <p:txBody>
          <a:bodyPr wrap="square" lIns="0" tIns="0" rIns="0" bIns="0" rtlCol="0" anchor="ctr">
            <a:normAutofit/>
          </a:bodyPr>
          <a:lstStyle/>
          <a:p>
            <a:pPr marL="0" indent="0" algn="ctr">
              <a:buNone/>
            </a:pPr>
            <a:r>
              <a:rPr lang="en-US" sz="3100" b="1" dirty="0">
                <a:solidFill>
                  <a:srgbClr val="ED7D31"/>
                </a:solidFill>
                <a:latin typeface="Yu Gothic" pitchFamily="34" charset="0"/>
                <a:ea typeface="Yu Gothic" pitchFamily="34" charset="-122"/>
                <a:cs typeface="Yu Gothic" pitchFamily="34" charset="-120"/>
              </a:rPr>
              <a:t>3</a:t>
            </a:r>
            <a:endParaRPr lang="en-US" sz="3100" dirty="0"/>
          </a:p>
        </p:txBody>
      </p:sp>
      <p:sp>
        <p:nvSpPr>
          <p:cNvPr id="13" name="Text 11"/>
          <p:cNvSpPr/>
          <p:nvPr/>
        </p:nvSpPr>
        <p:spPr>
          <a:xfrm>
            <a:off x="5458968" y="1600200"/>
            <a:ext cx="11430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indoor sequences</a:t>
            </a:r>
            <a:endParaRPr lang="en-US" sz="1250" dirty="0"/>
          </a:p>
        </p:txBody>
      </p:sp>
      <p:sp>
        <p:nvSpPr>
          <p:cNvPr id="14" name="Shape 12"/>
          <p:cNvSpPr/>
          <p:nvPr/>
        </p:nvSpPr>
        <p:spPr>
          <a:xfrm>
            <a:off x="6922008" y="941832"/>
            <a:ext cx="1572768"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Text 13"/>
          <p:cNvSpPr/>
          <p:nvPr/>
        </p:nvSpPr>
        <p:spPr>
          <a:xfrm>
            <a:off x="6995160" y="1051560"/>
            <a:ext cx="1426464" cy="502920"/>
          </a:xfrm>
          <a:prstGeom prst="rect">
            <a:avLst/>
          </a:prstGeom>
          <a:noFill/>
          <a:ln/>
        </p:spPr>
        <p:txBody>
          <a:bodyPr wrap="square" lIns="0" tIns="0" rIns="0" bIns="0" rtlCol="0" anchor="ctr">
            <a:normAutofit/>
          </a:bodyPr>
          <a:lstStyle/>
          <a:p>
            <a:pPr marL="0" indent="0" algn="ctr">
              <a:buNone/>
            </a:pPr>
            <a:r>
              <a:rPr lang="en-US" sz="3100" b="1" dirty="0">
                <a:solidFill>
                  <a:srgbClr val="8064A2"/>
                </a:solidFill>
                <a:latin typeface="Yu Gothic" pitchFamily="34" charset="0"/>
                <a:ea typeface="Yu Gothic" pitchFamily="34" charset="-122"/>
                <a:cs typeface="Yu Gothic" pitchFamily="34" charset="-120"/>
              </a:rPr>
              <a:t>7 IDs</a:t>
            </a:r>
            <a:endParaRPr lang="en-US" sz="3100" dirty="0"/>
          </a:p>
        </p:txBody>
      </p:sp>
      <p:sp>
        <p:nvSpPr>
          <p:cNvPr id="16" name="Text 14"/>
          <p:cNvSpPr/>
          <p:nvPr/>
        </p:nvSpPr>
        <p:spPr>
          <a:xfrm>
            <a:off x="7013448" y="1600200"/>
            <a:ext cx="1389888"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0 unlabeled + 6 classes</a:t>
            </a:r>
            <a:endParaRPr lang="en-US" sz="1250" dirty="0"/>
          </a:p>
        </p:txBody>
      </p:sp>
      <p:sp>
        <p:nvSpPr>
          <p:cNvPr id="17" name="Shape 15"/>
          <p:cNvSpPr/>
          <p:nvPr/>
        </p:nvSpPr>
        <p:spPr>
          <a:xfrm>
            <a:off x="658368" y="2615184"/>
            <a:ext cx="1565453" cy="259690"/>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85800" y="2633472"/>
            <a:ext cx="1510589"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Package</a:t>
            </a:r>
            <a:endParaRPr lang="en-US" sz="1150" dirty="0"/>
          </a:p>
        </p:txBody>
      </p:sp>
      <p:sp>
        <p:nvSpPr>
          <p:cNvPr id="19" name="Shape 17"/>
          <p:cNvSpPr/>
          <p:nvPr/>
        </p:nvSpPr>
        <p:spPr>
          <a:xfrm>
            <a:off x="2223821" y="2615184"/>
            <a:ext cx="4070177" cy="259690"/>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2251253" y="2633472"/>
            <a:ext cx="4015313"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Contents</a:t>
            </a:r>
            <a:endParaRPr lang="en-US" sz="1150" dirty="0"/>
          </a:p>
        </p:txBody>
      </p:sp>
      <p:sp>
        <p:nvSpPr>
          <p:cNvPr id="21" name="Shape 19"/>
          <p:cNvSpPr/>
          <p:nvPr/>
        </p:nvSpPr>
        <p:spPr>
          <a:xfrm>
            <a:off x="6293998" y="2615184"/>
            <a:ext cx="2191634" cy="259690"/>
          </a:xfrm>
          <a:prstGeom prst="rect">
            <a:avLst/>
          </a:prstGeom>
          <a:solidFill>
            <a:srgbClr val="17365D"/>
          </a:solidFill>
          <a:ln w="12700">
            <a:solidFill>
              <a:srgbClr val="FFFFFF"/>
            </a:solidFill>
            <a:prstDash val="solid"/>
          </a:ln>
        </p:spPr>
        <p:txBody>
          <a:bodyPr/>
          <a:lstStyle/>
          <a:p>
            <a:endParaRPr lang="ja-JP" altLang="en-US"/>
          </a:p>
        </p:txBody>
      </p:sp>
      <p:sp>
        <p:nvSpPr>
          <p:cNvPr id="22" name="Text 20"/>
          <p:cNvSpPr/>
          <p:nvPr/>
        </p:nvSpPr>
        <p:spPr>
          <a:xfrm>
            <a:off x="6321430" y="2633472"/>
            <a:ext cx="2136770"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Purpose</a:t>
            </a:r>
            <a:endParaRPr lang="en-US" sz="1150" dirty="0"/>
          </a:p>
        </p:txBody>
      </p:sp>
      <p:sp>
        <p:nvSpPr>
          <p:cNvPr id="23" name="Shape 21"/>
          <p:cNvSpPr/>
          <p:nvPr/>
        </p:nvSpPr>
        <p:spPr>
          <a:xfrm>
            <a:off x="658368" y="2874874"/>
            <a:ext cx="1565453" cy="259690"/>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685800" y="2893162"/>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Raw</a:t>
            </a:r>
            <a:endParaRPr lang="en-US" sz="1020" dirty="0"/>
          </a:p>
        </p:txBody>
      </p:sp>
      <p:sp>
        <p:nvSpPr>
          <p:cNvPr id="25" name="Shape 23"/>
          <p:cNvSpPr/>
          <p:nvPr/>
        </p:nvSpPr>
        <p:spPr>
          <a:xfrm>
            <a:off x="2223821" y="2874874"/>
            <a:ext cx="4070177" cy="259690"/>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251253" y="2893162"/>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poses, images, meshes, calibration, labeled clouds</a:t>
            </a:r>
            <a:endParaRPr lang="en-US" sz="1020" dirty="0"/>
          </a:p>
        </p:txBody>
      </p:sp>
      <p:sp>
        <p:nvSpPr>
          <p:cNvPr id="27" name="Shape 25"/>
          <p:cNvSpPr/>
          <p:nvPr/>
        </p:nvSpPr>
        <p:spPr>
          <a:xfrm>
            <a:off x="6293998" y="2874874"/>
            <a:ext cx="2191634" cy="259690"/>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6321430" y="2893162"/>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再現・再処理</a:t>
            </a:r>
            <a:endParaRPr lang="en-US" sz="1020" dirty="0"/>
          </a:p>
        </p:txBody>
      </p:sp>
      <p:sp>
        <p:nvSpPr>
          <p:cNvPr id="29" name="Shape 27"/>
          <p:cNvSpPr/>
          <p:nvPr/>
        </p:nvSpPr>
        <p:spPr>
          <a:xfrm>
            <a:off x="658368" y="3134563"/>
            <a:ext cx="1565453" cy="259690"/>
          </a:xfrm>
          <a:prstGeom prst="rect">
            <a:avLst/>
          </a:prstGeom>
          <a:solidFill>
            <a:srgbClr val="F5F7FA"/>
          </a:solidFill>
          <a:ln w="12700">
            <a:solidFill>
              <a:srgbClr val="D5DCE3"/>
            </a:solidFill>
            <a:prstDash val="solid"/>
          </a:ln>
        </p:spPr>
        <p:txBody>
          <a:bodyPr/>
          <a:lstStyle/>
          <a:p>
            <a:endParaRPr lang="ja-JP" altLang="en-US"/>
          </a:p>
        </p:txBody>
      </p:sp>
      <p:sp>
        <p:nvSpPr>
          <p:cNvPr id="30" name="Text 28"/>
          <p:cNvSpPr/>
          <p:nvPr/>
        </p:nvSpPr>
        <p:spPr>
          <a:xfrm>
            <a:off x="685800" y="3152851"/>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31" name="Shape 29"/>
          <p:cNvSpPr/>
          <p:nvPr/>
        </p:nvSpPr>
        <p:spPr>
          <a:xfrm>
            <a:off x="2223821" y="3134563"/>
            <a:ext cx="4070177" cy="259690"/>
          </a:xfrm>
          <a:prstGeom prst="rect">
            <a:avLst/>
          </a:prstGeom>
          <a:solidFill>
            <a:srgbClr val="F5F7FA"/>
          </a:solidFill>
          <a:ln w="12700">
            <a:solidFill>
              <a:srgbClr val="D5DCE3"/>
            </a:solidFill>
            <a:prstDash val="solid"/>
          </a:ln>
        </p:spPr>
        <p:txBody>
          <a:bodyPr/>
          <a:lstStyle/>
          <a:p>
            <a:endParaRPr lang="ja-JP" altLang="en-US"/>
          </a:p>
        </p:txBody>
      </p:sp>
      <p:sp>
        <p:nvSpPr>
          <p:cNvPr id="32" name="Text 30"/>
          <p:cNvSpPr/>
          <p:nvPr/>
        </p:nvSpPr>
        <p:spPr>
          <a:xfrm>
            <a:off x="2251253" y="3152851"/>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 / mirror / other / all masks, train/test</a:t>
            </a:r>
            <a:endParaRPr lang="en-US" sz="1020" dirty="0"/>
          </a:p>
        </p:txBody>
      </p:sp>
      <p:sp>
        <p:nvSpPr>
          <p:cNvPr id="33" name="Shape 31"/>
          <p:cNvSpPr/>
          <p:nvPr/>
        </p:nvSpPr>
        <p:spPr>
          <a:xfrm>
            <a:off x="6293998" y="3134563"/>
            <a:ext cx="2191634" cy="259690"/>
          </a:xfrm>
          <a:prstGeom prst="rect">
            <a:avLst/>
          </a:prstGeom>
          <a:solidFill>
            <a:srgbClr val="F5F7FA"/>
          </a:solidFill>
          <a:ln w="12700">
            <a:solidFill>
              <a:srgbClr val="D5DCE3"/>
            </a:solidFill>
            <a:prstDash val="solid"/>
          </a:ln>
        </p:spPr>
        <p:txBody>
          <a:bodyPr/>
          <a:lstStyle/>
          <a:p>
            <a:endParaRPr lang="ja-JP" altLang="en-US"/>
          </a:p>
        </p:txBody>
      </p:sp>
      <p:sp>
        <p:nvSpPr>
          <p:cNvPr id="34" name="Text 32"/>
          <p:cNvSpPr/>
          <p:nvPr/>
        </p:nvSpPr>
        <p:spPr>
          <a:xfrm>
            <a:off x="6321430" y="3152851"/>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2D benchmark</a:t>
            </a:r>
            <a:endParaRPr lang="en-US" sz="1020" dirty="0"/>
          </a:p>
        </p:txBody>
      </p:sp>
      <p:sp>
        <p:nvSpPr>
          <p:cNvPr id="35" name="Shape 33"/>
          <p:cNvSpPr/>
          <p:nvPr/>
        </p:nvSpPr>
        <p:spPr>
          <a:xfrm>
            <a:off x="658368" y="3394253"/>
            <a:ext cx="1565453" cy="259690"/>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685800" y="3412541"/>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SemanticKITTI</a:t>
            </a:r>
            <a:endParaRPr lang="en-US" sz="1020" dirty="0"/>
          </a:p>
        </p:txBody>
      </p:sp>
      <p:sp>
        <p:nvSpPr>
          <p:cNvPr id="37" name="Shape 35"/>
          <p:cNvSpPr/>
          <p:nvPr/>
        </p:nvSpPr>
        <p:spPr>
          <a:xfrm>
            <a:off x="2223821" y="3394253"/>
            <a:ext cx="4070177" cy="259690"/>
          </a:xfrm>
          <a:prstGeom prst="rect">
            <a:avLst/>
          </a:prstGeom>
          <a:solidFill>
            <a:srgbClr val="FFFFFF"/>
          </a:solidFill>
          <a:ln w="12700">
            <a:solidFill>
              <a:srgbClr val="D5DCE3"/>
            </a:solidFill>
            <a:prstDash val="solid"/>
          </a:ln>
        </p:spPr>
        <p:txBody>
          <a:bodyPr/>
          <a:lstStyle/>
          <a:p>
            <a:endParaRPr lang="ja-JP" altLang="en-US"/>
          </a:p>
        </p:txBody>
      </p:sp>
      <p:sp>
        <p:nvSpPr>
          <p:cNvPr id="38" name="Text 36"/>
          <p:cNvSpPr/>
          <p:nvPr/>
        </p:nvSpPr>
        <p:spPr>
          <a:xfrm>
            <a:off x="2251253" y="3412541"/>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XYZI (4ch), XYZIR (5ch)</a:t>
            </a:r>
            <a:endParaRPr lang="en-US" sz="1020" dirty="0"/>
          </a:p>
        </p:txBody>
      </p:sp>
      <p:sp>
        <p:nvSpPr>
          <p:cNvPr id="39" name="Shape 37"/>
          <p:cNvSpPr/>
          <p:nvPr/>
        </p:nvSpPr>
        <p:spPr>
          <a:xfrm>
            <a:off x="6293998" y="3394253"/>
            <a:ext cx="2191634" cy="259690"/>
          </a:xfrm>
          <a:prstGeom prst="rect">
            <a:avLst/>
          </a:prstGeom>
          <a:solidFill>
            <a:srgbClr val="FFFFFF"/>
          </a:solidFill>
          <a:ln w="12700">
            <a:solidFill>
              <a:srgbClr val="D5DCE3"/>
            </a:solidFill>
            <a:prstDash val="solid"/>
          </a:ln>
        </p:spPr>
        <p:txBody>
          <a:bodyPr/>
          <a:lstStyle/>
          <a:p>
            <a:endParaRPr lang="ja-JP" altLang="en-US"/>
          </a:p>
        </p:txBody>
      </p:sp>
      <p:sp>
        <p:nvSpPr>
          <p:cNvPr id="40" name="Text 38"/>
          <p:cNvSpPr/>
          <p:nvPr/>
        </p:nvSpPr>
        <p:spPr>
          <a:xfrm>
            <a:off x="6321430" y="3412541"/>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3D segmentation</a:t>
            </a:r>
            <a:endParaRPr lang="en-US" sz="1020" dirty="0"/>
          </a:p>
        </p:txBody>
      </p:sp>
      <p:sp>
        <p:nvSpPr>
          <p:cNvPr id="41" name="Shape 39"/>
          <p:cNvSpPr/>
          <p:nvPr/>
        </p:nvSpPr>
        <p:spPr>
          <a:xfrm>
            <a:off x="658368" y="3653942"/>
            <a:ext cx="1565453" cy="259690"/>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685800" y="3672230"/>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Scripts / Networks</a:t>
            </a:r>
            <a:endParaRPr lang="en-US" sz="1020" dirty="0"/>
          </a:p>
        </p:txBody>
      </p:sp>
      <p:sp>
        <p:nvSpPr>
          <p:cNvPr id="43" name="Shape 41"/>
          <p:cNvSpPr/>
          <p:nvPr/>
        </p:nvSpPr>
        <p:spPr>
          <a:xfrm>
            <a:off x="2223821" y="3653942"/>
            <a:ext cx="4070177" cy="259690"/>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2251253" y="3672230"/>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ray tracing, stats, eval, code/weights</a:t>
            </a:r>
            <a:endParaRPr lang="en-US" sz="1020" dirty="0"/>
          </a:p>
        </p:txBody>
      </p:sp>
      <p:sp>
        <p:nvSpPr>
          <p:cNvPr id="45" name="Shape 43"/>
          <p:cNvSpPr/>
          <p:nvPr/>
        </p:nvSpPr>
        <p:spPr>
          <a:xfrm>
            <a:off x="6293998" y="3653942"/>
            <a:ext cx="2191634" cy="259690"/>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6321430" y="3672230"/>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再現性</a:t>
            </a:r>
            <a:endParaRPr lang="en-US" sz="1020" dirty="0"/>
          </a:p>
        </p:txBody>
      </p:sp>
      <p:sp>
        <p:nvSpPr>
          <p:cNvPr id="47" name="Shape 45"/>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48" name="Shape 46"/>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49" name="Text 47"/>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点群数は3 LiDARの同時系列を含むため、独立scene数ではなくframe×sensor数として解釈する。</a:t>
            </a:r>
            <a:endParaRPr lang="en-US" sz="1450" dirty="0"/>
          </a:p>
        </p:txBody>
      </p:sp>
      <p:sp>
        <p:nvSpPr>
          <p:cNvPr id="50" name="Text 4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3.3; project release structure</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class分布はLiDAR機種とsequenceに大きく依存する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Dataset analysis</a:t>
            </a:r>
            <a:endParaRPr lang="en-US" sz="950" dirty="0"/>
          </a:p>
        </p:txBody>
      </p:sp>
      <p:graphicFrame>
        <p:nvGraphicFramePr>
          <p:cNvPr id="5" name="Chart 0"/>
          <p:cNvGraphicFramePr/>
          <p:nvPr/>
        </p:nvGraphicFramePr>
        <p:xfrm>
          <a:off x="530352" y="932688"/>
          <a:ext cx="5623560" cy="2980944"/>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6355080" y="950976"/>
            <a:ext cx="2157984" cy="107899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6355080" y="950976"/>
            <a:ext cx="50292" cy="1078992"/>
          </a:xfrm>
          <a:prstGeom prst="rect">
            <a:avLst/>
          </a:prstGeom>
          <a:solidFill>
            <a:srgbClr val="ED7D31"/>
          </a:solidFill>
          <a:ln w="12700">
            <a:solidFill>
              <a:srgbClr val="ED7D31"/>
            </a:solidFill>
            <a:prstDash val="solid"/>
          </a:ln>
        </p:spPr>
        <p:txBody>
          <a:bodyPr/>
          <a:lstStyle/>
          <a:p>
            <a:endParaRPr lang="ja-JP" altLang="en-US"/>
          </a:p>
        </p:txBody>
      </p:sp>
      <p:sp>
        <p:nvSpPr>
          <p:cNvPr id="8" name="Text 5"/>
          <p:cNvSpPr/>
          <p:nvPr/>
        </p:nvSpPr>
        <p:spPr>
          <a:xfrm>
            <a:off x="6519672" y="1024128"/>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 Seq.1</a:t>
            </a:r>
            <a:endParaRPr lang="en-US" sz="1600" dirty="0"/>
          </a:p>
        </p:txBody>
      </p:sp>
      <p:sp>
        <p:nvSpPr>
          <p:cNvPr id="9" name="Text 6"/>
          <p:cNvSpPr/>
          <p:nvPr/>
        </p:nvSpPr>
        <p:spPr>
          <a:xfrm>
            <a:off x="6519672" y="1371600"/>
            <a:ext cx="1883664" cy="566928"/>
          </a:xfrm>
          <a:prstGeom prst="rect">
            <a:avLst/>
          </a:prstGeom>
          <a:noFill/>
          <a:ln/>
        </p:spPr>
        <p:txBody>
          <a:bodyPr wrap="square" lIns="12700" tIns="0" rIns="0" bIns="25400" rtlCol="0" anchor="t">
            <a:normAutofit/>
          </a:bodyPr>
          <a:lstStyle/>
          <a:p>
            <a:pPr marL="0" indent="0">
              <a:buNone/>
            </a:pPr>
            <a:r>
              <a:rPr lang="en-US" sz="1350" dirty="0">
                <a:solidFill>
                  <a:srgbClr val="4D5966"/>
                </a:solidFill>
                <a:latin typeface="Yu Gothic" pitchFamily="34" charset="0"/>
                <a:ea typeface="Yu Gothic" pitchFamily="34" charset="-122"/>
                <a:cs typeface="Yu Gothic" pitchFamily="34" charset="-120"/>
              </a:rPr>
              <a:t>Reflection 29.22%</a:t>
            </a:r>
            <a:endParaRPr lang="en-US" sz="1350" dirty="0"/>
          </a:p>
          <a:p>
            <a:pPr marL="0" indent="0">
              <a:buNone/>
            </a:pPr>
            <a:r>
              <a:rPr lang="en-US" sz="1350" dirty="0">
                <a:solidFill>
                  <a:srgbClr val="4D5966"/>
                </a:solidFill>
                <a:latin typeface="Yu Gothic" pitchFamily="34" charset="0"/>
                <a:ea typeface="Yu Gothic" pitchFamily="34" charset="-122"/>
                <a:cs typeface="Yu Gothic" pitchFamily="34" charset="-120"/>
              </a:rPr>
              <a:t>Obstacle 7.62%</a:t>
            </a:r>
            <a:endParaRPr lang="en-US" sz="1350" dirty="0"/>
          </a:p>
        </p:txBody>
      </p:sp>
      <p:sp>
        <p:nvSpPr>
          <p:cNvPr id="10" name="Shape 7"/>
          <p:cNvSpPr/>
          <p:nvPr/>
        </p:nvSpPr>
        <p:spPr>
          <a:xfrm>
            <a:off x="6355080" y="2267712"/>
            <a:ext cx="2157984" cy="1078992"/>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6355080" y="2267712"/>
            <a:ext cx="50292" cy="1078992"/>
          </a:xfrm>
          <a:prstGeom prst="rect">
            <a:avLst/>
          </a:prstGeom>
          <a:solidFill>
            <a:srgbClr val="C94C4C"/>
          </a:solidFill>
          <a:ln w="12700">
            <a:solidFill>
              <a:srgbClr val="C94C4C"/>
            </a:solidFill>
            <a:prstDash val="solid"/>
          </a:ln>
        </p:spPr>
        <p:txBody>
          <a:bodyPr/>
          <a:lstStyle/>
          <a:p>
            <a:endParaRPr lang="ja-JP" altLang="en-US"/>
          </a:p>
        </p:txBody>
      </p:sp>
      <p:sp>
        <p:nvSpPr>
          <p:cNvPr id="12" name="Text 9"/>
          <p:cNvSpPr/>
          <p:nvPr/>
        </p:nvSpPr>
        <p:spPr>
          <a:xfrm>
            <a:off x="6519672" y="2340864"/>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 Seq.3</a:t>
            </a:r>
            <a:endParaRPr lang="en-US" sz="1600" dirty="0"/>
          </a:p>
        </p:txBody>
      </p:sp>
      <p:sp>
        <p:nvSpPr>
          <p:cNvPr id="13" name="Text 10"/>
          <p:cNvSpPr/>
          <p:nvPr/>
        </p:nvSpPr>
        <p:spPr>
          <a:xfrm>
            <a:off x="6519672" y="2688336"/>
            <a:ext cx="1883664" cy="566928"/>
          </a:xfrm>
          <a:prstGeom prst="rect">
            <a:avLst/>
          </a:prstGeom>
          <a:noFill/>
          <a:ln/>
        </p:spPr>
        <p:txBody>
          <a:bodyPr wrap="square" lIns="12700" tIns="0" rIns="0" bIns="25400" rtlCol="0" anchor="t">
            <a:normAutofit/>
          </a:bodyPr>
          <a:lstStyle/>
          <a:p>
            <a:pPr marL="0" indent="0">
              <a:buNone/>
            </a:pPr>
            <a:r>
              <a:rPr lang="en-US" sz="1350" dirty="0">
                <a:solidFill>
                  <a:srgbClr val="4D5966"/>
                </a:solidFill>
                <a:latin typeface="Yu Gothic" pitchFamily="34" charset="0"/>
                <a:ea typeface="Yu Gothic" pitchFamily="34" charset="-122"/>
                <a:cs typeface="Yu Gothic" pitchFamily="34" charset="-120"/>
              </a:rPr>
              <a:t>Reflection 14.34%</a:t>
            </a:r>
            <a:endParaRPr lang="en-US" sz="1350" dirty="0"/>
          </a:p>
          <a:p>
            <a:pPr marL="0" indent="0">
              <a:buNone/>
            </a:pPr>
            <a:r>
              <a:rPr lang="en-US" sz="1350" dirty="0">
                <a:solidFill>
                  <a:srgbClr val="4D5966"/>
                </a:solidFill>
                <a:latin typeface="Yu Gothic" pitchFamily="34" charset="0"/>
                <a:ea typeface="Yu Gothic" pitchFamily="34" charset="-122"/>
                <a:cs typeface="Yu Gothic" pitchFamily="34" charset="-120"/>
              </a:rPr>
              <a:t>Obstacle 19.28%</a:t>
            </a:r>
            <a:endParaRPr lang="en-US" sz="1350" dirty="0"/>
          </a:p>
        </p:txBody>
      </p:sp>
      <p:sp>
        <p:nvSpPr>
          <p:cNvPr id="14" name="Shape 11"/>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5" name="Shape 12"/>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6" name="Text 13"/>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モデル比較だけでなく、sensor-specific return policyとclass priorの影響を考える必要がある。</a:t>
            </a:r>
            <a:endParaRPr lang="en-US" sz="1450" dirty="0"/>
          </a:p>
        </p:txBody>
      </p:sp>
      <p:sp>
        <p:nvSpPr>
          <p:cNvPr id="17" name="Text 14"/>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3（抜粋）</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late returnはReflection / Obstacleに選択的だが、完全な識別子ではない</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Multi-return</a:t>
            </a:r>
            <a:endParaRPr lang="en-US" sz="950" dirty="0"/>
          </a:p>
        </p:txBody>
      </p:sp>
      <p:sp>
        <p:nvSpPr>
          <p:cNvPr id="5" name="Shape 3"/>
          <p:cNvSpPr/>
          <p:nvPr/>
        </p:nvSpPr>
        <p:spPr>
          <a:xfrm>
            <a:off x="658368" y="932688"/>
            <a:ext cx="1747236" cy="415399"/>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685800" y="950976"/>
            <a:ext cx="1692372"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Class</a:t>
            </a:r>
            <a:endParaRPr lang="en-US" sz="1150" dirty="0"/>
          </a:p>
        </p:txBody>
      </p:sp>
      <p:sp>
        <p:nvSpPr>
          <p:cNvPr id="7" name="Shape 5"/>
          <p:cNvSpPr/>
          <p:nvPr/>
        </p:nvSpPr>
        <p:spPr>
          <a:xfrm>
            <a:off x="2405604"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2433036"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1st return</a:t>
            </a:r>
            <a:endParaRPr lang="en-US" sz="1150" dirty="0"/>
          </a:p>
        </p:txBody>
      </p:sp>
      <p:sp>
        <p:nvSpPr>
          <p:cNvPr id="9" name="Shape 7"/>
          <p:cNvSpPr/>
          <p:nvPr/>
        </p:nvSpPr>
        <p:spPr>
          <a:xfrm>
            <a:off x="3536168"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3563600"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2nd return</a:t>
            </a:r>
            <a:endParaRPr lang="en-US" sz="1150" dirty="0"/>
          </a:p>
        </p:txBody>
      </p:sp>
      <p:sp>
        <p:nvSpPr>
          <p:cNvPr id="11" name="Shape 9"/>
          <p:cNvSpPr/>
          <p:nvPr/>
        </p:nvSpPr>
        <p:spPr>
          <a:xfrm>
            <a:off x="4666732"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4694164"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3rd return</a:t>
            </a:r>
            <a:endParaRPr lang="en-US" sz="1150" dirty="0"/>
          </a:p>
        </p:txBody>
      </p:sp>
      <p:sp>
        <p:nvSpPr>
          <p:cNvPr id="13" name="Shape 11"/>
          <p:cNvSpPr/>
          <p:nvPr/>
        </p:nvSpPr>
        <p:spPr>
          <a:xfrm>
            <a:off x="658368" y="1348087"/>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14" name="Text 12"/>
          <p:cNvSpPr/>
          <p:nvPr/>
        </p:nvSpPr>
        <p:spPr>
          <a:xfrm>
            <a:off x="685800" y="1366375"/>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Normal</a:t>
            </a:r>
            <a:endParaRPr lang="en-US" sz="1130" dirty="0"/>
          </a:p>
        </p:txBody>
      </p:sp>
      <p:sp>
        <p:nvSpPr>
          <p:cNvPr id="15" name="Shape 13"/>
          <p:cNvSpPr/>
          <p:nvPr/>
        </p:nvSpPr>
        <p:spPr>
          <a:xfrm>
            <a:off x="2405604"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16" name="Text 14"/>
          <p:cNvSpPr/>
          <p:nvPr/>
        </p:nvSpPr>
        <p:spPr>
          <a:xfrm>
            <a:off x="2433036"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99.02</a:t>
            </a:r>
            <a:endParaRPr lang="en-US" sz="1130" dirty="0"/>
          </a:p>
        </p:txBody>
      </p:sp>
      <p:sp>
        <p:nvSpPr>
          <p:cNvPr id="17" name="Shape 15"/>
          <p:cNvSpPr/>
          <p:nvPr/>
        </p:nvSpPr>
        <p:spPr>
          <a:xfrm>
            <a:off x="3536168"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18" name="Text 16"/>
          <p:cNvSpPr/>
          <p:nvPr/>
        </p:nvSpPr>
        <p:spPr>
          <a:xfrm>
            <a:off x="3563600"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0.97</a:t>
            </a:r>
            <a:endParaRPr lang="en-US" sz="1130" dirty="0"/>
          </a:p>
        </p:txBody>
      </p:sp>
      <p:sp>
        <p:nvSpPr>
          <p:cNvPr id="19" name="Shape 17"/>
          <p:cNvSpPr/>
          <p:nvPr/>
        </p:nvSpPr>
        <p:spPr>
          <a:xfrm>
            <a:off x="4666732"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20" name="Text 18"/>
          <p:cNvSpPr/>
          <p:nvPr/>
        </p:nvSpPr>
        <p:spPr>
          <a:xfrm>
            <a:off x="4694164"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0.01</a:t>
            </a:r>
            <a:endParaRPr lang="en-US" sz="1130" dirty="0"/>
          </a:p>
        </p:txBody>
      </p:sp>
      <p:sp>
        <p:nvSpPr>
          <p:cNvPr id="21" name="Shape 19"/>
          <p:cNvSpPr/>
          <p:nvPr/>
        </p:nvSpPr>
        <p:spPr>
          <a:xfrm>
            <a:off x="658368" y="1763486"/>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22" name="Text 20"/>
          <p:cNvSpPr/>
          <p:nvPr/>
        </p:nvSpPr>
        <p:spPr>
          <a:xfrm>
            <a:off x="685800" y="1781774"/>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Glass</a:t>
            </a:r>
            <a:endParaRPr lang="en-US" sz="1130" dirty="0"/>
          </a:p>
        </p:txBody>
      </p:sp>
      <p:sp>
        <p:nvSpPr>
          <p:cNvPr id="23" name="Shape 21"/>
          <p:cNvSpPr/>
          <p:nvPr/>
        </p:nvSpPr>
        <p:spPr>
          <a:xfrm>
            <a:off x="2405604"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4" name="Text 22"/>
          <p:cNvSpPr/>
          <p:nvPr/>
        </p:nvSpPr>
        <p:spPr>
          <a:xfrm>
            <a:off x="2433036"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99.61</a:t>
            </a:r>
            <a:endParaRPr lang="en-US" sz="1130" dirty="0"/>
          </a:p>
        </p:txBody>
      </p:sp>
      <p:sp>
        <p:nvSpPr>
          <p:cNvPr id="25" name="Shape 23"/>
          <p:cNvSpPr/>
          <p:nvPr/>
        </p:nvSpPr>
        <p:spPr>
          <a:xfrm>
            <a:off x="3536168"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6" name="Text 24"/>
          <p:cNvSpPr/>
          <p:nvPr/>
        </p:nvSpPr>
        <p:spPr>
          <a:xfrm>
            <a:off x="3563600"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0.39</a:t>
            </a:r>
            <a:endParaRPr lang="en-US" sz="1130" dirty="0"/>
          </a:p>
        </p:txBody>
      </p:sp>
      <p:sp>
        <p:nvSpPr>
          <p:cNvPr id="27" name="Shape 25"/>
          <p:cNvSpPr/>
          <p:nvPr/>
        </p:nvSpPr>
        <p:spPr>
          <a:xfrm>
            <a:off x="4666732"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8" name="Text 26"/>
          <p:cNvSpPr/>
          <p:nvPr/>
        </p:nvSpPr>
        <p:spPr>
          <a:xfrm>
            <a:off x="4694164"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29" name="Shape 27"/>
          <p:cNvSpPr/>
          <p:nvPr/>
        </p:nvSpPr>
        <p:spPr>
          <a:xfrm>
            <a:off x="658368" y="2178885"/>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685800" y="2197173"/>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Mirror</a:t>
            </a:r>
            <a:endParaRPr lang="en-US" sz="1130" dirty="0"/>
          </a:p>
        </p:txBody>
      </p:sp>
      <p:sp>
        <p:nvSpPr>
          <p:cNvPr id="31" name="Shape 29"/>
          <p:cNvSpPr/>
          <p:nvPr/>
        </p:nvSpPr>
        <p:spPr>
          <a:xfrm>
            <a:off x="2405604"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2433036"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98.74</a:t>
            </a:r>
            <a:endParaRPr lang="en-US" sz="1130" dirty="0"/>
          </a:p>
        </p:txBody>
      </p:sp>
      <p:sp>
        <p:nvSpPr>
          <p:cNvPr id="33" name="Shape 31"/>
          <p:cNvSpPr/>
          <p:nvPr/>
        </p:nvSpPr>
        <p:spPr>
          <a:xfrm>
            <a:off x="3536168"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3563600"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1.26</a:t>
            </a:r>
            <a:endParaRPr lang="en-US" sz="1130" dirty="0"/>
          </a:p>
        </p:txBody>
      </p:sp>
      <p:sp>
        <p:nvSpPr>
          <p:cNvPr id="35" name="Shape 33"/>
          <p:cNvSpPr/>
          <p:nvPr/>
        </p:nvSpPr>
        <p:spPr>
          <a:xfrm>
            <a:off x="4666732"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694164"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37" name="Shape 35"/>
          <p:cNvSpPr/>
          <p:nvPr/>
        </p:nvSpPr>
        <p:spPr>
          <a:xfrm>
            <a:off x="658368" y="2594283"/>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685800" y="2612571"/>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Other reflective</a:t>
            </a:r>
            <a:endParaRPr lang="en-US" sz="1130" dirty="0"/>
          </a:p>
        </p:txBody>
      </p:sp>
      <p:sp>
        <p:nvSpPr>
          <p:cNvPr id="39" name="Shape 37"/>
          <p:cNvSpPr/>
          <p:nvPr/>
        </p:nvSpPr>
        <p:spPr>
          <a:xfrm>
            <a:off x="2405604"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2433036"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99.82</a:t>
            </a:r>
            <a:endParaRPr lang="en-US" sz="1130" dirty="0"/>
          </a:p>
        </p:txBody>
      </p:sp>
      <p:sp>
        <p:nvSpPr>
          <p:cNvPr id="41" name="Shape 39"/>
          <p:cNvSpPr/>
          <p:nvPr/>
        </p:nvSpPr>
        <p:spPr>
          <a:xfrm>
            <a:off x="3536168"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3563600"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0.18</a:t>
            </a:r>
            <a:endParaRPr lang="en-US" sz="1130" dirty="0"/>
          </a:p>
        </p:txBody>
      </p:sp>
      <p:sp>
        <p:nvSpPr>
          <p:cNvPr id="43" name="Shape 41"/>
          <p:cNvSpPr/>
          <p:nvPr/>
        </p:nvSpPr>
        <p:spPr>
          <a:xfrm>
            <a:off x="4666732"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4694164"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45" name="Shape 43"/>
          <p:cNvSpPr/>
          <p:nvPr/>
        </p:nvSpPr>
        <p:spPr>
          <a:xfrm>
            <a:off x="658368" y="3009682"/>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46" name="Text 44"/>
          <p:cNvSpPr/>
          <p:nvPr/>
        </p:nvSpPr>
        <p:spPr>
          <a:xfrm>
            <a:off x="685800" y="3027970"/>
            <a:ext cx="1692372" cy="378823"/>
          </a:xfrm>
          <a:prstGeom prst="rect">
            <a:avLst/>
          </a:prstGeom>
          <a:noFill/>
          <a:ln/>
        </p:spPr>
        <p:txBody>
          <a:bodyPr wrap="square" lIns="0" tIns="0" rIns="0" bIns="0" rtlCol="0" anchor="ctr">
            <a:normAutofit/>
          </a:bodyPr>
          <a:lstStyle/>
          <a:p>
            <a:pPr marL="0" indent="0" algn="l">
              <a:buNone/>
            </a:pPr>
            <a:r>
              <a:rPr lang="en-US" sz="1130" b="1" dirty="0">
                <a:solidFill>
                  <a:srgbClr val="ED7D31"/>
                </a:solidFill>
                <a:latin typeface="Yu Gothic" pitchFamily="34" charset="0"/>
                <a:ea typeface="Yu Gothic" pitchFamily="34" charset="-122"/>
                <a:cs typeface="Yu Gothic" pitchFamily="34" charset="-120"/>
              </a:rPr>
              <a:t>Reflection</a:t>
            </a:r>
            <a:endParaRPr lang="en-US" sz="1130" dirty="0"/>
          </a:p>
        </p:txBody>
      </p:sp>
      <p:sp>
        <p:nvSpPr>
          <p:cNvPr id="47" name="Shape 45"/>
          <p:cNvSpPr/>
          <p:nvPr/>
        </p:nvSpPr>
        <p:spPr>
          <a:xfrm>
            <a:off x="2405604"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48" name="Text 46"/>
          <p:cNvSpPr/>
          <p:nvPr/>
        </p:nvSpPr>
        <p:spPr>
          <a:xfrm>
            <a:off x="2433036"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20242A"/>
                </a:solidFill>
                <a:latin typeface="Yu Gothic" pitchFamily="34" charset="0"/>
                <a:ea typeface="Yu Gothic" pitchFamily="34" charset="-122"/>
                <a:cs typeface="Yu Gothic" pitchFamily="34" charset="-120"/>
              </a:rPr>
              <a:t>77.16</a:t>
            </a:r>
            <a:endParaRPr lang="en-US" sz="1130" dirty="0"/>
          </a:p>
        </p:txBody>
      </p:sp>
      <p:sp>
        <p:nvSpPr>
          <p:cNvPr id="49" name="Shape 47"/>
          <p:cNvSpPr/>
          <p:nvPr/>
        </p:nvSpPr>
        <p:spPr>
          <a:xfrm>
            <a:off x="3536168"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50" name="Text 48"/>
          <p:cNvSpPr/>
          <p:nvPr/>
        </p:nvSpPr>
        <p:spPr>
          <a:xfrm>
            <a:off x="3563600"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ED7D31"/>
                </a:solidFill>
                <a:latin typeface="Yu Gothic" pitchFamily="34" charset="0"/>
                <a:ea typeface="Yu Gothic" pitchFamily="34" charset="-122"/>
                <a:cs typeface="Yu Gothic" pitchFamily="34" charset="-120"/>
              </a:rPr>
              <a:t>22.07</a:t>
            </a:r>
            <a:endParaRPr lang="en-US" sz="1130" dirty="0"/>
          </a:p>
        </p:txBody>
      </p:sp>
      <p:sp>
        <p:nvSpPr>
          <p:cNvPr id="51" name="Shape 49"/>
          <p:cNvSpPr/>
          <p:nvPr/>
        </p:nvSpPr>
        <p:spPr>
          <a:xfrm>
            <a:off x="4666732"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52" name="Text 50"/>
          <p:cNvSpPr/>
          <p:nvPr/>
        </p:nvSpPr>
        <p:spPr>
          <a:xfrm>
            <a:off x="4694164"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ED7D31"/>
                </a:solidFill>
                <a:latin typeface="Yu Gothic" pitchFamily="34" charset="0"/>
                <a:ea typeface="Yu Gothic" pitchFamily="34" charset="-122"/>
                <a:cs typeface="Yu Gothic" pitchFamily="34" charset="-120"/>
              </a:rPr>
              <a:t>0.77</a:t>
            </a:r>
            <a:endParaRPr lang="en-US" sz="1130" dirty="0"/>
          </a:p>
        </p:txBody>
      </p:sp>
      <p:sp>
        <p:nvSpPr>
          <p:cNvPr id="53" name="Shape 51"/>
          <p:cNvSpPr/>
          <p:nvPr/>
        </p:nvSpPr>
        <p:spPr>
          <a:xfrm>
            <a:off x="658368" y="3425081"/>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685800" y="3443369"/>
            <a:ext cx="1692372" cy="378823"/>
          </a:xfrm>
          <a:prstGeom prst="rect">
            <a:avLst/>
          </a:prstGeom>
          <a:noFill/>
          <a:ln/>
        </p:spPr>
        <p:txBody>
          <a:bodyPr wrap="square" lIns="0" tIns="0" rIns="0" bIns="0" rtlCol="0" anchor="ctr">
            <a:normAutofit/>
          </a:bodyPr>
          <a:lstStyle/>
          <a:p>
            <a:pPr marL="0" indent="0" algn="l">
              <a:buNone/>
            </a:pPr>
            <a:r>
              <a:rPr lang="en-US" sz="1130" b="1" dirty="0">
                <a:solidFill>
                  <a:srgbClr val="C94C4C"/>
                </a:solidFill>
                <a:latin typeface="Yu Gothic" pitchFamily="34" charset="0"/>
                <a:ea typeface="Yu Gothic" pitchFamily="34" charset="-122"/>
                <a:cs typeface="Yu Gothic" pitchFamily="34" charset="-120"/>
              </a:rPr>
              <a:t>Obstacle</a:t>
            </a:r>
            <a:endParaRPr lang="en-US" sz="1130" dirty="0"/>
          </a:p>
        </p:txBody>
      </p:sp>
      <p:sp>
        <p:nvSpPr>
          <p:cNvPr id="55" name="Shape 53"/>
          <p:cNvSpPr/>
          <p:nvPr/>
        </p:nvSpPr>
        <p:spPr>
          <a:xfrm>
            <a:off x="2405604"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2433036"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20242A"/>
                </a:solidFill>
                <a:latin typeface="Yu Gothic" pitchFamily="34" charset="0"/>
                <a:ea typeface="Yu Gothic" pitchFamily="34" charset="-122"/>
                <a:cs typeface="Yu Gothic" pitchFamily="34" charset="-120"/>
              </a:rPr>
              <a:t>62.20</a:t>
            </a:r>
            <a:endParaRPr lang="en-US" sz="1130" dirty="0"/>
          </a:p>
        </p:txBody>
      </p:sp>
      <p:sp>
        <p:nvSpPr>
          <p:cNvPr id="57" name="Shape 55"/>
          <p:cNvSpPr/>
          <p:nvPr/>
        </p:nvSpPr>
        <p:spPr>
          <a:xfrm>
            <a:off x="3536168"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3563600"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C94C4C"/>
                </a:solidFill>
                <a:latin typeface="Yu Gothic" pitchFamily="34" charset="0"/>
                <a:ea typeface="Yu Gothic" pitchFamily="34" charset="-122"/>
                <a:cs typeface="Yu Gothic" pitchFamily="34" charset="-120"/>
              </a:rPr>
              <a:t>33.38</a:t>
            </a:r>
            <a:endParaRPr lang="en-US" sz="1130" dirty="0"/>
          </a:p>
        </p:txBody>
      </p:sp>
      <p:sp>
        <p:nvSpPr>
          <p:cNvPr id="59" name="Shape 57"/>
          <p:cNvSpPr/>
          <p:nvPr/>
        </p:nvSpPr>
        <p:spPr>
          <a:xfrm>
            <a:off x="4666732"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60" name="Text 58"/>
          <p:cNvSpPr/>
          <p:nvPr/>
        </p:nvSpPr>
        <p:spPr>
          <a:xfrm>
            <a:off x="4694164"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C94C4C"/>
                </a:solidFill>
                <a:latin typeface="Yu Gothic" pitchFamily="34" charset="0"/>
                <a:ea typeface="Yu Gothic" pitchFamily="34" charset="-122"/>
                <a:cs typeface="Yu Gothic" pitchFamily="34" charset="-120"/>
              </a:rPr>
              <a:t>4.43</a:t>
            </a:r>
            <a:endParaRPr lang="en-US" sz="1130" dirty="0"/>
          </a:p>
        </p:txBody>
      </p:sp>
      <p:sp>
        <p:nvSpPr>
          <p:cNvPr id="61" name="Shape 59"/>
          <p:cNvSpPr/>
          <p:nvPr/>
        </p:nvSpPr>
        <p:spPr>
          <a:xfrm>
            <a:off x="6053328" y="1005840"/>
            <a:ext cx="2432304" cy="1170432"/>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2" name="Shape 60"/>
          <p:cNvSpPr/>
          <p:nvPr/>
        </p:nvSpPr>
        <p:spPr>
          <a:xfrm>
            <a:off x="6053328" y="1005840"/>
            <a:ext cx="50292" cy="1170432"/>
          </a:xfrm>
          <a:prstGeom prst="rect">
            <a:avLst/>
          </a:prstGeom>
          <a:solidFill>
            <a:srgbClr val="2A9D8F"/>
          </a:solidFill>
          <a:ln w="12700">
            <a:solidFill>
              <a:srgbClr val="2A9D8F"/>
            </a:solidFill>
            <a:prstDash val="solid"/>
          </a:ln>
        </p:spPr>
        <p:txBody>
          <a:bodyPr/>
          <a:lstStyle/>
          <a:p>
            <a:endParaRPr lang="ja-JP" altLang="en-US"/>
          </a:p>
        </p:txBody>
      </p:sp>
      <p:sp>
        <p:nvSpPr>
          <p:cNvPr id="63" name="Text 61"/>
          <p:cNvSpPr/>
          <p:nvPr/>
        </p:nvSpPr>
        <p:spPr>
          <a:xfrm>
            <a:off x="6217920" y="1078992"/>
            <a:ext cx="215798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2nd+3rdの比率</a:t>
            </a:r>
            <a:endParaRPr lang="en-US" sz="1600" dirty="0"/>
          </a:p>
        </p:txBody>
      </p:sp>
      <p:sp>
        <p:nvSpPr>
          <p:cNvPr id="64" name="Text 62"/>
          <p:cNvSpPr/>
          <p:nvPr/>
        </p:nvSpPr>
        <p:spPr>
          <a:xfrm>
            <a:off x="6217920" y="1426464"/>
            <a:ext cx="2157984" cy="658368"/>
          </a:xfrm>
          <a:prstGeom prst="rect">
            <a:avLst/>
          </a:prstGeom>
          <a:noFill/>
          <a:ln/>
        </p:spPr>
        <p:txBody>
          <a:bodyPr wrap="square" lIns="12700" tIns="0" rIns="0" bIns="25400" rtlCol="0" anchor="t">
            <a:normAutofit lnSpcReduction="10000"/>
          </a:bodyPr>
          <a:lstStyle/>
          <a:p>
            <a:pPr marL="0" indent="0">
              <a:buNone/>
            </a:pPr>
            <a:r>
              <a:rPr lang="en-US" sz="1400" dirty="0">
                <a:solidFill>
                  <a:srgbClr val="4D5966"/>
                </a:solidFill>
                <a:latin typeface="Yu Gothic" pitchFamily="34" charset="0"/>
                <a:ea typeface="Yu Gothic" pitchFamily="34" charset="-122"/>
                <a:cs typeface="Yu Gothic" pitchFamily="34" charset="-120"/>
              </a:rPr>
              <a:t>Normal 0.98%</a:t>
            </a:r>
            <a:endParaRPr lang="en-US" sz="1400" dirty="0"/>
          </a:p>
          <a:p>
            <a:pPr marL="0" indent="0">
              <a:buNone/>
            </a:pPr>
            <a:r>
              <a:rPr lang="en-US" sz="1400" dirty="0">
                <a:solidFill>
                  <a:srgbClr val="4D5966"/>
                </a:solidFill>
                <a:latin typeface="Yu Gothic" pitchFamily="34" charset="0"/>
                <a:ea typeface="Yu Gothic" pitchFamily="34" charset="-122"/>
                <a:cs typeface="Yu Gothic" pitchFamily="34" charset="-120"/>
              </a:rPr>
              <a:t>Reflection 22.84%</a:t>
            </a:r>
            <a:endParaRPr lang="en-US" sz="1400" dirty="0"/>
          </a:p>
          <a:p>
            <a:pPr marL="0" indent="0">
              <a:buNone/>
            </a:pPr>
            <a:r>
              <a:rPr lang="en-US" sz="1400" dirty="0">
                <a:solidFill>
                  <a:srgbClr val="4D5966"/>
                </a:solidFill>
                <a:latin typeface="Yu Gothic" pitchFamily="34" charset="0"/>
                <a:ea typeface="Yu Gothic" pitchFamily="34" charset="-122"/>
                <a:cs typeface="Yu Gothic" pitchFamily="34" charset="-120"/>
              </a:rPr>
              <a:t>Obstacle 37.81%</a:t>
            </a:r>
            <a:endParaRPr lang="en-US" sz="1400" dirty="0"/>
          </a:p>
        </p:txBody>
      </p:sp>
      <p:sp>
        <p:nvSpPr>
          <p:cNvPr id="65" name="Shape 63"/>
          <p:cNvSpPr/>
          <p:nvPr/>
        </p:nvSpPr>
        <p:spPr>
          <a:xfrm>
            <a:off x="6053328" y="2450592"/>
            <a:ext cx="2432304" cy="117043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6" name="Shape 64"/>
          <p:cNvSpPr/>
          <p:nvPr/>
        </p:nvSpPr>
        <p:spPr>
          <a:xfrm>
            <a:off x="6053328" y="2450592"/>
            <a:ext cx="50292" cy="1170432"/>
          </a:xfrm>
          <a:prstGeom prst="rect">
            <a:avLst/>
          </a:prstGeom>
          <a:solidFill>
            <a:srgbClr val="ED7D31"/>
          </a:solidFill>
          <a:ln w="12700">
            <a:solidFill>
              <a:srgbClr val="ED7D31"/>
            </a:solidFill>
            <a:prstDash val="solid"/>
          </a:ln>
        </p:spPr>
        <p:txBody>
          <a:bodyPr/>
          <a:lstStyle/>
          <a:p>
            <a:endParaRPr lang="ja-JP" altLang="en-US"/>
          </a:p>
        </p:txBody>
      </p:sp>
      <p:sp>
        <p:nvSpPr>
          <p:cNvPr id="67" name="Text 65"/>
          <p:cNvSpPr/>
          <p:nvPr/>
        </p:nvSpPr>
        <p:spPr>
          <a:xfrm>
            <a:off x="6217920" y="2523744"/>
            <a:ext cx="215798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解釈</a:t>
            </a:r>
            <a:endParaRPr lang="en-US" sz="1600" dirty="0"/>
          </a:p>
        </p:txBody>
      </p:sp>
      <p:sp>
        <p:nvSpPr>
          <p:cNvPr id="68" name="Text 66"/>
          <p:cNvSpPr/>
          <p:nvPr/>
        </p:nvSpPr>
        <p:spPr>
          <a:xfrm>
            <a:off x="6217920" y="2871216"/>
            <a:ext cx="2157984" cy="65836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late returnは反射現象に濃縮されるが、1stにも多数残る。</a:t>
            </a:r>
            <a:endParaRPr lang="en-US" sz="1340" dirty="0"/>
          </a:p>
        </p:txBody>
      </p:sp>
      <p:sp>
        <p:nvSpPr>
          <p:cNvPr id="69" name="Shape 67"/>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70" name="Shape 68"/>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71" name="Text 6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return番号は有用な補助特徴だが、番号だけでclassを決定できない。</a:t>
            </a:r>
            <a:endParaRPr lang="en-US" sz="1450" dirty="0"/>
          </a:p>
        </p:txBody>
      </p:sp>
      <p:sp>
        <p:nvSpPr>
          <p:cNvPr id="72" name="Text 7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入射角により直接反射・透過・多重反射の割合が変化する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Incidence angle</a:t>
            </a:r>
            <a:endParaRPr lang="en-US" sz="950" dirty="0"/>
          </a:p>
        </p:txBody>
      </p:sp>
      <p:pic>
        <p:nvPicPr>
          <p:cNvPr id="5" name="Image 0" descr="Incident-angle distribution by class"/>
          <p:cNvPicPr>
            <a:picLocks noChangeAspect="1"/>
          </p:cNvPicPr>
          <p:nvPr/>
        </p:nvPicPr>
        <p:blipFill>
          <a:blip r:embed="rId3"/>
          <a:stretch>
            <a:fillRect/>
          </a:stretch>
        </p:blipFill>
        <p:spPr>
          <a:xfrm>
            <a:off x="911515" y="914400"/>
            <a:ext cx="4157147" cy="3310128"/>
          </a:xfrm>
          <a:prstGeom prst="rect">
            <a:avLst/>
          </a:prstGeom>
        </p:spPr>
      </p:pic>
      <p:sp>
        <p:nvSpPr>
          <p:cNvPr id="6" name="Shape 3"/>
          <p:cNvSpPr/>
          <p:nvPr/>
        </p:nvSpPr>
        <p:spPr>
          <a:xfrm>
            <a:off x="5577840" y="969264"/>
            <a:ext cx="2880360" cy="896112"/>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5577840" y="969264"/>
            <a:ext cx="50292" cy="896112"/>
          </a:xfrm>
          <a:prstGeom prst="rect">
            <a:avLst/>
          </a:prstGeom>
          <a:solidFill>
            <a:srgbClr val="2E75B6"/>
          </a:solidFill>
          <a:ln w="12700">
            <a:solidFill>
              <a:srgbClr val="2E75B6"/>
            </a:solidFill>
            <a:prstDash val="solid"/>
          </a:ln>
        </p:spPr>
        <p:txBody>
          <a:bodyPr/>
          <a:lstStyle/>
          <a:p>
            <a:endParaRPr lang="ja-JP" altLang="en-US"/>
          </a:p>
        </p:txBody>
      </p:sp>
      <p:sp>
        <p:nvSpPr>
          <p:cNvPr id="8" name="Text 5"/>
          <p:cNvSpPr/>
          <p:nvPr/>
        </p:nvSpPr>
        <p:spPr>
          <a:xfrm>
            <a:off x="5742432" y="1042416"/>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計算方法</a:t>
            </a:r>
            <a:endParaRPr lang="en-US" sz="1600" dirty="0"/>
          </a:p>
        </p:txBody>
      </p:sp>
      <p:sp>
        <p:nvSpPr>
          <p:cNvPr id="9" name="Text 6"/>
          <p:cNvSpPr/>
          <p:nvPr/>
        </p:nvSpPr>
        <p:spPr>
          <a:xfrm>
            <a:off x="5742432" y="1389888"/>
            <a:ext cx="2606040" cy="384048"/>
          </a:xfrm>
          <a:prstGeom prst="rect">
            <a:avLst/>
          </a:prstGeom>
          <a:noFill/>
          <a:ln/>
        </p:spPr>
        <p:txBody>
          <a:bodyPr wrap="square" lIns="12700" tIns="0" rIns="0" bIns="25400" rtlCol="0" anchor="t">
            <a:normAutofit fontScale="92500"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mesh法線とbeam方向から入射角を計算し、角度bin内を100%に正規化。</a:t>
            </a:r>
            <a:endParaRPr lang="en-US" sz="1250" dirty="0"/>
          </a:p>
        </p:txBody>
      </p:sp>
      <p:sp>
        <p:nvSpPr>
          <p:cNvPr id="10" name="Shape 7"/>
          <p:cNvSpPr/>
          <p:nvPr/>
        </p:nvSpPr>
        <p:spPr>
          <a:xfrm>
            <a:off x="5577840" y="2029968"/>
            <a:ext cx="2880360" cy="896112"/>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5577840" y="2029968"/>
            <a:ext cx="50292" cy="896112"/>
          </a:xfrm>
          <a:prstGeom prst="rect">
            <a:avLst/>
          </a:prstGeom>
          <a:solidFill>
            <a:srgbClr val="2A9D8F"/>
          </a:solidFill>
          <a:ln w="12700">
            <a:solidFill>
              <a:srgbClr val="2A9D8F"/>
            </a:solidFill>
            <a:prstDash val="solid"/>
          </a:ln>
        </p:spPr>
        <p:txBody>
          <a:bodyPr/>
          <a:lstStyle/>
          <a:p>
            <a:endParaRPr lang="ja-JP" altLang="en-US"/>
          </a:p>
        </p:txBody>
      </p:sp>
      <p:sp>
        <p:nvSpPr>
          <p:cNvPr id="12" name="Text 9"/>
          <p:cNvSpPr/>
          <p:nvPr/>
        </p:nvSpPr>
        <p:spPr>
          <a:xfrm>
            <a:off x="5742432" y="2103120"/>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観察</a:t>
            </a:r>
            <a:endParaRPr lang="en-US" sz="1600" dirty="0"/>
          </a:p>
        </p:txBody>
      </p:sp>
      <p:sp>
        <p:nvSpPr>
          <p:cNvPr id="13" name="Text 10"/>
          <p:cNvSpPr/>
          <p:nvPr/>
        </p:nvSpPr>
        <p:spPr>
          <a:xfrm>
            <a:off x="5742432" y="2450592"/>
            <a:ext cx="2606040" cy="384048"/>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glass / mirrorの直接returnは低角度で多く、角度増加とともに減少。</a:t>
            </a:r>
            <a:endParaRPr lang="en-US" sz="1250" dirty="0"/>
          </a:p>
        </p:txBody>
      </p:sp>
      <p:sp>
        <p:nvSpPr>
          <p:cNvPr id="14" name="Shape 11"/>
          <p:cNvSpPr/>
          <p:nvPr/>
        </p:nvSpPr>
        <p:spPr>
          <a:xfrm>
            <a:off x="5577840" y="3090672"/>
            <a:ext cx="2880360" cy="89611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Shape 12"/>
          <p:cNvSpPr/>
          <p:nvPr/>
        </p:nvSpPr>
        <p:spPr>
          <a:xfrm>
            <a:off x="5577840" y="3090672"/>
            <a:ext cx="50292" cy="896112"/>
          </a:xfrm>
          <a:prstGeom prst="rect">
            <a:avLst/>
          </a:prstGeom>
          <a:solidFill>
            <a:srgbClr val="ED7D31"/>
          </a:solidFill>
          <a:ln w="12700">
            <a:solidFill>
              <a:srgbClr val="ED7D31"/>
            </a:solidFill>
            <a:prstDash val="solid"/>
          </a:ln>
        </p:spPr>
        <p:txBody>
          <a:bodyPr/>
          <a:lstStyle/>
          <a:p>
            <a:endParaRPr lang="ja-JP" altLang="en-US"/>
          </a:p>
        </p:txBody>
      </p:sp>
      <p:sp>
        <p:nvSpPr>
          <p:cNvPr id="16" name="Text 13"/>
          <p:cNvSpPr/>
          <p:nvPr/>
        </p:nvSpPr>
        <p:spPr>
          <a:xfrm>
            <a:off x="5742432" y="3163824"/>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含意</a:t>
            </a:r>
            <a:endParaRPr lang="en-US" sz="1600" dirty="0"/>
          </a:p>
        </p:txBody>
      </p:sp>
      <p:sp>
        <p:nvSpPr>
          <p:cNvPr id="17" name="Text 14"/>
          <p:cNvSpPr/>
          <p:nvPr/>
        </p:nvSpPr>
        <p:spPr>
          <a:xfrm>
            <a:off x="5742432" y="3511296"/>
            <a:ext cx="2606040" cy="384048"/>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材料・角度・視点が結合するため、複数方向からの収集が不可欠。</a:t>
            </a:r>
            <a:endParaRPr lang="en-US" sz="1250" dirty="0"/>
          </a:p>
        </p:txBody>
      </p:sp>
      <p:sp>
        <p:nvSpPr>
          <p:cNvPr id="18" name="Text 15"/>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7; Sec. 3.3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ベンチマークはLiDAR segmentationとRGB segmentationを別々に評価する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Benchmark setup</a:t>
            </a:r>
            <a:endParaRPr lang="en-US" sz="950" dirty="0"/>
          </a:p>
        </p:txBody>
      </p:sp>
      <p:sp>
        <p:nvSpPr>
          <p:cNvPr id="5" name="Shape 3"/>
          <p:cNvSpPr/>
          <p:nvPr/>
        </p:nvSpPr>
        <p:spPr>
          <a:xfrm>
            <a:off x="594360" y="914400"/>
            <a:ext cx="3794760" cy="257860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914400"/>
            <a:ext cx="50292" cy="2578608"/>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58952" y="987552"/>
            <a:ext cx="35204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LiDAR｜PCSeg codebase</a:t>
            </a:r>
            <a:endParaRPr lang="en-US" sz="1600" dirty="0"/>
          </a:p>
        </p:txBody>
      </p:sp>
      <p:sp>
        <p:nvSpPr>
          <p:cNvPr id="8" name="Text 6"/>
          <p:cNvSpPr/>
          <p:nvPr/>
        </p:nvSpPr>
        <p:spPr>
          <a:xfrm>
            <a:off x="758952" y="1335024"/>
            <a:ext cx="3520440" cy="2066544"/>
          </a:xfrm>
          <a:prstGeom prst="rect">
            <a:avLst/>
          </a:prstGeom>
          <a:noFill/>
          <a:ln/>
        </p:spPr>
        <p:txBody>
          <a:bodyPr wrap="square" lIns="12700" tIns="0" rIns="0" bIns="25400" rtlCol="0" anchor="t">
            <a:normAutofit/>
          </a:bodyPr>
          <a:lstStyle/>
          <a:p>
            <a:pPr marL="0" indent="0">
              <a:buNone/>
            </a:pPr>
            <a:r>
              <a:rPr lang="en-US" sz="1500" dirty="0">
                <a:solidFill>
                  <a:srgbClr val="4D5966"/>
                </a:solidFill>
                <a:latin typeface="Yu Gothic" pitchFamily="34" charset="0"/>
                <a:ea typeface="Yu Gothic" pitchFamily="34" charset="-122"/>
                <a:cs typeface="Yu Gothic" pitchFamily="34" charset="-120"/>
              </a:rPr>
              <a:t>Models：MinkowskiNet / SPVCNN / Cylinder3D</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Input A：XYZI（4ch）</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Input B：XYZIR（5ch, return番号追加）</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Metric：class-wise IoU / mIoU</a:t>
            </a:r>
            <a:endParaRPr lang="en-US" sz="1500" dirty="0"/>
          </a:p>
        </p:txBody>
      </p:sp>
      <p:sp>
        <p:nvSpPr>
          <p:cNvPr id="9" name="Shape 7"/>
          <p:cNvSpPr/>
          <p:nvPr/>
        </p:nvSpPr>
        <p:spPr>
          <a:xfrm>
            <a:off x="4754880" y="914400"/>
            <a:ext cx="3794760" cy="257860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54880" y="914400"/>
            <a:ext cx="50292" cy="2578608"/>
          </a:xfrm>
          <a:prstGeom prst="rect">
            <a:avLst/>
          </a:prstGeom>
          <a:solidFill>
            <a:srgbClr val="2A9D8F"/>
          </a:solidFill>
          <a:ln w="12700">
            <a:solidFill>
              <a:srgbClr val="2A9D8F"/>
            </a:solidFill>
            <a:prstDash val="solid"/>
          </a:ln>
        </p:spPr>
        <p:txBody>
          <a:bodyPr/>
          <a:lstStyle/>
          <a:p>
            <a:endParaRPr lang="ja-JP" altLang="en-US"/>
          </a:p>
        </p:txBody>
      </p:sp>
      <p:sp>
        <p:nvSpPr>
          <p:cNvPr id="11" name="Text 9"/>
          <p:cNvSpPr/>
          <p:nvPr/>
        </p:nvSpPr>
        <p:spPr>
          <a:xfrm>
            <a:off x="4919472" y="987552"/>
            <a:ext cx="35204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RGB｜既存glass / mirror手法</a:t>
            </a:r>
            <a:endParaRPr lang="en-US" sz="1600" dirty="0"/>
          </a:p>
        </p:txBody>
      </p:sp>
      <p:sp>
        <p:nvSpPr>
          <p:cNvPr id="12" name="Text 10"/>
          <p:cNvSpPr/>
          <p:nvPr/>
        </p:nvSpPr>
        <p:spPr>
          <a:xfrm>
            <a:off x="4919472" y="1335024"/>
            <a:ext cx="3520440" cy="2066544"/>
          </a:xfrm>
          <a:prstGeom prst="rect">
            <a:avLst/>
          </a:prstGeom>
          <a:noFill/>
          <a:ln/>
        </p:spPr>
        <p:txBody>
          <a:bodyPr wrap="square" lIns="12700" tIns="0" rIns="0" bIns="25400" rtlCol="0" anchor="t">
            <a:normAutofit/>
          </a:bodyPr>
          <a:lstStyle/>
          <a:p>
            <a:pPr marL="0" indent="0">
              <a:buNone/>
            </a:pPr>
            <a:r>
              <a:rPr lang="en-US" sz="1500" dirty="0">
                <a:solidFill>
                  <a:srgbClr val="4D5966"/>
                </a:solidFill>
                <a:latin typeface="Yu Gothic" pitchFamily="34" charset="0"/>
                <a:ea typeface="Yu Gothic" pitchFamily="34" charset="-122"/>
                <a:cs typeface="Yu Gothic" pitchFamily="34" charset="-120"/>
              </a:rPr>
              <a:t>Glass：GlassSemNet / EBLNet</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Mirror：HetNet / SATNet</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Pretrained modelを3DRefへ直接適用</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SATNet・EBLNetは3DRefで再学習</a:t>
            </a:r>
            <a:endParaRPr lang="en-US" sz="1500" dirty="0"/>
          </a:p>
        </p:txBody>
      </p:sp>
      <p:sp>
        <p:nvSpPr>
          <p:cNvPr id="13" name="Shape 11"/>
          <p:cNvSpPr/>
          <p:nvPr/>
        </p:nvSpPr>
        <p:spPr>
          <a:xfrm>
            <a:off x="2258568" y="3703320"/>
            <a:ext cx="4617720" cy="292608"/>
          </a:xfrm>
          <a:prstGeom prst="roundRect">
            <a:avLst>
              <a:gd name="adj" fmla="val 15625"/>
            </a:avLst>
          </a:prstGeom>
          <a:solidFill>
            <a:srgbClr val="EEE9F3"/>
          </a:solidFill>
          <a:ln w="12700">
            <a:solidFill>
              <a:srgbClr val="8064A2"/>
            </a:solidFill>
            <a:prstDash val="solid"/>
          </a:ln>
        </p:spPr>
        <p:txBody>
          <a:bodyPr/>
          <a:lstStyle/>
          <a:p>
            <a:endParaRPr lang="ja-JP" altLang="en-US"/>
          </a:p>
        </p:txBody>
      </p:sp>
      <p:sp>
        <p:nvSpPr>
          <p:cNvPr id="14" name="Text 12"/>
          <p:cNvSpPr/>
          <p:nvPr/>
        </p:nvSpPr>
        <p:spPr>
          <a:xfrm>
            <a:off x="2258568" y="3703320"/>
            <a:ext cx="4617720" cy="292608"/>
          </a:xfrm>
          <a:prstGeom prst="rect">
            <a:avLst/>
          </a:prstGeom>
          <a:noFill/>
          <a:ln/>
        </p:spPr>
        <p:txBody>
          <a:bodyPr wrap="square" lIns="0" tIns="0" rIns="0" bIns="0" rtlCol="0" anchor="ctr">
            <a:normAutofit/>
          </a:bodyPr>
          <a:lstStyle/>
          <a:p>
            <a:pPr marL="0" indent="0" algn="ctr">
              <a:buNone/>
            </a:pPr>
            <a:r>
              <a:rPr lang="en-US" sz="1250" b="1" dirty="0">
                <a:solidFill>
                  <a:srgbClr val="8064A2"/>
                </a:solidFill>
                <a:latin typeface="Yu Gothic" pitchFamily="34" charset="0"/>
                <a:ea typeface="Yu Gothic" pitchFamily="34" charset="-122"/>
                <a:cs typeface="Yu Gothic" pitchFamily="34" charset="-120"/>
              </a:rPr>
              <a:t>Hardware：dual NVIDIA RTX 3090（24 GB ×2）</a:t>
            </a:r>
            <a:endParaRPr lang="en-US" sz="1250" dirty="0"/>
          </a:p>
        </p:txBody>
      </p:sp>
      <p:sp>
        <p:nvSpPr>
          <p:cNvPr id="15" name="Shape 13"/>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6" name="Shape 14"/>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7" name="Text 15"/>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この論文はmultimodal fusionを実験していない。RGBとLiDARの単独baselineを提示する。</a:t>
            </a:r>
            <a:endParaRPr lang="en-US" sz="1450" dirty="0"/>
          </a:p>
        </p:txBody>
      </p:sp>
      <p:sp>
        <p:nvSpPr>
          <p:cNvPr id="18" name="Text 16"/>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return番号のmIoU改善は+0.20〜+0.57 pointで、クラス別には負の効果もある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Return ablation</a:t>
            </a:r>
            <a:endParaRPr lang="en-US" sz="950" dirty="0"/>
          </a:p>
        </p:txBody>
      </p:sp>
      <p:graphicFrame>
        <p:nvGraphicFramePr>
          <p:cNvPr id="5" name="Chart 0"/>
          <p:cNvGraphicFramePr/>
          <p:nvPr/>
        </p:nvGraphicFramePr>
        <p:xfrm>
          <a:off x="658368" y="987552"/>
          <a:ext cx="4736592" cy="2670048"/>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669280" y="1033272"/>
            <a:ext cx="2633472" cy="1234440"/>
          </a:xfrm>
          <a:prstGeom prst="roundRect">
            <a:avLst>
              <a:gd name="adj" fmla="val 3704"/>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Text 4"/>
          <p:cNvSpPr/>
          <p:nvPr/>
        </p:nvSpPr>
        <p:spPr>
          <a:xfrm>
            <a:off x="5742432" y="1143000"/>
            <a:ext cx="2487168" cy="502920"/>
          </a:xfrm>
          <a:prstGeom prst="rect">
            <a:avLst/>
          </a:prstGeom>
          <a:noFill/>
          <a:ln/>
        </p:spPr>
        <p:txBody>
          <a:bodyPr wrap="square" lIns="0" tIns="0" rIns="0" bIns="0" rtlCol="0" anchor="ctr">
            <a:normAutofit/>
          </a:bodyPr>
          <a:lstStyle/>
          <a:p>
            <a:pPr marL="0" indent="0" algn="ctr">
              <a:buNone/>
            </a:pPr>
            <a:r>
              <a:rPr lang="en-US" sz="3100" b="1" dirty="0">
                <a:solidFill>
                  <a:srgbClr val="2A9D8F"/>
                </a:solidFill>
                <a:latin typeface="Yu Gothic" pitchFamily="34" charset="0"/>
                <a:ea typeface="Yu Gothic" pitchFamily="34" charset="-122"/>
                <a:cs typeface="Yu Gothic" pitchFamily="34" charset="-120"/>
              </a:rPr>
              <a:t>+0.35</a:t>
            </a:r>
            <a:endParaRPr lang="en-US" sz="3100" dirty="0"/>
          </a:p>
        </p:txBody>
      </p:sp>
      <p:sp>
        <p:nvSpPr>
          <p:cNvPr id="8" name="Text 5"/>
          <p:cNvSpPr/>
          <p:nvPr/>
        </p:nvSpPr>
        <p:spPr>
          <a:xfrm>
            <a:off x="5760720" y="1691640"/>
            <a:ext cx="2450592" cy="502920"/>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table-derived mean</a:t>
            </a:r>
            <a:endParaRPr lang="en-US" sz="1250" dirty="0"/>
          </a:p>
          <a:p>
            <a:pPr marL="0" indent="0" algn="ctr">
              <a:buNone/>
            </a:pPr>
            <a:r>
              <a:rPr lang="en-US" sz="1250" dirty="0">
                <a:solidFill>
                  <a:srgbClr val="4D5966"/>
                </a:solidFill>
                <a:latin typeface="Yu Gothic" pitchFamily="34" charset="0"/>
                <a:ea typeface="Yu Gothic" pitchFamily="34" charset="-122"/>
                <a:cs typeface="Yu Gothic" pitchFamily="34" charset="-120"/>
              </a:rPr>
              <a:t>percentage points</a:t>
            </a:r>
            <a:endParaRPr lang="en-US" sz="1250" dirty="0"/>
          </a:p>
        </p:txBody>
      </p:sp>
      <p:sp>
        <p:nvSpPr>
          <p:cNvPr id="9" name="Shape 6"/>
          <p:cNvSpPr/>
          <p:nvPr/>
        </p:nvSpPr>
        <p:spPr>
          <a:xfrm>
            <a:off x="5669280" y="2496312"/>
            <a:ext cx="2633472" cy="107899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7"/>
          <p:cNvSpPr/>
          <p:nvPr/>
        </p:nvSpPr>
        <p:spPr>
          <a:xfrm>
            <a:off x="5669280" y="2496312"/>
            <a:ext cx="50292" cy="1078992"/>
          </a:xfrm>
          <a:prstGeom prst="rect">
            <a:avLst/>
          </a:prstGeom>
          <a:solidFill>
            <a:srgbClr val="ED7D31"/>
          </a:solidFill>
          <a:ln w="12700">
            <a:solidFill>
              <a:srgbClr val="ED7D31"/>
            </a:solidFill>
            <a:prstDash val="solid"/>
          </a:ln>
        </p:spPr>
        <p:txBody>
          <a:bodyPr/>
          <a:lstStyle/>
          <a:p>
            <a:endParaRPr lang="ja-JP" altLang="en-US"/>
          </a:p>
        </p:txBody>
      </p:sp>
      <p:sp>
        <p:nvSpPr>
          <p:cNvPr id="11" name="Text 8"/>
          <p:cNvSpPr/>
          <p:nvPr/>
        </p:nvSpPr>
        <p:spPr>
          <a:xfrm>
            <a:off x="5833872" y="2569464"/>
            <a:ext cx="235915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非一様な効果</a:t>
            </a:r>
            <a:endParaRPr lang="en-US" sz="1600" dirty="0"/>
          </a:p>
        </p:txBody>
      </p:sp>
      <p:sp>
        <p:nvSpPr>
          <p:cNvPr id="12" name="Text 9"/>
          <p:cNvSpPr/>
          <p:nvPr/>
        </p:nvSpPr>
        <p:spPr>
          <a:xfrm>
            <a:off x="5833872" y="2916936"/>
            <a:ext cx="2359152" cy="566928"/>
          </a:xfrm>
          <a:prstGeom prst="rect">
            <a:avLst/>
          </a:prstGeom>
          <a:noFill/>
          <a:ln/>
        </p:spPr>
        <p:txBody>
          <a:bodyPr wrap="square" lIns="12700" tIns="0" rIns="0" bIns="25400" rtlCol="0" anchor="t">
            <a:normAutofit lnSpcReduction="10000"/>
          </a:bodyPr>
          <a:lstStyle/>
          <a:p>
            <a:pPr marL="0" indent="0">
              <a:buNone/>
            </a:pPr>
            <a:r>
              <a:rPr lang="en-US" sz="1280" dirty="0">
                <a:solidFill>
                  <a:srgbClr val="4D5966"/>
                </a:solidFill>
                <a:latin typeface="Yu Gothic" pitchFamily="34" charset="0"/>
                <a:ea typeface="Yu Gothic" pitchFamily="34" charset="-122"/>
                <a:cs typeface="Yu Gothic" pitchFamily="34" charset="-120"/>
              </a:rPr>
              <a:t>Minkowski mirror −2.13、SPVCNN glass/obstacleも低下。</a:t>
            </a:r>
            <a:endParaRPr lang="en-US" sz="1280" dirty="0"/>
          </a:p>
        </p:txBody>
      </p:sp>
      <p:sp>
        <p:nvSpPr>
          <p:cNvPr id="13" name="Shape 10"/>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4" name="Shape 11"/>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5" name="Text 12"/>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本文の“0.5% across methods”は概括表現。Table 5の単純平均は+0.353 point。</a:t>
            </a:r>
            <a:endParaRPr lang="en-US" sz="1450" dirty="0"/>
          </a:p>
        </p:txBody>
      </p:sp>
      <p:sp>
        <p:nvSpPr>
          <p:cNvPr id="16" name="Text 1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Sec. 4.1（差分は表から計算）</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同じCylinder3Dでもsensor別mIoUは79.71〜85.96と差がある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Sensor-wise results</a:t>
            </a:r>
            <a:endParaRPr lang="en-US" sz="950" dirty="0"/>
          </a:p>
        </p:txBody>
      </p:sp>
      <p:sp>
        <p:nvSpPr>
          <p:cNvPr id="5" name="Shape 3"/>
          <p:cNvSpPr/>
          <p:nvPr/>
        </p:nvSpPr>
        <p:spPr>
          <a:xfrm>
            <a:off x="658368" y="987552"/>
            <a:ext cx="1252362" cy="393192"/>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685800" y="1005840"/>
            <a:ext cx="119749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Sensor</a:t>
            </a:r>
            <a:endParaRPr lang="en-US" sz="1150" dirty="0"/>
          </a:p>
        </p:txBody>
      </p:sp>
      <p:sp>
        <p:nvSpPr>
          <p:cNvPr id="7" name="Shape 5"/>
          <p:cNvSpPr/>
          <p:nvPr/>
        </p:nvSpPr>
        <p:spPr>
          <a:xfrm>
            <a:off x="1910730" y="987552"/>
            <a:ext cx="860999" cy="393192"/>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1938162" y="1005840"/>
            <a:ext cx="806135"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mIoU</a:t>
            </a:r>
            <a:endParaRPr lang="en-US" sz="1150" dirty="0"/>
          </a:p>
        </p:txBody>
      </p:sp>
      <p:sp>
        <p:nvSpPr>
          <p:cNvPr id="9" name="Shape 7"/>
          <p:cNvSpPr/>
          <p:nvPr/>
        </p:nvSpPr>
        <p:spPr>
          <a:xfrm>
            <a:off x="2771729"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799161"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Normal</a:t>
            </a:r>
            <a:endParaRPr lang="en-US" sz="1150" dirty="0"/>
          </a:p>
        </p:txBody>
      </p:sp>
      <p:sp>
        <p:nvSpPr>
          <p:cNvPr id="11" name="Shape 9"/>
          <p:cNvSpPr/>
          <p:nvPr/>
        </p:nvSpPr>
        <p:spPr>
          <a:xfrm>
            <a:off x="3711001"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3738433"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Glass</a:t>
            </a:r>
            <a:endParaRPr lang="en-US" sz="1150" dirty="0"/>
          </a:p>
        </p:txBody>
      </p:sp>
      <p:sp>
        <p:nvSpPr>
          <p:cNvPr id="13" name="Shape 11"/>
          <p:cNvSpPr/>
          <p:nvPr/>
        </p:nvSpPr>
        <p:spPr>
          <a:xfrm>
            <a:off x="4650273"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4677705"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Mirror</a:t>
            </a:r>
            <a:endParaRPr lang="en-US" sz="1150" dirty="0"/>
          </a:p>
        </p:txBody>
      </p:sp>
      <p:sp>
        <p:nvSpPr>
          <p:cNvPr id="15" name="Shape 13"/>
          <p:cNvSpPr/>
          <p:nvPr/>
        </p:nvSpPr>
        <p:spPr>
          <a:xfrm>
            <a:off x="5589544"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5616976"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Other</a:t>
            </a:r>
            <a:endParaRPr lang="en-US" sz="1150" dirty="0"/>
          </a:p>
        </p:txBody>
      </p:sp>
      <p:sp>
        <p:nvSpPr>
          <p:cNvPr id="17" name="Shape 15"/>
          <p:cNvSpPr/>
          <p:nvPr/>
        </p:nvSpPr>
        <p:spPr>
          <a:xfrm>
            <a:off x="6528816" y="987552"/>
            <a:ext cx="1017544" cy="393192"/>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556248" y="1005840"/>
            <a:ext cx="962680"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Reflect.</a:t>
            </a:r>
            <a:endParaRPr lang="en-US" sz="1150" dirty="0"/>
          </a:p>
        </p:txBody>
      </p:sp>
      <p:sp>
        <p:nvSpPr>
          <p:cNvPr id="19" name="Shape 17"/>
          <p:cNvSpPr/>
          <p:nvPr/>
        </p:nvSpPr>
        <p:spPr>
          <a:xfrm>
            <a:off x="7546360"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7573792"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Obstacle</a:t>
            </a:r>
            <a:endParaRPr lang="en-US" sz="1150" dirty="0"/>
          </a:p>
        </p:txBody>
      </p:sp>
      <p:sp>
        <p:nvSpPr>
          <p:cNvPr id="21" name="Shape 19"/>
          <p:cNvSpPr/>
          <p:nvPr/>
        </p:nvSpPr>
        <p:spPr>
          <a:xfrm>
            <a:off x="658368" y="1380744"/>
            <a:ext cx="1252362" cy="393192"/>
          </a:xfrm>
          <a:prstGeom prst="rect">
            <a:avLst/>
          </a:prstGeom>
          <a:solidFill>
            <a:srgbClr val="FFFFFF"/>
          </a:solidFill>
          <a:ln w="12700">
            <a:solidFill>
              <a:srgbClr val="D5DCE3"/>
            </a:solidFill>
            <a:prstDash val="solid"/>
          </a:ln>
        </p:spPr>
        <p:txBody>
          <a:bodyPr/>
          <a:lstStyle/>
          <a:p>
            <a:endParaRPr lang="ja-JP" altLang="en-US"/>
          </a:p>
        </p:txBody>
      </p:sp>
      <p:sp>
        <p:nvSpPr>
          <p:cNvPr id="22" name="Text 20"/>
          <p:cNvSpPr/>
          <p:nvPr/>
        </p:nvSpPr>
        <p:spPr>
          <a:xfrm>
            <a:off x="685800" y="1399032"/>
            <a:ext cx="1197498" cy="356616"/>
          </a:xfrm>
          <a:prstGeom prst="rect">
            <a:avLst/>
          </a:prstGeom>
          <a:noFill/>
          <a:ln/>
        </p:spPr>
        <p:txBody>
          <a:bodyPr wrap="square" lIns="0" tIns="0" rIns="0" bIns="0" rtlCol="0" anchor="ctr">
            <a:normAutofit/>
          </a:bodyPr>
          <a:lstStyle/>
          <a:p>
            <a:pPr marL="0" indent="0" algn="l">
              <a:buNone/>
            </a:pPr>
            <a:r>
              <a:rPr lang="en-US" sz="1050" dirty="0">
                <a:solidFill>
                  <a:srgbClr val="20242A"/>
                </a:solidFill>
                <a:latin typeface="Yu Gothic" pitchFamily="34" charset="0"/>
                <a:ea typeface="Yu Gothic" pitchFamily="34" charset="-122"/>
                <a:cs typeface="Yu Gothic" pitchFamily="34" charset="-120"/>
              </a:rPr>
              <a:t>Ouster</a:t>
            </a:r>
            <a:endParaRPr lang="en-US" sz="1050" dirty="0"/>
          </a:p>
        </p:txBody>
      </p:sp>
      <p:sp>
        <p:nvSpPr>
          <p:cNvPr id="23" name="Shape 21"/>
          <p:cNvSpPr/>
          <p:nvPr/>
        </p:nvSpPr>
        <p:spPr>
          <a:xfrm>
            <a:off x="1910730" y="1380744"/>
            <a:ext cx="860999" cy="393192"/>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1938162" y="1399032"/>
            <a:ext cx="806135"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79.71</a:t>
            </a:r>
            <a:endParaRPr lang="en-US" sz="1050" dirty="0"/>
          </a:p>
        </p:txBody>
      </p:sp>
      <p:sp>
        <p:nvSpPr>
          <p:cNvPr id="25" name="Shape 23"/>
          <p:cNvSpPr/>
          <p:nvPr/>
        </p:nvSpPr>
        <p:spPr>
          <a:xfrm>
            <a:off x="2771729"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799161"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97.90</a:t>
            </a:r>
            <a:endParaRPr lang="en-US" sz="1050" dirty="0"/>
          </a:p>
        </p:txBody>
      </p:sp>
      <p:sp>
        <p:nvSpPr>
          <p:cNvPr id="27" name="Shape 25"/>
          <p:cNvSpPr/>
          <p:nvPr/>
        </p:nvSpPr>
        <p:spPr>
          <a:xfrm>
            <a:off x="3711001"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3738433"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58.27</a:t>
            </a:r>
            <a:endParaRPr lang="en-US" sz="1050" dirty="0"/>
          </a:p>
        </p:txBody>
      </p:sp>
      <p:sp>
        <p:nvSpPr>
          <p:cNvPr id="29" name="Shape 27"/>
          <p:cNvSpPr/>
          <p:nvPr/>
        </p:nvSpPr>
        <p:spPr>
          <a:xfrm>
            <a:off x="4650273"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4677705"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59.35</a:t>
            </a:r>
            <a:endParaRPr lang="en-US" sz="1050" dirty="0"/>
          </a:p>
        </p:txBody>
      </p:sp>
      <p:sp>
        <p:nvSpPr>
          <p:cNvPr id="31" name="Shape 29"/>
          <p:cNvSpPr/>
          <p:nvPr/>
        </p:nvSpPr>
        <p:spPr>
          <a:xfrm>
            <a:off x="5589544"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5616976"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88.08</a:t>
            </a:r>
            <a:endParaRPr lang="en-US" sz="1050" dirty="0"/>
          </a:p>
        </p:txBody>
      </p:sp>
      <p:sp>
        <p:nvSpPr>
          <p:cNvPr id="33" name="Shape 31"/>
          <p:cNvSpPr/>
          <p:nvPr/>
        </p:nvSpPr>
        <p:spPr>
          <a:xfrm>
            <a:off x="6528816" y="1380744"/>
            <a:ext cx="1017544" cy="393192"/>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6556248" y="1399032"/>
            <a:ext cx="962680" cy="356616"/>
          </a:xfrm>
          <a:prstGeom prst="rect">
            <a:avLst/>
          </a:prstGeom>
          <a:noFill/>
          <a:ln/>
        </p:spPr>
        <p:txBody>
          <a:bodyPr wrap="square" lIns="0" tIns="0" rIns="0" bIns="0" rtlCol="0" anchor="ctr">
            <a:normAutofit/>
          </a:bodyPr>
          <a:lstStyle/>
          <a:p>
            <a:pPr marL="0" indent="0" algn="ctr">
              <a:buNone/>
            </a:pPr>
            <a:r>
              <a:rPr lang="en-US" sz="1050" b="1" dirty="0">
                <a:solidFill>
                  <a:srgbClr val="2E75B6"/>
                </a:solidFill>
                <a:latin typeface="Yu Gothic" pitchFamily="34" charset="0"/>
                <a:ea typeface="Yu Gothic" pitchFamily="34" charset="-122"/>
                <a:cs typeface="Yu Gothic" pitchFamily="34" charset="-120"/>
              </a:rPr>
              <a:t>90.51</a:t>
            </a:r>
            <a:endParaRPr lang="en-US" sz="1050" dirty="0"/>
          </a:p>
        </p:txBody>
      </p:sp>
      <p:sp>
        <p:nvSpPr>
          <p:cNvPr id="35" name="Shape 33"/>
          <p:cNvSpPr/>
          <p:nvPr/>
        </p:nvSpPr>
        <p:spPr>
          <a:xfrm>
            <a:off x="7546360"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7573792"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84.18</a:t>
            </a:r>
            <a:endParaRPr lang="en-US" sz="1050" dirty="0"/>
          </a:p>
        </p:txBody>
      </p:sp>
      <p:sp>
        <p:nvSpPr>
          <p:cNvPr id="37" name="Shape 35"/>
          <p:cNvSpPr/>
          <p:nvPr/>
        </p:nvSpPr>
        <p:spPr>
          <a:xfrm>
            <a:off x="658368" y="1773936"/>
            <a:ext cx="1252362" cy="393192"/>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685800" y="1792224"/>
            <a:ext cx="1197498" cy="356616"/>
          </a:xfrm>
          <a:prstGeom prst="rect">
            <a:avLst/>
          </a:prstGeom>
          <a:noFill/>
          <a:ln/>
        </p:spPr>
        <p:txBody>
          <a:bodyPr wrap="square" lIns="0" tIns="0" rIns="0" bIns="0" rtlCol="0" anchor="ctr">
            <a:normAutofit/>
          </a:bodyPr>
          <a:lstStyle/>
          <a:p>
            <a:pPr marL="0" indent="0" algn="l">
              <a:buNone/>
            </a:pPr>
            <a:r>
              <a:rPr lang="en-US" sz="1050" dirty="0">
                <a:solidFill>
                  <a:srgbClr val="20242A"/>
                </a:solidFill>
                <a:latin typeface="Yu Gothic" pitchFamily="34" charset="0"/>
                <a:ea typeface="Yu Gothic" pitchFamily="34" charset="-122"/>
                <a:cs typeface="Yu Gothic" pitchFamily="34" charset="-120"/>
              </a:rPr>
              <a:t>Hesai</a:t>
            </a:r>
            <a:endParaRPr lang="en-US" sz="1050" dirty="0"/>
          </a:p>
        </p:txBody>
      </p:sp>
      <p:sp>
        <p:nvSpPr>
          <p:cNvPr id="39" name="Shape 37"/>
          <p:cNvSpPr/>
          <p:nvPr/>
        </p:nvSpPr>
        <p:spPr>
          <a:xfrm>
            <a:off x="1910730" y="1773936"/>
            <a:ext cx="860999" cy="393192"/>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1938162" y="1792224"/>
            <a:ext cx="806135"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84.98</a:t>
            </a:r>
            <a:endParaRPr lang="en-US" sz="1050" dirty="0"/>
          </a:p>
        </p:txBody>
      </p:sp>
      <p:sp>
        <p:nvSpPr>
          <p:cNvPr id="41" name="Shape 39"/>
          <p:cNvSpPr/>
          <p:nvPr/>
        </p:nvSpPr>
        <p:spPr>
          <a:xfrm>
            <a:off x="2771729"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799161"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96.51</a:t>
            </a:r>
            <a:endParaRPr lang="en-US" sz="1050" dirty="0"/>
          </a:p>
        </p:txBody>
      </p:sp>
      <p:sp>
        <p:nvSpPr>
          <p:cNvPr id="43" name="Shape 41"/>
          <p:cNvSpPr/>
          <p:nvPr/>
        </p:nvSpPr>
        <p:spPr>
          <a:xfrm>
            <a:off x="3711001"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3738433" y="1792224"/>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2A9D8F"/>
                </a:solidFill>
                <a:latin typeface="Yu Gothic" pitchFamily="34" charset="0"/>
                <a:ea typeface="Yu Gothic" pitchFamily="34" charset="-122"/>
                <a:cs typeface="Yu Gothic" pitchFamily="34" charset="-120"/>
              </a:rPr>
              <a:t>78.69</a:t>
            </a:r>
            <a:endParaRPr lang="en-US" sz="1050" dirty="0"/>
          </a:p>
        </p:txBody>
      </p:sp>
      <p:sp>
        <p:nvSpPr>
          <p:cNvPr id="45" name="Shape 43"/>
          <p:cNvSpPr/>
          <p:nvPr/>
        </p:nvSpPr>
        <p:spPr>
          <a:xfrm>
            <a:off x="4650273"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4677705" y="1792224"/>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2A9D8F"/>
                </a:solidFill>
                <a:latin typeface="Yu Gothic" pitchFamily="34" charset="0"/>
                <a:ea typeface="Yu Gothic" pitchFamily="34" charset="-122"/>
                <a:cs typeface="Yu Gothic" pitchFamily="34" charset="-120"/>
              </a:rPr>
              <a:t>88.46</a:t>
            </a:r>
            <a:endParaRPr lang="en-US" sz="1050" dirty="0"/>
          </a:p>
        </p:txBody>
      </p:sp>
      <p:sp>
        <p:nvSpPr>
          <p:cNvPr id="47" name="Shape 45"/>
          <p:cNvSpPr/>
          <p:nvPr/>
        </p:nvSpPr>
        <p:spPr>
          <a:xfrm>
            <a:off x="5589544"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5616976"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80.81</a:t>
            </a:r>
            <a:endParaRPr lang="en-US" sz="1050" dirty="0"/>
          </a:p>
        </p:txBody>
      </p:sp>
      <p:sp>
        <p:nvSpPr>
          <p:cNvPr id="49" name="Shape 47"/>
          <p:cNvSpPr/>
          <p:nvPr/>
        </p:nvSpPr>
        <p:spPr>
          <a:xfrm>
            <a:off x="6528816" y="1773936"/>
            <a:ext cx="1017544" cy="393192"/>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6556248" y="1792224"/>
            <a:ext cx="962680"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86.54</a:t>
            </a:r>
            <a:endParaRPr lang="en-US" sz="1050" dirty="0"/>
          </a:p>
        </p:txBody>
      </p:sp>
      <p:sp>
        <p:nvSpPr>
          <p:cNvPr id="51" name="Shape 49"/>
          <p:cNvSpPr/>
          <p:nvPr/>
        </p:nvSpPr>
        <p:spPr>
          <a:xfrm>
            <a:off x="7546360"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7573792"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78.88</a:t>
            </a:r>
            <a:endParaRPr lang="en-US" sz="1050" dirty="0"/>
          </a:p>
        </p:txBody>
      </p:sp>
      <p:sp>
        <p:nvSpPr>
          <p:cNvPr id="53" name="Shape 51"/>
          <p:cNvSpPr/>
          <p:nvPr/>
        </p:nvSpPr>
        <p:spPr>
          <a:xfrm>
            <a:off x="658368" y="2167128"/>
            <a:ext cx="1252362" cy="393192"/>
          </a:xfrm>
          <a:prstGeom prst="rect">
            <a:avLst/>
          </a:prstGeom>
          <a:solidFill>
            <a:srgbClr val="FFFFFF"/>
          </a:solidFill>
          <a:ln w="12700">
            <a:solidFill>
              <a:srgbClr val="D5DCE3"/>
            </a:solidFill>
            <a:prstDash val="solid"/>
          </a:ln>
        </p:spPr>
        <p:txBody>
          <a:bodyPr/>
          <a:lstStyle/>
          <a:p>
            <a:endParaRPr lang="ja-JP" altLang="en-US"/>
          </a:p>
        </p:txBody>
      </p:sp>
      <p:sp>
        <p:nvSpPr>
          <p:cNvPr id="54" name="Text 52"/>
          <p:cNvSpPr/>
          <p:nvPr/>
        </p:nvSpPr>
        <p:spPr>
          <a:xfrm>
            <a:off x="685800" y="2185416"/>
            <a:ext cx="1197498" cy="356616"/>
          </a:xfrm>
          <a:prstGeom prst="rect">
            <a:avLst/>
          </a:prstGeom>
          <a:noFill/>
          <a:ln/>
        </p:spPr>
        <p:txBody>
          <a:bodyPr wrap="square" lIns="0" tIns="0" rIns="0" bIns="0" rtlCol="0" anchor="ctr">
            <a:normAutofit/>
          </a:bodyPr>
          <a:lstStyle/>
          <a:p>
            <a:pPr marL="0" indent="0" algn="l">
              <a:buNone/>
            </a:pPr>
            <a:r>
              <a:rPr lang="en-US" sz="1050" b="1" dirty="0">
                <a:solidFill>
                  <a:srgbClr val="ED7D31"/>
                </a:solidFill>
                <a:latin typeface="Yu Gothic" pitchFamily="34" charset="0"/>
                <a:ea typeface="Yu Gothic" pitchFamily="34" charset="-122"/>
                <a:cs typeface="Yu Gothic" pitchFamily="34" charset="-120"/>
              </a:rPr>
              <a:t>Livox</a:t>
            </a:r>
            <a:endParaRPr lang="en-US" sz="1050" dirty="0"/>
          </a:p>
        </p:txBody>
      </p:sp>
      <p:sp>
        <p:nvSpPr>
          <p:cNvPr id="55" name="Shape 53"/>
          <p:cNvSpPr/>
          <p:nvPr/>
        </p:nvSpPr>
        <p:spPr>
          <a:xfrm>
            <a:off x="1910730" y="2167128"/>
            <a:ext cx="860999" cy="393192"/>
          </a:xfrm>
          <a:prstGeom prst="rect">
            <a:avLst/>
          </a:prstGeom>
          <a:solidFill>
            <a:srgbClr val="FFFFFF"/>
          </a:solidFill>
          <a:ln w="12700">
            <a:solidFill>
              <a:srgbClr val="D5DCE3"/>
            </a:solidFill>
            <a:prstDash val="solid"/>
          </a:ln>
        </p:spPr>
        <p:txBody>
          <a:bodyPr/>
          <a:lstStyle/>
          <a:p>
            <a:endParaRPr lang="ja-JP" altLang="en-US"/>
          </a:p>
        </p:txBody>
      </p:sp>
      <p:sp>
        <p:nvSpPr>
          <p:cNvPr id="56" name="Text 54"/>
          <p:cNvSpPr/>
          <p:nvPr/>
        </p:nvSpPr>
        <p:spPr>
          <a:xfrm>
            <a:off x="1938162" y="2185416"/>
            <a:ext cx="806135" cy="356616"/>
          </a:xfrm>
          <a:prstGeom prst="rect">
            <a:avLst/>
          </a:prstGeom>
          <a:noFill/>
          <a:ln/>
        </p:spPr>
        <p:txBody>
          <a:bodyPr wrap="square" lIns="0" tIns="0" rIns="0" bIns="0" rtlCol="0" anchor="ctr">
            <a:normAutofit/>
          </a:bodyPr>
          <a:lstStyle/>
          <a:p>
            <a:pPr marL="0" indent="0" algn="ctr">
              <a:buNone/>
            </a:pPr>
            <a:r>
              <a:rPr lang="en-US" sz="1050" b="1" dirty="0">
                <a:solidFill>
                  <a:srgbClr val="ED7D31"/>
                </a:solidFill>
                <a:latin typeface="Yu Gothic" pitchFamily="34" charset="0"/>
                <a:ea typeface="Yu Gothic" pitchFamily="34" charset="-122"/>
                <a:cs typeface="Yu Gothic" pitchFamily="34" charset="-120"/>
              </a:rPr>
              <a:t>85.96</a:t>
            </a:r>
            <a:endParaRPr lang="en-US" sz="1050" dirty="0"/>
          </a:p>
        </p:txBody>
      </p:sp>
      <p:sp>
        <p:nvSpPr>
          <p:cNvPr id="57" name="Shape 55"/>
          <p:cNvSpPr/>
          <p:nvPr/>
        </p:nvSpPr>
        <p:spPr>
          <a:xfrm>
            <a:off x="2771729"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58" name="Text 56"/>
          <p:cNvSpPr/>
          <p:nvPr/>
        </p:nvSpPr>
        <p:spPr>
          <a:xfrm>
            <a:off x="2799161"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93.59</a:t>
            </a:r>
            <a:endParaRPr lang="en-US" sz="1050" dirty="0"/>
          </a:p>
        </p:txBody>
      </p:sp>
      <p:sp>
        <p:nvSpPr>
          <p:cNvPr id="59" name="Shape 57"/>
          <p:cNvSpPr/>
          <p:nvPr/>
        </p:nvSpPr>
        <p:spPr>
          <a:xfrm>
            <a:off x="3711001"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3738433"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72.64</a:t>
            </a:r>
            <a:endParaRPr lang="en-US" sz="1050" dirty="0"/>
          </a:p>
        </p:txBody>
      </p:sp>
      <p:sp>
        <p:nvSpPr>
          <p:cNvPr id="61" name="Shape 59"/>
          <p:cNvSpPr/>
          <p:nvPr/>
        </p:nvSpPr>
        <p:spPr>
          <a:xfrm>
            <a:off x="4650273"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4677705"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85.73</a:t>
            </a:r>
            <a:endParaRPr lang="en-US" sz="1050" dirty="0"/>
          </a:p>
        </p:txBody>
      </p:sp>
      <p:sp>
        <p:nvSpPr>
          <p:cNvPr id="63" name="Shape 61"/>
          <p:cNvSpPr/>
          <p:nvPr/>
        </p:nvSpPr>
        <p:spPr>
          <a:xfrm>
            <a:off x="5589544"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5616976"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87.85</a:t>
            </a:r>
            <a:endParaRPr lang="en-US" sz="1050" dirty="0"/>
          </a:p>
        </p:txBody>
      </p:sp>
      <p:sp>
        <p:nvSpPr>
          <p:cNvPr id="65" name="Shape 63"/>
          <p:cNvSpPr/>
          <p:nvPr/>
        </p:nvSpPr>
        <p:spPr>
          <a:xfrm>
            <a:off x="6528816" y="2167128"/>
            <a:ext cx="1017544" cy="393192"/>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6556248" y="2185416"/>
            <a:ext cx="962680"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89.37</a:t>
            </a:r>
            <a:endParaRPr lang="en-US" sz="1050" dirty="0"/>
          </a:p>
        </p:txBody>
      </p:sp>
      <p:sp>
        <p:nvSpPr>
          <p:cNvPr id="67" name="Shape 65"/>
          <p:cNvSpPr/>
          <p:nvPr/>
        </p:nvSpPr>
        <p:spPr>
          <a:xfrm>
            <a:off x="7546360"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7573792" y="2185416"/>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ED7D31"/>
                </a:solidFill>
                <a:latin typeface="Yu Gothic" pitchFamily="34" charset="0"/>
                <a:ea typeface="Yu Gothic" pitchFamily="34" charset="-122"/>
                <a:cs typeface="Yu Gothic" pitchFamily="34" charset="-120"/>
              </a:rPr>
              <a:t>86.59</a:t>
            </a:r>
            <a:endParaRPr lang="en-US" sz="1050" dirty="0"/>
          </a:p>
        </p:txBody>
      </p:sp>
      <p:sp>
        <p:nvSpPr>
          <p:cNvPr id="69" name="Shape 67"/>
          <p:cNvSpPr/>
          <p:nvPr/>
        </p:nvSpPr>
        <p:spPr>
          <a:xfrm>
            <a:off x="749808" y="2862072"/>
            <a:ext cx="2304288" cy="93268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0" name="Shape 68"/>
          <p:cNvSpPr/>
          <p:nvPr/>
        </p:nvSpPr>
        <p:spPr>
          <a:xfrm>
            <a:off x="749808" y="2862072"/>
            <a:ext cx="50292" cy="932688"/>
          </a:xfrm>
          <a:prstGeom prst="rect">
            <a:avLst/>
          </a:prstGeom>
          <a:solidFill>
            <a:srgbClr val="2E75B6"/>
          </a:solidFill>
          <a:ln w="12700">
            <a:solidFill>
              <a:srgbClr val="2E75B6"/>
            </a:solidFill>
            <a:prstDash val="solid"/>
          </a:ln>
        </p:spPr>
        <p:txBody>
          <a:bodyPr/>
          <a:lstStyle/>
          <a:p>
            <a:endParaRPr lang="ja-JP" altLang="en-US"/>
          </a:p>
        </p:txBody>
      </p:sp>
      <p:sp>
        <p:nvSpPr>
          <p:cNvPr id="71" name="Text 69"/>
          <p:cNvSpPr/>
          <p:nvPr/>
        </p:nvSpPr>
        <p:spPr>
          <a:xfrm>
            <a:off x="914400"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Ouster</a:t>
            </a:r>
            <a:endParaRPr lang="en-US" sz="1600" dirty="0"/>
          </a:p>
        </p:txBody>
      </p:sp>
      <p:sp>
        <p:nvSpPr>
          <p:cNvPr id="72" name="Text 70"/>
          <p:cNvSpPr/>
          <p:nvPr/>
        </p:nvSpPr>
        <p:spPr>
          <a:xfrm>
            <a:off x="914400"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Normal/Reflectionは高いが、Glass・Mirrorが低い。</a:t>
            </a:r>
            <a:endParaRPr lang="en-US" sz="1240" dirty="0"/>
          </a:p>
        </p:txBody>
      </p:sp>
      <p:sp>
        <p:nvSpPr>
          <p:cNvPr id="73" name="Shape 71"/>
          <p:cNvSpPr/>
          <p:nvPr/>
        </p:nvSpPr>
        <p:spPr>
          <a:xfrm>
            <a:off x="3410712" y="2862072"/>
            <a:ext cx="2304288" cy="93268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4" name="Shape 72"/>
          <p:cNvSpPr/>
          <p:nvPr/>
        </p:nvSpPr>
        <p:spPr>
          <a:xfrm>
            <a:off x="3410712" y="2862072"/>
            <a:ext cx="50292" cy="932688"/>
          </a:xfrm>
          <a:prstGeom prst="rect">
            <a:avLst/>
          </a:prstGeom>
          <a:solidFill>
            <a:srgbClr val="2A9D8F"/>
          </a:solidFill>
          <a:ln w="12700">
            <a:solidFill>
              <a:srgbClr val="2A9D8F"/>
            </a:solidFill>
            <a:prstDash val="solid"/>
          </a:ln>
        </p:spPr>
        <p:txBody>
          <a:bodyPr/>
          <a:lstStyle/>
          <a:p>
            <a:endParaRPr lang="ja-JP" altLang="en-US"/>
          </a:p>
        </p:txBody>
      </p:sp>
      <p:sp>
        <p:nvSpPr>
          <p:cNvPr id="75" name="Text 73"/>
          <p:cNvSpPr/>
          <p:nvPr/>
        </p:nvSpPr>
        <p:spPr>
          <a:xfrm>
            <a:off x="3575304"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Hesai</a:t>
            </a:r>
            <a:endParaRPr lang="en-US" sz="1600" dirty="0"/>
          </a:p>
        </p:txBody>
      </p:sp>
      <p:sp>
        <p:nvSpPr>
          <p:cNvPr id="76" name="Text 74"/>
          <p:cNvSpPr/>
          <p:nvPr/>
        </p:nvSpPr>
        <p:spPr>
          <a:xfrm>
            <a:off x="3575304"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Glass・Mirrorが最良。Obstacleは3機種中で低い。</a:t>
            </a:r>
            <a:endParaRPr lang="en-US" sz="1240" dirty="0"/>
          </a:p>
        </p:txBody>
      </p:sp>
      <p:sp>
        <p:nvSpPr>
          <p:cNvPr id="77" name="Shape 75"/>
          <p:cNvSpPr/>
          <p:nvPr/>
        </p:nvSpPr>
        <p:spPr>
          <a:xfrm>
            <a:off x="6071616" y="2862072"/>
            <a:ext cx="2304288" cy="932688"/>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8" name="Shape 76"/>
          <p:cNvSpPr/>
          <p:nvPr/>
        </p:nvSpPr>
        <p:spPr>
          <a:xfrm>
            <a:off x="6071616" y="2862072"/>
            <a:ext cx="50292" cy="932688"/>
          </a:xfrm>
          <a:prstGeom prst="rect">
            <a:avLst/>
          </a:prstGeom>
          <a:solidFill>
            <a:srgbClr val="ED7D31"/>
          </a:solidFill>
          <a:ln w="12700">
            <a:solidFill>
              <a:srgbClr val="ED7D31"/>
            </a:solidFill>
            <a:prstDash val="solid"/>
          </a:ln>
        </p:spPr>
        <p:txBody>
          <a:bodyPr/>
          <a:lstStyle/>
          <a:p>
            <a:endParaRPr lang="ja-JP" altLang="en-US"/>
          </a:p>
        </p:txBody>
      </p:sp>
      <p:sp>
        <p:nvSpPr>
          <p:cNvPr id="79" name="Text 77"/>
          <p:cNvSpPr/>
          <p:nvPr/>
        </p:nvSpPr>
        <p:spPr>
          <a:xfrm>
            <a:off x="6236208"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a:t>
            </a:r>
            <a:endParaRPr lang="en-US" sz="1600" dirty="0"/>
          </a:p>
        </p:txBody>
      </p:sp>
      <p:sp>
        <p:nvSpPr>
          <p:cNvPr id="80" name="Text 78"/>
          <p:cNvSpPr/>
          <p:nvPr/>
        </p:nvSpPr>
        <p:spPr>
          <a:xfrm>
            <a:off x="6236208"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最高mIoU。late returnが多く、Obstacleも高い。</a:t>
            </a:r>
            <a:endParaRPr lang="en-US" sz="1240" dirty="0"/>
          </a:p>
        </p:txBody>
      </p:sp>
      <p:sp>
        <p:nvSpPr>
          <p:cNvPr id="81" name="Shape 79"/>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82" name="Shape 80"/>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83" name="Text 8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sensor差はreturn特性・点密度・class priorが混在した結果で、純粋な機種優劣ではない。</a:t>
            </a:r>
            <a:endParaRPr lang="en-US" sz="1450" dirty="0"/>
          </a:p>
        </p:txBody>
      </p:sp>
      <p:sp>
        <p:nvSpPr>
          <p:cNvPr id="84" name="Text 8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(Cylinder3D + return)</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結果は有用だが、論文本文と表の不一致を分けて読む必要がある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Critical reading</a:t>
            </a:r>
            <a:endParaRPr lang="en-US" sz="950" dirty="0"/>
          </a:p>
        </p:txBody>
      </p:sp>
      <p:sp>
        <p:nvSpPr>
          <p:cNvPr id="5" name="Shape 3"/>
          <p:cNvSpPr/>
          <p:nvPr/>
        </p:nvSpPr>
        <p:spPr>
          <a:xfrm>
            <a:off x="621792" y="960120"/>
            <a:ext cx="3749040" cy="135331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21792" y="960120"/>
            <a:ext cx="50292" cy="1353312"/>
          </a:xfrm>
          <a:prstGeom prst="rect">
            <a:avLst/>
          </a:prstGeom>
          <a:solidFill>
            <a:srgbClr val="ED7D31"/>
          </a:solidFill>
          <a:ln w="12700">
            <a:solidFill>
              <a:srgbClr val="ED7D31"/>
            </a:solidFill>
            <a:prstDash val="solid"/>
          </a:ln>
        </p:spPr>
        <p:txBody>
          <a:bodyPr/>
          <a:lstStyle/>
          <a:p>
            <a:endParaRPr lang="ja-JP" altLang="en-US"/>
          </a:p>
        </p:txBody>
      </p:sp>
      <p:sp>
        <p:nvSpPr>
          <p:cNvPr id="7" name="Text 5"/>
          <p:cNvSpPr/>
          <p:nvPr/>
        </p:nvSpPr>
        <p:spPr>
          <a:xfrm>
            <a:off x="786384" y="103327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Table 5：return改善量</a:t>
            </a:r>
            <a:endParaRPr lang="en-US" sz="1600" dirty="0"/>
          </a:p>
        </p:txBody>
      </p:sp>
      <p:sp>
        <p:nvSpPr>
          <p:cNvPr id="8" name="Text 6"/>
          <p:cNvSpPr/>
          <p:nvPr/>
        </p:nvSpPr>
        <p:spPr>
          <a:xfrm>
            <a:off x="786384" y="1380744"/>
            <a:ext cx="3474720" cy="84124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表からの差分平均は+0.353 point。本文は“0.5% across methods”と記述。丸め方が明示されない。</a:t>
            </a:r>
            <a:endParaRPr lang="en-US" sz="1340" dirty="0"/>
          </a:p>
        </p:txBody>
      </p:sp>
      <p:sp>
        <p:nvSpPr>
          <p:cNvPr id="9" name="Shape 7"/>
          <p:cNvSpPr/>
          <p:nvPr/>
        </p:nvSpPr>
        <p:spPr>
          <a:xfrm>
            <a:off x="4773168" y="960120"/>
            <a:ext cx="3749040" cy="1353312"/>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73168" y="960120"/>
            <a:ext cx="50292" cy="1353312"/>
          </a:xfrm>
          <a:prstGeom prst="rect">
            <a:avLst/>
          </a:prstGeom>
          <a:solidFill>
            <a:srgbClr val="C94C4C"/>
          </a:solidFill>
          <a:ln w="12700">
            <a:solidFill>
              <a:srgbClr val="C94C4C"/>
            </a:solidFill>
            <a:prstDash val="solid"/>
          </a:ln>
        </p:spPr>
        <p:txBody>
          <a:bodyPr/>
          <a:lstStyle/>
          <a:p>
            <a:endParaRPr lang="ja-JP" altLang="en-US"/>
          </a:p>
        </p:txBody>
      </p:sp>
      <p:sp>
        <p:nvSpPr>
          <p:cNvPr id="11" name="Text 9"/>
          <p:cNvSpPr/>
          <p:nvPr/>
        </p:nvSpPr>
        <p:spPr>
          <a:xfrm>
            <a:off x="4937760" y="103327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Table 6：87.60の帰属</a:t>
            </a:r>
            <a:endParaRPr lang="en-US" sz="1600" dirty="0"/>
          </a:p>
        </p:txBody>
      </p:sp>
      <p:sp>
        <p:nvSpPr>
          <p:cNvPr id="12" name="Text 10"/>
          <p:cNvSpPr/>
          <p:nvPr/>
        </p:nvSpPr>
        <p:spPr>
          <a:xfrm>
            <a:off x="4937760" y="1380744"/>
            <a:ext cx="3474720" cy="84124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表ではEBLNet*の3DRef-All=87.60。本文は“Retrained SATNet ... 87.6%”と記述し、手法名が不一致。</a:t>
            </a:r>
            <a:endParaRPr lang="en-US" sz="1340" dirty="0"/>
          </a:p>
        </p:txBody>
      </p:sp>
      <p:sp>
        <p:nvSpPr>
          <p:cNvPr id="13" name="Shape 11"/>
          <p:cNvSpPr/>
          <p:nvPr/>
        </p:nvSpPr>
        <p:spPr>
          <a:xfrm>
            <a:off x="621792" y="2651760"/>
            <a:ext cx="3749040" cy="111556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21792" y="2651760"/>
            <a:ext cx="50292" cy="1115568"/>
          </a:xfrm>
          <a:prstGeom prst="rect">
            <a:avLst/>
          </a:prstGeom>
          <a:solidFill>
            <a:srgbClr val="2A9D8F"/>
          </a:solidFill>
          <a:ln w="12700">
            <a:solidFill>
              <a:srgbClr val="2A9D8F"/>
            </a:solidFill>
            <a:prstDash val="solid"/>
          </a:ln>
        </p:spPr>
        <p:txBody>
          <a:bodyPr/>
          <a:lstStyle/>
          <a:p>
            <a:endParaRPr lang="ja-JP" altLang="en-US"/>
          </a:p>
        </p:txBody>
      </p:sp>
      <p:sp>
        <p:nvSpPr>
          <p:cNvPr id="15" name="Text 13"/>
          <p:cNvSpPr/>
          <p:nvPr/>
        </p:nvSpPr>
        <p:spPr>
          <a:xfrm>
            <a:off x="786384" y="272491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論文が支持する主張</a:t>
            </a:r>
            <a:endParaRPr lang="en-US" sz="1600" dirty="0"/>
          </a:p>
        </p:txBody>
      </p:sp>
      <p:sp>
        <p:nvSpPr>
          <p:cNvPr id="16" name="Text 14"/>
          <p:cNvSpPr/>
          <p:nvPr/>
        </p:nvSpPr>
        <p:spPr>
          <a:xfrm>
            <a:off x="786384" y="3072384"/>
            <a:ext cx="3474720" cy="603504"/>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3D labelsを構築できる／baselineを提示できる／late returnが反射現象に偏る。</a:t>
            </a:r>
            <a:endParaRPr lang="en-US" sz="1340" dirty="0"/>
          </a:p>
        </p:txBody>
      </p:sp>
      <p:sp>
        <p:nvSpPr>
          <p:cNvPr id="17" name="Shape 15"/>
          <p:cNvSpPr/>
          <p:nvPr/>
        </p:nvSpPr>
        <p:spPr>
          <a:xfrm>
            <a:off x="4773168" y="2651760"/>
            <a:ext cx="3749040" cy="111556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773168" y="2651760"/>
            <a:ext cx="50292" cy="1115568"/>
          </a:xfrm>
          <a:prstGeom prst="rect">
            <a:avLst/>
          </a:prstGeom>
          <a:solidFill>
            <a:srgbClr val="2E75B6"/>
          </a:solidFill>
          <a:ln w="12700">
            <a:solidFill>
              <a:srgbClr val="2E75B6"/>
            </a:solidFill>
            <a:prstDash val="solid"/>
          </a:ln>
        </p:spPr>
        <p:txBody>
          <a:bodyPr/>
          <a:lstStyle/>
          <a:p>
            <a:endParaRPr lang="ja-JP" altLang="en-US"/>
          </a:p>
        </p:txBody>
      </p:sp>
      <p:sp>
        <p:nvSpPr>
          <p:cNvPr id="19" name="Text 17"/>
          <p:cNvSpPr/>
          <p:nvPr/>
        </p:nvSpPr>
        <p:spPr>
          <a:xfrm>
            <a:off x="4937760" y="272491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まだ支持しない主張</a:t>
            </a:r>
            <a:endParaRPr lang="en-US" sz="1600" dirty="0"/>
          </a:p>
        </p:txBody>
      </p:sp>
      <p:sp>
        <p:nvSpPr>
          <p:cNvPr id="20" name="Text 18"/>
          <p:cNvSpPr/>
          <p:nvPr/>
        </p:nvSpPr>
        <p:spPr>
          <a:xfrm>
            <a:off x="4937760" y="3072384"/>
            <a:ext cx="3474720" cy="603504"/>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RGB-LiDAR fusionの有効性／未知環境での汎化／sensor差の因果説明。</a:t>
            </a:r>
            <a:endParaRPr lang="en-US" sz="1340" dirty="0"/>
          </a:p>
        </p:txBody>
      </p:sp>
      <p:sp>
        <p:nvSpPr>
          <p:cNvPr id="21" name="Shape 19"/>
          <p:cNvSpPr/>
          <p:nvPr/>
        </p:nvSpPr>
        <p:spPr>
          <a:xfrm>
            <a:off x="566928" y="4096512"/>
            <a:ext cx="8010144" cy="347472"/>
          </a:xfrm>
          <a:prstGeom prst="rect">
            <a:avLst/>
          </a:prstGeom>
          <a:solidFill>
            <a:srgbClr val="F8FAFB"/>
          </a:solidFill>
          <a:ln w="12700">
            <a:solidFill>
              <a:srgbClr val="17365D"/>
            </a:solidFill>
            <a:prstDash val="solid"/>
          </a:ln>
        </p:spPr>
        <p:txBody>
          <a:bodyPr/>
          <a:lstStyle/>
          <a:p>
            <a:endParaRPr lang="ja-JP" altLang="en-US"/>
          </a:p>
        </p:txBody>
      </p:sp>
      <p:sp>
        <p:nvSpPr>
          <p:cNvPr id="22" name="Shape 20"/>
          <p:cNvSpPr/>
          <p:nvPr/>
        </p:nvSpPr>
        <p:spPr>
          <a:xfrm>
            <a:off x="566928" y="4096512"/>
            <a:ext cx="64008" cy="347472"/>
          </a:xfrm>
          <a:prstGeom prst="rect">
            <a:avLst/>
          </a:prstGeom>
          <a:solidFill>
            <a:srgbClr val="17365D"/>
          </a:solidFill>
          <a:ln w="12700">
            <a:solidFill>
              <a:srgbClr val="17365D"/>
            </a:solidFill>
            <a:prstDash val="solid"/>
          </a:ln>
        </p:spPr>
        <p:txBody>
          <a:bodyPr/>
          <a:lstStyle/>
          <a:p>
            <a:endParaRPr lang="ja-JP" altLang="en-US"/>
          </a:p>
        </p:txBody>
      </p:sp>
      <p:sp>
        <p:nvSpPr>
          <p:cNvPr id="23" name="Text 2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教授向け説明では、著者の結論と表から直接読める証拠を明確に区別する。</a:t>
            </a:r>
            <a:endParaRPr lang="en-US" sz="1450" dirty="0"/>
          </a:p>
        </p:txBody>
      </p:sp>
      <p:sp>
        <p:nvSpPr>
          <p:cNvPr id="24" name="Text 2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4.1–4.2; Tables 5–6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3DRefは基盤として強い一方、環境・注釈・評価設計に限界が残る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Limitations</a:t>
            </a:r>
            <a:endParaRPr lang="en-US" sz="950" dirty="0"/>
          </a:p>
        </p:txBody>
      </p:sp>
      <p:sp>
        <p:nvSpPr>
          <p:cNvPr id="5" name="Shape 3"/>
          <p:cNvSpPr/>
          <p:nvPr/>
        </p:nvSpPr>
        <p:spPr>
          <a:xfrm>
            <a:off x="594360" y="932688"/>
            <a:ext cx="2395728" cy="2578608"/>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932688"/>
            <a:ext cx="50292" cy="2578608"/>
          </a:xfrm>
          <a:prstGeom prst="rect">
            <a:avLst/>
          </a:prstGeom>
          <a:solidFill>
            <a:srgbClr val="ED7D31"/>
          </a:solidFill>
          <a:ln w="12700">
            <a:solidFill>
              <a:srgbClr val="ED7D31"/>
            </a:solidFill>
            <a:prstDash val="solid"/>
          </a:ln>
        </p:spPr>
        <p:txBody>
          <a:bodyPr/>
          <a:lstStyle/>
          <a:p>
            <a:endParaRPr lang="ja-JP" altLang="en-US"/>
          </a:p>
        </p:txBody>
      </p:sp>
      <p:sp>
        <p:nvSpPr>
          <p:cNvPr id="7" name="Text 5"/>
          <p:cNvSpPr/>
          <p:nvPr/>
        </p:nvSpPr>
        <p:spPr>
          <a:xfrm>
            <a:off x="758952"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① Coverage</a:t>
            </a:r>
            <a:endParaRPr lang="en-US" sz="1600" dirty="0"/>
          </a:p>
        </p:txBody>
      </p:sp>
      <p:sp>
        <p:nvSpPr>
          <p:cNvPr id="8" name="Text 6"/>
          <p:cNvSpPr/>
          <p:nvPr/>
        </p:nvSpPr>
        <p:spPr>
          <a:xfrm>
            <a:off x="758952"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屋内3 sequenceが中心。屋外、水面、雨天、車載速度、多様な材質・経年変化は未評価。</a:t>
            </a:r>
            <a:endParaRPr lang="en-US" sz="1400" dirty="0"/>
          </a:p>
        </p:txBody>
      </p:sp>
      <p:sp>
        <p:nvSpPr>
          <p:cNvPr id="9" name="Shape 7"/>
          <p:cNvSpPr/>
          <p:nvPr/>
        </p:nvSpPr>
        <p:spPr>
          <a:xfrm>
            <a:off x="3374136" y="932688"/>
            <a:ext cx="2395728" cy="2578608"/>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3374136" y="932688"/>
            <a:ext cx="50292" cy="2578608"/>
          </a:xfrm>
          <a:prstGeom prst="rect">
            <a:avLst/>
          </a:prstGeom>
          <a:solidFill>
            <a:srgbClr val="C94C4C"/>
          </a:solidFill>
          <a:ln w="12700">
            <a:solidFill>
              <a:srgbClr val="C94C4C"/>
            </a:solidFill>
            <a:prstDash val="solid"/>
          </a:ln>
        </p:spPr>
        <p:txBody>
          <a:bodyPr/>
          <a:lstStyle/>
          <a:p>
            <a:endParaRPr lang="ja-JP" altLang="en-US"/>
          </a:p>
        </p:txBody>
      </p:sp>
      <p:sp>
        <p:nvSpPr>
          <p:cNvPr id="11" name="Text 9"/>
          <p:cNvSpPr/>
          <p:nvPr/>
        </p:nvSpPr>
        <p:spPr>
          <a:xfrm>
            <a:off x="3538728"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② Ground truth</a:t>
            </a:r>
            <a:endParaRPr lang="en-US" sz="1600" dirty="0"/>
          </a:p>
        </p:txBody>
      </p:sp>
      <p:sp>
        <p:nvSpPr>
          <p:cNvPr id="12" name="Text 10"/>
          <p:cNvSpPr/>
          <p:nvPr/>
        </p:nvSpPr>
        <p:spPr>
          <a:xfrm>
            <a:off x="3538728"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mesh修正は人手依存。ray castingは境界、薄い面、pose/extrinsic誤差に敏感。</a:t>
            </a:r>
            <a:endParaRPr lang="en-US" sz="1400" dirty="0"/>
          </a:p>
        </p:txBody>
      </p:sp>
      <p:sp>
        <p:nvSpPr>
          <p:cNvPr id="13" name="Shape 11"/>
          <p:cNvSpPr/>
          <p:nvPr/>
        </p:nvSpPr>
        <p:spPr>
          <a:xfrm>
            <a:off x="6153912" y="932688"/>
            <a:ext cx="2395728" cy="257860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153912" y="932688"/>
            <a:ext cx="50292" cy="2578608"/>
          </a:xfrm>
          <a:prstGeom prst="rect">
            <a:avLst/>
          </a:prstGeom>
          <a:solidFill>
            <a:srgbClr val="2E75B6"/>
          </a:solidFill>
          <a:ln w="12700">
            <a:solidFill>
              <a:srgbClr val="2E75B6"/>
            </a:solidFill>
            <a:prstDash val="solid"/>
          </a:ln>
        </p:spPr>
        <p:txBody>
          <a:bodyPr/>
          <a:lstStyle/>
          <a:p>
            <a:endParaRPr lang="ja-JP" altLang="en-US"/>
          </a:p>
        </p:txBody>
      </p:sp>
      <p:sp>
        <p:nvSpPr>
          <p:cNvPr id="15" name="Text 13"/>
          <p:cNvSpPr/>
          <p:nvPr/>
        </p:nvSpPr>
        <p:spPr>
          <a:xfrm>
            <a:off x="6318504"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③ Benchmark</a:t>
            </a:r>
            <a:endParaRPr lang="en-US" sz="1600" dirty="0"/>
          </a:p>
        </p:txBody>
      </p:sp>
      <p:sp>
        <p:nvSpPr>
          <p:cNvPr id="16" name="Text 14"/>
          <p:cNvSpPr/>
          <p:nvPr/>
        </p:nvSpPr>
        <p:spPr>
          <a:xfrm>
            <a:off x="6318504"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単一モダリティ・segmentation中心。汎化、navigation改善、fusionの実証は未実施。</a:t>
            </a:r>
            <a:endParaRPr lang="en-US" sz="1400" dirty="0"/>
          </a:p>
        </p:txBody>
      </p:sp>
      <p:sp>
        <p:nvSpPr>
          <p:cNvPr id="17" name="Shape 15"/>
          <p:cNvSpPr/>
          <p:nvPr/>
        </p:nvSpPr>
        <p:spPr>
          <a:xfrm>
            <a:off x="960120" y="3730752"/>
            <a:ext cx="7223760" cy="292608"/>
          </a:xfrm>
          <a:prstGeom prst="roundRect">
            <a:avLst>
              <a:gd name="adj" fmla="val 15625"/>
            </a:avLst>
          </a:prstGeom>
          <a:solidFill>
            <a:srgbClr val="E7F4F2"/>
          </a:solidFill>
          <a:ln w="12700">
            <a:solidFill>
              <a:srgbClr val="2A9D8F"/>
            </a:solidFill>
            <a:prstDash val="solid"/>
          </a:ln>
        </p:spPr>
        <p:txBody>
          <a:bodyPr/>
          <a:lstStyle/>
          <a:p>
            <a:endParaRPr lang="ja-JP" altLang="en-US"/>
          </a:p>
        </p:txBody>
      </p:sp>
      <p:sp>
        <p:nvSpPr>
          <p:cNvPr id="18" name="Text 16"/>
          <p:cNvSpPr/>
          <p:nvPr/>
        </p:nvSpPr>
        <p:spPr>
          <a:xfrm>
            <a:off x="960120" y="3730752"/>
            <a:ext cx="7223760" cy="292608"/>
          </a:xfrm>
          <a:prstGeom prst="rect">
            <a:avLst/>
          </a:prstGeom>
          <a:noFill/>
          <a:ln/>
        </p:spPr>
        <p:txBody>
          <a:bodyPr wrap="square" lIns="0" tIns="0" rIns="0" bIns="0" rtlCol="0" anchor="ctr">
            <a:normAutofit fontScale="85000" lnSpcReduction="20000"/>
          </a:bodyPr>
          <a:lstStyle/>
          <a:p>
            <a:pPr marL="0" indent="0" algn="ctr">
              <a:buNone/>
            </a:pPr>
            <a:r>
              <a:rPr lang="en-US" sz="1250" b="1" dirty="0">
                <a:solidFill>
                  <a:srgbClr val="2A9D8F"/>
                </a:solidFill>
                <a:latin typeface="Yu Gothic" pitchFamily="34" charset="0"/>
                <a:ea typeface="Yu Gothic" pitchFamily="34" charset="-122"/>
                <a:cs typeface="Yu Gothic" pitchFamily="34" charset="-120"/>
              </a:rPr>
              <a:t>著者のfuture work：センサ・材質・環境拡張／RGB-LiDAR fusion／depth・polarization／self・semi-supervised</a:t>
            </a:r>
            <a:endParaRPr lang="en-US" sz="1250" dirty="0"/>
          </a:p>
        </p:txBody>
      </p:sp>
      <p:sp>
        <p:nvSpPr>
          <p:cNvPr id="19" name="Shape 17"/>
          <p:cNvSpPr/>
          <p:nvPr/>
        </p:nvSpPr>
        <p:spPr>
          <a:xfrm>
            <a:off x="566928" y="4096512"/>
            <a:ext cx="8010144" cy="347472"/>
          </a:xfrm>
          <a:prstGeom prst="rect">
            <a:avLst/>
          </a:prstGeom>
          <a:solidFill>
            <a:srgbClr val="F8FAFB"/>
          </a:solidFill>
          <a:ln w="12700">
            <a:solidFill>
              <a:srgbClr val="2A9D8F"/>
            </a:solidFill>
            <a:prstDash val="solid"/>
          </a:ln>
        </p:spPr>
        <p:txBody>
          <a:bodyPr/>
          <a:lstStyle/>
          <a:p>
            <a:endParaRPr lang="ja-JP" altLang="en-US"/>
          </a:p>
        </p:txBody>
      </p:sp>
      <p:sp>
        <p:nvSpPr>
          <p:cNvPr id="20" name="Shape 18"/>
          <p:cNvSpPr/>
          <p:nvPr/>
        </p:nvSpPr>
        <p:spPr>
          <a:xfrm>
            <a:off x="566928" y="4096512"/>
            <a:ext cx="64008" cy="347472"/>
          </a:xfrm>
          <a:prstGeom prst="rect">
            <a:avLst/>
          </a:prstGeom>
          <a:solidFill>
            <a:srgbClr val="2A9D8F"/>
          </a:solidFill>
          <a:ln w="12700">
            <a:solidFill>
              <a:srgbClr val="2A9D8F"/>
            </a:solidFill>
            <a:prstDash val="solid"/>
          </a:ln>
        </p:spPr>
        <p:txBody>
          <a:bodyPr/>
          <a:lstStyle/>
          <a:p>
            <a:endParaRPr lang="ja-JP" altLang="en-US"/>
          </a:p>
        </p:txBody>
      </p:sp>
      <p:sp>
        <p:nvSpPr>
          <p:cNvPr id="21" name="Text 19"/>
          <p:cNvSpPr/>
          <p:nvPr/>
        </p:nvSpPr>
        <p:spPr>
          <a:xfrm>
            <a:off x="749808" y="4123944"/>
            <a:ext cx="7635240" cy="274320"/>
          </a:xfrm>
          <a:prstGeom prst="rect">
            <a:avLst/>
          </a:prstGeom>
          <a:noFill/>
          <a:ln/>
        </p:spPr>
        <p:txBody>
          <a:bodyPr wrap="square" lIns="0" tIns="0" rIns="0" bIns="0" rtlCol="0" anchor="ctr">
            <a:normAutofit fontScale="85000" lnSpcReduction="100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次の研究課題は、より多様な条件での汎化と、検出がmapping/navigationをどれだけ改善するかの評価。</a:t>
            </a:r>
            <a:endParaRPr lang="en-US" sz="1450" dirty="0"/>
          </a:p>
        </p:txBody>
      </p:sp>
      <p:sp>
        <p:nvSpPr>
          <p:cNvPr id="22" name="Text 2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Conclusion; limitations are presentation analysis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参考文献</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References</a:t>
            </a:r>
            <a:endParaRPr lang="en-US" sz="950" dirty="0"/>
          </a:p>
        </p:txBody>
      </p:sp>
      <p:sp>
        <p:nvSpPr>
          <p:cNvPr id="5" name="Text 3"/>
          <p:cNvSpPr/>
          <p:nvPr/>
        </p:nvSpPr>
        <p:spPr>
          <a:xfrm>
            <a:off x="658368" y="877824"/>
            <a:ext cx="7827264" cy="347472"/>
          </a:xfrm>
          <a:prstGeom prst="rect">
            <a:avLst/>
          </a:prstGeom>
          <a:noFill/>
          <a:ln/>
        </p:spPr>
        <p:txBody>
          <a:bodyPr wrap="square" lIns="0" tIns="0" rIns="0" bIns="0" rtlCol="0" anchor="t">
            <a:normAutofit lnSpcReduction="10000"/>
          </a:bodyPr>
          <a:lstStyle/>
          <a:p>
            <a:pPr marL="0" indent="0">
              <a:buNone/>
            </a:pPr>
            <a:r>
              <a:rPr lang="en-US" sz="1220" b="1" dirty="0">
                <a:solidFill>
                  <a:srgbClr val="17365D"/>
                </a:solidFill>
                <a:latin typeface="Yu Gothic" pitchFamily="34" charset="0"/>
                <a:ea typeface="Yu Gothic" pitchFamily="34" charset="-122"/>
                <a:cs typeface="Yu Gothic" pitchFamily="34" charset="-120"/>
              </a:rPr>
              <a:t>[1] X. Zhao and S. Schwertfeger, “3DRef: 3D Dataset and Benchmark for Reflection Detection in RGB and Lidar Data,” 3DV, 2024. arXiv:2403.06538.</a:t>
            </a:r>
            <a:endParaRPr lang="en-US" sz="1220" dirty="0"/>
          </a:p>
        </p:txBody>
      </p:sp>
      <p:sp>
        <p:nvSpPr>
          <p:cNvPr id="6" name="Shape 4"/>
          <p:cNvSpPr/>
          <p:nvPr/>
        </p:nvSpPr>
        <p:spPr>
          <a:xfrm>
            <a:off x="658368" y="1243584"/>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7" name="Text 5"/>
          <p:cNvSpPr/>
          <p:nvPr/>
        </p:nvSpPr>
        <p:spPr>
          <a:xfrm>
            <a:off x="658368" y="1307592"/>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[2] Y. Mei et al., “Don't Hit Me! Glass Detection in Real-world Scenes,” CVPR, 2020. (GDD / GlassSemNet)</a:t>
            </a:r>
            <a:endParaRPr lang="en-US" sz="1220" dirty="0"/>
          </a:p>
        </p:txBody>
      </p:sp>
      <p:sp>
        <p:nvSpPr>
          <p:cNvPr id="8" name="Shape 6"/>
          <p:cNvSpPr/>
          <p:nvPr/>
        </p:nvSpPr>
        <p:spPr>
          <a:xfrm>
            <a:off x="658368" y="1673352"/>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9" name="Text 7"/>
          <p:cNvSpPr/>
          <p:nvPr/>
        </p:nvSpPr>
        <p:spPr>
          <a:xfrm>
            <a:off x="658368" y="1737360"/>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[3] H. Lin et al., “Mirror Detection via Semantic-aware Context Contrast,” AAAI, 2020. (MSD)</a:t>
            </a:r>
            <a:endParaRPr lang="en-US" sz="1220" dirty="0"/>
          </a:p>
        </p:txBody>
      </p:sp>
      <p:sp>
        <p:nvSpPr>
          <p:cNvPr id="10" name="Shape 8"/>
          <p:cNvSpPr/>
          <p:nvPr/>
        </p:nvSpPr>
        <p:spPr>
          <a:xfrm>
            <a:off x="658368" y="2103120"/>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1" name="Text 9"/>
          <p:cNvSpPr/>
          <p:nvPr/>
        </p:nvSpPr>
        <p:spPr>
          <a:xfrm>
            <a:off x="658368" y="2167128"/>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[4] J. Xu et al., “Mirror3D: Depth Refinement for Mirror Surfaces,” CVPR, 2021.</a:t>
            </a:r>
            <a:endParaRPr lang="en-US" sz="1220" dirty="0"/>
          </a:p>
        </p:txBody>
      </p:sp>
      <p:sp>
        <p:nvSpPr>
          <p:cNvPr id="12" name="Shape 10"/>
          <p:cNvSpPr/>
          <p:nvPr/>
        </p:nvSpPr>
        <p:spPr>
          <a:xfrm>
            <a:off x="658368" y="2532888"/>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3" name="Text 11"/>
          <p:cNvSpPr/>
          <p:nvPr/>
        </p:nvSpPr>
        <p:spPr>
          <a:xfrm>
            <a:off x="658368" y="2596896"/>
            <a:ext cx="7827264" cy="347472"/>
          </a:xfrm>
          <a:prstGeom prst="rect">
            <a:avLst/>
          </a:prstGeom>
          <a:noFill/>
          <a:ln/>
        </p:spPr>
        <p:txBody>
          <a:bodyPr wrap="square" lIns="0" tIns="0" rIns="0" bIns="0" rtlCol="0" anchor="t">
            <a:normAutofit lnSpcReduction="10000"/>
          </a:bodyPr>
          <a:lstStyle/>
          <a:p>
            <a:pPr marL="0" indent="0">
              <a:buNone/>
            </a:pPr>
            <a:r>
              <a:rPr lang="en-US" sz="1220" dirty="0">
                <a:solidFill>
                  <a:srgbClr val="4D5966"/>
                </a:solidFill>
                <a:latin typeface="Yu Gothic" pitchFamily="34" charset="0"/>
                <a:ea typeface="Yu Gothic" pitchFamily="34" charset="-122"/>
                <a:cs typeface="Yu Gothic" pitchFamily="34" charset="-120"/>
              </a:rPr>
              <a:t>[5] L. Fan et al., “EBLNet: Edge-aware Boundary Localization Network for Glass-like Object Segmentation,” ICCV, 2021.</a:t>
            </a:r>
            <a:endParaRPr lang="en-US" sz="1220" dirty="0"/>
          </a:p>
        </p:txBody>
      </p:sp>
      <p:sp>
        <p:nvSpPr>
          <p:cNvPr id="14" name="Shape 12"/>
          <p:cNvSpPr/>
          <p:nvPr/>
        </p:nvSpPr>
        <p:spPr>
          <a:xfrm>
            <a:off x="658368" y="2962656"/>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5" name="Text 13"/>
          <p:cNvSpPr/>
          <p:nvPr/>
        </p:nvSpPr>
        <p:spPr>
          <a:xfrm>
            <a:off x="658368" y="3026664"/>
            <a:ext cx="7827264" cy="347472"/>
          </a:xfrm>
          <a:prstGeom prst="rect">
            <a:avLst/>
          </a:prstGeom>
          <a:noFill/>
          <a:ln/>
        </p:spPr>
        <p:txBody>
          <a:bodyPr wrap="square" lIns="0" tIns="0" rIns="0" bIns="0" rtlCol="0" anchor="t">
            <a:normAutofit lnSpcReduction="10000"/>
          </a:bodyPr>
          <a:lstStyle/>
          <a:p>
            <a:pPr marL="0" indent="0">
              <a:buNone/>
            </a:pPr>
            <a:r>
              <a:rPr lang="en-US" sz="1220" dirty="0">
                <a:solidFill>
                  <a:srgbClr val="4D5966"/>
                </a:solidFill>
                <a:latin typeface="Yu Gothic" pitchFamily="34" charset="0"/>
                <a:ea typeface="Yu Gothic" pitchFamily="34" charset="-122"/>
                <a:cs typeface="Yu Gothic" pitchFamily="34" charset="-120"/>
              </a:rPr>
              <a:t>[6] R. Cheng et al., “SATNet: Symmetrical Attention Transfer Network for Dichromatic Image Segmentation,” ACM MM, 2022.</a:t>
            </a:r>
            <a:endParaRPr lang="en-US" sz="1220" dirty="0"/>
          </a:p>
        </p:txBody>
      </p:sp>
      <p:sp>
        <p:nvSpPr>
          <p:cNvPr id="16" name="Shape 14"/>
          <p:cNvSpPr/>
          <p:nvPr/>
        </p:nvSpPr>
        <p:spPr>
          <a:xfrm>
            <a:off x="658368" y="3392424"/>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7" name="Text 15"/>
          <p:cNvSpPr/>
          <p:nvPr/>
        </p:nvSpPr>
        <p:spPr>
          <a:xfrm>
            <a:off x="658368" y="3456432"/>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[7] Y. Zhang et al., “PCSeg: An Open Source Point Cloud Segmentation Codebase,” 2023.</a:t>
            </a:r>
            <a:endParaRPr lang="en-US" sz="1220" dirty="0"/>
          </a:p>
        </p:txBody>
      </p:sp>
      <p:sp>
        <p:nvSpPr>
          <p:cNvPr id="18" name="Shape 16"/>
          <p:cNvSpPr/>
          <p:nvPr/>
        </p:nvSpPr>
        <p:spPr>
          <a:xfrm>
            <a:off x="658368" y="3822192"/>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9" name="Text 17"/>
          <p:cNvSpPr/>
          <p:nvPr/>
        </p:nvSpPr>
        <p:spPr>
          <a:xfrm>
            <a:off x="658368" y="3886200"/>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Dataset / code: http://3dref.github.io</a:t>
            </a:r>
            <a:endParaRPr lang="en-US" sz="12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結論：3DRefは反射を『材料』と『点の生成現象』の両方で学習可能にした</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Conclusion</a:t>
            </a:r>
            <a:endParaRPr lang="en-US" sz="950" dirty="0"/>
          </a:p>
        </p:txBody>
      </p:sp>
      <p:sp>
        <p:nvSpPr>
          <p:cNvPr id="5" name="Shape 3"/>
          <p:cNvSpPr/>
          <p:nvPr/>
        </p:nvSpPr>
        <p:spPr>
          <a:xfrm>
            <a:off x="658368"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58368" y="960120"/>
            <a:ext cx="50292" cy="233172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822960"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3D正解の設計</a:t>
            </a:r>
            <a:endParaRPr lang="en-US" sz="1600" dirty="0"/>
          </a:p>
        </p:txBody>
      </p:sp>
      <p:sp>
        <p:nvSpPr>
          <p:cNvPr id="8" name="Text 6"/>
          <p:cNvSpPr/>
          <p:nvPr/>
        </p:nvSpPr>
        <p:spPr>
          <a:xfrm>
            <a:off x="822960"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修正済みtextured meshを共通基盤に、点群とRGB maskを一貫生成。</a:t>
            </a:r>
            <a:endParaRPr lang="en-US" sz="1320" dirty="0"/>
          </a:p>
        </p:txBody>
      </p:sp>
      <p:sp>
        <p:nvSpPr>
          <p:cNvPr id="9" name="Shape 7"/>
          <p:cNvSpPr/>
          <p:nvPr/>
        </p:nvSpPr>
        <p:spPr>
          <a:xfrm>
            <a:off x="2798064" y="850392"/>
            <a:ext cx="292608" cy="292608"/>
          </a:xfrm>
          <a:prstGeom prst="ellipse">
            <a:avLst/>
          </a:prstGeom>
          <a:solidFill>
            <a:srgbClr val="2E75B6"/>
          </a:solidFill>
          <a:ln w="12700">
            <a:solidFill>
              <a:srgbClr val="2E75B6"/>
            </a:solidFill>
            <a:prstDash val="solid"/>
          </a:ln>
        </p:spPr>
        <p:txBody>
          <a:bodyPr/>
          <a:lstStyle/>
          <a:p>
            <a:endParaRPr lang="ja-JP" altLang="en-US"/>
          </a:p>
        </p:txBody>
      </p:sp>
      <p:sp>
        <p:nvSpPr>
          <p:cNvPr id="10" name="Text 8"/>
          <p:cNvSpPr/>
          <p:nvPr/>
        </p:nvSpPr>
        <p:spPr>
          <a:xfrm>
            <a:off x="2798064"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1" name="Shape 9"/>
          <p:cNvSpPr/>
          <p:nvPr/>
        </p:nvSpPr>
        <p:spPr>
          <a:xfrm>
            <a:off x="3346704"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Shape 10"/>
          <p:cNvSpPr/>
          <p:nvPr/>
        </p:nvSpPr>
        <p:spPr>
          <a:xfrm>
            <a:off x="3346704" y="960120"/>
            <a:ext cx="50292" cy="2331720"/>
          </a:xfrm>
          <a:prstGeom prst="rect">
            <a:avLst/>
          </a:prstGeom>
          <a:solidFill>
            <a:srgbClr val="2A9D8F"/>
          </a:solidFill>
          <a:ln w="12700">
            <a:solidFill>
              <a:srgbClr val="2A9D8F"/>
            </a:solidFill>
            <a:prstDash val="solid"/>
          </a:ln>
        </p:spPr>
        <p:txBody>
          <a:bodyPr/>
          <a:lstStyle/>
          <a:p>
            <a:endParaRPr lang="ja-JP" altLang="en-US"/>
          </a:p>
        </p:txBody>
      </p:sp>
      <p:sp>
        <p:nvSpPr>
          <p:cNvPr id="13" name="Text 11"/>
          <p:cNvSpPr/>
          <p:nvPr/>
        </p:nvSpPr>
        <p:spPr>
          <a:xfrm>
            <a:off x="3511296"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multi-returnの証拠</a:t>
            </a:r>
            <a:endParaRPr lang="en-US" sz="1600" dirty="0"/>
          </a:p>
        </p:txBody>
      </p:sp>
      <p:sp>
        <p:nvSpPr>
          <p:cNvPr id="14" name="Text 12"/>
          <p:cNvSpPr/>
          <p:nvPr/>
        </p:nvSpPr>
        <p:spPr>
          <a:xfrm>
            <a:off x="3511296"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late returnはReflection / Obstacleに偏る。ただしmIoU改善は平均+0.35 point。</a:t>
            </a:r>
            <a:endParaRPr lang="en-US" sz="1320" dirty="0"/>
          </a:p>
        </p:txBody>
      </p:sp>
      <p:sp>
        <p:nvSpPr>
          <p:cNvPr id="15" name="Shape 13"/>
          <p:cNvSpPr/>
          <p:nvPr/>
        </p:nvSpPr>
        <p:spPr>
          <a:xfrm>
            <a:off x="5486400" y="850392"/>
            <a:ext cx="292608" cy="292608"/>
          </a:xfrm>
          <a:prstGeom prst="ellipse">
            <a:avLst/>
          </a:prstGeom>
          <a:solidFill>
            <a:srgbClr val="2A9D8F"/>
          </a:solidFill>
          <a:ln w="12700">
            <a:solidFill>
              <a:srgbClr val="2A9D8F"/>
            </a:solidFill>
            <a:prstDash val="solid"/>
          </a:ln>
        </p:spPr>
        <p:txBody>
          <a:bodyPr/>
          <a:lstStyle/>
          <a:p>
            <a:endParaRPr lang="ja-JP" altLang="en-US"/>
          </a:p>
        </p:txBody>
      </p:sp>
      <p:sp>
        <p:nvSpPr>
          <p:cNvPr id="16" name="Text 14"/>
          <p:cNvSpPr/>
          <p:nvPr/>
        </p:nvSpPr>
        <p:spPr>
          <a:xfrm>
            <a:off x="5486400"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7" name="Shape 15"/>
          <p:cNvSpPr/>
          <p:nvPr/>
        </p:nvSpPr>
        <p:spPr>
          <a:xfrm>
            <a:off x="6035040"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6035040" y="960120"/>
            <a:ext cx="50292" cy="2331720"/>
          </a:xfrm>
          <a:prstGeom prst="rect">
            <a:avLst/>
          </a:prstGeom>
          <a:solidFill>
            <a:srgbClr val="ED7D31"/>
          </a:solidFill>
          <a:ln w="12700">
            <a:solidFill>
              <a:srgbClr val="ED7D31"/>
            </a:solidFill>
            <a:prstDash val="solid"/>
          </a:ln>
        </p:spPr>
        <p:txBody>
          <a:bodyPr/>
          <a:lstStyle/>
          <a:p>
            <a:endParaRPr lang="ja-JP" altLang="en-US"/>
          </a:p>
        </p:txBody>
      </p:sp>
      <p:sp>
        <p:nvSpPr>
          <p:cNvPr id="19" name="Text 17"/>
          <p:cNvSpPr/>
          <p:nvPr/>
        </p:nvSpPr>
        <p:spPr>
          <a:xfrm>
            <a:off x="6199632"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benchmarkの意味</a:t>
            </a:r>
            <a:endParaRPr lang="en-US" sz="1600" dirty="0"/>
          </a:p>
        </p:txBody>
      </p:sp>
      <p:sp>
        <p:nvSpPr>
          <p:cNvPr id="20" name="Text 18"/>
          <p:cNvSpPr/>
          <p:nvPr/>
        </p:nvSpPr>
        <p:spPr>
          <a:xfrm>
            <a:off x="6199632"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既存RGBモデルのdomain gapを示し、LiDAR/RGB研究の再現可能な基準値を提供。</a:t>
            </a:r>
            <a:endParaRPr lang="en-US" sz="1320" dirty="0"/>
          </a:p>
        </p:txBody>
      </p:sp>
      <p:sp>
        <p:nvSpPr>
          <p:cNvPr id="21" name="Shape 19"/>
          <p:cNvSpPr/>
          <p:nvPr/>
        </p:nvSpPr>
        <p:spPr>
          <a:xfrm>
            <a:off x="8174736" y="850392"/>
            <a:ext cx="292608" cy="292608"/>
          </a:xfrm>
          <a:prstGeom prst="ellipse">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8174736"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3" name="Shape 21"/>
          <p:cNvSpPr/>
          <p:nvPr/>
        </p:nvSpPr>
        <p:spPr>
          <a:xfrm>
            <a:off x="658368" y="3602736"/>
            <a:ext cx="7827264" cy="493776"/>
          </a:xfrm>
          <a:prstGeom prst="rect">
            <a:avLst/>
          </a:prstGeom>
          <a:solidFill>
            <a:srgbClr val="17365D"/>
          </a:solidFill>
          <a:ln w="12700">
            <a:solidFill>
              <a:srgbClr val="17365D"/>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4" name="Text 22"/>
          <p:cNvSpPr/>
          <p:nvPr/>
        </p:nvSpPr>
        <p:spPr>
          <a:xfrm>
            <a:off x="877824" y="3703320"/>
            <a:ext cx="7388352" cy="292608"/>
          </a:xfrm>
          <a:prstGeom prst="rect">
            <a:avLst/>
          </a:prstGeom>
          <a:noFill/>
          <a:ln/>
        </p:spPr>
        <p:txBody>
          <a:bodyPr wrap="square" lIns="0" tIns="0" rIns="0" bIns="0" rtlCol="0" anchor="ctr">
            <a:normAutofit fontScale="70000" lnSpcReduction="20000"/>
          </a:bodyPr>
          <a:lstStyle/>
          <a:p>
            <a:pPr marL="0" indent="0" algn="ctr">
              <a:buNone/>
            </a:pPr>
            <a:r>
              <a:rPr lang="en-US" sz="1700" b="1" dirty="0">
                <a:solidFill>
                  <a:srgbClr val="FFFFFF"/>
                </a:solidFill>
                <a:latin typeface="Yu Gothic" pitchFamily="34" charset="0"/>
                <a:ea typeface="Yu Gothic" pitchFamily="34" charset="-122"/>
                <a:cs typeface="Yu Gothic" pitchFamily="34" charset="-120"/>
              </a:rPr>
              <a:t>残る問い：この検出結果を使うと、反射環境でのSLAM・mapping・navigationはどこまで安全になるか？</a:t>
            </a:r>
            <a:endParaRPr lang="en-US" sz="1700" dirty="0"/>
          </a:p>
        </p:txBody>
      </p:sp>
      <p:sp>
        <p:nvSpPr>
          <p:cNvPr id="25" name="Text 2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Summary based on Zhao &amp; Schwertfeger (2024)</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付録A｜sensor・sequence別のclass分布（%）</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384048" y="822960"/>
            <a:ext cx="460675" cy="345643"/>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411480" y="841248"/>
            <a:ext cx="405811"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Seq</a:t>
            </a:r>
            <a:endParaRPr lang="en-US" sz="870" dirty="0"/>
          </a:p>
        </p:txBody>
      </p:sp>
      <p:sp>
        <p:nvSpPr>
          <p:cNvPr id="7" name="Shape 5"/>
          <p:cNvSpPr/>
          <p:nvPr/>
        </p:nvSpPr>
        <p:spPr>
          <a:xfrm>
            <a:off x="844723"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872155"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Sensor</a:t>
            </a:r>
            <a:endParaRPr lang="en-US" sz="870" dirty="0"/>
          </a:p>
        </p:txBody>
      </p:sp>
      <p:sp>
        <p:nvSpPr>
          <p:cNvPr id="9" name="Shape 7"/>
          <p:cNvSpPr/>
          <p:nvPr/>
        </p:nvSpPr>
        <p:spPr>
          <a:xfrm>
            <a:off x="1724193"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1751625"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Normal</a:t>
            </a:r>
            <a:endParaRPr lang="en-US" sz="870" dirty="0"/>
          </a:p>
        </p:txBody>
      </p:sp>
      <p:sp>
        <p:nvSpPr>
          <p:cNvPr id="11" name="Shape 9"/>
          <p:cNvSpPr/>
          <p:nvPr/>
        </p:nvSpPr>
        <p:spPr>
          <a:xfrm>
            <a:off x="2603663" y="822960"/>
            <a:ext cx="711952" cy="345643"/>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2631095" y="841248"/>
            <a:ext cx="657088"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Glass</a:t>
            </a:r>
            <a:endParaRPr lang="en-US" sz="870" dirty="0"/>
          </a:p>
        </p:txBody>
      </p:sp>
      <p:sp>
        <p:nvSpPr>
          <p:cNvPr id="13" name="Shape 11"/>
          <p:cNvSpPr/>
          <p:nvPr/>
        </p:nvSpPr>
        <p:spPr>
          <a:xfrm>
            <a:off x="3315614" y="822960"/>
            <a:ext cx="711952" cy="345643"/>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3343046" y="841248"/>
            <a:ext cx="657088"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Mirror</a:t>
            </a:r>
            <a:endParaRPr lang="en-US" sz="870" dirty="0"/>
          </a:p>
        </p:txBody>
      </p:sp>
      <p:sp>
        <p:nvSpPr>
          <p:cNvPr id="15" name="Shape 13"/>
          <p:cNvSpPr/>
          <p:nvPr/>
        </p:nvSpPr>
        <p:spPr>
          <a:xfrm>
            <a:off x="4027566" y="822960"/>
            <a:ext cx="753831" cy="345643"/>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4054998" y="841248"/>
            <a:ext cx="698967"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Other</a:t>
            </a:r>
            <a:endParaRPr lang="en-US" sz="870" dirty="0"/>
          </a:p>
        </p:txBody>
      </p:sp>
      <p:sp>
        <p:nvSpPr>
          <p:cNvPr id="17" name="Shape 15"/>
          <p:cNvSpPr/>
          <p:nvPr/>
        </p:nvSpPr>
        <p:spPr>
          <a:xfrm>
            <a:off x="4781398" y="822960"/>
            <a:ext cx="837590" cy="345643"/>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4808830" y="841248"/>
            <a:ext cx="78272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Reflect.</a:t>
            </a:r>
            <a:endParaRPr lang="en-US" sz="870" dirty="0"/>
          </a:p>
        </p:txBody>
      </p:sp>
      <p:sp>
        <p:nvSpPr>
          <p:cNvPr id="19" name="Shape 17"/>
          <p:cNvSpPr/>
          <p:nvPr/>
        </p:nvSpPr>
        <p:spPr>
          <a:xfrm>
            <a:off x="5618988"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5646420"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Obstacle</a:t>
            </a:r>
            <a:endParaRPr lang="en-US" sz="870" dirty="0"/>
          </a:p>
        </p:txBody>
      </p:sp>
      <p:sp>
        <p:nvSpPr>
          <p:cNvPr id="21" name="Shape 19"/>
          <p:cNvSpPr/>
          <p:nvPr/>
        </p:nvSpPr>
        <p:spPr>
          <a:xfrm>
            <a:off x="6498458" y="822960"/>
            <a:ext cx="2261494" cy="345643"/>
          </a:xfrm>
          <a:prstGeom prst="rect">
            <a:avLst/>
          </a:prstGeom>
          <a:solidFill>
            <a:srgbClr val="17365D"/>
          </a:solidFill>
          <a:ln w="12700">
            <a:solidFill>
              <a:srgbClr val="FFFFFF"/>
            </a:solidFill>
            <a:prstDash val="solid"/>
          </a:ln>
        </p:spPr>
        <p:txBody>
          <a:bodyPr/>
          <a:lstStyle/>
          <a:p>
            <a:endParaRPr lang="ja-JP" altLang="en-US"/>
          </a:p>
        </p:txBody>
      </p:sp>
      <p:sp>
        <p:nvSpPr>
          <p:cNvPr id="22" name="Text 20"/>
          <p:cNvSpPr/>
          <p:nvPr/>
        </p:nvSpPr>
        <p:spPr>
          <a:xfrm>
            <a:off x="6525890" y="841248"/>
            <a:ext cx="2206630"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Return 1/2/3</a:t>
            </a:r>
            <a:endParaRPr lang="en-US" sz="870" dirty="0"/>
          </a:p>
        </p:txBody>
      </p:sp>
      <p:sp>
        <p:nvSpPr>
          <p:cNvPr id="23" name="Shape 21"/>
          <p:cNvSpPr/>
          <p:nvPr/>
        </p:nvSpPr>
        <p:spPr>
          <a:xfrm>
            <a:off x="384048" y="1168603"/>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411480" y="1186891"/>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25" name="Shape 23"/>
          <p:cNvSpPr/>
          <p:nvPr/>
        </p:nvSpPr>
        <p:spPr>
          <a:xfrm>
            <a:off x="844723"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872155"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27" name="Shape 25"/>
          <p:cNvSpPr/>
          <p:nvPr/>
        </p:nvSpPr>
        <p:spPr>
          <a:xfrm>
            <a:off x="1724193"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1751625"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84.19</a:t>
            </a:r>
            <a:endParaRPr lang="en-US" sz="810" dirty="0"/>
          </a:p>
        </p:txBody>
      </p:sp>
      <p:sp>
        <p:nvSpPr>
          <p:cNvPr id="29" name="Shape 27"/>
          <p:cNvSpPr/>
          <p:nvPr/>
        </p:nvSpPr>
        <p:spPr>
          <a:xfrm>
            <a:off x="2603663" y="1168603"/>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2631095" y="118689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0.91</a:t>
            </a:r>
            <a:endParaRPr lang="en-US" sz="810" dirty="0"/>
          </a:p>
        </p:txBody>
      </p:sp>
      <p:sp>
        <p:nvSpPr>
          <p:cNvPr id="31" name="Shape 29"/>
          <p:cNvSpPr/>
          <p:nvPr/>
        </p:nvSpPr>
        <p:spPr>
          <a:xfrm>
            <a:off x="3315614" y="1168603"/>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3343046" y="118689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0.61</a:t>
            </a:r>
            <a:endParaRPr lang="en-US" sz="810" dirty="0"/>
          </a:p>
        </p:txBody>
      </p:sp>
      <p:sp>
        <p:nvSpPr>
          <p:cNvPr id="33" name="Shape 31"/>
          <p:cNvSpPr/>
          <p:nvPr/>
        </p:nvSpPr>
        <p:spPr>
          <a:xfrm>
            <a:off x="4027566" y="1168603"/>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4054998" y="1186891"/>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2.85</a:t>
            </a:r>
            <a:endParaRPr lang="en-US" sz="810" dirty="0"/>
          </a:p>
        </p:txBody>
      </p:sp>
      <p:sp>
        <p:nvSpPr>
          <p:cNvPr id="35" name="Shape 33"/>
          <p:cNvSpPr/>
          <p:nvPr/>
        </p:nvSpPr>
        <p:spPr>
          <a:xfrm>
            <a:off x="4781398" y="1168603"/>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808830" y="1186891"/>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9.31</a:t>
            </a:r>
            <a:endParaRPr lang="en-US" sz="810" dirty="0"/>
          </a:p>
        </p:txBody>
      </p:sp>
      <p:sp>
        <p:nvSpPr>
          <p:cNvPr id="37" name="Shape 35"/>
          <p:cNvSpPr/>
          <p:nvPr/>
        </p:nvSpPr>
        <p:spPr>
          <a:xfrm>
            <a:off x="5618988"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38" name="Text 36"/>
          <p:cNvSpPr/>
          <p:nvPr/>
        </p:nvSpPr>
        <p:spPr>
          <a:xfrm>
            <a:off x="5646420"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0.66</a:t>
            </a:r>
            <a:endParaRPr lang="en-US" sz="810" dirty="0"/>
          </a:p>
        </p:txBody>
      </p:sp>
      <p:sp>
        <p:nvSpPr>
          <p:cNvPr id="39" name="Shape 37"/>
          <p:cNvSpPr/>
          <p:nvPr/>
        </p:nvSpPr>
        <p:spPr>
          <a:xfrm>
            <a:off x="6498458" y="1168603"/>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40" name="Text 38"/>
          <p:cNvSpPr/>
          <p:nvPr/>
        </p:nvSpPr>
        <p:spPr>
          <a:xfrm>
            <a:off x="6525890" y="1186891"/>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99.72/0.28/—</a:t>
            </a:r>
            <a:endParaRPr lang="en-US" sz="810" dirty="0"/>
          </a:p>
        </p:txBody>
      </p:sp>
      <p:sp>
        <p:nvSpPr>
          <p:cNvPr id="41" name="Shape 39"/>
          <p:cNvSpPr/>
          <p:nvPr/>
        </p:nvSpPr>
        <p:spPr>
          <a:xfrm>
            <a:off x="384048" y="1514246"/>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411480" y="153253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43" name="Shape 41"/>
          <p:cNvSpPr/>
          <p:nvPr/>
        </p:nvSpPr>
        <p:spPr>
          <a:xfrm>
            <a:off x="844723"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872155"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45" name="Shape 43"/>
          <p:cNvSpPr/>
          <p:nvPr/>
        </p:nvSpPr>
        <p:spPr>
          <a:xfrm>
            <a:off x="1724193"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1751625"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76.67</a:t>
            </a:r>
            <a:endParaRPr lang="en-US" sz="810" dirty="0"/>
          </a:p>
        </p:txBody>
      </p:sp>
      <p:sp>
        <p:nvSpPr>
          <p:cNvPr id="47" name="Shape 45"/>
          <p:cNvSpPr/>
          <p:nvPr/>
        </p:nvSpPr>
        <p:spPr>
          <a:xfrm>
            <a:off x="2603663" y="151424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2631095" y="153253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3.16</a:t>
            </a:r>
            <a:endParaRPr lang="en-US" sz="810" dirty="0"/>
          </a:p>
        </p:txBody>
      </p:sp>
      <p:sp>
        <p:nvSpPr>
          <p:cNvPr id="49" name="Shape 47"/>
          <p:cNvSpPr/>
          <p:nvPr/>
        </p:nvSpPr>
        <p:spPr>
          <a:xfrm>
            <a:off x="3315614" y="151424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3343046" y="153253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3.41</a:t>
            </a:r>
            <a:endParaRPr lang="en-US" sz="810" dirty="0"/>
          </a:p>
        </p:txBody>
      </p:sp>
      <p:sp>
        <p:nvSpPr>
          <p:cNvPr id="51" name="Shape 49"/>
          <p:cNvSpPr/>
          <p:nvPr/>
        </p:nvSpPr>
        <p:spPr>
          <a:xfrm>
            <a:off x="4027566" y="1514246"/>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4054998" y="153253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2.60</a:t>
            </a:r>
            <a:endParaRPr lang="en-US" sz="810" dirty="0"/>
          </a:p>
        </p:txBody>
      </p:sp>
      <p:sp>
        <p:nvSpPr>
          <p:cNvPr id="53" name="Shape 51"/>
          <p:cNvSpPr/>
          <p:nvPr/>
        </p:nvSpPr>
        <p:spPr>
          <a:xfrm>
            <a:off x="4781398" y="1514246"/>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4808830" y="153253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10.77</a:t>
            </a:r>
            <a:endParaRPr lang="en-US" sz="810" dirty="0"/>
          </a:p>
        </p:txBody>
      </p:sp>
      <p:sp>
        <p:nvSpPr>
          <p:cNvPr id="55" name="Shape 53"/>
          <p:cNvSpPr/>
          <p:nvPr/>
        </p:nvSpPr>
        <p:spPr>
          <a:xfrm>
            <a:off x="5618988"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5646420"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1.54</a:t>
            </a:r>
            <a:endParaRPr lang="en-US" sz="810" dirty="0"/>
          </a:p>
        </p:txBody>
      </p:sp>
      <p:sp>
        <p:nvSpPr>
          <p:cNvPr id="57" name="Shape 55"/>
          <p:cNvSpPr/>
          <p:nvPr/>
        </p:nvSpPr>
        <p:spPr>
          <a:xfrm>
            <a:off x="6498458" y="1514246"/>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6525890" y="153253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92.60/7.40/—</a:t>
            </a:r>
            <a:endParaRPr lang="en-US" sz="810" dirty="0"/>
          </a:p>
        </p:txBody>
      </p:sp>
      <p:sp>
        <p:nvSpPr>
          <p:cNvPr id="59" name="Shape 57"/>
          <p:cNvSpPr/>
          <p:nvPr/>
        </p:nvSpPr>
        <p:spPr>
          <a:xfrm>
            <a:off x="384048" y="1859890"/>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411480" y="1878178"/>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61" name="Shape 59"/>
          <p:cNvSpPr/>
          <p:nvPr/>
        </p:nvSpPr>
        <p:spPr>
          <a:xfrm>
            <a:off x="844723"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872155"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63" name="Shape 61"/>
          <p:cNvSpPr/>
          <p:nvPr/>
        </p:nvSpPr>
        <p:spPr>
          <a:xfrm>
            <a:off x="1724193"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1751625"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52.23</a:t>
            </a:r>
            <a:endParaRPr lang="en-US" sz="810" dirty="0"/>
          </a:p>
        </p:txBody>
      </p:sp>
      <p:sp>
        <p:nvSpPr>
          <p:cNvPr id="65" name="Shape 63"/>
          <p:cNvSpPr/>
          <p:nvPr/>
        </p:nvSpPr>
        <p:spPr>
          <a:xfrm>
            <a:off x="2603663" y="1859890"/>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2631095" y="1878178"/>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4.73</a:t>
            </a:r>
            <a:endParaRPr lang="en-US" sz="810" dirty="0"/>
          </a:p>
        </p:txBody>
      </p:sp>
      <p:sp>
        <p:nvSpPr>
          <p:cNvPr id="67" name="Shape 65"/>
          <p:cNvSpPr/>
          <p:nvPr/>
        </p:nvSpPr>
        <p:spPr>
          <a:xfrm>
            <a:off x="3315614" y="1859890"/>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3343046" y="1878178"/>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1.72</a:t>
            </a:r>
            <a:endParaRPr lang="en-US" sz="810" dirty="0"/>
          </a:p>
        </p:txBody>
      </p:sp>
      <p:sp>
        <p:nvSpPr>
          <p:cNvPr id="69" name="Shape 67"/>
          <p:cNvSpPr/>
          <p:nvPr/>
        </p:nvSpPr>
        <p:spPr>
          <a:xfrm>
            <a:off x="4027566" y="1859890"/>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70" name="Text 68"/>
          <p:cNvSpPr/>
          <p:nvPr/>
        </p:nvSpPr>
        <p:spPr>
          <a:xfrm>
            <a:off x="4054998" y="1878178"/>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2.42</a:t>
            </a:r>
            <a:endParaRPr lang="en-US" sz="810" dirty="0"/>
          </a:p>
        </p:txBody>
      </p:sp>
      <p:sp>
        <p:nvSpPr>
          <p:cNvPr id="71" name="Shape 69"/>
          <p:cNvSpPr/>
          <p:nvPr/>
        </p:nvSpPr>
        <p:spPr>
          <a:xfrm>
            <a:off x="4781398" y="1859890"/>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72" name="Text 70"/>
          <p:cNvSpPr/>
          <p:nvPr/>
        </p:nvSpPr>
        <p:spPr>
          <a:xfrm>
            <a:off x="4808830" y="1878178"/>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29.22</a:t>
            </a:r>
            <a:endParaRPr lang="en-US" sz="810" dirty="0"/>
          </a:p>
        </p:txBody>
      </p:sp>
      <p:sp>
        <p:nvSpPr>
          <p:cNvPr id="73" name="Shape 71"/>
          <p:cNvSpPr/>
          <p:nvPr/>
        </p:nvSpPr>
        <p:spPr>
          <a:xfrm>
            <a:off x="5618988"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74" name="Text 72"/>
          <p:cNvSpPr/>
          <p:nvPr/>
        </p:nvSpPr>
        <p:spPr>
          <a:xfrm>
            <a:off x="5646420"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7.62</a:t>
            </a:r>
            <a:endParaRPr lang="en-US" sz="810" dirty="0"/>
          </a:p>
        </p:txBody>
      </p:sp>
      <p:sp>
        <p:nvSpPr>
          <p:cNvPr id="75" name="Shape 73"/>
          <p:cNvSpPr/>
          <p:nvPr/>
        </p:nvSpPr>
        <p:spPr>
          <a:xfrm>
            <a:off x="6498458" y="1859890"/>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76" name="Text 74"/>
          <p:cNvSpPr/>
          <p:nvPr/>
        </p:nvSpPr>
        <p:spPr>
          <a:xfrm>
            <a:off x="6525890" y="1878178"/>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86.30/11.63/2.07</a:t>
            </a:r>
            <a:endParaRPr lang="en-US" sz="810" dirty="0"/>
          </a:p>
        </p:txBody>
      </p:sp>
      <p:sp>
        <p:nvSpPr>
          <p:cNvPr id="77" name="Shape 75"/>
          <p:cNvSpPr/>
          <p:nvPr/>
        </p:nvSpPr>
        <p:spPr>
          <a:xfrm>
            <a:off x="384048" y="2205533"/>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78" name="Text 76"/>
          <p:cNvSpPr/>
          <p:nvPr/>
        </p:nvSpPr>
        <p:spPr>
          <a:xfrm>
            <a:off x="411480" y="2223821"/>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79" name="Shape 77"/>
          <p:cNvSpPr/>
          <p:nvPr/>
        </p:nvSpPr>
        <p:spPr>
          <a:xfrm>
            <a:off x="844723"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80" name="Text 78"/>
          <p:cNvSpPr/>
          <p:nvPr/>
        </p:nvSpPr>
        <p:spPr>
          <a:xfrm>
            <a:off x="872155"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81" name="Shape 79"/>
          <p:cNvSpPr/>
          <p:nvPr/>
        </p:nvSpPr>
        <p:spPr>
          <a:xfrm>
            <a:off x="1724193"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82" name="Text 80"/>
          <p:cNvSpPr/>
          <p:nvPr/>
        </p:nvSpPr>
        <p:spPr>
          <a:xfrm>
            <a:off x="1751625"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87.75</a:t>
            </a:r>
            <a:endParaRPr lang="en-US" sz="810" dirty="0"/>
          </a:p>
        </p:txBody>
      </p:sp>
      <p:sp>
        <p:nvSpPr>
          <p:cNvPr id="83" name="Shape 81"/>
          <p:cNvSpPr/>
          <p:nvPr/>
        </p:nvSpPr>
        <p:spPr>
          <a:xfrm>
            <a:off x="2603663" y="2205533"/>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84" name="Text 82"/>
          <p:cNvSpPr/>
          <p:nvPr/>
        </p:nvSpPr>
        <p:spPr>
          <a:xfrm>
            <a:off x="2631095" y="222382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2.59</a:t>
            </a:r>
            <a:endParaRPr lang="en-US" sz="810" dirty="0"/>
          </a:p>
        </p:txBody>
      </p:sp>
      <p:sp>
        <p:nvSpPr>
          <p:cNvPr id="85" name="Shape 83"/>
          <p:cNvSpPr/>
          <p:nvPr/>
        </p:nvSpPr>
        <p:spPr>
          <a:xfrm>
            <a:off x="3315614" y="2205533"/>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86" name="Text 84"/>
          <p:cNvSpPr/>
          <p:nvPr/>
        </p:nvSpPr>
        <p:spPr>
          <a:xfrm>
            <a:off x="3343046" y="222382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0.04</a:t>
            </a:r>
            <a:endParaRPr lang="en-US" sz="810" dirty="0"/>
          </a:p>
        </p:txBody>
      </p:sp>
      <p:sp>
        <p:nvSpPr>
          <p:cNvPr id="87" name="Shape 85"/>
          <p:cNvSpPr/>
          <p:nvPr/>
        </p:nvSpPr>
        <p:spPr>
          <a:xfrm>
            <a:off x="4027566" y="2205533"/>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88" name="Text 86"/>
          <p:cNvSpPr/>
          <p:nvPr/>
        </p:nvSpPr>
        <p:spPr>
          <a:xfrm>
            <a:off x="4054998" y="2223821"/>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3.23</a:t>
            </a:r>
            <a:endParaRPr lang="en-US" sz="810" dirty="0"/>
          </a:p>
        </p:txBody>
      </p:sp>
      <p:sp>
        <p:nvSpPr>
          <p:cNvPr id="89" name="Shape 87"/>
          <p:cNvSpPr/>
          <p:nvPr/>
        </p:nvSpPr>
        <p:spPr>
          <a:xfrm>
            <a:off x="4781398" y="2205533"/>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90" name="Text 88"/>
          <p:cNvSpPr/>
          <p:nvPr/>
        </p:nvSpPr>
        <p:spPr>
          <a:xfrm>
            <a:off x="4808830" y="2223821"/>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2.41</a:t>
            </a:r>
            <a:endParaRPr lang="en-US" sz="810" dirty="0"/>
          </a:p>
        </p:txBody>
      </p:sp>
      <p:sp>
        <p:nvSpPr>
          <p:cNvPr id="91" name="Shape 89"/>
          <p:cNvSpPr/>
          <p:nvPr/>
        </p:nvSpPr>
        <p:spPr>
          <a:xfrm>
            <a:off x="5618988"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92" name="Text 90"/>
          <p:cNvSpPr/>
          <p:nvPr/>
        </p:nvSpPr>
        <p:spPr>
          <a:xfrm>
            <a:off x="5646420"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2.45</a:t>
            </a:r>
            <a:endParaRPr lang="en-US" sz="810" dirty="0"/>
          </a:p>
        </p:txBody>
      </p:sp>
      <p:sp>
        <p:nvSpPr>
          <p:cNvPr id="93" name="Shape 91"/>
          <p:cNvSpPr/>
          <p:nvPr/>
        </p:nvSpPr>
        <p:spPr>
          <a:xfrm>
            <a:off x="6498458" y="2205533"/>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94" name="Text 92"/>
          <p:cNvSpPr/>
          <p:nvPr/>
        </p:nvSpPr>
        <p:spPr>
          <a:xfrm>
            <a:off x="6525890" y="2223821"/>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99.71/0.29/—</a:t>
            </a:r>
            <a:endParaRPr lang="en-US" sz="810" dirty="0"/>
          </a:p>
        </p:txBody>
      </p:sp>
      <p:sp>
        <p:nvSpPr>
          <p:cNvPr id="95" name="Shape 93"/>
          <p:cNvSpPr/>
          <p:nvPr/>
        </p:nvSpPr>
        <p:spPr>
          <a:xfrm>
            <a:off x="384048" y="2551176"/>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96" name="Text 94"/>
          <p:cNvSpPr/>
          <p:nvPr/>
        </p:nvSpPr>
        <p:spPr>
          <a:xfrm>
            <a:off x="411480" y="256946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97" name="Shape 95"/>
          <p:cNvSpPr/>
          <p:nvPr/>
        </p:nvSpPr>
        <p:spPr>
          <a:xfrm>
            <a:off x="844723"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98" name="Text 96"/>
          <p:cNvSpPr/>
          <p:nvPr/>
        </p:nvSpPr>
        <p:spPr>
          <a:xfrm>
            <a:off x="872155"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99" name="Shape 97"/>
          <p:cNvSpPr/>
          <p:nvPr/>
        </p:nvSpPr>
        <p:spPr>
          <a:xfrm>
            <a:off x="1724193"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00" name="Text 98"/>
          <p:cNvSpPr/>
          <p:nvPr/>
        </p:nvSpPr>
        <p:spPr>
          <a:xfrm>
            <a:off x="1751625"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78.64</a:t>
            </a:r>
            <a:endParaRPr lang="en-US" sz="810" dirty="0"/>
          </a:p>
        </p:txBody>
      </p:sp>
      <p:sp>
        <p:nvSpPr>
          <p:cNvPr id="101" name="Shape 99"/>
          <p:cNvSpPr/>
          <p:nvPr/>
        </p:nvSpPr>
        <p:spPr>
          <a:xfrm>
            <a:off x="2603663" y="2551176"/>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02" name="Text 100"/>
          <p:cNvSpPr/>
          <p:nvPr/>
        </p:nvSpPr>
        <p:spPr>
          <a:xfrm>
            <a:off x="2631095" y="256946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7.48</a:t>
            </a:r>
            <a:endParaRPr lang="en-US" sz="810" dirty="0"/>
          </a:p>
        </p:txBody>
      </p:sp>
      <p:sp>
        <p:nvSpPr>
          <p:cNvPr id="103" name="Shape 101"/>
          <p:cNvSpPr/>
          <p:nvPr/>
        </p:nvSpPr>
        <p:spPr>
          <a:xfrm>
            <a:off x="3315614" y="2551176"/>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04" name="Text 102"/>
          <p:cNvSpPr/>
          <p:nvPr/>
        </p:nvSpPr>
        <p:spPr>
          <a:xfrm>
            <a:off x="3343046" y="256946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0.28</a:t>
            </a:r>
            <a:endParaRPr lang="en-US" sz="810" dirty="0"/>
          </a:p>
        </p:txBody>
      </p:sp>
      <p:sp>
        <p:nvSpPr>
          <p:cNvPr id="105" name="Shape 103"/>
          <p:cNvSpPr/>
          <p:nvPr/>
        </p:nvSpPr>
        <p:spPr>
          <a:xfrm>
            <a:off x="4027566" y="2551176"/>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06" name="Text 104"/>
          <p:cNvSpPr/>
          <p:nvPr/>
        </p:nvSpPr>
        <p:spPr>
          <a:xfrm>
            <a:off x="4054998" y="256946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3.14</a:t>
            </a:r>
            <a:endParaRPr lang="en-US" sz="810" dirty="0"/>
          </a:p>
        </p:txBody>
      </p:sp>
      <p:sp>
        <p:nvSpPr>
          <p:cNvPr id="107" name="Shape 105"/>
          <p:cNvSpPr/>
          <p:nvPr/>
        </p:nvSpPr>
        <p:spPr>
          <a:xfrm>
            <a:off x="4781398" y="2551176"/>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08" name="Text 106"/>
          <p:cNvSpPr/>
          <p:nvPr/>
        </p:nvSpPr>
        <p:spPr>
          <a:xfrm>
            <a:off x="4808830" y="256946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3.79</a:t>
            </a:r>
            <a:endParaRPr lang="en-US" sz="810" dirty="0"/>
          </a:p>
        </p:txBody>
      </p:sp>
      <p:sp>
        <p:nvSpPr>
          <p:cNvPr id="109" name="Shape 107"/>
          <p:cNvSpPr/>
          <p:nvPr/>
        </p:nvSpPr>
        <p:spPr>
          <a:xfrm>
            <a:off x="5618988"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10" name="Text 108"/>
          <p:cNvSpPr/>
          <p:nvPr/>
        </p:nvSpPr>
        <p:spPr>
          <a:xfrm>
            <a:off x="5646420"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4.16</a:t>
            </a:r>
            <a:endParaRPr lang="en-US" sz="810" dirty="0"/>
          </a:p>
        </p:txBody>
      </p:sp>
      <p:sp>
        <p:nvSpPr>
          <p:cNvPr id="111" name="Shape 109"/>
          <p:cNvSpPr/>
          <p:nvPr/>
        </p:nvSpPr>
        <p:spPr>
          <a:xfrm>
            <a:off x="6498458" y="2551176"/>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12" name="Text 110"/>
          <p:cNvSpPr/>
          <p:nvPr/>
        </p:nvSpPr>
        <p:spPr>
          <a:xfrm>
            <a:off x="6525890" y="256946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93.82/6.17/—</a:t>
            </a:r>
            <a:endParaRPr lang="en-US" sz="810" dirty="0"/>
          </a:p>
        </p:txBody>
      </p:sp>
      <p:sp>
        <p:nvSpPr>
          <p:cNvPr id="113" name="Shape 111"/>
          <p:cNvSpPr/>
          <p:nvPr/>
        </p:nvSpPr>
        <p:spPr>
          <a:xfrm>
            <a:off x="384048" y="2896819"/>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114" name="Text 112"/>
          <p:cNvSpPr/>
          <p:nvPr/>
        </p:nvSpPr>
        <p:spPr>
          <a:xfrm>
            <a:off x="411480" y="2915107"/>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115" name="Shape 113"/>
          <p:cNvSpPr/>
          <p:nvPr/>
        </p:nvSpPr>
        <p:spPr>
          <a:xfrm>
            <a:off x="844723"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16" name="Text 114"/>
          <p:cNvSpPr/>
          <p:nvPr/>
        </p:nvSpPr>
        <p:spPr>
          <a:xfrm>
            <a:off x="872155"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117" name="Shape 115"/>
          <p:cNvSpPr/>
          <p:nvPr/>
        </p:nvSpPr>
        <p:spPr>
          <a:xfrm>
            <a:off x="1724193"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18" name="Text 116"/>
          <p:cNvSpPr/>
          <p:nvPr/>
        </p:nvSpPr>
        <p:spPr>
          <a:xfrm>
            <a:off x="1751625"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68.71</a:t>
            </a:r>
            <a:endParaRPr lang="en-US" sz="810" dirty="0"/>
          </a:p>
        </p:txBody>
      </p:sp>
      <p:sp>
        <p:nvSpPr>
          <p:cNvPr id="119" name="Shape 117"/>
          <p:cNvSpPr/>
          <p:nvPr/>
        </p:nvSpPr>
        <p:spPr>
          <a:xfrm>
            <a:off x="2603663" y="2896819"/>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20" name="Text 118"/>
          <p:cNvSpPr/>
          <p:nvPr/>
        </p:nvSpPr>
        <p:spPr>
          <a:xfrm>
            <a:off x="2631095" y="291510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6.34</a:t>
            </a:r>
            <a:endParaRPr lang="en-US" sz="810" dirty="0"/>
          </a:p>
        </p:txBody>
      </p:sp>
      <p:sp>
        <p:nvSpPr>
          <p:cNvPr id="121" name="Shape 119"/>
          <p:cNvSpPr/>
          <p:nvPr/>
        </p:nvSpPr>
        <p:spPr>
          <a:xfrm>
            <a:off x="3315614" y="2896819"/>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22" name="Text 120"/>
          <p:cNvSpPr/>
          <p:nvPr/>
        </p:nvSpPr>
        <p:spPr>
          <a:xfrm>
            <a:off x="3343046" y="291510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0.13</a:t>
            </a:r>
            <a:endParaRPr lang="en-US" sz="810" dirty="0"/>
          </a:p>
        </p:txBody>
      </p:sp>
      <p:sp>
        <p:nvSpPr>
          <p:cNvPr id="123" name="Shape 121"/>
          <p:cNvSpPr/>
          <p:nvPr/>
        </p:nvSpPr>
        <p:spPr>
          <a:xfrm>
            <a:off x="4027566" y="2896819"/>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124" name="Text 122"/>
          <p:cNvSpPr/>
          <p:nvPr/>
        </p:nvSpPr>
        <p:spPr>
          <a:xfrm>
            <a:off x="4054998" y="2915107"/>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1.73</a:t>
            </a:r>
            <a:endParaRPr lang="en-US" sz="810" dirty="0"/>
          </a:p>
        </p:txBody>
      </p:sp>
      <p:sp>
        <p:nvSpPr>
          <p:cNvPr id="125" name="Shape 123"/>
          <p:cNvSpPr/>
          <p:nvPr/>
        </p:nvSpPr>
        <p:spPr>
          <a:xfrm>
            <a:off x="4781398" y="2896819"/>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126" name="Text 124"/>
          <p:cNvSpPr/>
          <p:nvPr/>
        </p:nvSpPr>
        <p:spPr>
          <a:xfrm>
            <a:off x="4808830" y="2915107"/>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11.60</a:t>
            </a:r>
            <a:endParaRPr lang="en-US" sz="810" dirty="0"/>
          </a:p>
        </p:txBody>
      </p:sp>
      <p:sp>
        <p:nvSpPr>
          <p:cNvPr id="127" name="Shape 125"/>
          <p:cNvSpPr/>
          <p:nvPr/>
        </p:nvSpPr>
        <p:spPr>
          <a:xfrm>
            <a:off x="5618988"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28" name="Text 126"/>
          <p:cNvSpPr/>
          <p:nvPr/>
        </p:nvSpPr>
        <p:spPr>
          <a:xfrm>
            <a:off x="5646420"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9.48</a:t>
            </a:r>
            <a:endParaRPr lang="en-US" sz="810" dirty="0"/>
          </a:p>
        </p:txBody>
      </p:sp>
      <p:sp>
        <p:nvSpPr>
          <p:cNvPr id="129" name="Shape 127"/>
          <p:cNvSpPr/>
          <p:nvPr/>
        </p:nvSpPr>
        <p:spPr>
          <a:xfrm>
            <a:off x="6498458" y="2896819"/>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130" name="Text 128"/>
          <p:cNvSpPr/>
          <p:nvPr/>
        </p:nvSpPr>
        <p:spPr>
          <a:xfrm>
            <a:off x="6525890" y="2915107"/>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92.66/6.90/0.42</a:t>
            </a:r>
            <a:endParaRPr lang="en-US" sz="810" dirty="0"/>
          </a:p>
        </p:txBody>
      </p:sp>
      <p:sp>
        <p:nvSpPr>
          <p:cNvPr id="131" name="Shape 129"/>
          <p:cNvSpPr/>
          <p:nvPr/>
        </p:nvSpPr>
        <p:spPr>
          <a:xfrm>
            <a:off x="384048" y="3242462"/>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132" name="Text 130"/>
          <p:cNvSpPr/>
          <p:nvPr/>
        </p:nvSpPr>
        <p:spPr>
          <a:xfrm>
            <a:off x="411480" y="3260750"/>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33" name="Shape 131"/>
          <p:cNvSpPr/>
          <p:nvPr/>
        </p:nvSpPr>
        <p:spPr>
          <a:xfrm>
            <a:off x="844723"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34" name="Text 132"/>
          <p:cNvSpPr/>
          <p:nvPr/>
        </p:nvSpPr>
        <p:spPr>
          <a:xfrm>
            <a:off x="872155"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135" name="Shape 133"/>
          <p:cNvSpPr/>
          <p:nvPr/>
        </p:nvSpPr>
        <p:spPr>
          <a:xfrm>
            <a:off x="1724193"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36" name="Text 134"/>
          <p:cNvSpPr/>
          <p:nvPr/>
        </p:nvSpPr>
        <p:spPr>
          <a:xfrm>
            <a:off x="1751625"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87.05</a:t>
            </a:r>
            <a:endParaRPr lang="en-US" sz="810" dirty="0"/>
          </a:p>
        </p:txBody>
      </p:sp>
      <p:sp>
        <p:nvSpPr>
          <p:cNvPr id="137" name="Shape 135"/>
          <p:cNvSpPr/>
          <p:nvPr/>
        </p:nvSpPr>
        <p:spPr>
          <a:xfrm>
            <a:off x="2603663" y="3242462"/>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38" name="Text 136"/>
          <p:cNvSpPr/>
          <p:nvPr/>
        </p:nvSpPr>
        <p:spPr>
          <a:xfrm>
            <a:off x="2631095" y="3260750"/>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2.17</a:t>
            </a:r>
            <a:endParaRPr lang="en-US" sz="810" dirty="0"/>
          </a:p>
        </p:txBody>
      </p:sp>
      <p:sp>
        <p:nvSpPr>
          <p:cNvPr id="139" name="Shape 137"/>
          <p:cNvSpPr/>
          <p:nvPr/>
        </p:nvSpPr>
        <p:spPr>
          <a:xfrm>
            <a:off x="3315614" y="3242462"/>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40" name="Text 138"/>
          <p:cNvSpPr/>
          <p:nvPr/>
        </p:nvSpPr>
        <p:spPr>
          <a:xfrm>
            <a:off x="3343046" y="3260750"/>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41" name="Shape 139"/>
          <p:cNvSpPr/>
          <p:nvPr/>
        </p:nvSpPr>
        <p:spPr>
          <a:xfrm>
            <a:off x="4027566" y="3242462"/>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42" name="Text 140"/>
          <p:cNvSpPr/>
          <p:nvPr/>
        </p:nvSpPr>
        <p:spPr>
          <a:xfrm>
            <a:off x="4054998" y="3260750"/>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2.76</a:t>
            </a:r>
            <a:endParaRPr lang="en-US" sz="810" dirty="0"/>
          </a:p>
        </p:txBody>
      </p:sp>
      <p:sp>
        <p:nvSpPr>
          <p:cNvPr id="143" name="Shape 141"/>
          <p:cNvSpPr/>
          <p:nvPr/>
        </p:nvSpPr>
        <p:spPr>
          <a:xfrm>
            <a:off x="4781398" y="3242462"/>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44" name="Text 142"/>
          <p:cNvSpPr/>
          <p:nvPr/>
        </p:nvSpPr>
        <p:spPr>
          <a:xfrm>
            <a:off x="4808830" y="3260750"/>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1.67</a:t>
            </a:r>
            <a:endParaRPr lang="en-US" sz="810" dirty="0"/>
          </a:p>
        </p:txBody>
      </p:sp>
      <p:sp>
        <p:nvSpPr>
          <p:cNvPr id="145" name="Shape 143"/>
          <p:cNvSpPr/>
          <p:nvPr/>
        </p:nvSpPr>
        <p:spPr>
          <a:xfrm>
            <a:off x="5618988"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46" name="Text 144"/>
          <p:cNvSpPr/>
          <p:nvPr/>
        </p:nvSpPr>
        <p:spPr>
          <a:xfrm>
            <a:off x="5646420"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3.64</a:t>
            </a:r>
            <a:endParaRPr lang="en-US" sz="810" dirty="0"/>
          </a:p>
        </p:txBody>
      </p:sp>
      <p:sp>
        <p:nvSpPr>
          <p:cNvPr id="147" name="Shape 145"/>
          <p:cNvSpPr/>
          <p:nvPr/>
        </p:nvSpPr>
        <p:spPr>
          <a:xfrm>
            <a:off x="6498458" y="3242462"/>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48" name="Text 146"/>
          <p:cNvSpPr/>
          <p:nvPr/>
        </p:nvSpPr>
        <p:spPr>
          <a:xfrm>
            <a:off x="6525890" y="3260750"/>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99.62/0.38/—</a:t>
            </a:r>
            <a:endParaRPr lang="en-US" sz="810" dirty="0"/>
          </a:p>
        </p:txBody>
      </p:sp>
      <p:sp>
        <p:nvSpPr>
          <p:cNvPr id="149" name="Shape 147"/>
          <p:cNvSpPr/>
          <p:nvPr/>
        </p:nvSpPr>
        <p:spPr>
          <a:xfrm>
            <a:off x="384048" y="3588106"/>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150" name="Text 148"/>
          <p:cNvSpPr/>
          <p:nvPr/>
        </p:nvSpPr>
        <p:spPr>
          <a:xfrm>
            <a:off x="411480" y="360639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51" name="Shape 149"/>
          <p:cNvSpPr/>
          <p:nvPr/>
        </p:nvSpPr>
        <p:spPr>
          <a:xfrm>
            <a:off x="844723"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52" name="Text 150"/>
          <p:cNvSpPr/>
          <p:nvPr/>
        </p:nvSpPr>
        <p:spPr>
          <a:xfrm>
            <a:off x="872155"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153" name="Shape 151"/>
          <p:cNvSpPr/>
          <p:nvPr/>
        </p:nvSpPr>
        <p:spPr>
          <a:xfrm>
            <a:off x="1724193"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54" name="Text 152"/>
          <p:cNvSpPr/>
          <p:nvPr/>
        </p:nvSpPr>
        <p:spPr>
          <a:xfrm>
            <a:off x="1751625"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76.97</a:t>
            </a:r>
            <a:endParaRPr lang="en-US" sz="810" dirty="0"/>
          </a:p>
        </p:txBody>
      </p:sp>
      <p:sp>
        <p:nvSpPr>
          <p:cNvPr id="155" name="Shape 153"/>
          <p:cNvSpPr/>
          <p:nvPr/>
        </p:nvSpPr>
        <p:spPr>
          <a:xfrm>
            <a:off x="2603663" y="358810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56" name="Text 154"/>
          <p:cNvSpPr/>
          <p:nvPr/>
        </p:nvSpPr>
        <p:spPr>
          <a:xfrm>
            <a:off x="2631095" y="360639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7.76</a:t>
            </a:r>
            <a:endParaRPr lang="en-US" sz="810" dirty="0"/>
          </a:p>
        </p:txBody>
      </p:sp>
      <p:sp>
        <p:nvSpPr>
          <p:cNvPr id="157" name="Shape 155"/>
          <p:cNvSpPr/>
          <p:nvPr/>
        </p:nvSpPr>
        <p:spPr>
          <a:xfrm>
            <a:off x="3315614" y="358810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58" name="Text 156"/>
          <p:cNvSpPr/>
          <p:nvPr/>
        </p:nvSpPr>
        <p:spPr>
          <a:xfrm>
            <a:off x="3343046" y="360639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59" name="Shape 157"/>
          <p:cNvSpPr/>
          <p:nvPr/>
        </p:nvSpPr>
        <p:spPr>
          <a:xfrm>
            <a:off x="4027566" y="3588106"/>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160" name="Text 158"/>
          <p:cNvSpPr/>
          <p:nvPr/>
        </p:nvSpPr>
        <p:spPr>
          <a:xfrm>
            <a:off x="4054998" y="360639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2.14</a:t>
            </a:r>
            <a:endParaRPr lang="en-US" sz="810" dirty="0"/>
          </a:p>
        </p:txBody>
      </p:sp>
      <p:sp>
        <p:nvSpPr>
          <p:cNvPr id="161" name="Shape 159"/>
          <p:cNvSpPr/>
          <p:nvPr/>
        </p:nvSpPr>
        <p:spPr>
          <a:xfrm>
            <a:off x="4781398" y="3588106"/>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162" name="Text 160"/>
          <p:cNvSpPr/>
          <p:nvPr/>
        </p:nvSpPr>
        <p:spPr>
          <a:xfrm>
            <a:off x="4808830" y="360639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3.41</a:t>
            </a:r>
            <a:endParaRPr lang="en-US" sz="810" dirty="0"/>
          </a:p>
        </p:txBody>
      </p:sp>
      <p:sp>
        <p:nvSpPr>
          <p:cNvPr id="163" name="Shape 161"/>
          <p:cNvSpPr/>
          <p:nvPr/>
        </p:nvSpPr>
        <p:spPr>
          <a:xfrm>
            <a:off x="5618988"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64" name="Text 162"/>
          <p:cNvSpPr/>
          <p:nvPr/>
        </p:nvSpPr>
        <p:spPr>
          <a:xfrm>
            <a:off x="5646420"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5.46</a:t>
            </a:r>
            <a:endParaRPr lang="en-US" sz="810" dirty="0"/>
          </a:p>
        </p:txBody>
      </p:sp>
      <p:sp>
        <p:nvSpPr>
          <p:cNvPr id="165" name="Shape 163"/>
          <p:cNvSpPr/>
          <p:nvPr/>
        </p:nvSpPr>
        <p:spPr>
          <a:xfrm>
            <a:off x="6498458" y="3588106"/>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166" name="Text 164"/>
          <p:cNvSpPr/>
          <p:nvPr/>
        </p:nvSpPr>
        <p:spPr>
          <a:xfrm>
            <a:off x="6525890" y="360639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92.13/7.87/—</a:t>
            </a:r>
            <a:endParaRPr lang="en-US" sz="810" dirty="0"/>
          </a:p>
        </p:txBody>
      </p:sp>
      <p:sp>
        <p:nvSpPr>
          <p:cNvPr id="167" name="Shape 165"/>
          <p:cNvSpPr/>
          <p:nvPr/>
        </p:nvSpPr>
        <p:spPr>
          <a:xfrm>
            <a:off x="384048" y="3933749"/>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168" name="Text 166"/>
          <p:cNvSpPr/>
          <p:nvPr/>
        </p:nvSpPr>
        <p:spPr>
          <a:xfrm>
            <a:off x="411480" y="3952037"/>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69" name="Shape 167"/>
          <p:cNvSpPr/>
          <p:nvPr/>
        </p:nvSpPr>
        <p:spPr>
          <a:xfrm>
            <a:off x="844723"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70" name="Text 168"/>
          <p:cNvSpPr/>
          <p:nvPr/>
        </p:nvSpPr>
        <p:spPr>
          <a:xfrm>
            <a:off x="872155"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171" name="Shape 169"/>
          <p:cNvSpPr/>
          <p:nvPr/>
        </p:nvSpPr>
        <p:spPr>
          <a:xfrm>
            <a:off x="1724193"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72" name="Text 170"/>
          <p:cNvSpPr/>
          <p:nvPr/>
        </p:nvSpPr>
        <p:spPr>
          <a:xfrm>
            <a:off x="1751625"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55.78</a:t>
            </a:r>
            <a:endParaRPr lang="en-US" sz="810" dirty="0"/>
          </a:p>
        </p:txBody>
      </p:sp>
      <p:sp>
        <p:nvSpPr>
          <p:cNvPr id="173" name="Shape 171"/>
          <p:cNvSpPr/>
          <p:nvPr/>
        </p:nvSpPr>
        <p:spPr>
          <a:xfrm>
            <a:off x="2603663" y="3933749"/>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74" name="Text 172"/>
          <p:cNvSpPr/>
          <p:nvPr/>
        </p:nvSpPr>
        <p:spPr>
          <a:xfrm>
            <a:off x="2631095" y="395203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5.33</a:t>
            </a:r>
            <a:endParaRPr lang="en-US" sz="810" dirty="0"/>
          </a:p>
        </p:txBody>
      </p:sp>
      <p:sp>
        <p:nvSpPr>
          <p:cNvPr id="175" name="Shape 173"/>
          <p:cNvSpPr/>
          <p:nvPr/>
        </p:nvSpPr>
        <p:spPr>
          <a:xfrm>
            <a:off x="3315614" y="3933749"/>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76" name="Text 174"/>
          <p:cNvSpPr/>
          <p:nvPr/>
        </p:nvSpPr>
        <p:spPr>
          <a:xfrm>
            <a:off x="3343046" y="395203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77" name="Shape 175"/>
          <p:cNvSpPr/>
          <p:nvPr/>
        </p:nvSpPr>
        <p:spPr>
          <a:xfrm>
            <a:off x="4027566" y="3933749"/>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78" name="Text 176"/>
          <p:cNvSpPr/>
          <p:nvPr/>
        </p:nvSpPr>
        <p:spPr>
          <a:xfrm>
            <a:off x="4054998" y="3952037"/>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1.29</a:t>
            </a:r>
            <a:endParaRPr lang="en-US" sz="810" dirty="0"/>
          </a:p>
        </p:txBody>
      </p:sp>
      <p:sp>
        <p:nvSpPr>
          <p:cNvPr id="179" name="Shape 177"/>
          <p:cNvSpPr/>
          <p:nvPr/>
        </p:nvSpPr>
        <p:spPr>
          <a:xfrm>
            <a:off x="4781398" y="3933749"/>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80" name="Text 178"/>
          <p:cNvSpPr/>
          <p:nvPr/>
        </p:nvSpPr>
        <p:spPr>
          <a:xfrm>
            <a:off x="4808830" y="3952037"/>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14.34</a:t>
            </a:r>
            <a:endParaRPr lang="en-US" sz="810" dirty="0"/>
          </a:p>
        </p:txBody>
      </p:sp>
      <p:sp>
        <p:nvSpPr>
          <p:cNvPr id="181" name="Shape 179"/>
          <p:cNvSpPr/>
          <p:nvPr/>
        </p:nvSpPr>
        <p:spPr>
          <a:xfrm>
            <a:off x="5618988"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82" name="Text 180"/>
          <p:cNvSpPr/>
          <p:nvPr/>
        </p:nvSpPr>
        <p:spPr>
          <a:xfrm>
            <a:off x="5646420"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19.28</a:t>
            </a:r>
            <a:endParaRPr lang="en-US" sz="810" dirty="0"/>
          </a:p>
        </p:txBody>
      </p:sp>
      <p:sp>
        <p:nvSpPr>
          <p:cNvPr id="183" name="Shape 181"/>
          <p:cNvSpPr/>
          <p:nvPr/>
        </p:nvSpPr>
        <p:spPr>
          <a:xfrm>
            <a:off x="6498458" y="3933749"/>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84" name="Text 182"/>
          <p:cNvSpPr/>
          <p:nvPr/>
        </p:nvSpPr>
        <p:spPr>
          <a:xfrm>
            <a:off x="6525890" y="3952037"/>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83.49/14.33/2.17</a:t>
            </a:r>
            <a:endParaRPr lang="en-US" sz="810" dirty="0"/>
          </a:p>
        </p:txBody>
      </p:sp>
      <p:sp>
        <p:nvSpPr>
          <p:cNvPr id="185" name="Text 18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3. Unlabeled share is omitted here, as in the selected columns.</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付録B｜return追加によるclass-wise IoU差（point）</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566928" y="969264"/>
            <a:ext cx="1441826" cy="425196"/>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594360" y="987552"/>
            <a:ext cx="1386962"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Method</a:t>
            </a:r>
            <a:endParaRPr lang="en-US" sz="1150" dirty="0"/>
          </a:p>
        </p:txBody>
      </p:sp>
      <p:sp>
        <p:nvSpPr>
          <p:cNvPr id="7" name="Shape 5"/>
          <p:cNvSpPr/>
          <p:nvPr/>
        </p:nvSpPr>
        <p:spPr>
          <a:xfrm>
            <a:off x="2008754"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2036186"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ΔmIoU</a:t>
            </a:r>
            <a:endParaRPr lang="en-US" sz="1150" dirty="0"/>
          </a:p>
        </p:txBody>
      </p:sp>
      <p:sp>
        <p:nvSpPr>
          <p:cNvPr id="9" name="Shape 7"/>
          <p:cNvSpPr/>
          <p:nvPr/>
        </p:nvSpPr>
        <p:spPr>
          <a:xfrm>
            <a:off x="2929920"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957352"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ΔNormal</a:t>
            </a:r>
            <a:endParaRPr lang="en-US" sz="1150" dirty="0"/>
          </a:p>
        </p:txBody>
      </p:sp>
      <p:sp>
        <p:nvSpPr>
          <p:cNvPr id="11" name="Shape 9"/>
          <p:cNvSpPr/>
          <p:nvPr/>
        </p:nvSpPr>
        <p:spPr>
          <a:xfrm>
            <a:off x="3851087"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3878519"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ΔGlass</a:t>
            </a:r>
            <a:endParaRPr lang="en-US" sz="1150" dirty="0"/>
          </a:p>
        </p:txBody>
      </p:sp>
      <p:sp>
        <p:nvSpPr>
          <p:cNvPr id="13" name="Shape 11"/>
          <p:cNvSpPr/>
          <p:nvPr/>
        </p:nvSpPr>
        <p:spPr>
          <a:xfrm>
            <a:off x="4772254"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4799686"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ΔMirror</a:t>
            </a:r>
            <a:endParaRPr lang="en-US" sz="1150" dirty="0"/>
          </a:p>
        </p:txBody>
      </p:sp>
      <p:sp>
        <p:nvSpPr>
          <p:cNvPr id="15" name="Shape 13"/>
          <p:cNvSpPr/>
          <p:nvPr/>
        </p:nvSpPr>
        <p:spPr>
          <a:xfrm>
            <a:off x="5693420"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5720852"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ΔOther</a:t>
            </a:r>
            <a:endParaRPr lang="en-US" sz="1150" dirty="0"/>
          </a:p>
        </p:txBody>
      </p:sp>
      <p:sp>
        <p:nvSpPr>
          <p:cNvPr id="17" name="Shape 15"/>
          <p:cNvSpPr/>
          <p:nvPr/>
        </p:nvSpPr>
        <p:spPr>
          <a:xfrm>
            <a:off x="6614587" y="969264"/>
            <a:ext cx="1041319" cy="425196"/>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642019" y="987552"/>
            <a:ext cx="986455"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ΔReflection</a:t>
            </a:r>
            <a:endParaRPr lang="en-US" sz="1150" dirty="0"/>
          </a:p>
        </p:txBody>
      </p:sp>
      <p:sp>
        <p:nvSpPr>
          <p:cNvPr id="19" name="Shape 17"/>
          <p:cNvSpPr/>
          <p:nvPr/>
        </p:nvSpPr>
        <p:spPr>
          <a:xfrm>
            <a:off x="7655905"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7683337"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ΔObstacle</a:t>
            </a:r>
            <a:endParaRPr lang="en-US" sz="1150" dirty="0"/>
          </a:p>
        </p:txBody>
      </p:sp>
      <p:sp>
        <p:nvSpPr>
          <p:cNvPr id="21" name="Shape 19"/>
          <p:cNvSpPr/>
          <p:nvPr/>
        </p:nvSpPr>
        <p:spPr>
          <a:xfrm>
            <a:off x="566928" y="1394460"/>
            <a:ext cx="1441826" cy="425196"/>
          </a:xfrm>
          <a:prstGeom prst="rect">
            <a:avLst/>
          </a:prstGeom>
          <a:solidFill>
            <a:srgbClr val="FFFFFF"/>
          </a:solidFill>
          <a:ln w="12700">
            <a:solidFill>
              <a:srgbClr val="D5DCE3"/>
            </a:solidFill>
            <a:prstDash val="solid"/>
          </a:ln>
        </p:spPr>
        <p:txBody>
          <a:bodyPr/>
          <a:lstStyle/>
          <a:p>
            <a:endParaRPr lang="ja-JP" altLang="en-US"/>
          </a:p>
        </p:txBody>
      </p:sp>
      <p:sp>
        <p:nvSpPr>
          <p:cNvPr id="22" name="Text 20"/>
          <p:cNvSpPr/>
          <p:nvPr/>
        </p:nvSpPr>
        <p:spPr>
          <a:xfrm>
            <a:off x="594360" y="1412748"/>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Minkowski</a:t>
            </a:r>
            <a:endParaRPr lang="en-US" sz="1040" dirty="0"/>
          </a:p>
        </p:txBody>
      </p:sp>
      <p:sp>
        <p:nvSpPr>
          <p:cNvPr id="23" name="Shape 21"/>
          <p:cNvSpPr/>
          <p:nvPr/>
        </p:nvSpPr>
        <p:spPr>
          <a:xfrm>
            <a:off x="2008754"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2036186"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+0.565</a:t>
            </a:r>
            <a:endParaRPr lang="en-US" sz="1040" dirty="0"/>
          </a:p>
        </p:txBody>
      </p:sp>
      <p:sp>
        <p:nvSpPr>
          <p:cNvPr id="25" name="Shape 23"/>
          <p:cNvSpPr/>
          <p:nvPr/>
        </p:nvSpPr>
        <p:spPr>
          <a:xfrm>
            <a:off x="2929920"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957352"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+0.229</a:t>
            </a:r>
            <a:endParaRPr lang="en-US" sz="1040" dirty="0"/>
          </a:p>
        </p:txBody>
      </p:sp>
      <p:sp>
        <p:nvSpPr>
          <p:cNvPr id="27" name="Shape 25"/>
          <p:cNvSpPr/>
          <p:nvPr/>
        </p:nvSpPr>
        <p:spPr>
          <a:xfrm>
            <a:off x="3851087"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3878519"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+0.875</a:t>
            </a:r>
            <a:endParaRPr lang="en-US" sz="1040" dirty="0"/>
          </a:p>
        </p:txBody>
      </p:sp>
      <p:sp>
        <p:nvSpPr>
          <p:cNvPr id="29" name="Shape 27"/>
          <p:cNvSpPr/>
          <p:nvPr/>
        </p:nvSpPr>
        <p:spPr>
          <a:xfrm>
            <a:off x="4772254"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4799686" y="1412748"/>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C94C4C"/>
                </a:solidFill>
                <a:latin typeface="Yu Gothic" pitchFamily="34" charset="0"/>
                <a:ea typeface="Yu Gothic" pitchFamily="34" charset="-122"/>
                <a:cs typeface="Yu Gothic" pitchFamily="34" charset="-120"/>
              </a:rPr>
              <a:t>−2.134</a:t>
            </a:r>
            <a:endParaRPr lang="en-US" sz="1040" dirty="0"/>
          </a:p>
        </p:txBody>
      </p:sp>
      <p:sp>
        <p:nvSpPr>
          <p:cNvPr id="31" name="Shape 29"/>
          <p:cNvSpPr/>
          <p:nvPr/>
        </p:nvSpPr>
        <p:spPr>
          <a:xfrm>
            <a:off x="5693420"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5720852"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−0.015</a:t>
            </a:r>
            <a:endParaRPr lang="en-US" sz="1040" dirty="0"/>
          </a:p>
        </p:txBody>
      </p:sp>
      <p:sp>
        <p:nvSpPr>
          <p:cNvPr id="33" name="Shape 31"/>
          <p:cNvSpPr/>
          <p:nvPr/>
        </p:nvSpPr>
        <p:spPr>
          <a:xfrm>
            <a:off x="6614587" y="1394460"/>
            <a:ext cx="1041319" cy="425196"/>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6642019" y="1412748"/>
            <a:ext cx="986455"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+1.984</a:t>
            </a:r>
            <a:endParaRPr lang="en-US" sz="1040" dirty="0"/>
          </a:p>
        </p:txBody>
      </p:sp>
      <p:sp>
        <p:nvSpPr>
          <p:cNvPr id="35" name="Shape 33"/>
          <p:cNvSpPr/>
          <p:nvPr/>
        </p:nvSpPr>
        <p:spPr>
          <a:xfrm>
            <a:off x="7655905"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7683337" y="1412748"/>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+2.452</a:t>
            </a:r>
            <a:endParaRPr lang="en-US" sz="1040" dirty="0"/>
          </a:p>
        </p:txBody>
      </p:sp>
      <p:sp>
        <p:nvSpPr>
          <p:cNvPr id="37" name="Shape 35"/>
          <p:cNvSpPr/>
          <p:nvPr/>
        </p:nvSpPr>
        <p:spPr>
          <a:xfrm>
            <a:off x="566928" y="1819656"/>
            <a:ext cx="1441826" cy="425196"/>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594360" y="1837944"/>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SPVCNN</a:t>
            </a:r>
            <a:endParaRPr lang="en-US" sz="1040" dirty="0"/>
          </a:p>
        </p:txBody>
      </p:sp>
      <p:sp>
        <p:nvSpPr>
          <p:cNvPr id="39" name="Shape 37"/>
          <p:cNvSpPr/>
          <p:nvPr/>
        </p:nvSpPr>
        <p:spPr>
          <a:xfrm>
            <a:off x="2008754"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2036186"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+0.295</a:t>
            </a:r>
            <a:endParaRPr lang="en-US" sz="1040" dirty="0"/>
          </a:p>
        </p:txBody>
      </p:sp>
      <p:sp>
        <p:nvSpPr>
          <p:cNvPr id="41" name="Shape 39"/>
          <p:cNvSpPr/>
          <p:nvPr/>
        </p:nvSpPr>
        <p:spPr>
          <a:xfrm>
            <a:off x="2929920"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957352"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+0.143</a:t>
            </a:r>
            <a:endParaRPr lang="en-US" sz="1040" dirty="0"/>
          </a:p>
        </p:txBody>
      </p:sp>
      <p:sp>
        <p:nvSpPr>
          <p:cNvPr id="43" name="Shape 41"/>
          <p:cNvSpPr/>
          <p:nvPr/>
        </p:nvSpPr>
        <p:spPr>
          <a:xfrm>
            <a:off x="3851087"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3878519"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C94C4C"/>
                </a:solidFill>
                <a:latin typeface="Yu Gothic" pitchFamily="34" charset="0"/>
                <a:ea typeface="Yu Gothic" pitchFamily="34" charset="-122"/>
                <a:cs typeface="Yu Gothic" pitchFamily="34" charset="-120"/>
              </a:rPr>
              <a:t>−0.354</a:t>
            </a:r>
            <a:endParaRPr lang="en-US" sz="1040" dirty="0"/>
          </a:p>
        </p:txBody>
      </p:sp>
      <p:sp>
        <p:nvSpPr>
          <p:cNvPr id="45" name="Shape 43"/>
          <p:cNvSpPr/>
          <p:nvPr/>
        </p:nvSpPr>
        <p:spPr>
          <a:xfrm>
            <a:off x="4772254"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4799686"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−0.171</a:t>
            </a:r>
            <a:endParaRPr lang="en-US" sz="1040" dirty="0"/>
          </a:p>
        </p:txBody>
      </p:sp>
      <p:sp>
        <p:nvSpPr>
          <p:cNvPr id="47" name="Shape 45"/>
          <p:cNvSpPr/>
          <p:nvPr/>
        </p:nvSpPr>
        <p:spPr>
          <a:xfrm>
            <a:off x="5693420"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5720852" y="1837944"/>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+2.271</a:t>
            </a:r>
            <a:endParaRPr lang="en-US" sz="1040" dirty="0"/>
          </a:p>
        </p:txBody>
      </p:sp>
      <p:sp>
        <p:nvSpPr>
          <p:cNvPr id="49" name="Shape 47"/>
          <p:cNvSpPr/>
          <p:nvPr/>
        </p:nvSpPr>
        <p:spPr>
          <a:xfrm>
            <a:off x="6614587" y="1819656"/>
            <a:ext cx="1041319" cy="425196"/>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6642019" y="1837944"/>
            <a:ext cx="986455"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+0.175</a:t>
            </a:r>
            <a:endParaRPr lang="en-US" sz="1040" dirty="0"/>
          </a:p>
        </p:txBody>
      </p:sp>
      <p:sp>
        <p:nvSpPr>
          <p:cNvPr id="51" name="Shape 49"/>
          <p:cNvSpPr/>
          <p:nvPr/>
        </p:nvSpPr>
        <p:spPr>
          <a:xfrm>
            <a:off x="7655905"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7683337"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−0.294</a:t>
            </a:r>
            <a:endParaRPr lang="en-US" sz="1040" dirty="0"/>
          </a:p>
        </p:txBody>
      </p:sp>
      <p:sp>
        <p:nvSpPr>
          <p:cNvPr id="53" name="Shape 51"/>
          <p:cNvSpPr/>
          <p:nvPr/>
        </p:nvSpPr>
        <p:spPr>
          <a:xfrm>
            <a:off x="566928" y="2244852"/>
            <a:ext cx="1441826" cy="425196"/>
          </a:xfrm>
          <a:prstGeom prst="rect">
            <a:avLst/>
          </a:prstGeom>
          <a:solidFill>
            <a:srgbClr val="FFFFFF"/>
          </a:solidFill>
          <a:ln w="12700">
            <a:solidFill>
              <a:srgbClr val="D5DCE3"/>
            </a:solidFill>
            <a:prstDash val="solid"/>
          </a:ln>
        </p:spPr>
        <p:txBody>
          <a:bodyPr/>
          <a:lstStyle/>
          <a:p>
            <a:endParaRPr lang="ja-JP" altLang="en-US"/>
          </a:p>
        </p:txBody>
      </p:sp>
      <p:sp>
        <p:nvSpPr>
          <p:cNvPr id="54" name="Text 52"/>
          <p:cNvSpPr/>
          <p:nvPr/>
        </p:nvSpPr>
        <p:spPr>
          <a:xfrm>
            <a:off x="594360" y="2263140"/>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Cylinder3D</a:t>
            </a:r>
            <a:endParaRPr lang="en-US" sz="1040" dirty="0"/>
          </a:p>
        </p:txBody>
      </p:sp>
      <p:sp>
        <p:nvSpPr>
          <p:cNvPr id="55" name="Shape 53"/>
          <p:cNvSpPr/>
          <p:nvPr/>
        </p:nvSpPr>
        <p:spPr>
          <a:xfrm>
            <a:off x="2008754"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56" name="Text 54"/>
          <p:cNvSpPr/>
          <p:nvPr/>
        </p:nvSpPr>
        <p:spPr>
          <a:xfrm>
            <a:off x="2036186"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+0.199</a:t>
            </a:r>
            <a:endParaRPr lang="en-US" sz="1040" dirty="0"/>
          </a:p>
        </p:txBody>
      </p:sp>
      <p:sp>
        <p:nvSpPr>
          <p:cNvPr id="57" name="Shape 55"/>
          <p:cNvSpPr/>
          <p:nvPr/>
        </p:nvSpPr>
        <p:spPr>
          <a:xfrm>
            <a:off x="2929920"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58" name="Text 56"/>
          <p:cNvSpPr/>
          <p:nvPr/>
        </p:nvSpPr>
        <p:spPr>
          <a:xfrm>
            <a:off x="2957352"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+0.120</a:t>
            </a:r>
            <a:endParaRPr lang="en-US" sz="1040" dirty="0"/>
          </a:p>
        </p:txBody>
      </p:sp>
      <p:sp>
        <p:nvSpPr>
          <p:cNvPr id="59" name="Shape 57"/>
          <p:cNvSpPr/>
          <p:nvPr/>
        </p:nvSpPr>
        <p:spPr>
          <a:xfrm>
            <a:off x="3851087"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3878519"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+0.235</a:t>
            </a:r>
            <a:endParaRPr lang="en-US" sz="1040" dirty="0"/>
          </a:p>
        </p:txBody>
      </p:sp>
      <p:sp>
        <p:nvSpPr>
          <p:cNvPr id="61" name="Shape 59"/>
          <p:cNvSpPr/>
          <p:nvPr/>
        </p:nvSpPr>
        <p:spPr>
          <a:xfrm>
            <a:off x="4772254"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4799686"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−0.189</a:t>
            </a:r>
            <a:endParaRPr lang="en-US" sz="1040" dirty="0"/>
          </a:p>
        </p:txBody>
      </p:sp>
      <p:sp>
        <p:nvSpPr>
          <p:cNvPr id="63" name="Shape 61"/>
          <p:cNvSpPr/>
          <p:nvPr/>
        </p:nvSpPr>
        <p:spPr>
          <a:xfrm>
            <a:off x="5693420"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5720852"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−0.175</a:t>
            </a:r>
            <a:endParaRPr lang="en-US" sz="1040" dirty="0"/>
          </a:p>
        </p:txBody>
      </p:sp>
      <p:sp>
        <p:nvSpPr>
          <p:cNvPr id="65" name="Shape 63"/>
          <p:cNvSpPr/>
          <p:nvPr/>
        </p:nvSpPr>
        <p:spPr>
          <a:xfrm>
            <a:off x="6614587" y="2244852"/>
            <a:ext cx="1041319" cy="425196"/>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6642019" y="2263140"/>
            <a:ext cx="986455"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+0.703</a:t>
            </a:r>
            <a:endParaRPr lang="en-US" sz="1040" dirty="0"/>
          </a:p>
        </p:txBody>
      </p:sp>
      <p:sp>
        <p:nvSpPr>
          <p:cNvPr id="67" name="Shape 65"/>
          <p:cNvSpPr/>
          <p:nvPr/>
        </p:nvSpPr>
        <p:spPr>
          <a:xfrm>
            <a:off x="7655905"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7683337"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+0.502</a:t>
            </a:r>
            <a:endParaRPr lang="en-US" sz="1040" dirty="0"/>
          </a:p>
        </p:txBody>
      </p:sp>
      <p:sp>
        <p:nvSpPr>
          <p:cNvPr id="69" name="Shape 67"/>
          <p:cNvSpPr/>
          <p:nvPr/>
        </p:nvSpPr>
        <p:spPr>
          <a:xfrm>
            <a:off x="658368" y="2999232"/>
            <a:ext cx="3703320" cy="9144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0" name="Shape 68"/>
          <p:cNvSpPr/>
          <p:nvPr/>
        </p:nvSpPr>
        <p:spPr>
          <a:xfrm>
            <a:off x="658368" y="2999232"/>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71" name="Text 69"/>
          <p:cNvSpPr/>
          <p:nvPr/>
        </p:nvSpPr>
        <p:spPr>
          <a:xfrm>
            <a:off x="822960" y="3072384"/>
            <a:ext cx="34290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改善が安定するclassはない</a:t>
            </a:r>
            <a:endParaRPr lang="en-US" sz="1600" dirty="0"/>
          </a:p>
        </p:txBody>
      </p:sp>
      <p:sp>
        <p:nvSpPr>
          <p:cNvPr id="72" name="Text 70"/>
          <p:cNvSpPr/>
          <p:nvPr/>
        </p:nvSpPr>
        <p:spPr>
          <a:xfrm>
            <a:off x="822960" y="3419856"/>
            <a:ext cx="34290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Reflectionは3手法すべて改善するが、他classは符号が変わる。</a:t>
            </a:r>
            <a:endParaRPr lang="en-US" sz="1300" dirty="0"/>
          </a:p>
        </p:txBody>
      </p:sp>
      <p:sp>
        <p:nvSpPr>
          <p:cNvPr id="73" name="Shape 71"/>
          <p:cNvSpPr/>
          <p:nvPr/>
        </p:nvSpPr>
        <p:spPr>
          <a:xfrm>
            <a:off x="4782312" y="2999232"/>
            <a:ext cx="3703320" cy="91440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4" name="Shape 72"/>
          <p:cNvSpPr/>
          <p:nvPr/>
        </p:nvSpPr>
        <p:spPr>
          <a:xfrm>
            <a:off x="4782312" y="2999232"/>
            <a:ext cx="50292" cy="914400"/>
          </a:xfrm>
          <a:prstGeom prst="rect">
            <a:avLst/>
          </a:prstGeom>
          <a:solidFill>
            <a:srgbClr val="2E75B6"/>
          </a:solidFill>
          <a:ln w="12700">
            <a:solidFill>
              <a:srgbClr val="2E75B6"/>
            </a:solidFill>
            <a:prstDash val="solid"/>
          </a:ln>
        </p:spPr>
        <p:txBody>
          <a:bodyPr/>
          <a:lstStyle/>
          <a:p>
            <a:endParaRPr lang="ja-JP" altLang="en-US"/>
          </a:p>
        </p:txBody>
      </p:sp>
      <p:sp>
        <p:nvSpPr>
          <p:cNvPr id="75" name="Text 73"/>
          <p:cNvSpPr/>
          <p:nvPr/>
        </p:nvSpPr>
        <p:spPr>
          <a:xfrm>
            <a:off x="4946904" y="3072384"/>
            <a:ext cx="34290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平均値だけでは不十分</a:t>
            </a:r>
            <a:endParaRPr lang="en-US" sz="1600" dirty="0"/>
          </a:p>
        </p:txBody>
      </p:sp>
      <p:sp>
        <p:nvSpPr>
          <p:cNvPr id="76" name="Text 74"/>
          <p:cNvSpPr/>
          <p:nvPr/>
        </p:nvSpPr>
        <p:spPr>
          <a:xfrm>
            <a:off x="4946904" y="3419856"/>
            <a:ext cx="34290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return番号はmodelがどう利用するかに依存し、特定classを悪化させ得る。</a:t>
            </a:r>
            <a:endParaRPr lang="en-US" sz="1300" dirty="0"/>
          </a:p>
        </p:txBody>
      </p:sp>
      <p:sp>
        <p:nvSpPr>
          <p:cNvPr id="77" name="Text 75"/>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Differences calculated from reported values.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付録C｜再現性を確認するときのチェックポイント</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621792" y="896112"/>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21792" y="896112"/>
            <a:ext cx="50292" cy="91440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86384" y="969264"/>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Data unit</a:t>
            </a:r>
            <a:endParaRPr lang="en-US" sz="1400" dirty="0"/>
          </a:p>
        </p:txBody>
      </p:sp>
      <p:sp>
        <p:nvSpPr>
          <p:cNvPr id="8" name="Text 6"/>
          <p:cNvSpPr/>
          <p:nvPr/>
        </p:nvSpPr>
        <p:spPr>
          <a:xfrm>
            <a:off x="786384" y="1316736"/>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48,024は16,008 timestamps×3 LiDAR。独立scene数ではない。</a:t>
            </a:r>
            <a:endParaRPr lang="en-US" sz="1250" dirty="0"/>
          </a:p>
        </p:txBody>
      </p:sp>
      <p:sp>
        <p:nvSpPr>
          <p:cNvPr id="9" name="Shape 7"/>
          <p:cNvSpPr/>
          <p:nvPr/>
        </p:nvSpPr>
        <p:spPr>
          <a:xfrm>
            <a:off x="4782312" y="896112"/>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82312" y="896112"/>
            <a:ext cx="50292" cy="914400"/>
          </a:xfrm>
          <a:prstGeom prst="rect">
            <a:avLst/>
          </a:prstGeom>
          <a:solidFill>
            <a:srgbClr val="2A9D8F"/>
          </a:solidFill>
          <a:ln w="12700">
            <a:solidFill>
              <a:srgbClr val="2A9D8F"/>
            </a:solidFill>
            <a:prstDash val="solid"/>
          </a:ln>
        </p:spPr>
        <p:txBody>
          <a:bodyPr/>
          <a:lstStyle/>
          <a:p>
            <a:endParaRPr lang="ja-JP" altLang="en-US"/>
          </a:p>
        </p:txBody>
      </p:sp>
      <p:sp>
        <p:nvSpPr>
          <p:cNvPr id="11" name="Text 9"/>
          <p:cNvSpPr/>
          <p:nvPr/>
        </p:nvSpPr>
        <p:spPr>
          <a:xfrm>
            <a:off x="4946904" y="969264"/>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Input</a:t>
            </a:r>
            <a:endParaRPr lang="en-US" sz="1400" dirty="0"/>
          </a:p>
        </p:txBody>
      </p:sp>
      <p:sp>
        <p:nvSpPr>
          <p:cNvPr id="12" name="Text 10"/>
          <p:cNvSpPr/>
          <p:nvPr/>
        </p:nvSpPr>
        <p:spPr>
          <a:xfrm>
            <a:off x="4946904" y="1316736"/>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XYZIとXYZIRを区別し、return番号の符号化を確認する。</a:t>
            </a:r>
            <a:endParaRPr lang="en-US" sz="1250" dirty="0"/>
          </a:p>
        </p:txBody>
      </p:sp>
      <p:sp>
        <p:nvSpPr>
          <p:cNvPr id="13" name="Shape 11"/>
          <p:cNvSpPr/>
          <p:nvPr/>
        </p:nvSpPr>
        <p:spPr>
          <a:xfrm>
            <a:off x="621792" y="2020824"/>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21792" y="2020824"/>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15" name="Text 13"/>
          <p:cNvSpPr/>
          <p:nvPr/>
        </p:nvSpPr>
        <p:spPr>
          <a:xfrm>
            <a:off x="786384" y="2093976"/>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Labels</a:t>
            </a:r>
            <a:endParaRPr lang="en-US" sz="1400" dirty="0"/>
          </a:p>
        </p:txBody>
      </p:sp>
      <p:sp>
        <p:nvSpPr>
          <p:cNvPr id="16" name="Text 14"/>
          <p:cNvSpPr/>
          <p:nvPr/>
        </p:nvSpPr>
        <p:spPr>
          <a:xfrm>
            <a:off x="786384" y="2441448"/>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ID 0はUnlabeled。mIoUの対象classとignore設定を確認する。</a:t>
            </a:r>
            <a:endParaRPr lang="en-US" sz="1250" dirty="0"/>
          </a:p>
        </p:txBody>
      </p:sp>
      <p:sp>
        <p:nvSpPr>
          <p:cNvPr id="17" name="Shape 15"/>
          <p:cNvSpPr/>
          <p:nvPr/>
        </p:nvSpPr>
        <p:spPr>
          <a:xfrm>
            <a:off x="4782312" y="2020824"/>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782312" y="2020824"/>
            <a:ext cx="50292" cy="914400"/>
          </a:xfrm>
          <a:prstGeom prst="rect">
            <a:avLst/>
          </a:prstGeom>
          <a:solidFill>
            <a:srgbClr val="8064A2"/>
          </a:solidFill>
          <a:ln w="12700">
            <a:solidFill>
              <a:srgbClr val="8064A2"/>
            </a:solidFill>
            <a:prstDash val="solid"/>
          </a:ln>
        </p:spPr>
        <p:txBody>
          <a:bodyPr/>
          <a:lstStyle/>
          <a:p>
            <a:endParaRPr lang="ja-JP" altLang="en-US"/>
          </a:p>
        </p:txBody>
      </p:sp>
      <p:sp>
        <p:nvSpPr>
          <p:cNvPr id="19" name="Text 17"/>
          <p:cNvSpPr/>
          <p:nvPr/>
        </p:nvSpPr>
        <p:spPr>
          <a:xfrm>
            <a:off x="4946904" y="2093976"/>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Split</a:t>
            </a:r>
            <a:endParaRPr lang="en-US" sz="1400" dirty="0"/>
          </a:p>
        </p:txBody>
      </p:sp>
      <p:sp>
        <p:nvSpPr>
          <p:cNvPr id="20" name="Text 18"/>
          <p:cNvSpPr/>
          <p:nvPr/>
        </p:nvSpPr>
        <p:spPr>
          <a:xfrm>
            <a:off x="4946904" y="2441448"/>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RGB train/testとLiDAR sequence/sensorの分割単位を確認する。</a:t>
            </a:r>
            <a:endParaRPr lang="en-US" sz="1250" dirty="0"/>
          </a:p>
        </p:txBody>
      </p:sp>
      <p:sp>
        <p:nvSpPr>
          <p:cNvPr id="21" name="Shape 19"/>
          <p:cNvSpPr/>
          <p:nvPr/>
        </p:nvSpPr>
        <p:spPr>
          <a:xfrm>
            <a:off x="621792" y="3145536"/>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2" name="Shape 20"/>
          <p:cNvSpPr/>
          <p:nvPr/>
        </p:nvSpPr>
        <p:spPr>
          <a:xfrm>
            <a:off x="621792" y="3145536"/>
            <a:ext cx="50292" cy="914400"/>
          </a:xfrm>
          <a:prstGeom prst="rect">
            <a:avLst/>
          </a:prstGeom>
          <a:solidFill>
            <a:srgbClr val="C94C4C"/>
          </a:solidFill>
          <a:ln w="12700">
            <a:solidFill>
              <a:srgbClr val="C94C4C"/>
            </a:solidFill>
            <a:prstDash val="solid"/>
          </a:ln>
        </p:spPr>
        <p:txBody>
          <a:bodyPr/>
          <a:lstStyle/>
          <a:p>
            <a:endParaRPr lang="ja-JP" altLang="en-US"/>
          </a:p>
        </p:txBody>
      </p:sp>
      <p:sp>
        <p:nvSpPr>
          <p:cNvPr id="23" name="Text 21"/>
          <p:cNvSpPr/>
          <p:nvPr/>
        </p:nvSpPr>
        <p:spPr>
          <a:xfrm>
            <a:off x="786384" y="3218688"/>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Geometry</a:t>
            </a:r>
            <a:endParaRPr lang="en-US" sz="1400" dirty="0"/>
          </a:p>
        </p:txBody>
      </p:sp>
      <p:sp>
        <p:nvSpPr>
          <p:cNvPr id="24" name="Text 22"/>
          <p:cNvSpPr/>
          <p:nvPr/>
        </p:nvSpPr>
        <p:spPr>
          <a:xfrm>
            <a:off x="786384" y="3566160"/>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mesh・pose・extrinsic・timestamp補正がray labelへ直結する。</a:t>
            </a:r>
            <a:endParaRPr lang="en-US" sz="1250" dirty="0"/>
          </a:p>
        </p:txBody>
      </p:sp>
      <p:sp>
        <p:nvSpPr>
          <p:cNvPr id="25" name="Shape 23"/>
          <p:cNvSpPr/>
          <p:nvPr/>
        </p:nvSpPr>
        <p:spPr>
          <a:xfrm>
            <a:off x="4782312" y="3145536"/>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6" name="Shape 24"/>
          <p:cNvSpPr/>
          <p:nvPr/>
        </p:nvSpPr>
        <p:spPr>
          <a:xfrm>
            <a:off x="4782312" y="3145536"/>
            <a:ext cx="50292" cy="914400"/>
          </a:xfrm>
          <a:prstGeom prst="rect">
            <a:avLst/>
          </a:prstGeom>
          <a:solidFill>
            <a:srgbClr val="17365D"/>
          </a:solidFill>
          <a:ln w="12700">
            <a:solidFill>
              <a:srgbClr val="17365D"/>
            </a:solidFill>
            <a:prstDash val="solid"/>
          </a:ln>
        </p:spPr>
        <p:txBody>
          <a:bodyPr/>
          <a:lstStyle/>
          <a:p>
            <a:endParaRPr lang="ja-JP" altLang="en-US"/>
          </a:p>
        </p:txBody>
      </p:sp>
      <p:sp>
        <p:nvSpPr>
          <p:cNvPr id="27" name="Text 25"/>
          <p:cNvSpPr/>
          <p:nvPr/>
        </p:nvSpPr>
        <p:spPr>
          <a:xfrm>
            <a:off x="4946904" y="3218688"/>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Claims</a:t>
            </a:r>
            <a:endParaRPr lang="en-US" sz="1400" dirty="0"/>
          </a:p>
        </p:txBody>
      </p:sp>
      <p:sp>
        <p:nvSpPr>
          <p:cNvPr id="28" name="Text 26"/>
          <p:cNvSpPr/>
          <p:nvPr/>
        </p:nvSpPr>
        <p:spPr>
          <a:xfrm>
            <a:off x="4946904" y="3566160"/>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本文の概括値ではなくTable 5・6の値とmethod名を参照する。</a:t>
            </a:r>
            <a:endParaRPr lang="en-US" sz="1250" dirty="0"/>
          </a:p>
        </p:txBody>
      </p:sp>
      <p:sp>
        <p:nvSpPr>
          <p:cNvPr id="29" name="Shape 27"/>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30" name="Shape 28"/>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31" name="Text 2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再現実験では『同じframeの別sensorがtrain/testを跨いでいないか』も確認すべき。</a:t>
            </a:r>
            <a:endParaRPr lang="en-US" sz="1450" dirty="0"/>
          </a:p>
        </p:txBody>
      </p:sp>
      <p:sp>
        <p:nvSpPr>
          <p:cNvPr id="32" name="Text 3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Based on dataset structure and experimental description in Zhao &amp; Schwertfeger (2024)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653CAE-5940-43F3-8373-4AC1B79F33AA}">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CD9419C-5096-4768-A90F-6D3532428C08}">
  <we:reference id="wa200010215" version="2.0.0.0" store="en-US" storeType="OMEX"/>
  <we:alternateReferences>
    <we:reference id="WA200010215" version="2.0.0.0" store="" storeType="OMEX"/>
  </we:alternateReferences>
  <we:properties>
    <we:property name="bps.codex_control.document_id" value="&quot;ab6088b9-4f44-4b7c-9d12-36296db7301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264</TotalTime>
  <Words>7464</Words>
  <Application>Microsoft Office PowerPoint</Application>
  <PresentationFormat>画面に合わせる (16:9)</PresentationFormat>
  <Paragraphs>938</Paragraphs>
  <Slides>48</Slides>
  <Notes>37</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ＭＳ Ｐゴシック</vt:lpstr>
      <vt:lpstr>ＭＳ ゴシック</vt:lpstr>
      <vt:lpstr>Yu Gothic</vt:lpstr>
      <vt:lpstr>Arial</vt:lpstr>
      <vt:lpstr>Cambria Math</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Osaka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3DRef: 3D Dataset and Benchmark for Reflection Detection in RGB and Lidar Data</dc:title>
  <dc:subject>3DRef論文紹介（教授向け詳細版）</dc:subject>
  <dc:creator>大阪大学 修士課程セミナー</dc:creator>
  <cp:lastModifiedBy>樹生 武知</cp:lastModifiedBy>
  <cp:revision>5</cp:revision>
  <dcterms:created xsi:type="dcterms:W3CDTF">2026-07-22T07:03:22Z</dcterms:created>
  <dcterms:modified xsi:type="dcterms:W3CDTF">2026-07-22T18:04:08Z</dcterms:modified>
</cp:coreProperties>
</file>