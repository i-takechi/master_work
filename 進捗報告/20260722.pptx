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10"/>
  </p:notesMasterIdLst>
  <p:sldIdLst>
    <p:sldId id="256" r:id="rId3"/>
    <p:sldId id="260" r:id="rId4"/>
    <p:sldId id="257" r:id="rId5"/>
    <p:sldId id="259" r:id="rId6"/>
    <p:sldId id="264" r:id="rId7"/>
    <p:sldId id="269" r:id="rId8"/>
    <p:sldId id="271"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8"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1A4301-FEB8-4569-BC43-257571746F4E}" type="datetimeFigureOut">
              <a:rPr kumimoji="1" lang="ja-JP" altLang="en-US" smtClean="0"/>
              <a:t>2026/7/22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16089-AD9D-4B4C-8505-3B47E2132597}" type="slidenum">
              <a:rPr kumimoji="1" lang="ja-JP" altLang="en-US" smtClean="0"/>
              <a:t>‹#›</a:t>
            </a:fld>
            <a:endParaRPr kumimoji="1" lang="ja-JP" altLang="en-US"/>
          </a:p>
        </p:txBody>
      </p:sp>
    </p:spTree>
    <p:extLst>
      <p:ext uri="{BB962C8B-B14F-4D97-AF65-F5344CB8AC3E}">
        <p14:creationId xmlns:p14="http://schemas.microsoft.com/office/powerpoint/2010/main" val="254245817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97025-236A-22A6-FC5F-4AB829C81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B4042-255D-3829-72AA-8888302E2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6FCE4-0B6F-5316-82DF-91A3C3034B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D74371-D94B-14FD-45F2-80CEC9D50A6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63058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3CF115-8035-4266-22EB-7A2E95A2339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2807CD2-2F1B-382E-5A15-2E2937A47A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5A22C70-6640-4639-0A8B-8D7BADCFF681}"/>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742B13C0-354E-CE2A-FD4C-D9AC8F0844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85FD33-4519-F759-E65D-FA12FE2E5FF8}"/>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773635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305A21-1F5B-9250-C5B2-E26EEA38CE4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BB46FE3-0D48-81DC-ADEB-FFED1DBE238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497C46F-C64B-D250-EE3A-B90A2848386B}"/>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D4A2AB55-D9EA-BD3E-CE63-2F8807CFA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06E237B-98FD-C5F6-35CC-080AA92590BF}"/>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3093451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24302F-070F-328D-B81F-7C1D4F97803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82D7DC1-44E8-0BE2-836C-FECA92634E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7B9C1A5-58BA-811E-6AF4-FBFF2E97B609}"/>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10AAA76F-12BA-97E6-C65C-25ADFBA7B8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FCDA1A-9D48-FD40-F403-5A1C8B7B8005}"/>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1485603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1B5620-5738-C0AA-FCDC-88336A19034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750A27-5E25-B153-BCD7-02B512A5372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956DB26-19CC-EAA3-FA3F-A6285DF284B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29E84E0-4C7F-C5FC-23CC-F81A5BB5630C}"/>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6" name="フッター プレースホルダー 5">
            <a:extLst>
              <a:ext uri="{FF2B5EF4-FFF2-40B4-BE49-F238E27FC236}">
                <a16:creationId xmlns:a16="http://schemas.microsoft.com/office/drawing/2014/main" id="{C75BE91B-7B34-8745-D80E-BD3A63B797B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9D22813-6818-D49C-9A0A-E5B6BDA9B46A}"/>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483510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0F1AF7-81BB-84A0-9C08-E19B2C1F9DA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C8205DD-793D-5ADB-BE64-22844EC8E9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F0CF342-6274-11A4-3A92-7BBA4CCA30C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2F56688-7690-87CC-1ED6-C93AD25438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CFA5276-E62B-FEA7-1DF6-62954A74CE6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6DF64BE-F756-A65C-B01C-FC02391576F8}"/>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8" name="フッター プレースホルダー 7">
            <a:extLst>
              <a:ext uri="{FF2B5EF4-FFF2-40B4-BE49-F238E27FC236}">
                <a16:creationId xmlns:a16="http://schemas.microsoft.com/office/drawing/2014/main" id="{D1A57833-5F89-111D-AB61-7A889E4BA8B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65E5727-C875-8A0A-6F10-F2FB0960044F}"/>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2051354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3CF8E9-0F64-8DE3-C753-C2677D85587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2F4BBD3-DAA1-5750-E1F0-A533DAD8AD92}"/>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4" name="フッター プレースホルダー 3">
            <a:extLst>
              <a:ext uri="{FF2B5EF4-FFF2-40B4-BE49-F238E27FC236}">
                <a16:creationId xmlns:a16="http://schemas.microsoft.com/office/drawing/2014/main" id="{874C422B-ACA5-2646-10C6-10A30DD85EF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58F035B-D670-A59B-3AD6-209A0F6D1E63}"/>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4263004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D82F862-0A2F-AE2B-4F38-F057F0656E67}"/>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3" name="フッター プレースホルダー 2">
            <a:extLst>
              <a:ext uri="{FF2B5EF4-FFF2-40B4-BE49-F238E27FC236}">
                <a16:creationId xmlns:a16="http://schemas.microsoft.com/office/drawing/2014/main" id="{106A1CAC-3ECA-119B-EB7C-BA91ED4025D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9D6600D-62E8-EEFD-CCDB-F634EE5CDC81}"/>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2177331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233E50-9BA9-7457-52EA-1AE7000AA1F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2F3B24-E0C5-A4DB-F2E9-8E4342ECE7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D1A0E15-E042-49DF-F84E-3C10E7B35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75599D3-5916-FA0E-2D5A-E0A93747B00D}"/>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6" name="フッター プレースホルダー 5">
            <a:extLst>
              <a:ext uri="{FF2B5EF4-FFF2-40B4-BE49-F238E27FC236}">
                <a16:creationId xmlns:a16="http://schemas.microsoft.com/office/drawing/2014/main" id="{DB98DD5A-52A9-A73B-F36D-E6B4DC55D0C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03CE57F-8534-4785-6FA0-39277ACDF277}"/>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149436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9FD6F3-B1F9-E651-9B16-61C9B800346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139183F-9D58-4CDE-A84E-DCB9C066D0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D0CA10C-6B97-E166-BEA5-F19D0BE3E4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2D40CB3-FDB0-4708-A9EC-1768F7F60D19}"/>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6" name="フッター プレースホルダー 5">
            <a:extLst>
              <a:ext uri="{FF2B5EF4-FFF2-40B4-BE49-F238E27FC236}">
                <a16:creationId xmlns:a16="http://schemas.microsoft.com/office/drawing/2014/main" id="{8AB7C813-665F-2B10-93EC-BA25B95C59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42B657F-0039-A358-2D2D-D0FFB5166B4E}"/>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241055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A505A7-A5FD-527E-8635-88F755E2192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1243A79-30CE-56A8-68A3-455FCFA46DD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2B3AB31-FDD7-C7E5-EA81-7AA34E65486E}"/>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1605A5F2-CCB6-3CAA-3DA8-C07B8E6C730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7B10CB-788F-41B0-9434-4D3AF43F1156}"/>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203049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69802F6-A0A0-85CB-B191-2A6BE0E1803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8763011-2BD6-689E-3E78-E5BD950FFAC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832BB5-B485-121C-0CE3-8083CA611FE1}"/>
              </a:ext>
            </a:extLst>
          </p:cNvPr>
          <p:cNvSpPr>
            <a:spLocks noGrp="1"/>
          </p:cNvSpPr>
          <p:nvPr>
            <p:ph type="dt" sz="half" idx="10"/>
          </p:nvPr>
        </p:nvSpPr>
        <p:spPr/>
        <p:txBody>
          <a:bodyPr/>
          <a:lstStyle/>
          <a:p>
            <a:fld id="{453BDDF1-D61E-4BD0-B490-273A101CA1AE}"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F0DED48C-6A7C-05E8-32BF-EA3ACD3AE1F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5990422-34F1-EAC2-84DD-A71AD18767F0}"/>
              </a:ext>
            </a:extLst>
          </p:cNvPr>
          <p:cNvSpPr>
            <a:spLocks noGrp="1"/>
          </p:cNvSpPr>
          <p:nvPr>
            <p:ph type="sldNum" sz="quarter" idx="12"/>
          </p:nvPr>
        </p:nvSpPr>
        <p:spPr/>
        <p:txBody>
          <a:body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1494243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8540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119D43E-61B4-00ED-D762-22C73CFDE0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7AC98D0-C43D-BE88-C210-9CBE37A293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E9F4DE-EB78-C862-8597-B1937E0EAB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3BDDF1-D61E-4BD0-B490-273A101CA1AE}"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FF26012B-C0A3-9868-F8BC-88DF7F1244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476221F-95F1-B21F-381C-18254BFC25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A74714-EFF8-4255-A09A-B157B324D722}" type="slidenum">
              <a:rPr kumimoji="1" lang="ja-JP" altLang="en-US" smtClean="0"/>
              <a:t>‹#›</a:t>
            </a:fld>
            <a:endParaRPr kumimoji="1" lang="ja-JP" altLang="en-US"/>
          </a:p>
        </p:txBody>
      </p:sp>
    </p:spTree>
    <p:extLst>
      <p:ext uri="{BB962C8B-B14F-4D97-AF65-F5344CB8AC3E}">
        <p14:creationId xmlns:p14="http://schemas.microsoft.com/office/powerpoint/2010/main" val="2330197326"/>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3C9C31-4299-3958-8D5F-328E11060D47}"/>
              </a:ext>
            </a:extLst>
          </p:cNvPr>
          <p:cNvSpPr>
            <a:spLocks noGrp="1"/>
          </p:cNvSpPr>
          <p:nvPr>
            <p:ph type="ctrTitle"/>
          </p:nvPr>
        </p:nvSpPr>
        <p:spPr/>
        <p:txBody>
          <a:bodyPr/>
          <a:lstStyle/>
          <a:p>
            <a:r>
              <a:rPr kumimoji="1" lang="ja-JP" altLang="en-US" dirty="0">
                <a:latin typeface="Meiryo UI" panose="020B0604030504040204" pitchFamily="50" charset="-128"/>
                <a:ea typeface="Meiryo UI" panose="020B0604030504040204" pitchFamily="50" charset="-128"/>
              </a:rPr>
              <a:t>進捗報告</a:t>
            </a:r>
          </a:p>
        </p:txBody>
      </p:sp>
      <p:sp>
        <p:nvSpPr>
          <p:cNvPr id="3" name="字幕 2">
            <a:extLst>
              <a:ext uri="{FF2B5EF4-FFF2-40B4-BE49-F238E27FC236}">
                <a16:creationId xmlns:a16="http://schemas.microsoft.com/office/drawing/2014/main" id="{609CB263-93BC-8CB9-938D-D8A91C9734CC}"/>
              </a:ext>
            </a:extLst>
          </p:cNvPr>
          <p:cNvSpPr>
            <a:spLocks noGrp="1"/>
          </p:cNvSpPr>
          <p:nvPr>
            <p:ph type="subTitle" idx="1"/>
          </p:nvPr>
        </p:nvSpPr>
        <p:spPr/>
        <p:txBody>
          <a:bodyPr/>
          <a:lstStyle/>
          <a:p>
            <a:r>
              <a:rPr kumimoji="1" lang="en-US" altLang="ja-JP" dirty="0">
                <a:latin typeface="Meiryo UI" panose="020B0604030504040204" pitchFamily="50" charset="-128"/>
                <a:ea typeface="Meiryo UI" panose="020B0604030504040204" pitchFamily="50" charset="-128"/>
              </a:rPr>
              <a:t>2026/07/15</a:t>
            </a:r>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69411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E200C-9C8A-4576-70E6-3F1847D157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7461453-E994-75A8-EFA6-C428401B0653}"/>
              </a:ext>
            </a:extLst>
          </p:cNvPr>
          <p:cNvSpPr>
            <a:spLocks noGrp="1"/>
          </p:cNvSpPr>
          <p:nvPr>
            <p:ph type="title"/>
          </p:nvPr>
        </p:nvSpPr>
        <p:spPr>
          <a:xfrm>
            <a:off x="838200" y="484836"/>
            <a:ext cx="10515600" cy="1325563"/>
          </a:xfrm>
        </p:spPr>
        <p:txBody>
          <a:bodyPr/>
          <a:lstStyle/>
          <a:p>
            <a:r>
              <a:rPr kumimoji="1" lang="ja-JP" altLang="en-US" u="sng" dirty="0">
                <a:latin typeface="Meiryo UI" panose="020B0604030504040204" pitchFamily="50" charset="-128"/>
                <a:ea typeface="Meiryo UI" panose="020B0604030504040204" pitchFamily="50" charset="-128"/>
              </a:rPr>
              <a:t>進捗内容</a:t>
            </a:r>
          </a:p>
        </p:txBody>
      </p:sp>
      <p:sp>
        <p:nvSpPr>
          <p:cNvPr id="6" name="コンテンツ プレースホルダー 2">
            <a:extLst>
              <a:ext uri="{FF2B5EF4-FFF2-40B4-BE49-F238E27FC236}">
                <a16:creationId xmlns:a16="http://schemas.microsoft.com/office/drawing/2014/main" id="{712D00A9-9211-5022-DE88-2C69D6550FCF}"/>
              </a:ext>
            </a:extLst>
          </p:cNvPr>
          <p:cNvSpPr txBox="1">
            <a:spLocks/>
          </p:cNvSpPr>
          <p:nvPr/>
        </p:nvSpPr>
        <p:spPr>
          <a:xfrm>
            <a:off x="838200" y="863600"/>
            <a:ext cx="11087101" cy="589279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300000"/>
              </a:lnSpc>
            </a:pPr>
            <a:r>
              <a:rPr lang="ja-JP" altLang="en-US" dirty="0">
                <a:latin typeface="Meiryo UI" panose="020B0604030504040204" pitchFamily="50" charset="-128"/>
                <a:ea typeface="Meiryo UI" panose="020B0604030504040204" pitchFamily="50" charset="-128"/>
              </a:rPr>
              <a:t>研究目的・研究計画の策定</a:t>
            </a:r>
            <a:endParaRPr lang="en-US" altLang="ja-JP" dirty="0">
              <a:latin typeface="Meiryo UI" panose="020B0604030504040204" pitchFamily="50" charset="-128"/>
              <a:ea typeface="Meiryo UI" panose="020B0604030504040204" pitchFamily="50" charset="-128"/>
            </a:endParaRPr>
          </a:p>
          <a:p>
            <a:pPr>
              <a:lnSpc>
                <a:spcPct val="300000"/>
              </a:lnSpc>
            </a:pPr>
            <a:r>
              <a:rPr lang="ja-JP" altLang="en-US" dirty="0">
                <a:latin typeface="Meiryo UI" panose="020B0604030504040204" pitchFamily="50" charset="-128"/>
                <a:ea typeface="Meiryo UI" panose="020B0604030504040204" pitchFamily="50" charset="-128"/>
              </a:rPr>
              <a:t>公開データセットを用いた実験の実施、結果の評価</a:t>
            </a:r>
            <a:endParaRPr lang="en-US" altLang="ja-JP" dirty="0">
              <a:latin typeface="Meiryo UI" panose="020B0604030504040204" pitchFamily="50" charset="-128"/>
              <a:ea typeface="Meiryo UI" panose="020B0604030504040204" pitchFamily="50" charset="-128"/>
            </a:endParaRPr>
          </a:p>
          <a:p>
            <a:pPr marL="0" indent="0">
              <a:lnSpc>
                <a:spcPct val="300000"/>
              </a:lnSpc>
              <a:buNone/>
            </a:pPr>
            <a:endParaRPr lang="ja-JP"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33243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6BFCFE-CD74-7C06-0847-14C3B2CA82E0}"/>
              </a:ext>
            </a:extLst>
          </p:cNvPr>
          <p:cNvSpPr>
            <a:spLocks noGrp="1"/>
          </p:cNvSpPr>
          <p:nvPr>
            <p:ph type="title"/>
          </p:nvPr>
        </p:nvSpPr>
        <p:spPr>
          <a:xfrm>
            <a:off x="838199" y="-281782"/>
            <a:ext cx="10515600" cy="1325563"/>
          </a:xfrm>
        </p:spPr>
        <p:txBody>
          <a:bodyPr/>
          <a:lstStyle/>
          <a:p>
            <a:r>
              <a:rPr kumimoji="1" lang="ja-JP" altLang="en-US" u="sng" dirty="0">
                <a:latin typeface="Meiryo UI" panose="020B0604030504040204" pitchFamily="50" charset="-128"/>
                <a:ea typeface="Meiryo UI" panose="020B0604030504040204" pitchFamily="50" charset="-128"/>
              </a:rPr>
              <a:t>研究目的</a:t>
            </a:r>
            <a:r>
              <a:rPr kumimoji="1" lang="en-US" altLang="ja-JP" u="sng" dirty="0">
                <a:latin typeface="Meiryo UI" panose="020B0604030504040204" pitchFamily="50" charset="-128"/>
                <a:ea typeface="Meiryo UI" panose="020B0604030504040204" pitchFamily="50" charset="-128"/>
              </a:rPr>
              <a:t>1</a:t>
            </a:r>
            <a:endParaRPr kumimoji="1" lang="ja-JP" altLang="en-US" u="sng" dirty="0">
              <a:latin typeface="Meiryo UI" panose="020B0604030504040204" pitchFamily="50" charset="-128"/>
              <a:ea typeface="Meiryo UI" panose="020B0604030504040204" pitchFamily="50" charset="-128"/>
            </a:endParaRPr>
          </a:p>
        </p:txBody>
      </p:sp>
      <mc:AlternateContent xmlns:mc="http://schemas.openxmlformats.org/markup-compatibility/2006" xmlns:a14="http://schemas.microsoft.com/office/drawing/2010/main">
        <mc:Choice Requires="a14">
          <p:sp>
            <p:nvSpPr>
              <p:cNvPr id="6" name="コンテンツ プレースホルダー 2">
                <a:extLst>
                  <a:ext uri="{FF2B5EF4-FFF2-40B4-BE49-F238E27FC236}">
                    <a16:creationId xmlns:a16="http://schemas.microsoft.com/office/drawing/2014/main" id="{4C8C74B0-0714-383D-204C-42820462C2DD}"/>
                  </a:ext>
                </a:extLst>
              </p:cNvPr>
              <p:cNvSpPr txBox="1">
                <a:spLocks/>
              </p:cNvSpPr>
              <p:nvPr/>
            </p:nvSpPr>
            <p:spPr>
              <a:xfrm>
                <a:off x="838199" y="1043781"/>
                <a:ext cx="11087101" cy="517525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ja-JP" altLang="ja-JP" dirty="0">
                    <a:latin typeface="Meiryo UI" panose="020B0604030504040204" pitchFamily="50" charset="-128"/>
                    <a:ea typeface="Meiryo UI" panose="020B0604030504040204" pitchFamily="50" charset="-128"/>
                  </a:rPr>
                  <a:t>本研究では、</a:t>
                </a:r>
                <a:r>
                  <a:rPr lang="en-US" altLang="ja-JP" dirty="0">
                    <a:latin typeface="Meiryo UI" panose="020B0604030504040204" pitchFamily="50" charset="-128"/>
                    <a:ea typeface="Meiryo UI" panose="020B0604030504040204" pitchFamily="50" charset="-128"/>
                  </a:rPr>
                  <a:t>LiDAR</a:t>
                </a:r>
                <a:r>
                  <a:rPr lang="ja-JP" altLang="en-US" dirty="0">
                    <a:latin typeface="Meiryo UI" panose="020B0604030504040204" pitchFamily="50" charset="-128"/>
                    <a:ea typeface="Meiryo UI" panose="020B0604030504040204" pitchFamily="50" charset="-128"/>
                  </a:rPr>
                  <a:t>観測点が鏡面反射による</a:t>
                </a:r>
                <a:r>
                  <a:rPr lang="en-US" altLang="ja-JP" dirty="0">
                    <a:latin typeface="Meiryo UI" panose="020B0604030504040204" pitchFamily="50" charset="-128"/>
                    <a:ea typeface="Meiryo UI" panose="020B0604030504040204" pitchFamily="50" charset="-128"/>
                  </a:rPr>
                  <a:t>ghost</a:t>
                </a:r>
                <a:r>
                  <a:rPr lang="ja-JP" altLang="en-US" dirty="0">
                    <a:latin typeface="Meiryo UI" panose="020B0604030504040204" pitchFamily="50" charset="-128"/>
                    <a:ea typeface="Meiryo UI" panose="020B0604030504040204" pitchFamily="50" charset="-128"/>
                  </a:rPr>
                  <a:t>である確率を推定し、その確率を世界座標上で時空間的に統合することで、反射環境における物理的占有状態の不確実性を表現する確率的デジタルツイン構築手法を提案する。</a:t>
                </a:r>
                <a:endParaRPr lang="ja-JP"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eqArr>
                        <m:eqArrPr>
                          <m:ctrlPr>
                            <a:rPr lang="ja-JP" altLang="ja-JP" i="1" dirty="0" smtClean="0">
                              <a:latin typeface="Cambria Math" panose="02040503050406030204" pitchFamily="18" charset="0"/>
                            </a:rPr>
                          </m:ctrlPr>
                        </m:eqArrPr>
                        <m:e>
                          <m:r>
                            <a:rPr lang="ja-JP" altLang="ja-JP" dirty="0" smtClean="0">
                              <a:latin typeface="Cambria Math" panose="02040503050406030204" pitchFamily="18" charset="0"/>
                            </a:rPr>
                            <m:t> </m:t>
                          </m:r>
                          <m:r>
                            <a:rPr lang="ja-JP" altLang="ja-JP" i="1" dirty="0" smtClean="0">
                              <a:latin typeface="Cambria Math" panose="02040503050406030204" pitchFamily="18" charset="0"/>
                            </a:rPr>
                            <m:t>𝑃</m:t>
                          </m:r>
                          <m:d>
                            <m:dPr>
                              <m:ctrlPr>
                                <a:rPr lang="ja-JP" altLang="ja-JP" i="1" dirty="0" smtClean="0">
                                  <a:latin typeface="Cambria Math" panose="02040503050406030204" pitchFamily="18" charset="0"/>
                                </a:rPr>
                              </m:ctrlPr>
                            </m:dPr>
                            <m:e>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𝐺</m:t>
                                  </m:r>
                                </m:e>
                                <m:sub>
                                  <m:r>
                                    <a:rPr lang="ja-JP" altLang="ja-JP" i="1" dirty="0" smtClean="0">
                                      <a:latin typeface="Cambria Math" panose="02040503050406030204" pitchFamily="18" charset="0"/>
                                    </a:rPr>
                                    <m:t>𝑣</m:t>
                                  </m:r>
                                </m:sub>
                              </m:sSub>
                              <m:r>
                                <a:rPr lang="ja-JP" altLang="ja-JP" dirty="0" smtClean="0">
                                  <a:latin typeface="Cambria Math" panose="02040503050406030204" pitchFamily="18" charset="0"/>
                                </a:rPr>
                                <m:t>=1∣</m:t>
                              </m:r>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𝑍</m:t>
                                  </m:r>
                                </m:e>
                                <m:sub>
                                  <m:r>
                                    <a:rPr lang="ja-JP" altLang="ja-JP" dirty="0" smtClean="0">
                                      <a:latin typeface="Cambria Math" panose="02040503050406030204" pitchFamily="18" charset="0"/>
                                    </a:rPr>
                                    <m:t>1:</m:t>
                                  </m:r>
                                  <m:r>
                                    <a:rPr lang="ja-JP" altLang="ja-JP" i="1" dirty="0" smtClean="0">
                                      <a:latin typeface="Cambria Math" panose="02040503050406030204" pitchFamily="18" charset="0"/>
                                    </a:rPr>
                                    <m:t>𝑡</m:t>
                                  </m:r>
                                </m:sub>
                              </m:sSub>
                            </m:e>
                          </m:d>
                          <m:r>
                            <a:rPr lang="ja-JP" altLang="ja-JP" dirty="0" smtClean="0">
                              <a:latin typeface="Cambria Math" panose="02040503050406030204" pitchFamily="18" charset="0"/>
                            </a:rPr>
                            <m:t>,</m:t>
                          </m:r>
                        </m:e>
                        <m:e>
                          <m:r>
                            <a:rPr lang="ja-JP" altLang="ja-JP" dirty="0" smtClean="0">
                              <a:latin typeface="Cambria Math" panose="02040503050406030204" pitchFamily="18" charset="0"/>
                            </a:rPr>
                            <m:t> </m:t>
                          </m:r>
                          <m:r>
                            <a:rPr lang="ja-JP" altLang="ja-JP" i="1" dirty="0" smtClean="0">
                              <a:latin typeface="Cambria Math" panose="02040503050406030204" pitchFamily="18" charset="0"/>
                            </a:rPr>
                            <m:t>𝑃</m:t>
                          </m:r>
                          <m:d>
                            <m:dPr>
                              <m:ctrlPr>
                                <a:rPr lang="ja-JP" altLang="ja-JP" i="1" dirty="0" smtClean="0">
                                  <a:latin typeface="Cambria Math" panose="02040503050406030204" pitchFamily="18" charset="0"/>
                                </a:rPr>
                              </m:ctrlPr>
                            </m:dPr>
                            <m:e>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𝑂</m:t>
                                  </m:r>
                                </m:e>
                                <m:sub>
                                  <m:r>
                                    <a:rPr lang="ja-JP" altLang="ja-JP" i="1" dirty="0" smtClean="0">
                                      <a:latin typeface="Cambria Math" panose="02040503050406030204" pitchFamily="18" charset="0"/>
                                    </a:rPr>
                                    <m:t>𝑣</m:t>
                                  </m:r>
                                </m:sub>
                              </m:sSub>
                              <m:r>
                                <a:rPr lang="ja-JP" altLang="ja-JP" dirty="0" smtClean="0">
                                  <a:latin typeface="Cambria Math" panose="02040503050406030204" pitchFamily="18" charset="0"/>
                                </a:rPr>
                                <m:t>=1∣</m:t>
                              </m:r>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𝑍</m:t>
                                  </m:r>
                                </m:e>
                                <m:sub>
                                  <m:r>
                                    <a:rPr lang="ja-JP" altLang="ja-JP" dirty="0" smtClean="0">
                                      <a:latin typeface="Cambria Math" panose="02040503050406030204" pitchFamily="18" charset="0"/>
                                    </a:rPr>
                                    <m:t>1:</m:t>
                                  </m:r>
                                  <m:r>
                                    <a:rPr lang="ja-JP" altLang="ja-JP" i="1" dirty="0" smtClean="0">
                                      <a:latin typeface="Cambria Math" panose="02040503050406030204" pitchFamily="18" charset="0"/>
                                    </a:rPr>
                                    <m:t>𝑡</m:t>
                                  </m:r>
                                </m:sub>
                              </m:sSub>
                            </m:e>
                          </m:d>
                        </m:e>
                      </m:eqArr>
                    </m:oMath>
                  </m:oMathPara>
                </a14:m>
                <a:endParaRPr lang="en-US"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endParaRPr lang="ja-JP"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r>
                  <a:rPr lang="ja-JP" altLang="ja-JP" dirty="0">
                    <a:latin typeface="Meiryo UI" panose="020B0604030504040204" pitchFamily="50" charset="-128"/>
                    <a:ea typeface="Meiryo UI" panose="020B0604030504040204" pitchFamily="50" charset="-128"/>
                  </a:rPr>
                  <a:t>を別々に推定・保持する確率的デジタルツインを構築する。</a:t>
                </a:r>
                <a:endParaRPr lang="en-US"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r>
                  <a:rPr lang="ja-JP" altLang="ja-JP" dirty="0">
                    <a:latin typeface="Meiryo UI" panose="020B0604030504040204" pitchFamily="50" charset="-128"/>
                    <a:ea typeface="Meiryo UI" panose="020B0604030504040204" pitchFamily="50" charset="-128"/>
                  </a:rPr>
                  <a:t>ここで、</a:t>
                </a:r>
                <a:endParaRPr lang="en-US"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14:m>
                  <m:oMath xmlns:m="http://schemas.openxmlformats.org/officeDocument/2006/math">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𝐺</m:t>
                        </m:r>
                      </m:e>
                      <m:sub>
                        <m:r>
                          <a:rPr lang="ja-JP" altLang="ja-JP" i="1" dirty="0" smtClean="0">
                            <a:latin typeface="Cambria Math" panose="02040503050406030204" pitchFamily="18" charset="0"/>
                          </a:rPr>
                          <m:t>𝑣</m:t>
                        </m:r>
                      </m:sub>
                    </m:sSub>
                  </m:oMath>
                </a14:m>
                <a:r>
                  <a:rPr lang="ja-JP" altLang="ja-JP" dirty="0">
                    <a:latin typeface="Meiryo UI" panose="020B0604030504040204" pitchFamily="50" charset="-128"/>
                    <a:ea typeface="Meiryo UI" panose="020B0604030504040204" pitchFamily="50" charset="-128"/>
                  </a:rPr>
                  <a:t>は</a:t>
                </a:r>
                <a14:m>
                  <m:oMath xmlns:m="http://schemas.openxmlformats.org/officeDocument/2006/math">
                    <m:r>
                      <m:rPr>
                        <m:sty m:val="p"/>
                      </m:rPr>
                      <a:rPr lang="ja-JP" altLang="ja-JP" dirty="0" smtClean="0">
                        <a:latin typeface="Cambria Math" panose="02040503050406030204" pitchFamily="18" charset="0"/>
                      </a:rPr>
                      <m:t>voxel</m:t>
                    </m:r>
                    <m:r>
                      <a:rPr lang="en-US" altLang="ja-JP" i="1" dirty="0" smtClean="0">
                        <a:latin typeface="Cambria Math" panose="02040503050406030204" pitchFamily="18" charset="0"/>
                      </a:rPr>
                      <m:t> </m:t>
                    </m:r>
                    <m:r>
                      <a:rPr lang="ja-JP" altLang="ja-JP" i="1" dirty="0" smtClean="0">
                        <a:latin typeface="Cambria Math" panose="02040503050406030204" pitchFamily="18" charset="0"/>
                      </a:rPr>
                      <m:t>𝑣</m:t>
                    </m:r>
                  </m:oMath>
                </a14:m>
                <a:r>
                  <a:rPr lang="ja-JP" altLang="ja-JP" dirty="0">
                    <a:latin typeface="Meiryo UI" panose="020B0604030504040204" pitchFamily="50" charset="-128"/>
                    <a:ea typeface="Meiryo UI" panose="020B0604030504040204" pitchFamily="50" charset="-128"/>
                  </a:rPr>
                  <a:t>に蓄積された観測がghost由来である事象、</a:t>
                </a:r>
                <a:endParaRPr lang="en-US"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14:m>
                  <m:oMath xmlns:m="http://schemas.openxmlformats.org/officeDocument/2006/math">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𝑂</m:t>
                        </m:r>
                      </m:e>
                      <m:sub>
                        <m:r>
                          <a:rPr lang="ja-JP" altLang="ja-JP" i="1" dirty="0" smtClean="0">
                            <a:latin typeface="Cambria Math" panose="02040503050406030204" pitchFamily="18" charset="0"/>
                          </a:rPr>
                          <m:t>𝑣</m:t>
                        </m:r>
                      </m:sub>
                    </m:sSub>
                  </m:oMath>
                </a14:m>
                <a:r>
                  <a:rPr lang="ja-JP" altLang="ja-JP" dirty="0">
                    <a:latin typeface="Meiryo UI" panose="020B0604030504040204" pitchFamily="50" charset="-128"/>
                    <a:ea typeface="Meiryo UI" panose="020B0604030504040204" pitchFamily="50" charset="-128"/>
                  </a:rPr>
                  <a:t> はvoxel </a:t>
                </a:r>
                <a14:m>
                  <m:oMath xmlns:m="http://schemas.openxmlformats.org/officeDocument/2006/math">
                    <m:r>
                      <a:rPr lang="ja-JP" altLang="ja-JP" i="1" dirty="0" smtClean="0">
                        <a:latin typeface="Cambria Math" panose="02040503050406030204" pitchFamily="18" charset="0"/>
                      </a:rPr>
                      <m:t>𝑣</m:t>
                    </m:r>
                  </m:oMath>
                </a14:m>
                <a:r>
                  <a:rPr lang="ja-JP" altLang="ja-JP" dirty="0">
                    <a:latin typeface="Meiryo UI" panose="020B0604030504040204" pitchFamily="50" charset="-128"/>
                    <a:ea typeface="Meiryo UI" panose="020B0604030504040204" pitchFamily="50" charset="-128"/>
                  </a:rPr>
                  <a:t> が実際の物理表面によって占有されている事象、</a:t>
                </a:r>
                <a:endParaRPr lang="en-US"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14:m>
                  <m:oMath xmlns:m="http://schemas.openxmlformats.org/officeDocument/2006/math">
                    <m:sSub>
                      <m:sSubPr>
                        <m:ctrlPr>
                          <a:rPr lang="ja-JP" altLang="ja-JP" i="1" dirty="0" smtClean="0">
                            <a:latin typeface="Cambria Math" panose="02040503050406030204" pitchFamily="18" charset="0"/>
                          </a:rPr>
                        </m:ctrlPr>
                      </m:sSubPr>
                      <m:e>
                        <m:r>
                          <a:rPr lang="ja-JP" altLang="ja-JP" i="1" dirty="0" smtClean="0">
                            <a:latin typeface="Cambria Math" panose="02040503050406030204" pitchFamily="18" charset="0"/>
                          </a:rPr>
                          <m:t>𝑍</m:t>
                        </m:r>
                      </m:e>
                      <m:sub>
                        <m:r>
                          <a:rPr lang="ja-JP" altLang="ja-JP" dirty="0" smtClean="0">
                            <a:latin typeface="Cambria Math" panose="02040503050406030204" pitchFamily="18" charset="0"/>
                          </a:rPr>
                          <m:t>1:</m:t>
                        </m:r>
                        <m:r>
                          <a:rPr lang="ja-JP" altLang="ja-JP" i="1" dirty="0" smtClean="0">
                            <a:latin typeface="Cambria Math" panose="02040503050406030204" pitchFamily="18" charset="0"/>
                          </a:rPr>
                          <m:t>𝑡</m:t>
                        </m:r>
                      </m:sub>
                    </m:sSub>
                  </m:oMath>
                </a14:m>
                <a:r>
                  <a:rPr lang="ja-JP" altLang="ja-JP" dirty="0">
                    <a:latin typeface="Meiryo UI" panose="020B0604030504040204" pitchFamily="50" charset="-128"/>
                    <a:ea typeface="Meiryo UI" panose="020B0604030504040204" pitchFamily="50" charset="-128"/>
                  </a:rPr>
                  <a:t> は時刻1から</a:t>
                </a:r>
                <a14:m>
                  <m:oMath xmlns:m="http://schemas.openxmlformats.org/officeDocument/2006/math">
                    <m:r>
                      <a:rPr lang="ja-JP" altLang="ja-JP" i="1" dirty="0" smtClean="0">
                        <a:latin typeface="Cambria Math" panose="02040503050406030204" pitchFamily="18" charset="0"/>
                      </a:rPr>
                      <m:t>𝑡</m:t>
                    </m:r>
                  </m:oMath>
                </a14:m>
                <a:r>
                  <a:rPr lang="ja-JP" altLang="ja-JP" dirty="0">
                    <a:latin typeface="Meiryo UI" panose="020B0604030504040204" pitchFamily="50" charset="-128"/>
                    <a:ea typeface="Meiryo UI" panose="020B0604030504040204" pitchFamily="50" charset="-128"/>
                  </a:rPr>
                  <a:t>までの観測を表す。</a:t>
                </a:r>
              </a:p>
            </p:txBody>
          </p:sp>
        </mc:Choice>
        <mc:Fallback xmlns="">
          <p:sp>
            <p:nvSpPr>
              <p:cNvPr id="6" name="コンテンツ プレースホルダー 2">
                <a:extLst>
                  <a:ext uri="{FF2B5EF4-FFF2-40B4-BE49-F238E27FC236}">
                    <a16:creationId xmlns:a16="http://schemas.microsoft.com/office/drawing/2014/main" id="{4C8C74B0-0714-383D-204C-42820462C2DD}"/>
                  </a:ext>
                </a:extLst>
              </p:cNvPr>
              <p:cNvSpPr txBox="1">
                <a:spLocks noRot="1" noChangeAspect="1" noMove="1" noResize="1" noEditPoints="1" noAdjustHandles="1" noChangeArrowheads="1" noChangeShapeType="1" noTextEdit="1"/>
              </p:cNvSpPr>
              <p:nvPr/>
            </p:nvSpPr>
            <p:spPr>
              <a:xfrm>
                <a:off x="838199" y="1043781"/>
                <a:ext cx="11087101" cy="5175250"/>
              </a:xfrm>
              <a:prstGeom prst="rect">
                <a:avLst/>
              </a:prstGeom>
              <a:blipFill>
                <a:blip r:embed="rId2"/>
                <a:stretch>
                  <a:fillRect l="-825" t="-9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63931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386ED-EC79-CF48-15C7-BB2AF2A6DB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E3AA81-EBBF-8158-8F96-45948B289088}"/>
              </a:ext>
            </a:extLst>
          </p:cNvPr>
          <p:cNvSpPr>
            <a:spLocks noGrp="1"/>
          </p:cNvSpPr>
          <p:nvPr>
            <p:ph type="title"/>
          </p:nvPr>
        </p:nvSpPr>
        <p:spPr>
          <a:xfrm>
            <a:off x="838200" y="-281782"/>
            <a:ext cx="10515600" cy="1325563"/>
          </a:xfrm>
        </p:spPr>
        <p:txBody>
          <a:bodyPr/>
          <a:lstStyle/>
          <a:p>
            <a:r>
              <a:rPr kumimoji="1" lang="ja-JP" altLang="en-US" u="sng" dirty="0">
                <a:latin typeface="Meiryo UI" panose="020B0604030504040204" pitchFamily="50" charset="-128"/>
                <a:ea typeface="Meiryo UI" panose="020B0604030504040204" pitchFamily="50" charset="-128"/>
              </a:rPr>
              <a:t>研究目的</a:t>
            </a:r>
            <a:r>
              <a:rPr kumimoji="1" lang="en-US" altLang="ja-JP" u="sng" dirty="0">
                <a:latin typeface="Meiryo UI" panose="020B0604030504040204" pitchFamily="50" charset="-128"/>
                <a:ea typeface="Meiryo UI" panose="020B0604030504040204" pitchFamily="50" charset="-128"/>
              </a:rPr>
              <a:t>2</a:t>
            </a:r>
            <a:endParaRPr kumimoji="1" lang="ja-JP" altLang="en-US" u="sng" dirty="0">
              <a:latin typeface="Meiryo UI" panose="020B0604030504040204" pitchFamily="50" charset="-128"/>
              <a:ea typeface="Meiryo UI" panose="020B0604030504040204" pitchFamily="50" charset="-128"/>
            </a:endParaRPr>
          </a:p>
        </p:txBody>
      </p:sp>
      <mc:AlternateContent xmlns:mc="http://schemas.openxmlformats.org/markup-compatibility/2006" xmlns:a14="http://schemas.microsoft.com/office/drawing/2010/main">
        <mc:Choice Requires="a14">
          <p:sp>
            <p:nvSpPr>
              <p:cNvPr id="6" name="コンテンツ プレースホルダー 2">
                <a:extLst>
                  <a:ext uri="{FF2B5EF4-FFF2-40B4-BE49-F238E27FC236}">
                    <a16:creationId xmlns:a16="http://schemas.microsoft.com/office/drawing/2014/main" id="{2BCDB8B1-47B0-0DB6-552A-9305E209B047}"/>
                  </a:ext>
                </a:extLst>
              </p:cNvPr>
              <p:cNvSpPr txBox="1">
                <a:spLocks/>
              </p:cNvSpPr>
              <p:nvPr/>
            </p:nvSpPr>
            <p:spPr>
              <a:xfrm>
                <a:off x="838200" y="863600"/>
                <a:ext cx="11087101" cy="589279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altLang="ja-JP" dirty="0">
                    <a:latin typeface="Meiryo UI" panose="020B0604030504040204" pitchFamily="50" charset="-128"/>
                    <a:ea typeface="Meiryo UI" panose="020B0604030504040204" pitchFamily="50" charset="-128"/>
                  </a:rPr>
                  <a:t>ghost</a:t>
                </a:r>
                <a:r>
                  <a:rPr lang="ja-JP" altLang="en-US" dirty="0">
                    <a:latin typeface="Meiryo UI" panose="020B0604030504040204" pitchFamily="50" charset="-128"/>
                    <a:ea typeface="Meiryo UI" panose="020B0604030504040204" pitchFamily="50" charset="-128"/>
                  </a:rPr>
                  <a:t>点の発生は</a:t>
                </a:r>
                <a:r>
                  <a:rPr lang="en-US" altLang="ja-JP" dirty="0">
                    <a:latin typeface="Meiryo UI" panose="020B0604030504040204" pitchFamily="50" charset="-128"/>
                    <a:ea typeface="Meiryo UI" panose="020B0604030504040204" pitchFamily="50" charset="-128"/>
                  </a:rPr>
                  <a:t>LiDAR</a:t>
                </a:r>
                <a:r>
                  <a:rPr lang="ja-JP" altLang="en-US" dirty="0">
                    <a:latin typeface="Meiryo UI" panose="020B0604030504040204" pitchFamily="50" charset="-128"/>
                    <a:ea typeface="Meiryo UI" panose="020B0604030504040204" pitchFamily="50" charset="-128"/>
                  </a:rPr>
                  <a:t>点単体の反射強度や</a:t>
                </a:r>
                <a:r>
                  <a:rPr lang="en-US" altLang="ja-JP" dirty="0">
                    <a:latin typeface="Meiryo UI" panose="020B0604030504040204" pitchFamily="50" charset="-128"/>
                    <a:ea typeface="Meiryo UI" panose="020B0604030504040204" pitchFamily="50" charset="-128"/>
                  </a:rPr>
                  <a:t>return</a:t>
                </a:r>
                <a:r>
                  <a:rPr lang="ja-JP" altLang="en-US" dirty="0">
                    <a:latin typeface="Meiryo UI" panose="020B0604030504040204" pitchFamily="50" charset="-128"/>
                    <a:ea typeface="Meiryo UI" panose="020B0604030504040204" pitchFamily="50" charset="-128"/>
                  </a:rPr>
                  <a:t>情報だけでなく、鏡面・ガラス面の位置、境界および外観と関係する。このため本研究では、</a:t>
                </a:r>
                <a:r>
                  <a:rPr lang="en-US" altLang="ja-JP" dirty="0">
                    <a:latin typeface="Meiryo UI" panose="020B0604030504040204" pitchFamily="50" charset="-128"/>
                    <a:ea typeface="Meiryo UI" panose="020B0604030504040204" pitchFamily="50" charset="-128"/>
                  </a:rPr>
                  <a:t>LiDAR</a:t>
                </a:r>
                <a:r>
                  <a:rPr lang="ja-JP" altLang="en-US" dirty="0">
                    <a:latin typeface="Meiryo UI" panose="020B0604030504040204" pitchFamily="50" charset="-128"/>
                    <a:ea typeface="Meiryo UI" panose="020B0604030504040204" pitchFamily="50" charset="-128"/>
                  </a:rPr>
                  <a:t>のみを用いる単一モーダル手法と、</a:t>
                </a:r>
                <a:r>
                  <a:rPr lang="en-US" altLang="ja-JP" dirty="0">
                    <a:latin typeface="Meiryo UI" panose="020B0604030504040204" pitchFamily="50" charset="-128"/>
                    <a:ea typeface="Meiryo UI" panose="020B0604030504040204" pitchFamily="50" charset="-128"/>
                  </a:rPr>
                  <a:t>LiDAR</a:t>
                </a:r>
                <a:r>
                  <a:rPr lang="ja-JP" altLang="en-US" dirty="0">
                    <a:latin typeface="Meiryo UI" panose="020B0604030504040204" pitchFamily="50" charset="-128"/>
                    <a:ea typeface="Meiryo UI" panose="020B0604030504040204" pitchFamily="50" charset="-128"/>
                  </a:rPr>
                  <a:t>点群およびカメラ画像を統合するマルチモーダル手法を構築し、両者の</a:t>
                </a:r>
                <a:r>
                  <a:rPr lang="en-US" altLang="ja-JP" dirty="0">
                    <a:latin typeface="Meiryo UI" panose="020B0604030504040204" pitchFamily="50" charset="-128"/>
                    <a:ea typeface="Meiryo UI" panose="020B0604030504040204" pitchFamily="50" charset="-128"/>
                  </a:rPr>
                  <a:t>ghost</a:t>
                </a:r>
                <a:r>
                  <a:rPr lang="ja-JP" altLang="en-US" dirty="0">
                    <a:latin typeface="Meiryo UI" panose="020B0604030504040204" pitchFamily="50" charset="-128"/>
                    <a:ea typeface="Meiryo UI" panose="020B0604030504040204" pitchFamily="50" charset="-128"/>
                  </a:rPr>
                  <a:t>確率推定性能を比較する。</a:t>
                </a:r>
              </a:p>
              <a:p>
                <a:pPr marL="0" indent="0">
                  <a:lnSpc>
                    <a:spcPct val="120000"/>
                  </a:lnSpc>
                  <a:buFont typeface="Arial" panose="020B0604020202020204" pitchFamily="34" charset="0"/>
                  <a:buNone/>
                </a:pPr>
                <a:r>
                  <a:rPr lang="ja-JP" altLang="en-US" dirty="0">
                    <a:latin typeface="Meiryo UI" panose="020B0604030504040204" pitchFamily="50" charset="-128"/>
                    <a:ea typeface="Meiryo UI" panose="020B0604030504040204" pitchFamily="50" charset="-128"/>
                  </a:rPr>
                  <a:t>具体的には、</a:t>
                </a:r>
                <a:r>
                  <a:rPr lang="en-US" altLang="ja-JP" dirty="0">
                    <a:latin typeface="Meiryo UI" panose="020B0604030504040204" pitchFamily="50" charset="-128"/>
                    <a:ea typeface="Meiryo UI" panose="020B0604030504040204" pitchFamily="50" charset="-128"/>
                  </a:rPr>
                  <a:t>LiDAR</a:t>
                </a:r>
                <a:r>
                  <a:rPr lang="ja-JP" altLang="en-US" dirty="0">
                    <a:latin typeface="Meiryo UI" panose="020B0604030504040204" pitchFamily="50" charset="-128"/>
                    <a:ea typeface="Meiryo UI" panose="020B0604030504040204" pitchFamily="50" charset="-128"/>
                  </a:rPr>
                  <a:t>のみを用いた場合の点</a:t>
                </a:r>
                <a14:m>
                  <m:oMath xmlns:m="http://schemas.openxmlformats.org/officeDocument/2006/math">
                    <m:r>
                      <a:rPr lang="en-US" altLang="ja-JP" b="0" i="0" dirty="0" smtClean="0">
                        <a:latin typeface="Cambria Math" panose="02040503050406030204" pitchFamily="18" charset="0"/>
                      </a:rPr>
                      <m:t> </m:t>
                    </m:r>
                    <m:r>
                      <a:rPr lang="en-US" altLang="ja-JP" i="1" dirty="0" smtClean="0">
                        <a:latin typeface="Cambria Math" panose="02040503050406030204" pitchFamily="18" charset="0"/>
                      </a:rPr>
                      <m:t>𝑖</m:t>
                    </m:r>
                  </m:oMath>
                </a14:m>
                <a:r>
                  <a:rPr lang="ja-JP" altLang="en-US" dirty="0">
                    <a:latin typeface="Meiryo UI" panose="020B0604030504040204" pitchFamily="50" charset="-128"/>
                    <a:ea typeface="Meiryo UI" panose="020B0604030504040204" pitchFamily="50" charset="-128"/>
                  </a:rPr>
                  <a:t> の</a:t>
                </a:r>
                <a:r>
                  <a:rPr lang="en-US" altLang="ja-JP" dirty="0">
                    <a:latin typeface="Meiryo UI" panose="020B0604030504040204" pitchFamily="50" charset="-128"/>
                    <a:ea typeface="Meiryo UI" panose="020B0604030504040204" pitchFamily="50" charset="-128"/>
                  </a:rPr>
                  <a:t>ghost</a:t>
                </a:r>
                <a:r>
                  <a:rPr lang="ja-JP" altLang="en-US" dirty="0">
                    <a:latin typeface="Meiryo UI" panose="020B0604030504040204" pitchFamily="50" charset="-128"/>
                    <a:ea typeface="Meiryo UI" panose="020B0604030504040204" pitchFamily="50" charset="-128"/>
                  </a:rPr>
                  <a:t>確率を</a:t>
                </a:r>
              </a:p>
              <a:p>
                <a:pPr marL="0" indent="0">
                  <a:lnSpc>
                    <a:spcPct val="120000"/>
                  </a:lnSpc>
                  <a:buNone/>
                </a:pPr>
                <a14:m>
                  <m:oMathPara xmlns:m="http://schemas.openxmlformats.org/officeDocument/2006/math">
                    <m:oMathParaPr>
                      <m:jc m:val="centerGroup"/>
                    </m:oMathParaPr>
                    <m:oMath xmlns:m="http://schemas.openxmlformats.org/officeDocument/2006/math">
                      <m:eqArr>
                        <m:eqArrPr>
                          <m:ctrlPr>
                            <a:rPr lang="en-US" altLang="ja-JP" i="1" dirty="0" smtClean="0">
                              <a:latin typeface="Cambria Math" panose="02040503050406030204" pitchFamily="18" charset="0"/>
                            </a:rPr>
                          </m:ctrlPr>
                        </m:eqArrPr>
                        <m:e>
                          <m:sSubSup>
                            <m:sSubSupPr>
                              <m:ctrlPr>
                                <a:rPr lang="en-US" altLang="ja-JP" i="1" dirty="0" smtClean="0">
                                  <a:latin typeface="Cambria Math" panose="02040503050406030204" pitchFamily="18" charset="0"/>
                                </a:rPr>
                              </m:ctrlPr>
                            </m:sSubSupPr>
                            <m:e>
                              <m:r>
                                <a:rPr lang="en-US" altLang="ja-JP" i="1" dirty="0" smtClean="0">
                                  <a:latin typeface="Cambria Math" panose="02040503050406030204" pitchFamily="18" charset="0"/>
                                </a:rPr>
                                <m:t>𝑞</m:t>
                              </m:r>
                            </m:e>
                            <m:sub>
                              <m:r>
                                <a:rPr lang="en-US" altLang="ja-JP" i="1" dirty="0" smtClean="0">
                                  <a:latin typeface="Cambria Math" panose="02040503050406030204" pitchFamily="18" charset="0"/>
                                </a:rPr>
                                <m:t>𝑖</m:t>
                              </m:r>
                              <m:r>
                                <a:rPr lang="en-US" altLang="ja-JP" i="0" dirty="0" smtClean="0">
                                  <a:latin typeface="Cambria Math" panose="02040503050406030204" pitchFamily="18" charset="0"/>
                                </a:rPr>
                                <m:t>,</m:t>
                              </m:r>
                              <m:r>
                                <a:rPr lang="en-US" altLang="ja-JP" i="1" dirty="0" smtClean="0">
                                  <a:latin typeface="Cambria Math" panose="02040503050406030204" pitchFamily="18" charset="0"/>
                                </a:rPr>
                                <m:t>𝑡</m:t>
                              </m:r>
                            </m:sub>
                            <m:sup>
                              <m:r>
                                <m:rPr>
                                  <m:sty m:val="p"/>
                                </m:rPr>
                                <a:rPr lang="en-US" altLang="ja-JP" i="0" dirty="0" smtClean="0">
                                  <a:latin typeface="Cambria Math" panose="02040503050406030204" pitchFamily="18" charset="0"/>
                                </a:rPr>
                                <m:t>L</m:t>
                              </m:r>
                            </m:sup>
                          </m:sSubSup>
                          <m:r>
                            <a:rPr lang="en-US" altLang="ja-JP" i="0" dirty="0" smtClean="0">
                              <a:latin typeface="Cambria Math" panose="02040503050406030204" pitchFamily="18" charset="0"/>
                            </a:rPr>
                            <m:t>=</m:t>
                          </m:r>
                          <m:r>
                            <a:rPr lang="en-US" altLang="ja-JP" i="1" dirty="0" smtClean="0">
                              <a:latin typeface="Cambria Math" panose="02040503050406030204" pitchFamily="18" charset="0"/>
                            </a:rPr>
                            <m:t>𝑃</m:t>
                          </m:r>
                          <m:d>
                            <m:dPr>
                              <m:ctrlPr>
                                <a:rPr lang="en-US" altLang="ja-JP" i="1" dirty="0" smtClean="0">
                                  <a:latin typeface="Cambria Math" panose="02040503050406030204" pitchFamily="18" charset="0"/>
                                </a:rPr>
                              </m:ctrlPr>
                            </m:dPr>
                            <m:e>
                              <m:sSub>
                                <m:sSubPr>
                                  <m:ctrlPr>
                                    <a:rPr lang="en-US" altLang="ja-JP" i="1" dirty="0" smtClean="0">
                                      <a:latin typeface="Cambria Math" panose="02040503050406030204" pitchFamily="18" charset="0"/>
                                    </a:rPr>
                                  </m:ctrlPr>
                                </m:sSubPr>
                                <m:e>
                                  <m:r>
                                    <a:rPr lang="en-US" altLang="ja-JP" i="1" dirty="0" smtClean="0">
                                      <a:latin typeface="Cambria Math" panose="02040503050406030204" pitchFamily="18" charset="0"/>
                                    </a:rPr>
                                    <m:t>𝐺</m:t>
                                  </m:r>
                                </m:e>
                                <m:sub>
                                  <m:r>
                                    <a:rPr lang="en-US" altLang="ja-JP" i="1" dirty="0" smtClean="0">
                                      <a:latin typeface="Cambria Math" panose="02040503050406030204" pitchFamily="18" charset="0"/>
                                    </a:rPr>
                                    <m:t>𝑖</m:t>
                                  </m:r>
                                  <m:r>
                                    <a:rPr lang="en-US" altLang="ja-JP" i="0" dirty="0" smtClean="0">
                                      <a:latin typeface="Cambria Math" panose="02040503050406030204" pitchFamily="18" charset="0"/>
                                    </a:rPr>
                                    <m:t>,</m:t>
                                  </m:r>
                                  <m:r>
                                    <a:rPr lang="en-US" altLang="ja-JP" i="1" dirty="0" smtClean="0">
                                      <a:latin typeface="Cambria Math" panose="02040503050406030204" pitchFamily="18" charset="0"/>
                                    </a:rPr>
                                    <m:t>𝑡</m:t>
                                  </m:r>
                                </m:sub>
                              </m:sSub>
                              <m:r>
                                <a:rPr lang="en-US" altLang="ja-JP" i="0" dirty="0" smtClean="0">
                                  <a:latin typeface="Cambria Math" panose="02040503050406030204" pitchFamily="18" charset="0"/>
                                </a:rPr>
                                <m:t>=1∣</m:t>
                              </m:r>
                              <m:sSubSup>
                                <m:sSubSupPr>
                                  <m:ctrlPr>
                                    <a:rPr lang="en-US" altLang="ja-JP" i="1" dirty="0" smtClean="0">
                                      <a:latin typeface="Cambria Math" panose="02040503050406030204" pitchFamily="18" charset="0"/>
                                    </a:rPr>
                                  </m:ctrlPr>
                                </m:sSubSupPr>
                                <m:e>
                                  <m:r>
                                    <a:rPr lang="en-US" altLang="ja-JP" i="1" dirty="0" smtClean="0">
                                      <a:latin typeface="Cambria Math" panose="02040503050406030204" pitchFamily="18" charset="0"/>
                                    </a:rPr>
                                    <m:t>𝑍</m:t>
                                  </m:r>
                                </m:e>
                                <m:sub>
                                  <m:r>
                                    <a:rPr lang="en-US" altLang="ja-JP" i="1" dirty="0" smtClean="0">
                                      <a:latin typeface="Cambria Math" panose="02040503050406030204" pitchFamily="18" charset="0"/>
                                    </a:rPr>
                                    <m:t>𝑡</m:t>
                                  </m:r>
                                </m:sub>
                                <m:sup>
                                  <m:r>
                                    <m:rPr>
                                      <m:sty m:val="p"/>
                                    </m:rPr>
                                    <a:rPr lang="en-US" altLang="ja-JP" i="0" dirty="0" smtClean="0">
                                      <a:latin typeface="Cambria Math" panose="02040503050406030204" pitchFamily="18" charset="0"/>
                                    </a:rPr>
                                    <m:t>L</m:t>
                                  </m:r>
                                </m:sup>
                              </m:sSubSup>
                            </m:e>
                          </m:d>
                        </m:e>
                      </m:eqArr>
                    </m:oMath>
                  </m:oMathPara>
                </a14:m>
                <a:endParaRPr lang="en-US"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r>
                  <a:rPr lang="ja-JP" altLang="en-US" dirty="0">
                    <a:latin typeface="Meiryo UI" panose="020B0604030504040204" pitchFamily="50" charset="-128"/>
                    <a:ea typeface="Meiryo UI" panose="020B0604030504040204" pitchFamily="50" charset="-128"/>
                  </a:rPr>
                  <a:t>とし、</a:t>
                </a:r>
                <a:r>
                  <a:rPr lang="en-US" altLang="ja-JP" dirty="0">
                    <a:latin typeface="Meiryo UI" panose="020B0604030504040204" pitchFamily="50" charset="-128"/>
                    <a:ea typeface="Meiryo UI" panose="020B0604030504040204" pitchFamily="50" charset="-128"/>
                  </a:rPr>
                  <a:t>LiDAR</a:t>
                </a:r>
                <a:r>
                  <a:rPr lang="ja-JP" altLang="en-US" dirty="0">
                    <a:latin typeface="Meiryo UI" panose="020B0604030504040204" pitchFamily="50" charset="-128"/>
                    <a:ea typeface="Meiryo UI" panose="020B0604030504040204" pitchFamily="50" charset="-128"/>
                  </a:rPr>
                  <a:t>およびカメラ画像を用いた場合の</a:t>
                </a:r>
                <a:r>
                  <a:rPr lang="en-US" altLang="ja-JP" dirty="0">
                    <a:latin typeface="Meiryo UI" panose="020B0604030504040204" pitchFamily="50" charset="-128"/>
                    <a:ea typeface="Meiryo UI" panose="020B0604030504040204" pitchFamily="50" charset="-128"/>
                  </a:rPr>
                  <a:t>ghost</a:t>
                </a:r>
                <a:r>
                  <a:rPr lang="ja-JP" altLang="en-US" dirty="0">
                    <a:latin typeface="Meiryo UI" panose="020B0604030504040204" pitchFamily="50" charset="-128"/>
                    <a:ea typeface="Meiryo UI" panose="020B0604030504040204" pitchFamily="50" charset="-128"/>
                  </a:rPr>
                  <a:t>確率を</a:t>
                </a:r>
              </a:p>
              <a:p>
                <a:pPr marL="0" indent="0">
                  <a:lnSpc>
                    <a:spcPct val="120000"/>
                  </a:lnSpc>
                  <a:buNone/>
                </a:pPr>
                <a14:m>
                  <m:oMathPara xmlns:m="http://schemas.openxmlformats.org/officeDocument/2006/math">
                    <m:oMathParaPr>
                      <m:jc m:val="centerGroup"/>
                    </m:oMathParaPr>
                    <m:oMath xmlns:m="http://schemas.openxmlformats.org/officeDocument/2006/math">
                      <m:eqArr>
                        <m:eqArrPr>
                          <m:ctrlPr>
                            <a:rPr lang="en-US" altLang="ja-JP" i="1" dirty="0" smtClean="0">
                              <a:latin typeface="Cambria Math" panose="02040503050406030204" pitchFamily="18" charset="0"/>
                            </a:rPr>
                          </m:ctrlPr>
                        </m:eqArrPr>
                        <m:e>
                          <m:sSubSup>
                            <m:sSubSupPr>
                              <m:ctrlPr>
                                <a:rPr lang="en-US" altLang="ja-JP" i="1" dirty="0" smtClean="0">
                                  <a:latin typeface="Cambria Math" panose="02040503050406030204" pitchFamily="18" charset="0"/>
                                </a:rPr>
                              </m:ctrlPr>
                            </m:sSubSupPr>
                            <m:e>
                              <m:r>
                                <a:rPr lang="en-US" altLang="ja-JP" i="1" dirty="0" smtClean="0">
                                  <a:latin typeface="Cambria Math" panose="02040503050406030204" pitchFamily="18" charset="0"/>
                                </a:rPr>
                                <m:t>𝑞</m:t>
                              </m:r>
                            </m:e>
                            <m:sub>
                              <m:r>
                                <a:rPr lang="en-US" altLang="ja-JP" i="1" dirty="0" smtClean="0">
                                  <a:latin typeface="Cambria Math" panose="02040503050406030204" pitchFamily="18" charset="0"/>
                                </a:rPr>
                                <m:t>𝑖</m:t>
                              </m:r>
                              <m:r>
                                <a:rPr lang="en-US" altLang="ja-JP" i="0" dirty="0" smtClean="0">
                                  <a:latin typeface="Cambria Math" panose="02040503050406030204" pitchFamily="18" charset="0"/>
                                </a:rPr>
                                <m:t>,</m:t>
                              </m:r>
                              <m:r>
                                <a:rPr lang="en-US" altLang="ja-JP" i="1" dirty="0" smtClean="0">
                                  <a:latin typeface="Cambria Math" panose="02040503050406030204" pitchFamily="18" charset="0"/>
                                </a:rPr>
                                <m:t>𝑡</m:t>
                              </m:r>
                            </m:sub>
                            <m:sup>
                              <m:r>
                                <m:rPr>
                                  <m:sty m:val="p"/>
                                </m:rPr>
                                <a:rPr lang="en-US" altLang="ja-JP" i="0" dirty="0" smtClean="0">
                                  <a:latin typeface="Cambria Math" panose="02040503050406030204" pitchFamily="18" charset="0"/>
                                </a:rPr>
                                <m:t>LC</m:t>
                              </m:r>
                            </m:sup>
                          </m:sSubSup>
                          <m:r>
                            <a:rPr lang="en-US" altLang="ja-JP" i="0" dirty="0" smtClean="0">
                              <a:latin typeface="Cambria Math" panose="02040503050406030204" pitchFamily="18" charset="0"/>
                            </a:rPr>
                            <m:t>=</m:t>
                          </m:r>
                          <m:r>
                            <a:rPr lang="en-US" altLang="ja-JP" i="1" dirty="0" smtClean="0">
                              <a:latin typeface="Cambria Math" panose="02040503050406030204" pitchFamily="18" charset="0"/>
                            </a:rPr>
                            <m:t>𝑃</m:t>
                          </m:r>
                          <m:d>
                            <m:dPr>
                              <m:ctrlPr>
                                <a:rPr lang="en-US" altLang="ja-JP" i="1" dirty="0" smtClean="0">
                                  <a:latin typeface="Cambria Math" panose="02040503050406030204" pitchFamily="18" charset="0"/>
                                </a:rPr>
                              </m:ctrlPr>
                            </m:dPr>
                            <m:e>
                              <m:sSub>
                                <m:sSubPr>
                                  <m:ctrlPr>
                                    <a:rPr lang="en-US" altLang="ja-JP" i="1" dirty="0" smtClean="0">
                                      <a:latin typeface="Cambria Math" panose="02040503050406030204" pitchFamily="18" charset="0"/>
                                    </a:rPr>
                                  </m:ctrlPr>
                                </m:sSubPr>
                                <m:e>
                                  <m:r>
                                    <a:rPr lang="en-US" altLang="ja-JP" i="1" dirty="0" smtClean="0">
                                      <a:latin typeface="Cambria Math" panose="02040503050406030204" pitchFamily="18" charset="0"/>
                                    </a:rPr>
                                    <m:t>𝐺</m:t>
                                  </m:r>
                                </m:e>
                                <m:sub>
                                  <m:r>
                                    <a:rPr lang="en-US" altLang="ja-JP" i="1" dirty="0" smtClean="0">
                                      <a:latin typeface="Cambria Math" panose="02040503050406030204" pitchFamily="18" charset="0"/>
                                    </a:rPr>
                                    <m:t>𝑖</m:t>
                                  </m:r>
                                  <m:r>
                                    <a:rPr lang="en-US" altLang="ja-JP" i="0" dirty="0" smtClean="0">
                                      <a:latin typeface="Cambria Math" panose="02040503050406030204" pitchFamily="18" charset="0"/>
                                    </a:rPr>
                                    <m:t>,</m:t>
                                  </m:r>
                                  <m:r>
                                    <a:rPr lang="en-US" altLang="ja-JP" i="1" dirty="0" smtClean="0">
                                      <a:latin typeface="Cambria Math" panose="02040503050406030204" pitchFamily="18" charset="0"/>
                                    </a:rPr>
                                    <m:t>𝑡</m:t>
                                  </m:r>
                                </m:sub>
                              </m:sSub>
                              <m:r>
                                <a:rPr lang="en-US" altLang="ja-JP" i="0" dirty="0" smtClean="0">
                                  <a:latin typeface="Cambria Math" panose="02040503050406030204" pitchFamily="18" charset="0"/>
                                </a:rPr>
                                <m:t>=1∣</m:t>
                              </m:r>
                              <m:sSubSup>
                                <m:sSubSupPr>
                                  <m:ctrlPr>
                                    <a:rPr lang="en-US" altLang="ja-JP" i="1" dirty="0" smtClean="0">
                                      <a:latin typeface="Cambria Math" panose="02040503050406030204" pitchFamily="18" charset="0"/>
                                    </a:rPr>
                                  </m:ctrlPr>
                                </m:sSubSupPr>
                                <m:e>
                                  <m:r>
                                    <a:rPr lang="en-US" altLang="ja-JP" i="1" dirty="0" smtClean="0">
                                      <a:latin typeface="Cambria Math" panose="02040503050406030204" pitchFamily="18" charset="0"/>
                                    </a:rPr>
                                    <m:t>𝑍</m:t>
                                  </m:r>
                                </m:e>
                                <m:sub>
                                  <m:r>
                                    <a:rPr lang="en-US" altLang="ja-JP" i="1" dirty="0" smtClean="0">
                                      <a:latin typeface="Cambria Math" panose="02040503050406030204" pitchFamily="18" charset="0"/>
                                    </a:rPr>
                                    <m:t>𝑡</m:t>
                                  </m:r>
                                </m:sub>
                                <m:sup>
                                  <m:r>
                                    <m:rPr>
                                      <m:sty m:val="p"/>
                                    </m:rPr>
                                    <a:rPr lang="en-US" altLang="ja-JP" i="0" dirty="0" smtClean="0">
                                      <a:latin typeface="Cambria Math" panose="02040503050406030204" pitchFamily="18" charset="0"/>
                                    </a:rPr>
                                    <m:t>L</m:t>
                                  </m:r>
                                </m:sup>
                              </m:sSubSup>
                              <m:r>
                                <a:rPr lang="en-US" altLang="ja-JP" i="0" dirty="0" smtClean="0">
                                  <a:latin typeface="Cambria Math" panose="02040503050406030204" pitchFamily="18" charset="0"/>
                                </a:rPr>
                                <m:t>,</m:t>
                              </m:r>
                              <m:sSub>
                                <m:sSubPr>
                                  <m:ctrlPr>
                                    <a:rPr lang="en-US" altLang="ja-JP" i="1" dirty="0" smtClean="0">
                                      <a:latin typeface="Cambria Math" panose="02040503050406030204" pitchFamily="18" charset="0"/>
                                    </a:rPr>
                                  </m:ctrlPr>
                                </m:sSubPr>
                                <m:e>
                                  <m:r>
                                    <a:rPr lang="en-US" altLang="ja-JP" i="1" dirty="0" smtClean="0">
                                      <a:latin typeface="Cambria Math" panose="02040503050406030204" pitchFamily="18" charset="0"/>
                                    </a:rPr>
                                    <m:t>𝐼</m:t>
                                  </m:r>
                                </m:e>
                                <m:sub>
                                  <m:r>
                                    <a:rPr lang="en-US" altLang="ja-JP" i="1" dirty="0" smtClean="0">
                                      <a:latin typeface="Cambria Math" panose="02040503050406030204" pitchFamily="18" charset="0"/>
                                    </a:rPr>
                                    <m:t>𝑡</m:t>
                                  </m:r>
                                </m:sub>
                              </m:sSub>
                            </m:e>
                          </m:d>
                        </m:e>
                      </m:eqArr>
                    </m:oMath>
                  </m:oMathPara>
                </a14:m>
                <a:endParaRPr lang="en-US" altLang="ja-JP" dirty="0">
                  <a:latin typeface="Meiryo UI" panose="020B0604030504040204" pitchFamily="50" charset="-128"/>
                  <a:ea typeface="Meiryo UI" panose="020B0604030504040204" pitchFamily="50" charset="-128"/>
                </a:endParaRPr>
              </a:p>
              <a:p>
                <a:pPr marL="0" indent="0">
                  <a:lnSpc>
                    <a:spcPct val="120000"/>
                  </a:lnSpc>
                  <a:buFont typeface="Arial" panose="020B0604020202020204" pitchFamily="34" charset="0"/>
                  <a:buNone/>
                </a:pPr>
                <a:r>
                  <a:rPr lang="ja-JP" altLang="en-US" dirty="0">
                    <a:latin typeface="Meiryo UI" panose="020B0604030504040204" pitchFamily="50" charset="-128"/>
                    <a:ea typeface="Meiryo UI" panose="020B0604030504040204" pitchFamily="50" charset="-128"/>
                  </a:rPr>
                  <a:t>とする。ここで、</a:t>
                </a:r>
                <a14:m>
                  <m:oMath xmlns:m="http://schemas.openxmlformats.org/officeDocument/2006/math">
                    <m:sSubSup>
                      <m:sSubSupPr>
                        <m:ctrlPr>
                          <a:rPr lang="en-US" altLang="ja-JP" i="1" dirty="0" smtClean="0">
                            <a:latin typeface="Cambria Math" panose="02040503050406030204" pitchFamily="18" charset="0"/>
                          </a:rPr>
                        </m:ctrlPr>
                      </m:sSubSupPr>
                      <m:e>
                        <m:r>
                          <a:rPr lang="en-US" altLang="ja-JP" i="1" dirty="0" smtClean="0">
                            <a:latin typeface="Cambria Math" panose="02040503050406030204" pitchFamily="18" charset="0"/>
                          </a:rPr>
                          <m:t>𝑍</m:t>
                        </m:r>
                      </m:e>
                      <m:sub>
                        <m:r>
                          <a:rPr lang="en-US" altLang="ja-JP" i="1" dirty="0" smtClean="0">
                            <a:latin typeface="Cambria Math" panose="02040503050406030204" pitchFamily="18" charset="0"/>
                          </a:rPr>
                          <m:t>𝑡</m:t>
                        </m:r>
                      </m:sub>
                      <m:sup>
                        <m:r>
                          <m:rPr>
                            <m:sty m:val="p"/>
                          </m:rPr>
                          <a:rPr lang="en-US" altLang="ja-JP" i="0" dirty="0" smtClean="0">
                            <a:latin typeface="Cambria Math" panose="02040503050406030204" pitchFamily="18" charset="0"/>
                          </a:rPr>
                          <m:t>L</m:t>
                        </m:r>
                      </m:sup>
                    </m:sSubSup>
                  </m:oMath>
                </a14:m>
                <a:r>
                  <a:rPr lang="ja-JP" altLang="en-US" dirty="0">
                    <a:latin typeface="Meiryo UI" panose="020B0604030504040204" pitchFamily="50" charset="-128"/>
                    <a:ea typeface="Meiryo UI" panose="020B0604030504040204" pitchFamily="50" charset="-128"/>
                  </a:rPr>
                  <a:t>は時刻</a:t>
                </a:r>
                <a14:m>
                  <m:oMath xmlns:m="http://schemas.openxmlformats.org/officeDocument/2006/math">
                    <m:r>
                      <a:rPr lang="en-US" altLang="ja-JP" i="1" dirty="0" smtClean="0">
                        <a:latin typeface="Cambria Math" panose="02040503050406030204" pitchFamily="18" charset="0"/>
                      </a:rPr>
                      <m:t>𝑡</m:t>
                    </m:r>
                  </m:oMath>
                </a14:m>
                <a:r>
                  <a:rPr lang="ja-JP" altLang="en-US" dirty="0">
                    <a:latin typeface="Meiryo UI" panose="020B0604030504040204" pitchFamily="50" charset="-128"/>
                    <a:ea typeface="Meiryo UI" panose="020B0604030504040204" pitchFamily="50" charset="-128"/>
                  </a:rPr>
                  <a:t>の</a:t>
                </a:r>
                <a:r>
                  <a:rPr lang="en-US" altLang="ja-JP" dirty="0">
                    <a:latin typeface="Meiryo UI" panose="020B0604030504040204" pitchFamily="50" charset="-128"/>
                    <a:ea typeface="Meiryo UI" panose="020B0604030504040204" pitchFamily="50" charset="-128"/>
                  </a:rPr>
                  <a:t>LiDAR</a:t>
                </a:r>
                <a:r>
                  <a:rPr lang="ja-JP" altLang="en-US" dirty="0">
                    <a:latin typeface="Meiryo UI" panose="020B0604030504040204" pitchFamily="50" charset="-128"/>
                    <a:ea typeface="Meiryo UI" panose="020B0604030504040204" pitchFamily="50" charset="-128"/>
                  </a:rPr>
                  <a:t>観測、</a:t>
                </a:r>
                <a14:m>
                  <m:oMath xmlns:m="http://schemas.openxmlformats.org/officeDocument/2006/math">
                    <m:sSub>
                      <m:sSubPr>
                        <m:ctrlPr>
                          <a:rPr lang="en-US" altLang="ja-JP" i="1" dirty="0" smtClean="0">
                            <a:latin typeface="Cambria Math" panose="02040503050406030204" pitchFamily="18" charset="0"/>
                          </a:rPr>
                        </m:ctrlPr>
                      </m:sSubPr>
                      <m:e>
                        <m:r>
                          <a:rPr lang="en-US" altLang="ja-JP" i="1" dirty="0" smtClean="0">
                            <a:latin typeface="Cambria Math" panose="02040503050406030204" pitchFamily="18" charset="0"/>
                          </a:rPr>
                          <m:t>𝐼</m:t>
                        </m:r>
                      </m:e>
                      <m:sub>
                        <m:r>
                          <a:rPr lang="en-US" altLang="ja-JP" i="1" dirty="0" smtClean="0">
                            <a:latin typeface="Cambria Math" panose="02040503050406030204" pitchFamily="18" charset="0"/>
                          </a:rPr>
                          <m:t>𝑡</m:t>
                        </m:r>
                      </m:sub>
                    </m:sSub>
                  </m:oMath>
                </a14:m>
                <a:r>
                  <a:rPr lang="en-US" altLang="ja-JP" dirty="0">
                    <a:latin typeface="Meiryo UI" panose="020B0604030504040204" pitchFamily="50" charset="-128"/>
                    <a:ea typeface="Meiryo UI" panose="020B0604030504040204" pitchFamily="50" charset="-128"/>
                  </a:rPr>
                  <a:t> </a:t>
                </a:r>
                <a:r>
                  <a:rPr lang="ja-JP" altLang="en-US" dirty="0">
                    <a:latin typeface="Meiryo UI" panose="020B0604030504040204" pitchFamily="50" charset="-128"/>
                    <a:ea typeface="Meiryo UI" panose="020B0604030504040204" pitchFamily="50" charset="-128"/>
                  </a:rPr>
                  <a:t>は対応するカメラ画像である。</a:t>
                </a:r>
              </a:p>
              <a:p>
                <a:pPr marL="0" indent="0">
                  <a:lnSpc>
                    <a:spcPct val="120000"/>
                  </a:lnSpc>
                  <a:buFont typeface="Arial" panose="020B0604020202020204" pitchFamily="34" charset="0"/>
                  <a:buNone/>
                </a:pPr>
                <a:r>
                  <a:rPr lang="ja-JP" altLang="en-US" dirty="0">
                    <a:latin typeface="Meiryo UI" panose="020B0604030504040204" pitchFamily="50" charset="-128"/>
                    <a:ea typeface="Meiryo UI" panose="020B0604030504040204" pitchFamily="50" charset="-128"/>
                  </a:rPr>
                  <a:t>これらの確率を世界座標上の</a:t>
                </a:r>
                <a:r>
                  <a:rPr lang="en-US" altLang="ja-JP" dirty="0">
                    <a:latin typeface="Meiryo UI" panose="020B0604030504040204" pitchFamily="50" charset="-128"/>
                    <a:ea typeface="Meiryo UI" panose="020B0604030504040204" pitchFamily="50" charset="-128"/>
                  </a:rPr>
                  <a:t>voxel</a:t>
                </a:r>
                <a:r>
                  <a:rPr lang="ja-JP" altLang="en-US" dirty="0">
                    <a:latin typeface="Meiryo UI" panose="020B0604030504040204" pitchFamily="50" charset="-128"/>
                    <a:ea typeface="Meiryo UI" panose="020B0604030504040204" pitchFamily="50" charset="-128"/>
                  </a:rPr>
                  <a:t>へ時空間的に統合し、</a:t>
                </a:r>
                <a:r>
                  <a:rPr lang="en-US" altLang="ja-JP" dirty="0">
                    <a:latin typeface="Meiryo UI" panose="020B0604030504040204" pitchFamily="50" charset="-128"/>
                    <a:ea typeface="Meiryo UI" panose="020B0604030504040204" pitchFamily="50" charset="-128"/>
                  </a:rPr>
                  <a:t>LiDAR</a:t>
                </a:r>
                <a:r>
                  <a:rPr lang="ja-JP" altLang="en-US" dirty="0">
                    <a:latin typeface="Meiryo UI" panose="020B0604030504040204" pitchFamily="50" charset="-128"/>
                    <a:ea typeface="Meiryo UI" panose="020B0604030504040204" pitchFamily="50" charset="-128"/>
                  </a:rPr>
                  <a:t>のみの場合と</a:t>
                </a:r>
                <a:r>
                  <a:rPr lang="en-US" altLang="ja-JP" dirty="0">
                    <a:latin typeface="Meiryo UI" panose="020B0604030504040204" pitchFamily="50" charset="-128"/>
                    <a:ea typeface="Meiryo UI" panose="020B0604030504040204" pitchFamily="50" charset="-128"/>
                  </a:rPr>
                  <a:t>LiDAR--Camera</a:t>
                </a:r>
                <a:r>
                  <a:rPr lang="ja-JP" altLang="en-US" dirty="0">
                    <a:latin typeface="Meiryo UI" panose="020B0604030504040204" pitchFamily="50" charset="-128"/>
                    <a:ea typeface="Meiryo UI" panose="020B0604030504040204" pitchFamily="50" charset="-128"/>
                  </a:rPr>
                  <a:t>融合の場合について、</a:t>
                </a:r>
                <a:r>
                  <a:rPr lang="en-US" altLang="ja-JP" dirty="0">
                    <a:latin typeface="Meiryo UI" panose="020B0604030504040204" pitchFamily="50" charset="-128"/>
                    <a:ea typeface="Meiryo UI" panose="020B0604030504040204" pitchFamily="50" charset="-128"/>
                  </a:rPr>
                  <a:t>ghost</a:t>
                </a:r>
                <a:r>
                  <a:rPr lang="ja-JP" altLang="en-US" dirty="0">
                    <a:latin typeface="Meiryo UI" panose="020B0604030504040204" pitchFamily="50" charset="-128"/>
                    <a:ea typeface="Meiryo UI" panose="020B0604030504040204" pitchFamily="50" charset="-128"/>
                  </a:rPr>
                  <a:t>確率および物理占有確率の精度を比較する。</a:t>
                </a:r>
                <a:endParaRPr lang="ja-JP" altLang="ja-JP" dirty="0">
                  <a:latin typeface="Meiryo UI" panose="020B0604030504040204" pitchFamily="50" charset="-128"/>
                  <a:ea typeface="Meiryo UI" panose="020B0604030504040204" pitchFamily="50" charset="-128"/>
                </a:endParaRPr>
              </a:p>
            </p:txBody>
          </p:sp>
        </mc:Choice>
        <mc:Fallback xmlns="">
          <p:sp>
            <p:nvSpPr>
              <p:cNvPr id="6" name="コンテンツ プレースホルダー 2">
                <a:extLst>
                  <a:ext uri="{FF2B5EF4-FFF2-40B4-BE49-F238E27FC236}">
                    <a16:creationId xmlns:a16="http://schemas.microsoft.com/office/drawing/2014/main" id="{2BCDB8B1-47B0-0DB6-552A-9305E209B047}"/>
                  </a:ext>
                </a:extLst>
              </p:cNvPr>
              <p:cNvSpPr txBox="1">
                <a:spLocks noRot="1" noChangeAspect="1" noMove="1" noResize="1" noEditPoints="1" noAdjustHandles="1" noChangeArrowheads="1" noChangeShapeType="1" noTextEdit="1"/>
              </p:cNvSpPr>
              <p:nvPr/>
            </p:nvSpPr>
            <p:spPr>
              <a:xfrm>
                <a:off x="838200" y="863600"/>
                <a:ext cx="11087101" cy="5892799"/>
              </a:xfrm>
              <a:prstGeom prst="rect">
                <a:avLst/>
              </a:prstGeom>
              <a:blipFill>
                <a:blip r:embed="rId2"/>
                <a:stretch>
                  <a:fillRect l="-990" t="-1035" r="-4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44346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9E4ED-F2EB-1884-2CBF-C0E7EB96F71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1C75653-074B-F9D9-2B53-5A65909ECC66}"/>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Text 1">
            <a:extLst>
              <a:ext uri="{FF2B5EF4-FFF2-40B4-BE49-F238E27FC236}">
                <a16:creationId xmlns:a16="http://schemas.microsoft.com/office/drawing/2014/main" id="{DBFBBDF8-C5C0-A4B2-ADAB-67A7A50DE3B0}"/>
              </a:ext>
            </a:extLst>
          </p:cNvPr>
          <p:cNvSpPr/>
          <p:nvPr/>
        </p:nvSpPr>
        <p:spPr>
          <a:xfrm>
            <a:off x="933427" y="133350"/>
            <a:ext cx="5714857" cy="590550"/>
          </a:xfrm>
          <a:prstGeom prst="rect">
            <a:avLst/>
          </a:prstGeom>
          <a:noFill/>
          <a:ln/>
        </p:spPr>
        <p:txBody>
          <a:bodyPr wrap="square" lIns="0" tIns="0" rIns="0" bIns="0" rtlCol="0" anchor="t"/>
          <a:lstStyle/>
          <a:p>
            <a:pPr marL="0" indent="0" algn="l">
              <a:buNone/>
            </a:pPr>
            <a:r>
              <a:rPr lang="en-US" sz="3600" dirty="0">
                <a:solidFill>
                  <a:srgbClr val="111827"/>
                </a:solidFill>
                <a:latin typeface="Meiryo UI" pitchFamily="34" charset="0"/>
                <a:ea typeface="Meiryo UI" pitchFamily="34" charset="-122"/>
                <a:cs typeface="Meiryo UI" pitchFamily="34" charset="-120"/>
              </a:rPr>
              <a:t>今回作成したCNN</a:t>
            </a:r>
            <a:endParaRPr lang="en-US" sz="3600" dirty="0"/>
          </a:p>
        </p:txBody>
      </p:sp>
      <p:sp>
        <p:nvSpPr>
          <p:cNvPr id="5" name="Shape 3">
            <a:extLst>
              <a:ext uri="{FF2B5EF4-FFF2-40B4-BE49-F238E27FC236}">
                <a16:creationId xmlns:a16="http://schemas.microsoft.com/office/drawing/2014/main" id="{6AA16AAE-D678-702B-15CE-57E93AD9535B}"/>
              </a:ext>
            </a:extLst>
          </p:cNvPr>
          <p:cNvSpPr/>
          <p:nvPr/>
        </p:nvSpPr>
        <p:spPr>
          <a:xfrm>
            <a:off x="762286" y="1314674"/>
            <a:ext cx="1495387" cy="384720"/>
          </a:xfrm>
          <a:prstGeom prst="rect">
            <a:avLst/>
          </a:prstGeom>
          <a:solidFill>
            <a:srgbClr val="176B9A"/>
          </a:solidFill>
          <a:ln w="12700">
            <a:solidFill>
              <a:srgbClr val="FFFFFF">
                <a:alpha val="0"/>
              </a:srgbClr>
            </a:solidFill>
            <a:prstDash val="solid"/>
          </a:ln>
        </p:spPr>
        <p:txBody>
          <a:bodyPr/>
          <a:lstStyle/>
          <a:p>
            <a:pPr algn="ctr"/>
            <a:r>
              <a:rPr lang="en-US" altLang="ja-JP" b="1">
                <a:solidFill>
                  <a:srgbClr val="FFFFFF"/>
                </a:solidFill>
                <a:latin typeface="Meiryo UI" pitchFamily="34" charset="0"/>
                <a:ea typeface="Meiryo UI" pitchFamily="34" charset="-122"/>
                <a:cs typeface="Meiryo UI" pitchFamily="34" charset="-120"/>
              </a:rPr>
              <a:t>LiDAR </a:t>
            </a:r>
            <a:endParaRPr lang="en-US" altLang="ja-JP" dirty="0"/>
          </a:p>
        </p:txBody>
      </p:sp>
      <p:sp>
        <p:nvSpPr>
          <p:cNvPr id="6" name="Text 4">
            <a:extLst>
              <a:ext uri="{FF2B5EF4-FFF2-40B4-BE49-F238E27FC236}">
                <a16:creationId xmlns:a16="http://schemas.microsoft.com/office/drawing/2014/main" id="{E01D9FE3-402F-05E6-A944-4652712B317E}"/>
              </a:ext>
            </a:extLst>
          </p:cNvPr>
          <p:cNvSpPr/>
          <p:nvPr/>
        </p:nvSpPr>
        <p:spPr>
          <a:xfrm>
            <a:off x="1105987" y="1233487"/>
            <a:ext cx="1046980" cy="180975"/>
          </a:xfrm>
          <a:prstGeom prst="rect">
            <a:avLst/>
          </a:prstGeom>
          <a:noFill/>
          <a:ln/>
        </p:spPr>
        <p:txBody>
          <a:bodyPr wrap="square" lIns="0" tIns="0" rIns="0" bIns="0" rtlCol="0" anchor="t"/>
          <a:lstStyle/>
          <a:p>
            <a:pPr marL="0" indent="0" algn="ctr">
              <a:buNone/>
            </a:pPr>
            <a:endParaRPr lang="en-US" sz="1150" dirty="0"/>
          </a:p>
        </p:txBody>
      </p:sp>
      <p:sp>
        <p:nvSpPr>
          <p:cNvPr id="8" name="Shape 6">
            <a:extLst>
              <a:ext uri="{FF2B5EF4-FFF2-40B4-BE49-F238E27FC236}">
                <a16:creationId xmlns:a16="http://schemas.microsoft.com/office/drawing/2014/main" id="{C101472C-3E46-060E-67E6-434F20A1CA56}"/>
              </a:ext>
            </a:extLst>
          </p:cNvPr>
          <p:cNvSpPr/>
          <p:nvPr/>
        </p:nvSpPr>
        <p:spPr>
          <a:xfrm>
            <a:off x="933427" y="1762125"/>
            <a:ext cx="1066773" cy="685800"/>
          </a:xfrm>
          <a:prstGeom prst="rect">
            <a:avLst/>
          </a:prstGeom>
          <a:solidFill>
            <a:srgbClr val="F4F8FB"/>
          </a:solidFill>
          <a:ln w="19050">
            <a:solidFill>
              <a:srgbClr val="176B9A"/>
            </a:solidFill>
            <a:prstDash val="solid"/>
          </a:ln>
        </p:spPr>
        <p:txBody>
          <a:bodyPr/>
          <a:lstStyle/>
          <a:p>
            <a:endParaRPr lang="ja-JP" altLang="en-US"/>
          </a:p>
        </p:txBody>
      </p:sp>
      <p:sp>
        <p:nvSpPr>
          <p:cNvPr id="9" name="Text 7">
            <a:extLst>
              <a:ext uri="{FF2B5EF4-FFF2-40B4-BE49-F238E27FC236}">
                <a16:creationId xmlns:a16="http://schemas.microsoft.com/office/drawing/2014/main" id="{7D73D04E-DBE7-B388-A3E5-B05984E7EC02}"/>
              </a:ext>
            </a:extLst>
          </p:cNvPr>
          <p:cNvSpPr/>
          <p:nvPr/>
        </p:nvSpPr>
        <p:spPr>
          <a:xfrm>
            <a:off x="1083102" y="1908411"/>
            <a:ext cx="801568" cy="350341"/>
          </a:xfrm>
          <a:prstGeom prst="rect">
            <a:avLst/>
          </a:prstGeom>
          <a:noFill/>
          <a:ln/>
        </p:spPr>
        <p:txBody>
          <a:bodyPr wrap="square" lIns="0" tIns="0" rIns="0" bIns="0" rtlCol="0" anchor="t"/>
          <a:lstStyle/>
          <a:p>
            <a:pPr marL="0" indent="0" algn="ctr">
              <a:buNone/>
            </a:pPr>
            <a:r>
              <a:rPr lang="en-US" sz="1150" b="1" dirty="0" err="1">
                <a:solidFill>
                  <a:srgbClr val="111827"/>
                </a:solidFill>
                <a:latin typeface="Meiryo UI" pitchFamily="34" charset="0"/>
                <a:ea typeface="Meiryo UI" pitchFamily="34" charset="-122"/>
                <a:cs typeface="Meiryo UI" pitchFamily="34" charset="-120"/>
              </a:rPr>
              <a:t>XYZIRd</a:t>
            </a:r>
            <a:r>
              <a:rPr lang="en-US" altLang="ja-JP" sz="1150" b="1" dirty="0" err="1">
                <a:solidFill>
                  <a:srgbClr val="111827"/>
                </a:solidFill>
                <a:latin typeface="Meiryo UI" pitchFamily="34" charset="0"/>
                <a:ea typeface="Meiryo UI" pitchFamily="34" charset="-122"/>
                <a:cs typeface="Meiryo UI" pitchFamily="34" charset="-120"/>
              </a:rPr>
              <a:t>θ</a:t>
            </a:r>
            <a:endParaRPr lang="en-US" sz="1150" dirty="0"/>
          </a:p>
          <a:p>
            <a:pPr marL="0" indent="0" algn="ctr">
              <a:buNone/>
            </a:pPr>
            <a:r>
              <a:rPr lang="en-US" sz="1150" b="1" dirty="0">
                <a:solidFill>
                  <a:srgbClr val="111827"/>
                </a:solidFill>
                <a:latin typeface="Meiryo UI" pitchFamily="34" charset="0"/>
                <a:ea typeface="Meiryo UI" pitchFamily="34" charset="-122"/>
                <a:cs typeface="Meiryo UI" pitchFamily="34" charset="-120"/>
              </a:rPr>
              <a:t>(B,N,7)</a:t>
            </a:r>
            <a:endParaRPr lang="en-US" sz="1150" dirty="0"/>
          </a:p>
        </p:txBody>
      </p:sp>
      <p:sp>
        <p:nvSpPr>
          <p:cNvPr id="10" name="Shape 8">
            <a:extLst>
              <a:ext uri="{FF2B5EF4-FFF2-40B4-BE49-F238E27FC236}">
                <a16:creationId xmlns:a16="http://schemas.microsoft.com/office/drawing/2014/main" id="{445776EF-5573-7CAD-F49B-B35DD3357680}"/>
              </a:ext>
            </a:extLst>
          </p:cNvPr>
          <p:cNvSpPr/>
          <p:nvPr/>
        </p:nvSpPr>
        <p:spPr>
          <a:xfrm>
            <a:off x="2095448" y="2028825"/>
            <a:ext cx="266693"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11" name="Shape 9">
            <a:extLst>
              <a:ext uri="{FF2B5EF4-FFF2-40B4-BE49-F238E27FC236}">
                <a16:creationId xmlns:a16="http://schemas.microsoft.com/office/drawing/2014/main" id="{AB09F172-BF76-449A-A402-23DF1C8E6B59}"/>
              </a:ext>
            </a:extLst>
          </p:cNvPr>
          <p:cNvSpPr/>
          <p:nvPr/>
        </p:nvSpPr>
        <p:spPr>
          <a:xfrm>
            <a:off x="2428814" y="1724025"/>
            <a:ext cx="666733" cy="742950"/>
          </a:xfrm>
          <a:prstGeom prst="rect">
            <a:avLst/>
          </a:prstGeom>
          <a:solidFill>
            <a:srgbClr val="EAF4F9"/>
          </a:solidFill>
          <a:ln w="19050">
            <a:solidFill>
              <a:srgbClr val="176B9A"/>
            </a:solidFill>
            <a:prstDash val="solid"/>
          </a:ln>
        </p:spPr>
        <p:txBody>
          <a:bodyPr/>
          <a:lstStyle/>
          <a:p>
            <a:endParaRPr lang="ja-JP" altLang="en-US"/>
          </a:p>
        </p:txBody>
      </p:sp>
      <p:sp>
        <p:nvSpPr>
          <p:cNvPr id="12" name="Text 10">
            <a:extLst>
              <a:ext uri="{FF2B5EF4-FFF2-40B4-BE49-F238E27FC236}">
                <a16:creationId xmlns:a16="http://schemas.microsoft.com/office/drawing/2014/main" id="{16A05092-E126-D87F-8B25-9899DD705D48}"/>
              </a:ext>
            </a:extLst>
          </p:cNvPr>
          <p:cNvSpPr/>
          <p:nvPr/>
        </p:nvSpPr>
        <p:spPr>
          <a:xfrm>
            <a:off x="2573918" y="1983730"/>
            <a:ext cx="376526" cy="223540"/>
          </a:xfrm>
          <a:prstGeom prst="rect">
            <a:avLst/>
          </a:prstGeom>
          <a:noFill/>
          <a:ln/>
        </p:spPr>
        <p:txBody>
          <a:bodyPr wrap="square" lIns="0" tIns="0" rIns="0" bIns="0" rtlCol="0" anchor="t"/>
          <a:lstStyle/>
          <a:p>
            <a:pPr marL="0" indent="0" algn="ctr">
              <a:buNone/>
            </a:pPr>
            <a:r>
              <a:rPr lang="en-US" sz="800" b="1" dirty="0">
                <a:solidFill>
                  <a:srgbClr val="111827"/>
                </a:solidFill>
                <a:latin typeface="Meiryo UI" pitchFamily="34" charset="0"/>
                <a:ea typeface="Meiryo UI" pitchFamily="34" charset="-122"/>
                <a:cs typeface="Meiryo UI" pitchFamily="34" charset="-120"/>
              </a:rPr>
              <a:t>Linear</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7→128</a:t>
            </a:r>
            <a:endParaRPr lang="en-US" sz="800" dirty="0"/>
          </a:p>
        </p:txBody>
      </p:sp>
      <p:sp>
        <p:nvSpPr>
          <p:cNvPr id="13" name="Shape 11">
            <a:extLst>
              <a:ext uri="{FF2B5EF4-FFF2-40B4-BE49-F238E27FC236}">
                <a16:creationId xmlns:a16="http://schemas.microsoft.com/office/drawing/2014/main" id="{BD0A2540-5E74-AECD-BDCA-5961001ED4BA}"/>
              </a:ext>
            </a:extLst>
          </p:cNvPr>
          <p:cNvSpPr/>
          <p:nvPr/>
        </p:nvSpPr>
        <p:spPr>
          <a:xfrm>
            <a:off x="3133647" y="2028825"/>
            <a:ext cx="114297"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14" name="Shape 12">
            <a:extLst>
              <a:ext uri="{FF2B5EF4-FFF2-40B4-BE49-F238E27FC236}">
                <a16:creationId xmlns:a16="http://schemas.microsoft.com/office/drawing/2014/main" id="{6083CD70-956B-9D99-6F85-4CB40B2A3196}"/>
              </a:ext>
            </a:extLst>
          </p:cNvPr>
          <p:cNvSpPr/>
          <p:nvPr/>
        </p:nvSpPr>
        <p:spPr>
          <a:xfrm>
            <a:off x="3276518" y="1724025"/>
            <a:ext cx="666733" cy="742950"/>
          </a:xfrm>
          <a:prstGeom prst="rect">
            <a:avLst/>
          </a:prstGeom>
          <a:solidFill>
            <a:srgbClr val="FFFFFF"/>
          </a:solidFill>
          <a:ln w="19050">
            <a:solidFill>
              <a:srgbClr val="176B9A"/>
            </a:solidFill>
            <a:prstDash val="solid"/>
          </a:ln>
        </p:spPr>
        <p:txBody>
          <a:bodyPr/>
          <a:lstStyle/>
          <a:p>
            <a:endParaRPr lang="ja-JP" altLang="en-US"/>
          </a:p>
        </p:txBody>
      </p:sp>
      <p:sp>
        <p:nvSpPr>
          <p:cNvPr id="15" name="Text 13">
            <a:extLst>
              <a:ext uri="{FF2B5EF4-FFF2-40B4-BE49-F238E27FC236}">
                <a16:creationId xmlns:a16="http://schemas.microsoft.com/office/drawing/2014/main" id="{E90F7787-898C-5A1C-9CDF-196C98A3261A}"/>
              </a:ext>
            </a:extLst>
          </p:cNvPr>
          <p:cNvSpPr/>
          <p:nvPr/>
        </p:nvSpPr>
        <p:spPr>
          <a:xfrm>
            <a:off x="3336345" y="1983730"/>
            <a:ext cx="546930" cy="223540"/>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LayerNorm</a:t>
            </a:r>
            <a:endParaRPr lang="en-US" sz="800" dirty="0"/>
          </a:p>
          <a:p>
            <a:pPr marL="0" indent="0" algn="ctr">
              <a:buNone/>
            </a:pPr>
            <a:r>
              <a:rPr lang="en-US" sz="800" dirty="0">
                <a:solidFill>
                  <a:srgbClr val="111827"/>
                </a:solidFill>
                <a:latin typeface="Meiryo UI" pitchFamily="34" charset="0"/>
                <a:ea typeface="Meiryo UI" pitchFamily="34" charset="-122"/>
                <a:cs typeface="Meiryo UI" pitchFamily="34" charset="-120"/>
              </a:rPr>
              <a:t>128</a:t>
            </a:r>
            <a:endParaRPr lang="en-US" sz="800" dirty="0"/>
          </a:p>
        </p:txBody>
      </p:sp>
      <p:sp>
        <p:nvSpPr>
          <p:cNvPr id="16" name="Shape 14">
            <a:extLst>
              <a:ext uri="{FF2B5EF4-FFF2-40B4-BE49-F238E27FC236}">
                <a16:creationId xmlns:a16="http://schemas.microsoft.com/office/drawing/2014/main" id="{22CAF4D9-8337-B17E-C587-D729F6E18559}"/>
              </a:ext>
            </a:extLst>
          </p:cNvPr>
          <p:cNvSpPr/>
          <p:nvPr/>
        </p:nvSpPr>
        <p:spPr>
          <a:xfrm>
            <a:off x="3981350" y="2028825"/>
            <a:ext cx="114297"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17" name="Shape 15">
            <a:extLst>
              <a:ext uri="{FF2B5EF4-FFF2-40B4-BE49-F238E27FC236}">
                <a16:creationId xmlns:a16="http://schemas.microsoft.com/office/drawing/2014/main" id="{D2F8E05E-6761-7959-0D85-3FD3BF38E505}"/>
              </a:ext>
            </a:extLst>
          </p:cNvPr>
          <p:cNvSpPr/>
          <p:nvPr/>
        </p:nvSpPr>
        <p:spPr>
          <a:xfrm>
            <a:off x="4124222" y="1724025"/>
            <a:ext cx="552436" cy="742950"/>
          </a:xfrm>
          <a:prstGeom prst="rect">
            <a:avLst/>
          </a:prstGeom>
          <a:solidFill>
            <a:srgbClr val="FFFFFF"/>
          </a:solidFill>
          <a:ln w="19050">
            <a:solidFill>
              <a:srgbClr val="176B9A"/>
            </a:solidFill>
            <a:prstDash val="solid"/>
          </a:ln>
        </p:spPr>
        <p:txBody>
          <a:bodyPr/>
          <a:lstStyle/>
          <a:p>
            <a:endParaRPr lang="ja-JP" altLang="en-US"/>
          </a:p>
        </p:txBody>
      </p:sp>
      <p:sp>
        <p:nvSpPr>
          <p:cNvPr id="18" name="Text 16">
            <a:extLst>
              <a:ext uri="{FF2B5EF4-FFF2-40B4-BE49-F238E27FC236}">
                <a16:creationId xmlns:a16="http://schemas.microsoft.com/office/drawing/2014/main" id="{8192689B-1FB1-A76B-64DD-1138A45A768D}"/>
              </a:ext>
            </a:extLst>
          </p:cNvPr>
          <p:cNvSpPr/>
          <p:nvPr/>
        </p:nvSpPr>
        <p:spPr>
          <a:xfrm>
            <a:off x="4209945" y="2039541"/>
            <a:ext cx="387093" cy="141684"/>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GELU</a:t>
            </a:r>
            <a:endParaRPr lang="en-US" sz="800" dirty="0"/>
          </a:p>
        </p:txBody>
      </p:sp>
      <p:sp>
        <p:nvSpPr>
          <p:cNvPr id="19" name="Shape 17">
            <a:extLst>
              <a:ext uri="{FF2B5EF4-FFF2-40B4-BE49-F238E27FC236}">
                <a16:creationId xmlns:a16="http://schemas.microsoft.com/office/drawing/2014/main" id="{A46C2D02-2CF9-6D77-2488-0DB42142DAF6}"/>
              </a:ext>
            </a:extLst>
          </p:cNvPr>
          <p:cNvSpPr/>
          <p:nvPr/>
        </p:nvSpPr>
        <p:spPr>
          <a:xfrm>
            <a:off x="4714757" y="2028825"/>
            <a:ext cx="114297"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20" name="Shape 18">
            <a:extLst>
              <a:ext uri="{FF2B5EF4-FFF2-40B4-BE49-F238E27FC236}">
                <a16:creationId xmlns:a16="http://schemas.microsoft.com/office/drawing/2014/main" id="{C6BCC7F3-A68F-06E4-A47A-AACF259B9A1F}"/>
              </a:ext>
            </a:extLst>
          </p:cNvPr>
          <p:cNvSpPr/>
          <p:nvPr/>
        </p:nvSpPr>
        <p:spPr>
          <a:xfrm>
            <a:off x="4857629" y="1724025"/>
            <a:ext cx="742931" cy="742950"/>
          </a:xfrm>
          <a:prstGeom prst="rect">
            <a:avLst/>
          </a:prstGeom>
          <a:solidFill>
            <a:srgbClr val="EAF4F9"/>
          </a:solidFill>
          <a:ln w="19050">
            <a:solidFill>
              <a:srgbClr val="176B9A"/>
            </a:solidFill>
            <a:prstDash val="solid"/>
          </a:ln>
        </p:spPr>
        <p:txBody>
          <a:bodyPr/>
          <a:lstStyle/>
          <a:p>
            <a:endParaRPr lang="ja-JP" altLang="en-US"/>
          </a:p>
        </p:txBody>
      </p:sp>
      <p:sp>
        <p:nvSpPr>
          <p:cNvPr id="21" name="Text 19">
            <a:extLst>
              <a:ext uri="{FF2B5EF4-FFF2-40B4-BE49-F238E27FC236}">
                <a16:creationId xmlns:a16="http://schemas.microsoft.com/office/drawing/2014/main" id="{EABB64EB-F153-57A1-C557-A63760E912C2}"/>
              </a:ext>
            </a:extLst>
          </p:cNvPr>
          <p:cNvSpPr/>
          <p:nvPr/>
        </p:nvSpPr>
        <p:spPr>
          <a:xfrm>
            <a:off x="4972075" y="1983730"/>
            <a:ext cx="513891" cy="223540"/>
          </a:xfrm>
          <a:prstGeom prst="rect">
            <a:avLst/>
          </a:prstGeom>
          <a:noFill/>
          <a:ln/>
        </p:spPr>
        <p:txBody>
          <a:bodyPr wrap="square" lIns="0" tIns="0" rIns="0" bIns="0" rtlCol="0" anchor="t"/>
          <a:lstStyle/>
          <a:p>
            <a:pPr marL="0" indent="0" algn="ctr">
              <a:buNone/>
            </a:pPr>
            <a:r>
              <a:rPr lang="en-US" sz="800" b="1" dirty="0">
                <a:solidFill>
                  <a:srgbClr val="111827"/>
                </a:solidFill>
                <a:latin typeface="Meiryo UI" pitchFamily="34" charset="0"/>
                <a:ea typeface="Meiryo UI" pitchFamily="34" charset="-122"/>
                <a:cs typeface="Meiryo UI" pitchFamily="34" charset="-120"/>
              </a:rPr>
              <a:t>Linear</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128→128</a:t>
            </a:r>
            <a:endParaRPr lang="en-US" sz="800" dirty="0"/>
          </a:p>
        </p:txBody>
      </p:sp>
      <p:sp>
        <p:nvSpPr>
          <p:cNvPr id="22" name="Shape 20">
            <a:extLst>
              <a:ext uri="{FF2B5EF4-FFF2-40B4-BE49-F238E27FC236}">
                <a16:creationId xmlns:a16="http://schemas.microsoft.com/office/drawing/2014/main" id="{8318582D-9059-F870-3824-B4E37DF4AB95}"/>
              </a:ext>
            </a:extLst>
          </p:cNvPr>
          <p:cNvSpPr/>
          <p:nvPr/>
        </p:nvSpPr>
        <p:spPr>
          <a:xfrm>
            <a:off x="5638659" y="2028825"/>
            <a:ext cx="114297"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23" name="Shape 21">
            <a:extLst>
              <a:ext uri="{FF2B5EF4-FFF2-40B4-BE49-F238E27FC236}">
                <a16:creationId xmlns:a16="http://schemas.microsoft.com/office/drawing/2014/main" id="{841ABAE9-925E-1677-FB49-4A0FE0233BCB}"/>
              </a:ext>
            </a:extLst>
          </p:cNvPr>
          <p:cNvSpPr/>
          <p:nvPr/>
        </p:nvSpPr>
        <p:spPr>
          <a:xfrm>
            <a:off x="5781530" y="1724025"/>
            <a:ext cx="666733" cy="742950"/>
          </a:xfrm>
          <a:prstGeom prst="rect">
            <a:avLst/>
          </a:prstGeom>
          <a:solidFill>
            <a:srgbClr val="FFFFFF"/>
          </a:solidFill>
          <a:ln w="19050">
            <a:solidFill>
              <a:srgbClr val="176B9A"/>
            </a:solidFill>
            <a:prstDash val="solid"/>
          </a:ln>
        </p:spPr>
        <p:txBody>
          <a:bodyPr/>
          <a:lstStyle/>
          <a:p>
            <a:endParaRPr lang="ja-JP" altLang="en-US"/>
          </a:p>
        </p:txBody>
      </p:sp>
      <p:sp>
        <p:nvSpPr>
          <p:cNvPr id="24" name="Text 22">
            <a:extLst>
              <a:ext uri="{FF2B5EF4-FFF2-40B4-BE49-F238E27FC236}">
                <a16:creationId xmlns:a16="http://schemas.microsoft.com/office/drawing/2014/main" id="{612DEB99-E3BF-AF90-6054-3613BC05D79E}"/>
              </a:ext>
            </a:extLst>
          </p:cNvPr>
          <p:cNvSpPr/>
          <p:nvPr/>
        </p:nvSpPr>
        <p:spPr>
          <a:xfrm>
            <a:off x="5841358" y="1983730"/>
            <a:ext cx="546930" cy="223540"/>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LayerNorm</a:t>
            </a:r>
            <a:endParaRPr lang="en-US" sz="800" dirty="0"/>
          </a:p>
          <a:p>
            <a:pPr marL="0" indent="0" algn="ctr">
              <a:buNone/>
            </a:pPr>
            <a:r>
              <a:rPr lang="en-US" sz="800" dirty="0">
                <a:solidFill>
                  <a:srgbClr val="111827"/>
                </a:solidFill>
                <a:latin typeface="Meiryo UI" pitchFamily="34" charset="0"/>
                <a:ea typeface="Meiryo UI" pitchFamily="34" charset="-122"/>
                <a:cs typeface="Meiryo UI" pitchFamily="34" charset="-120"/>
              </a:rPr>
              <a:t>128</a:t>
            </a:r>
            <a:endParaRPr lang="en-US" sz="800" dirty="0"/>
          </a:p>
        </p:txBody>
      </p:sp>
      <p:sp>
        <p:nvSpPr>
          <p:cNvPr id="25" name="Shape 23">
            <a:extLst>
              <a:ext uri="{FF2B5EF4-FFF2-40B4-BE49-F238E27FC236}">
                <a16:creationId xmlns:a16="http://schemas.microsoft.com/office/drawing/2014/main" id="{EA7D3309-B8C3-A175-D3AC-38B23A89D378}"/>
              </a:ext>
            </a:extLst>
          </p:cNvPr>
          <p:cNvSpPr/>
          <p:nvPr/>
        </p:nvSpPr>
        <p:spPr>
          <a:xfrm>
            <a:off x="6486363" y="2028825"/>
            <a:ext cx="114297"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26" name="Shape 24">
            <a:extLst>
              <a:ext uri="{FF2B5EF4-FFF2-40B4-BE49-F238E27FC236}">
                <a16:creationId xmlns:a16="http://schemas.microsoft.com/office/drawing/2014/main" id="{2BC4E496-BD73-76A0-FCE2-BE7B9F131E0B}"/>
              </a:ext>
            </a:extLst>
          </p:cNvPr>
          <p:cNvSpPr/>
          <p:nvPr/>
        </p:nvSpPr>
        <p:spPr>
          <a:xfrm>
            <a:off x="6629234" y="1724025"/>
            <a:ext cx="552436" cy="742950"/>
          </a:xfrm>
          <a:prstGeom prst="rect">
            <a:avLst/>
          </a:prstGeom>
          <a:solidFill>
            <a:srgbClr val="FFFFFF"/>
          </a:solidFill>
          <a:ln w="19050">
            <a:solidFill>
              <a:srgbClr val="176B9A"/>
            </a:solidFill>
            <a:prstDash val="solid"/>
          </a:ln>
        </p:spPr>
        <p:txBody>
          <a:bodyPr/>
          <a:lstStyle/>
          <a:p>
            <a:endParaRPr lang="ja-JP" altLang="en-US"/>
          </a:p>
        </p:txBody>
      </p:sp>
      <p:sp>
        <p:nvSpPr>
          <p:cNvPr id="27" name="Text 25">
            <a:extLst>
              <a:ext uri="{FF2B5EF4-FFF2-40B4-BE49-F238E27FC236}">
                <a16:creationId xmlns:a16="http://schemas.microsoft.com/office/drawing/2014/main" id="{51208012-1AA7-51E4-A707-6E4EE2F0196C}"/>
              </a:ext>
            </a:extLst>
          </p:cNvPr>
          <p:cNvSpPr/>
          <p:nvPr/>
        </p:nvSpPr>
        <p:spPr>
          <a:xfrm>
            <a:off x="6711607" y="2000845"/>
            <a:ext cx="387688" cy="189309"/>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GELU</a:t>
            </a:r>
            <a:endParaRPr lang="en-US" sz="800" dirty="0"/>
          </a:p>
        </p:txBody>
      </p:sp>
      <p:sp>
        <p:nvSpPr>
          <p:cNvPr id="28" name="Text 26">
            <a:extLst>
              <a:ext uri="{FF2B5EF4-FFF2-40B4-BE49-F238E27FC236}">
                <a16:creationId xmlns:a16="http://schemas.microsoft.com/office/drawing/2014/main" id="{29F1E8C2-DA36-A5C5-768E-A803B520E7C7}"/>
              </a:ext>
            </a:extLst>
          </p:cNvPr>
          <p:cNvSpPr/>
          <p:nvPr/>
        </p:nvSpPr>
        <p:spPr>
          <a:xfrm>
            <a:off x="2428814" y="2552700"/>
            <a:ext cx="4752856" cy="171450"/>
          </a:xfrm>
          <a:prstGeom prst="rect">
            <a:avLst/>
          </a:prstGeom>
          <a:noFill/>
          <a:ln/>
        </p:spPr>
        <p:txBody>
          <a:bodyPr wrap="square" lIns="0" tIns="0" rIns="0" bIns="0" rtlCol="0" anchor="t"/>
          <a:lstStyle/>
          <a:p>
            <a:pPr marL="0" indent="0" algn="ctr">
              <a:buNone/>
            </a:pPr>
            <a:r>
              <a:rPr lang="en-US" sz="1000" b="1" dirty="0">
                <a:solidFill>
                  <a:srgbClr val="176B9A"/>
                </a:solidFill>
                <a:latin typeface="Meiryo UI" pitchFamily="34" charset="0"/>
                <a:ea typeface="Meiryo UI" pitchFamily="34" charset="-122"/>
                <a:cs typeface="Meiryo UI" pitchFamily="34" charset="-120"/>
              </a:rPr>
              <a:t>PointEncoder → 128次元 / 点</a:t>
            </a:r>
            <a:endParaRPr lang="en-US" sz="1000" dirty="0"/>
          </a:p>
        </p:txBody>
      </p:sp>
      <p:sp>
        <p:nvSpPr>
          <p:cNvPr id="29" name="Shape 27">
            <a:extLst>
              <a:ext uri="{FF2B5EF4-FFF2-40B4-BE49-F238E27FC236}">
                <a16:creationId xmlns:a16="http://schemas.microsoft.com/office/drawing/2014/main" id="{BBFD87B0-3277-18A8-7B75-8A35246FD9D1}"/>
              </a:ext>
            </a:extLst>
          </p:cNvPr>
          <p:cNvSpPr/>
          <p:nvPr/>
        </p:nvSpPr>
        <p:spPr>
          <a:xfrm>
            <a:off x="7315017" y="2028825"/>
            <a:ext cx="742931"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30" name="Shape 28">
            <a:extLst>
              <a:ext uri="{FF2B5EF4-FFF2-40B4-BE49-F238E27FC236}">
                <a16:creationId xmlns:a16="http://schemas.microsoft.com/office/drawing/2014/main" id="{20D1F760-30EE-DDC0-0895-0965886ED34B}"/>
              </a:ext>
            </a:extLst>
          </p:cNvPr>
          <p:cNvSpPr/>
          <p:nvPr/>
        </p:nvSpPr>
        <p:spPr>
          <a:xfrm>
            <a:off x="933427" y="3333750"/>
            <a:ext cx="1200120" cy="419100"/>
          </a:xfrm>
          <a:prstGeom prst="rect">
            <a:avLst/>
          </a:prstGeom>
          <a:solidFill>
            <a:srgbClr val="176B9A"/>
          </a:solidFill>
          <a:ln w="12700">
            <a:solidFill>
              <a:srgbClr val="FFFFFF">
                <a:alpha val="0"/>
              </a:srgbClr>
            </a:solidFill>
            <a:prstDash val="solid"/>
          </a:ln>
        </p:spPr>
        <p:txBody>
          <a:bodyPr/>
          <a:lstStyle/>
          <a:p>
            <a:pPr algn="ctr"/>
            <a:r>
              <a:rPr lang="en-US" altLang="ja-JP" b="1" dirty="0">
                <a:solidFill>
                  <a:srgbClr val="FFFFFF"/>
                </a:solidFill>
                <a:latin typeface="Meiryo UI" pitchFamily="34" charset="0"/>
                <a:ea typeface="Meiryo UI" pitchFamily="34" charset="-122"/>
                <a:cs typeface="Meiryo UI" pitchFamily="34" charset="-120"/>
              </a:rPr>
              <a:t>Image</a:t>
            </a:r>
            <a:endParaRPr lang="ja-JP" altLang="en-US" dirty="0"/>
          </a:p>
        </p:txBody>
      </p:sp>
      <p:sp>
        <p:nvSpPr>
          <p:cNvPr id="31" name="Text 29">
            <a:extLst>
              <a:ext uri="{FF2B5EF4-FFF2-40B4-BE49-F238E27FC236}">
                <a16:creationId xmlns:a16="http://schemas.microsoft.com/office/drawing/2014/main" id="{68286D7D-5645-A7C3-1A43-2E111DB280FB}"/>
              </a:ext>
            </a:extLst>
          </p:cNvPr>
          <p:cNvSpPr/>
          <p:nvPr/>
        </p:nvSpPr>
        <p:spPr>
          <a:xfrm>
            <a:off x="990873" y="3386138"/>
            <a:ext cx="1085228" cy="180975"/>
          </a:xfrm>
          <a:prstGeom prst="rect">
            <a:avLst/>
          </a:prstGeom>
          <a:noFill/>
          <a:ln/>
        </p:spPr>
        <p:txBody>
          <a:bodyPr wrap="square" lIns="0" tIns="0" rIns="0" bIns="0" rtlCol="0" anchor="t"/>
          <a:lstStyle/>
          <a:p>
            <a:pPr marL="0" indent="0" algn="l">
              <a:buNone/>
            </a:pPr>
            <a:endParaRPr lang="en-US" sz="1150" dirty="0"/>
          </a:p>
        </p:txBody>
      </p:sp>
      <p:sp>
        <p:nvSpPr>
          <p:cNvPr id="33" name="Shape 31">
            <a:extLst>
              <a:ext uri="{FF2B5EF4-FFF2-40B4-BE49-F238E27FC236}">
                <a16:creationId xmlns:a16="http://schemas.microsoft.com/office/drawing/2014/main" id="{55B349B1-8464-19EF-A5DB-0FF1D7FB26CE}"/>
              </a:ext>
            </a:extLst>
          </p:cNvPr>
          <p:cNvSpPr/>
          <p:nvPr/>
        </p:nvSpPr>
        <p:spPr>
          <a:xfrm>
            <a:off x="933427" y="3924300"/>
            <a:ext cx="1066773" cy="685800"/>
          </a:xfrm>
          <a:prstGeom prst="rect">
            <a:avLst/>
          </a:prstGeom>
          <a:solidFill>
            <a:srgbClr val="F4F8FB"/>
          </a:solidFill>
          <a:ln w="19050">
            <a:solidFill>
              <a:srgbClr val="176B9A"/>
            </a:solidFill>
            <a:prstDash val="solid"/>
          </a:ln>
        </p:spPr>
        <p:txBody>
          <a:bodyPr/>
          <a:lstStyle/>
          <a:p>
            <a:endParaRPr lang="ja-JP" altLang="en-US"/>
          </a:p>
        </p:txBody>
      </p:sp>
      <p:sp>
        <p:nvSpPr>
          <p:cNvPr id="34" name="Text 32">
            <a:extLst>
              <a:ext uri="{FF2B5EF4-FFF2-40B4-BE49-F238E27FC236}">
                <a16:creationId xmlns:a16="http://schemas.microsoft.com/office/drawing/2014/main" id="{536CF96E-9A43-6CFC-7C75-235071C1E31C}"/>
              </a:ext>
            </a:extLst>
          </p:cNvPr>
          <p:cNvSpPr/>
          <p:nvPr/>
        </p:nvSpPr>
        <p:spPr>
          <a:xfrm>
            <a:off x="1081060" y="4092029"/>
            <a:ext cx="852466" cy="350341"/>
          </a:xfrm>
          <a:prstGeom prst="rect">
            <a:avLst/>
          </a:prstGeom>
          <a:noFill/>
          <a:ln/>
        </p:spPr>
        <p:txBody>
          <a:bodyPr wrap="square" lIns="0" tIns="0" rIns="0" bIns="0" rtlCol="0" anchor="t"/>
          <a:lstStyle/>
          <a:p>
            <a:pPr marL="0" indent="0" algn="ctr">
              <a:buNone/>
            </a:pPr>
            <a:r>
              <a:rPr lang="en-US" sz="1150" b="1" dirty="0">
                <a:solidFill>
                  <a:srgbClr val="111827"/>
                </a:solidFill>
                <a:latin typeface="Meiryo UI" pitchFamily="34" charset="0"/>
                <a:ea typeface="Meiryo UI" pitchFamily="34" charset="-122"/>
                <a:cs typeface="Meiryo UI" pitchFamily="34" charset="-120"/>
              </a:rPr>
              <a:t>RGB</a:t>
            </a:r>
            <a:endParaRPr lang="en-US" sz="1150" dirty="0"/>
          </a:p>
          <a:p>
            <a:pPr marL="0" indent="0" algn="ctr">
              <a:buNone/>
            </a:pPr>
            <a:r>
              <a:rPr lang="en-US" sz="1150" b="1" dirty="0">
                <a:solidFill>
                  <a:srgbClr val="111827"/>
                </a:solidFill>
                <a:latin typeface="Meiryo UI" pitchFamily="34" charset="0"/>
                <a:ea typeface="Meiryo UI" pitchFamily="34" charset="-122"/>
                <a:cs typeface="Meiryo UI" pitchFamily="34" charset="-120"/>
              </a:rPr>
              <a:t>(B,3,H,W)</a:t>
            </a:r>
            <a:endParaRPr lang="en-US" sz="1150" dirty="0"/>
          </a:p>
        </p:txBody>
      </p:sp>
      <p:sp>
        <p:nvSpPr>
          <p:cNvPr id="35" name="Shape 33">
            <a:extLst>
              <a:ext uri="{FF2B5EF4-FFF2-40B4-BE49-F238E27FC236}">
                <a16:creationId xmlns:a16="http://schemas.microsoft.com/office/drawing/2014/main" id="{24AB860C-05B1-E071-2937-A821230DB85C}"/>
              </a:ext>
            </a:extLst>
          </p:cNvPr>
          <p:cNvSpPr/>
          <p:nvPr/>
        </p:nvSpPr>
        <p:spPr>
          <a:xfrm>
            <a:off x="2095448" y="4191000"/>
            <a:ext cx="266693"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36" name="Shape 34">
            <a:extLst>
              <a:ext uri="{FF2B5EF4-FFF2-40B4-BE49-F238E27FC236}">
                <a16:creationId xmlns:a16="http://schemas.microsoft.com/office/drawing/2014/main" id="{AB1F51FD-63E4-7D7D-EA95-881B665D54DE}"/>
              </a:ext>
            </a:extLst>
          </p:cNvPr>
          <p:cNvSpPr/>
          <p:nvPr/>
        </p:nvSpPr>
        <p:spPr>
          <a:xfrm>
            <a:off x="2428814" y="3857625"/>
            <a:ext cx="581010" cy="742950"/>
          </a:xfrm>
          <a:prstGeom prst="rect">
            <a:avLst/>
          </a:prstGeom>
          <a:solidFill>
            <a:srgbClr val="EAF4F9"/>
          </a:solidFill>
          <a:ln w="19050">
            <a:solidFill>
              <a:srgbClr val="176B9A"/>
            </a:solidFill>
            <a:prstDash val="solid"/>
          </a:ln>
        </p:spPr>
        <p:txBody>
          <a:bodyPr/>
          <a:lstStyle/>
          <a:p>
            <a:endParaRPr lang="ja-JP" altLang="en-US"/>
          </a:p>
        </p:txBody>
      </p:sp>
      <p:sp>
        <p:nvSpPr>
          <p:cNvPr id="37" name="Text 35">
            <a:extLst>
              <a:ext uri="{FF2B5EF4-FFF2-40B4-BE49-F238E27FC236}">
                <a16:creationId xmlns:a16="http://schemas.microsoft.com/office/drawing/2014/main" id="{89FB1DAA-4653-88AA-A209-BF005A47501D}"/>
              </a:ext>
            </a:extLst>
          </p:cNvPr>
          <p:cNvSpPr/>
          <p:nvPr/>
        </p:nvSpPr>
        <p:spPr>
          <a:xfrm>
            <a:off x="2528378" y="4117330"/>
            <a:ext cx="381883" cy="223540"/>
          </a:xfrm>
          <a:prstGeom prst="rect">
            <a:avLst/>
          </a:prstGeom>
          <a:noFill/>
          <a:ln/>
        </p:spPr>
        <p:txBody>
          <a:bodyPr wrap="square" lIns="0" tIns="0" rIns="0" bIns="0" rtlCol="0" anchor="t"/>
          <a:lstStyle/>
          <a:p>
            <a:pPr marL="0" indent="0" algn="ctr">
              <a:buNone/>
            </a:pPr>
            <a:r>
              <a:rPr lang="en-US" sz="800" b="1" dirty="0">
                <a:solidFill>
                  <a:srgbClr val="111827"/>
                </a:solidFill>
                <a:latin typeface="Meiryo UI" pitchFamily="34" charset="0"/>
                <a:ea typeface="Meiryo UI" pitchFamily="34" charset="-122"/>
                <a:cs typeface="Meiryo UI" pitchFamily="34" charset="-120"/>
              </a:rPr>
              <a:t>Conv1</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7×7,s2</a:t>
            </a:r>
            <a:endParaRPr lang="en-US" sz="800" dirty="0"/>
          </a:p>
        </p:txBody>
      </p:sp>
      <p:sp>
        <p:nvSpPr>
          <p:cNvPr id="38" name="Shape 36">
            <a:extLst>
              <a:ext uri="{FF2B5EF4-FFF2-40B4-BE49-F238E27FC236}">
                <a16:creationId xmlns:a16="http://schemas.microsoft.com/office/drawing/2014/main" id="{C7EF7675-7766-9F24-91AF-F6A1E3A3D47F}"/>
              </a:ext>
            </a:extLst>
          </p:cNvPr>
          <p:cNvSpPr/>
          <p:nvPr/>
        </p:nvSpPr>
        <p:spPr>
          <a:xfrm>
            <a:off x="3047924" y="4152900"/>
            <a:ext cx="95248"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39" name="Shape 37">
            <a:extLst>
              <a:ext uri="{FF2B5EF4-FFF2-40B4-BE49-F238E27FC236}">
                <a16:creationId xmlns:a16="http://schemas.microsoft.com/office/drawing/2014/main" id="{90531D16-0993-3E23-8801-623C8999233B}"/>
              </a:ext>
            </a:extLst>
          </p:cNvPr>
          <p:cNvSpPr/>
          <p:nvPr/>
        </p:nvSpPr>
        <p:spPr>
          <a:xfrm>
            <a:off x="3171746" y="3857625"/>
            <a:ext cx="552436" cy="742950"/>
          </a:xfrm>
          <a:prstGeom prst="rect">
            <a:avLst/>
          </a:prstGeom>
          <a:solidFill>
            <a:srgbClr val="FFFFFF"/>
          </a:solidFill>
          <a:ln w="19050">
            <a:solidFill>
              <a:srgbClr val="176B9A"/>
            </a:solidFill>
            <a:prstDash val="solid"/>
          </a:ln>
        </p:spPr>
        <p:txBody>
          <a:bodyPr/>
          <a:lstStyle/>
          <a:p>
            <a:endParaRPr lang="ja-JP" altLang="en-US"/>
          </a:p>
        </p:txBody>
      </p:sp>
      <p:sp>
        <p:nvSpPr>
          <p:cNvPr id="40" name="Text 38">
            <a:extLst>
              <a:ext uri="{FF2B5EF4-FFF2-40B4-BE49-F238E27FC236}">
                <a16:creationId xmlns:a16="http://schemas.microsoft.com/office/drawing/2014/main" id="{AC939431-C989-5AF9-9FC8-0818673D240C}"/>
              </a:ext>
            </a:extLst>
          </p:cNvPr>
          <p:cNvSpPr/>
          <p:nvPr/>
        </p:nvSpPr>
        <p:spPr>
          <a:xfrm>
            <a:off x="3307920" y="4117330"/>
            <a:ext cx="279939" cy="223540"/>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Batch</a:t>
            </a:r>
            <a:endParaRPr lang="en-US" sz="800" dirty="0"/>
          </a:p>
          <a:p>
            <a:pPr marL="0" indent="0" algn="ctr">
              <a:buNone/>
            </a:pPr>
            <a:r>
              <a:rPr lang="en-US" sz="800" dirty="0">
                <a:solidFill>
                  <a:srgbClr val="111827"/>
                </a:solidFill>
                <a:latin typeface="Meiryo UI" pitchFamily="34" charset="0"/>
                <a:ea typeface="Meiryo UI" pitchFamily="34" charset="-122"/>
                <a:cs typeface="Meiryo UI" pitchFamily="34" charset="-120"/>
              </a:rPr>
              <a:t>Norm</a:t>
            </a:r>
            <a:endParaRPr lang="en-US" sz="800" dirty="0"/>
          </a:p>
        </p:txBody>
      </p:sp>
      <p:sp>
        <p:nvSpPr>
          <p:cNvPr id="41" name="Shape 39">
            <a:extLst>
              <a:ext uri="{FF2B5EF4-FFF2-40B4-BE49-F238E27FC236}">
                <a16:creationId xmlns:a16="http://schemas.microsoft.com/office/drawing/2014/main" id="{53165BFB-7163-6136-12E9-6CC8C2875E4A}"/>
              </a:ext>
            </a:extLst>
          </p:cNvPr>
          <p:cNvSpPr/>
          <p:nvPr/>
        </p:nvSpPr>
        <p:spPr>
          <a:xfrm>
            <a:off x="3762281" y="4152900"/>
            <a:ext cx="95248"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42" name="Shape 40">
            <a:extLst>
              <a:ext uri="{FF2B5EF4-FFF2-40B4-BE49-F238E27FC236}">
                <a16:creationId xmlns:a16="http://schemas.microsoft.com/office/drawing/2014/main" id="{81FE4876-1ADB-1A07-4F55-2B9E7D2C2901}"/>
              </a:ext>
            </a:extLst>
          </p:cNvPr>
          <p:cNvSpPr/>
          <p:nvPr/>
        </p:nvSpPr>
        <p:spPr>
          <a:xfrm>
            <a:off x="3886103" y="3857625"/>
            <a:ext cx="457189" cy="742950"/>
          </a:xfrm>
          <a:prstGeom prst="rect">
            <a:avLst/>
          </a:prstGeom>
          <a:solidFill>
            <a:srgbClr val="FFFFFF"/>
          </a:solidFill>
          <a:ln w="19050">
            <a:solidFill>
              <a:srgbClr val="176B9A"/>
            </a:solidFill>
            <a:prstDash val="solid"/>
          </a:ln>
        </p:spPr>
        <p:txBody>
          <a:bodyPr/>
          <a:lstStyle/>
          <a:p>
            <a:endParaRPr lang="ja-JP" altLang="en-US"/>
          </a:p>
        </p:txBody>
      </p:sp>
      <p:sp>
        <p:nvSpPr>
          <p:cNvPr id="43" name="Text 41">
            <a:extLst>
              <a:ext uri="{FF2B5EF4-FFF2-40B4-BE49-F238E27FC236}">
                <a16:creationId xmlns:a16="http://schemas.microsoft.com/office/drawing/2014/main" id="{A55D3D58-E8BB-168F-ED98-042A40AA94EF}"/>
              </a:ext>
            </a:extLst>
          </p:cNvPr>
          <p:cNvSpPr/>
          <p:nvPr/>
        </p:nvSpPr>
        <p:spPr>
          <a:xfrm>
            <a:off x="3987303" y="3971925"/>
            <a:ext cx="254639" cy="312986"/>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R</a:t>
            </a:r>
          </a:p>
          <a:p>
            <a:pPr marL="0" indent="0" algn="ctr">
              <a:buNone/>
            </a:pPr>
            <a:r>
              <a:rPr lang="en-US" sz="800" dirty="0">
                <a:solidFill>
                  <a:srgbClr val="111827"/>
                </a:solidFill>
                <a:latin typeface="Meiryo UI" pitchFamily="34" charset="0"/>
                <a:ea typeface="Meiryo UI" pitchFamily="34" charset="-122"/>
                <a:cs typeface="Meiryo UI" pitchFamily="34" charset="-120"/>
              </a:rPr>
              <a:t>e</a:t>
            </a:r>
          </a:p>
          <a:p>
            <a:pPr marL="0" indent="0" algn="ctr">
              <a:buNone/>
            </a:pPr>
            <a:r>
              <a:rPr lang="en-US" sz="800" dirty="0">
                <a:solidFill>
                  <a:srgbClr val="111827"/>
                </a:solidFill>
                <a:latin typeface="Meiryo UI" pitchFamily="34" charset="0"/>
                <a:ea typeface="Meiryo UI" pitchFamily="34" charset="-122"/>
                <a:cs typeface="Meiryo UI" pitchFamily="34" charset="-120"/>
              </a:rPr>
              <a:t>L</a:t>
            </a:r>
          </a:p>
          <a:p>
            <a:pPr marL="0" indent="0" algn="ctr">
              <a:buNone/>
            </a:pPr>
            <a:r>
              <a:rPr lang="en-US" sz="800" dirty="0">
                <a:solidFill>
                  <a:srgbClr val="111827"/>
                </a:solidFill>
                <a:latin typeface="Meiryo UI" pitchFamily="34" charset="0"/>
                <a:ea typeface="Meiryo UI" pitchFamily="34" charset="-122"/>
                <a:cs typeface="Meiryo UI" pitchFamily="34" charset="-120"/>
              </a:rPr>
              <a:t>U</a:t>
            </a:r>
            <a:endParaRPr lang="en-US" sz="800" dirty="0"/>
          </a:p>
        </p:txBody>
      </p:sp>
      <p:sp>
        <p:nvSpPr>
          <p:cNvPr id="44" name="Shape 42">
            <a:extLst>
              <a:ext uri="{FF2B5EF4-FFF2-40B4-BE49-F238E27FC236}">
                <a16:creationId xmlns:a16="http://schemas.microsoft.com/office/drawing/2014/main" id="{99CA3567-B4E2-5E6C-8EE0-45E3C2ACD518}"/>
              </a:ext>
            </a:extLst>
          </p:cNvPr>
          <p:cNvSpPr/>
          <p:nvPr/>
        </p:nvSpPr>
        <p:spPr>
          <a:xfrm>
            <a:off x="4381390" y="4152900"/>
            <a:ext cx="95248"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45" name="Shape 43">
            <a:extLst>
              <a:ext uri="{FF2B5EF4-FFF2-40B4-BE49-F238E27FC236}">
                <a16:creationId xmlns:a16="http://schemas.microsoft.com/office/drawing/2014/main" id="{73AA0F58-AE6C-B9E9-04BE-FCE1F96ABF2C}"/>
              </a:ext>
            </a:extLst>
          </p:cNvPr>
          <p:cNvSpPr/>
          <p:nvPr/>
        </p:nvSpPr>
        <p:spPr>
          <a:xfrm>
            <a:off x="4505212" y="3857625"/>
            <a:ext cx="571486" cy="742950"/>
          </a:xfrm>
          <a:prstGeom prst="rect">
            <a:avLst/>
          </a:prstGeom>
          <a:solidFill>
            <a:srgbClr val="FFFFFF"/>
          </a:solidFill>
          <a:ln w="19050">
            <a:solidFill>
              <a:srgbClr val="176B9A"/>
            </a:solidFill>
            <a:prstDash val="solid"/>
          </a:ln>
        </p:spPr>
        <p:txBody>
          <a:bodyPr/>
          <a:lstStyle/>
          <a:p>
            <a:endParaRPr lang="ja-JP" altLang="en-US"/>
          </a:p>
        </p:txBody>
      </p:sp>
      <p:sp>
        <p:nvSpPr>
          <p:cNvPr id="46" name="Text 44">
            <a:extLst>
              <a:ext uri="{FF2B5EF4-FFF2-40B4-BE49-F238E27FC236}">
                <a16:creationId xmlns:a16="http://schemas.microsoft.com/office/drawing/2014/main" id="{4A095264-B898-B942-B3BC-D5CDE4E21531}"/>
              </a:ext>
            </a:extLst>
          </p:cNvPr>
          <p:cNvSpPr/>
          <p:nvPr/>
        </p:nvSpPr>
        <p:spPr>
          <a:xfrm>
            <a:off x="4532745" y="4117330"/>
            <a:ext cx="516419" cy="223540"/>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MaxPool</a:t>
            </a:r>
            <a:endParaRPr lang="en-US" sz="800" dirty="0"/>
          </a:p>
          <a:p>
            <a:pPr marL="0" indent="0" algn="ctr">
              <a:buNone/>
            </a:pPr>
            <a:r>
              <a:rPr lang="en-US" sz="800" dirty="0">
                <a:solidFill>
                  <a:srgbClr val="111827"/>
                </a:solidFill>
                <a:latin typeface="Meiryo UI" pitchFamily="34" charset="0"/>
                <a:ea typeface="Meiryo UI" pitchFamily="34" charset="-122"/>
                <a:cs typeface="Meiryo UI" pitchFamily="34" charset="-120"/>
              </a:rPr>
              <a:t>3×3,s2</a:t>
            </a:r>
            <a:endParaRPr lang="en-US" sz="800" dirty="0"/>
          </a:p>
        </p:txBody>
      </p:sp>
      <p:sp>
        <p:nvSpPr>
          <p:cNvPr id="47" name="Shape 45">
            <a:extLst>
              <a:ext uri="{FF2B5EF4-FFF2-40B4-BE49-F238E27FC236}">
                <a16:creationId xmlns:a16="http://schemas.microsoft.com/office/drawing/2014/main" id="{0A075176-5215-BC5E-FE20-20AF444214F8}"/>
              </a:ext>
            </a:extLst>
          </p:cNvPr>
          <p:cNvSpPr/>
          <p:nvPr/>
        </p:nvSpPr>
        <p:spPr>
          <a:xfrm>
            <a:off x="5114797" y="4152900"/>
            <a:ext cx="95248"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48" name="Shape 46">
            <a:extLst>
              <a:ext uri="{FF2B5EF4-FFF2-40B4-BE49-F238E27FC236}">
                <a16:creationId xmlns:a16="http://schemas.microsoft.com/office/drawing/2014/main" id="{B1E7FCB0-CEEF-B95E-BBE8-F98FBADCF684}"/>
              </a:ext>
            </a:extLst>
          </p:cNvPr>
          <p:cNvSpPr/>
          <p:nvPr/>
        </p:nvSpPr>
        <p:spPr>
          <a:xfrm>
            <a:off x="5238619" y="3857625"/>
            <a:ext cx="581010" cy="742950"/>
          </a:xfrm>
          <a:prstGeom prst="rect">
            <a:avLst/>
          </a:prstGeom>
          <a:solidFill>
            <a:srgbClr val="EAF4F9"/>
          </a:solidFill>
          <a:ln w="19050">
            <a:solidFill>
              <a:srgbClr val="176B9A"/>
            </a:solidFill>
            <a:prstDash val="solid"/>
          </a:ln>
        </p:spPr>
        <p:txBody>
          <a:bodyPr/>
          <a:lstStyle/>
          <a:p>
            <a:endParaRPr lang="ja-JP" altLang="en-US"/>
          </a:p>
        </p:txBody>
      </p:sp>
      <p:sp>
        <p:nvSpPr>
          <p:cNvPr id="49" name="Text 47">
            <a:extLst>
              <a:ext uri="{FF2B5EF4-FFF2-40B4-BE49-F238E27FC236}">
                <a16:creationId xmlns:a16="http://schemas.microsoft.com/office/drawing/2014/main" id="{F8F54C6F-6F0E-35B1-BC96-FE2055F8737F}"/>
              </a:ext>
            </a:extLst>
          </p:cNvPr>
          <p:cNvSpPr/>
          <p:nvPr/>
        </p:nvSpPr>
        <p:spPr>
          <a:xfrm>
            <a:off x="5277301" y="4126135"/>
            <a:ext cx="549905" cy="223540"/>
          </a:xfrm>
          <a:prstGeom prst="rect">
            <a:avLst/>
          </a:prstGeom>
          <a:noFill/>
          <a:ln/>
        </p:spPr>
        <p:txBody>
          <a:bodyPr wrap="square" lIns="0" tIns="0" rIns="0" bIns="0" rtlCol="0" anchor="t"/>
          <a:lstStyle/>
          <a:p>
            <a:pPr marL="0" indent="0" algn="ctr">
              <a:buNone/>
            </a:pPr>
            <a:r>
              <a:rPr lang="en-US" sz="800" b="1" dirty="0">
                <a:solidFill>
                  <a:srgbClr val="111827"/>
                </a:solidFill>
                <a:latin typeface="Meiryo UI" pitchFamily="34" charset="0"/>
                <a:ea typeface="Meiryo UI" pitchFamily="34" charset="-122"/>
                <a:cs typeface="Meiryo UI" pitchFamily="34" charset="-120"/>
              </a:rPr>
              <a:t>ResNet18</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layer1</a:t>
            </a:r>
            <a:endParaRPr lang="en-US" sz="800" dirty="0"/>
          </a:p>
        </p:txBody>
      </p:sp>
      <p:sp>
        <p:nvSpPr>
          <p:cNvPr id="50" name="Shape 48">
            <a:extLst>
              <a:ext uri="{FF2B5EF4-FFF2-40B4-BE49-F238E27FC236}">
                <a16:creationId xmlns:a16="http://schemas.microsoft.com/office/drawing/2014/main" id="{C1702EEE-A19E-21B4-662E-079BF2D8B94B}"/>
              </a:ext>
            </a:extLst>
          </p:cNvPr>
          <p:cNvSpPr/>
          <p:nvPr/>
        </p:nvSpPr>
        <p:spPr>
          <a:xfrm>
            <a:off x="5857729" y="4152900"/>
            <a:ext cx="95248"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51" name="Shape 49">
            <a:extLst>
              <a:ext uri="{FF2B5EF4-FFF2-40B4-BE49-F238E27FC236}">
                <a16:creationId xmlns:a16="http://schemas.microsoft.com/office/drawing/2014/main" id="{06459AB9-6AA8-0A05-2F3A-3633D4C7D1FC}"/>
              </a:ext>
            </a:extLst>
          </p:cNvPr>
          <p:cNvSpPr/>
          <p:nvPr/>
        </p:nvSpPr>
        <p:spPr>
          <a:xfrm>
            <a:off x="5981550" y="3857625"/>
            <a:ext cx="581010" cy="742950"/>
          </a:xfrm>
          <a:prstGeom prst="rect">
            <a:avLst/>
          </a:prstGeom>
          <a:solidFill>
            <a:srgbClr val="EAF4F9"/>
          </a:solidFill>
          <a:ln w="19050">
            <a:solidFill>
              <a:srgbClr val="176B9A"/>
            </a:solidFill>
            <a:prstDash val="solid"/>
          </a:ln>
        </p:spPr>
        <p:txBody>
          <a:bodyPr/>
          <a:lstStyle/>
          <a:p>
            <a:endParaRPr lang="ja-JP" altLang="en-US"/>
          </a:p>
        </p:txBody>
      </p:sp>
      <p:sp>
        <p:nvSpPr>
          <p:cNvPr id="52" name="Text 50">
            <a:extLst>
              <a:ext uri="{FF2B5EF4-FFF2-40B4-BE49-F238E27FC236}">
                <a16:creationId xmlns:a16="http://schemas.microsoft.com/office/drawing/2014/main" id="{D5E6D8A3-C51F-1B0F-1312-94766ECFB6F3}"/>
              </a:ext>
            </a:extLst>
          </p:cNvPr>
          <p:cNvSpPr/>
          <p:nvPr/>
        </p:nvSpPr>
        <p:spPr>
          <a:xfrm>
            <a:off x="6003132" y="4126135"/>
            <a:ext cx="578478" cy="223540"/>
          </a:xfrm>
          <a:prstGeom prst="rect">
            <a:avLst/>
          </a:prstGeom>
          <a:noFill/>
          <a:ln/>
        </p:spPr>
        <p:txBody>
          <a:bodyPr wrap="square" lIns="0" tIns="0" rIns="0" bIns="0" rtlCol="0" anchor="t"/>
          <a:lstStyle/>
          <a:p>
            <a:pPr marL="0" indent="0" algn="ctr">
              <a:buNone/>
            </a:pPr>
            <a:r>
              <a:rPr lang="en-US" sz="800" b="1" dirty="0">
                <a:solidFill>
                  <a:srgbClr val="111827"/>
                </a:solidFill>
                <a:latin typeface="Meiryo UI" pitchFamily="34" charset="0"/>
                <a:ea typeface="Meiryo UI" pitchFamily="34" charset="-122"/>
                <a:cs typeface="Meiryo UI" pitchFamily="34" charset="-120"/>
              </a:rPr>
              <a:t>ResNet18</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layer2</a:t>
            </a:r>
            <a:endParaRPr lang="en-US" sz="800" dirty="0"/>
          </a:p>
        </p:txBody>
      </p:sp>
      <p:sp>
        <p:nvSpPr>
          <p:cNvPr id="53" name="Shape 51">
            <a:extLst>
              <a:ext uri="{FF2B5EF4-FFF2-40B4-BE49-F238E27FC236}">
                <a16:creationId xmlns:a16="http://schemas.microsoft.com/office/drawing/2014/main" id="{E0DE841A-008D-F752-A9C3-29072D9D01D5}"/>
              </a:ext>
            </a:extLst>
          </p:cNvPr>
          <p:cNvSpPr/>
          <p:nvPr/>
        </p:nvSpPr>
        <p:spPr>
          <a:xfrm>
            <a:off x="6600660" y="4152900"/>
            <a:ext cx="95248"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54" name="Shape 52">
            <a:extLst>
              <a:ext uri="{FF2B5EF4-FFF2-40B4-BE49-F238E27FC236}">
                <a16:creationId xmlns:a16="http://schemas.microsoft.com/office/drawing/2014/main" id="{3F031636-AF41-6DF7-EF40-247111D2F776}"/>
              </a:ext>
            </a:extLst>
          </p:cNvPr>
          <p:cNvSpPr/>
          <p:nvPr/>
        </p:nvSpPr>
        <p:spPr>
          <a:xfrm>
            <a:off x="6724482" y="3857625"/>
            <a:ext cx="581010" cy="742950"/>
          </a:xfrm>
          <a:prstGeom prst="rect">
            <a:avLst/>
          </a:prstGeom>
          <a:solidFill>
            <a:srgbClr val="EAF4F9"/>
          </a:solidFill>
          <a:ln w="19050">
            <a:solidFill>
              <a:srgbClr val="176B9A"/>
            </a:solidFill>
            <a:prstDash val="solid"/>
          </a:ln>
        </p:spPr>
        <p:txBody>
          <a:bodyPr/>
          <a:lstStyle/>
          <a:p>
            <a:endParaRPr lang="ja-JP" altLang="en-US"/>
          </a:p>
        </p:txBody>
      </p:sp>
      <p:sp>
        <p:nvSpPr>
          <p:cNvPr id="55" name="Text 53">
            <a:extLst>
              <a:ext uri="{FF2B5EF4-FFF2-40B4-BE49-F238E27FC236}">
                <a16:creationId xmlns:a16="http://schemas.microsoft.com/office/drawing/2014/main" id="{414B04D3-B049-DF7D-8B9C-752201B3CE4E}"/>
              </a:ext>
            </a:extLst>
          </p:cNvPr>
          <p:cNvSpPr/>
          <p:nvPr/>
        </p:nvSpPr>
        <p:spPr>
          <a:xfrm>
            <a:off x="6754098" y="4117330"/>
            <a:ext cx="521630" cy="223540"/>
          </a:xfrm>
          <a:prstGeom prst="rect">
            <a:avLst/>
          </a:prstGeom>
          <a:noFill/>
          <a:ln/>
        </p:spPr>
        <p:txBody>
          <a:bodyPr wrap="square" lIns="0" tIns="0" rIns="0" bIns="0" rtlCol="0" anchor="t"/>
          <a:lstStyle/>
          <a:p>
            <a:pPr marL="0" indent="0" algn="ctr">
              <a:buNone/>
            </a:pPr>
            <a:r>
              <a:rPr lang="en-US" sz="800" b="1" dirty="0">
                <a:solidFill>
                  <a:srgbClr val="111827"/>
                </a:solidFill>
                <a:latin typeface="Meiryo UI" pitchFamily="34" charset="0"/>
                <a:ea typeface="Meiryo UI" pitchFamily="34" charset="-122"/>
                <a:cs typeface="Meiryo UI" pitchFamily="34" charset="-120"/>
              </a:rPr>
              <a:t>1×1 Conv</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→128</a:t>
            </a:r>
            <a:endParaRPr lang="en-US" sz="800" dirty="0"/>
          </a:p>
        </p:txBody>
      </p:sp>
      <p:sp>
        <p:nvSpPr>
          <p:cNvPr id="56" name="Shape 54">
            <a:extLst>
              <a:ext uri="{FF2B5EF4-FFF2-40B4-BE49-F238E27FC236}">
                <a16:creationId xmlns:a16="http://schemas.microsoft.com/office/drawing/2014/main" id="{CF2017A2-D554-ED4D-ABEA-9C7D37390E84}"/>
              </a:ext>
            </a:extLst>
          </p:cNvPr>
          <p:cNvSpPr/>
          <p:nvPr/>
        </p:nvSpPr>
        <p:spPr>
          <a:xfrm>
            <a:off x="7343591" y="4152900"/>
            <a:ext cx="95248"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57" name="Shape 55">
            <a:extLst>
              <a:ext uri="{FF2B5EF4-FFF2-40B4-BE49-F238E27FC236}">
                <a16:creationId xmlns:a16="http://schemas.microsoft.com/office/drawing/2014/main" id="{EE5E7A92-CA3A-6724-4289-D68284AEA78A}"/>
              </a:ext>
            </a:extLst>
          </p:cNvPr>
          <p:cNvSpPr/>
          <p:nvPr/>
        </p:nvSpPr>
        <p:spPr>
          <a:xfrm>
            <a:off x="7467413" y="3857625"/>
            <a:ext cx="590535" cy="742950"/>
          </a:xfrm>
          <a:prstGeom prst="rect">
            <a:avLst/>
          </a:prstGeom>
          <a:solidFill>
            <a:srgbClr val="FFFFFF"/>
          </a:solidFill>
          <a:ln w="19050">
            <a:solidFill>
              <a:srgbClr val="176B9A"/>
            </a:solidFill>
            <a:prstDash val="solid"/>
          </a:ln>
        </p:spPr>
        <p:txBody>
          <a:bodyPr/>
          <a:lstStyle/>
          <a:p>
            <a:endParaRPr lang="ja-JP" altLang="en-US"/>
          </a:p>
        </p:txBody>
      </p:sp>
      <p:sp>
        <p:nvSpPr>
          <p:cNvPr id="58" name="Text 56">
            <a:extLst>
              <a:ext uri="{FF2B5EF4-FFF2-40B4-BE49-F238E27FC236}">
                <a16:creationId xmlns:a16="http://schemas.microsoft.com/office/drawing/2014/main" id="{6C358844-2693-332C-FAEA-572F943FE401}"/>
              </a:ext>
            </a:extLst>
          </p:cNvPr>
          <p:cNvSpPr/>
          <p:nvPr/>
        </p:nvSpPr>
        <p:spPr>
          <a:xfrm>
            <a:off x="7586026" y="4117330"/>
            <a:ext cx="353160" cy="223540"/>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grid</a:t>
            </a:r>
            <a:endParaRPr lang="en-US" sz="800" dirty="0"/>
          </a:p>
          <a:p>
            <a:pPr marL="0" indent="0" algn="ctr">
              <a:buNone/>
            </a:pPr>
            <a:r>
              <a:rPr lang="en-US" sz="800" dirty="0">
                <a:solidFill>
                  <a:srgbClr val="111827"/>
                </a:solidFill>
                <a:latin typeface="Meiryo UI" pitchFamily="34" charset="0"/>
                <a:ea typeface="Meiryo UI" pitchFamily="34" charset="-122"/>
                <a:cs typeface="Meiryo UI" pitchFamily="34" charset="-120"/>
              </a:rPr>
              <a:t>sample</a:t>
            </a:r>
            <a:endParaRPr lang="en-US" sz="800" dirty="0"/>
          </a:p>
        </p:txBody>
      </p:sp>
      <p:sp>
        <p:nvSpPr>
          <p:cNvPr id="59" name="Text 57">
            <a:extLst>
              <a:ext uri="{FF2B5EF4-FFF2-40B4-BE49-F238E27FC236}">
                <a16:creationId xmlns:a16="http://schemas.microsoft.com/office/drawing/2014/main" id="{E75CD5B1-8EF7-4964-435F-7924DED87AA1}"/>
              </a:ext>
            </a:extLst>
          </p:cNvPr>
          <p:cNvSpPr/>
          <p:nvPr/>
        </p:nvSpPr>
        <p:spPr>
          <a:xfrm>
            <a:off x="2428814" y="4705350"/>
            <a:ext cx="5629134" cy="171450"/>
          </a:xfrm>
          <a:prstGeom prst="rect">
            <a:avLst/>
          </a:prstGeom>
          <a:noFill/>
          <a:ln/>
        </p:spPr>
        <p:txBody>
          <a:bodyPr wrap="square" lIns="0" tIns="0" rIns="0" bIns="0" rtlCol="0" anchor="t"/>
          <a:lstStyle/>
          <a:p>
            <a:pPr marL="0" indent="0" algn="ctr">
              <a:buNone/>
            </a:pPr>
            <a:r>
              <a:rPr lang="en-US" sz="1000" b="1" dirty="0">
                <a:solidFill>
                  <a:srgbClr val="176B9A"/>
                </a:solidFill>
                <a:latin typeface="Meiryo UI" pitchFamily="34" charset="0"/>
                <a:ea typeface="Meiryo UI" pitchFamily="34" charset="-122"/>
                <a:cs typeface="Meiryo UI" pitchFamily="34" charset="-120"/>
              </a:rPr>
              <a:t>特徴map (H/8, W/8) → 各点の128次元画像特徴</a:t>
            </a:r>
            <a:endParaRPr lang="en-US" sz="1000" dirty="0"/>
          </a:p>
        </p:txBody>
      </p:sp>
      <p:sp>
        <p:nvSpPr>
          <p:cNvPr id="60" name="Shape 58">
            <a:extLst>
              <a:ext uri="{FF2B5EF4-FFF2-40B4-BE49-F238E27FC236}">
                <a16:creationId xmlns:a16="http://schemas.microsoft.com/office/drawing/2014/main" id="{A8E5A89B-F21E-56A5-1E90-19AA8F24217A}"/>
              </a:ext>
            </a:extLst>
          </p:cNvPr>
          <p:cNvSpPr/>
          <p:nvPr/>
        </p:nvSpPr>
        <p:spPr>
          <a:xfrm>
            <a:off x="8057949" y="4152900"/>
            <a:ext cx="95248"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61" name="Shape 59">
            <a:extLst>
              <a:ext uri="{FF2B5EF4-FFF2-40B4-BE49-F238E27FC236}">
                <a16:creationId xmlns:a16="http://schemas.microsoft.com/office/drawing/2014/main" id="{8CC60BA7-96D8-77DD-EFB3-5628E3A1B68B}"/>
              </a:ext>
            </a:extLst>
          </p:cNvPr>
          <p:cNvSpPr/>
          <p:nvPr/>
        </p:nvSpPr>
        <p:spPr>
          <a:xfrm>
            <a:off x="8153196" y="1343025"/>
            <a:ext cx="1257269" cy="2628900"/>
          </a:xfrm>
          <a:prstGeom prst="rect">
            <a:avLst/>
          </a:prstGeom>
          <a:solidFill>
            <a:srgbClr val="EAF4F9"/>
          </a:solidFill>
          <a:ln w="28575">
            <a:solidFill>
              <a:srgbClr val="176B9A"/>
            </a:solidFill>
            <a:prstDash val="solid"/>
          </a:ln>
        </p:spPr>
        <p:txBody>
          <a:bodyPr/>
          <a:lstStyle/>
          <a:p>
            <a:endParaRPr lang="ja-JP" altLang="en-US"/>
          </a:p>
        </p:txBody>
      </p:sp>
      <p:sp>
        <p:nvSpPr>
          <p:cNvPr id="62" name="Text 60">
            <a:extLst>
              <a:ext uri="{FF2B5EF4-FFF2-40B4-BE49-F238E27FC236}">
                <a16:creationId xmlns:a16="http://schemas.microsoft.com/office/drawing/2014/main" id="{11E14764-4CD4-5FCF-20B3-9E76DA73BCAE}"/>
              </a:ext>
            </a:extLst>
          </p:cNvPr>
          <p:cNvSpPr/>
          <p:nvPr/>
        </p:nvSpPr>
        <p:spPr>
          <a:xfrm>
            <a:off x="8181770" y="1852017"/>
            <a:ext cx="1200120" cy="1610916"/>
          </a:xfrm>
          <a:prstGeom prst="rect">
            <a:avLst/>
          </a:prstGeom>
          <a:noFill/>
          <a:ln/>
        </p:spPr>
        <p:txBody>
          <a:bodyPr wrap="square" lIns="0" tIns="0" rIns="0" bIns="0" rtlCol="0" anchor="t"/>
          <a:lstStyle/>
          <a:p>
            <a:pPr marL="0" indent="0" algn="ctr">
              <a:buNone/>
            </a:pPr>
            <a:r>
              <a:rPr lang="en-US" sz="1150" b="1" dirty="0">
                <a:solidFill>
                  <a:srgbClr val="111827"/>
                </a:solidFill>
                <a:latin typeface="Meiryo UI" pitchFamily="34" charset="0"/>
                <a:ea typeface="Meiryo UI" pitchFamily="34" charset="-122"/>
                <a:cs typeface="Meiryo UI" pitchFamily="34" charset="-120"/>
              </a:rPr>
              <a:t>特徴連結</a:t>
            </a:r>
            <a:endParaRPr lang="en-US" sz="1150" dirty="0"/>
          </a:p>
          <a:p>
            <a:pPr marL="0" indent="0" algn="ctr">
              <a:buNone/>
            </a:pPr>
            <a:r>
              <a:rPr lang="en-US" sz="1150" b="1" dirty="0">
                <a:solidFill>
                  <a:srgbClr val="111827"/>
                </a:solidFill>
                <a:latin typeface="Meiryo UI" pitchFamily="34" charset="0"/>
                <a:ea typeface="Meiryo UI" pitchFamily="34" charset="-122"/>
                <a:cs typeface="Meiryo UI" pitchFamily="34" charset="-120"/>
              </a:rPr>
              <a:t>Concat</a:t>
            </a:r>
            <a:endParaRPr lang="en-US" sz="1150" dirty="0"/>
          </a:p>
          <a:p>
            <a:pPr marL="0" indent="0" algn="ctr">
              <a:buNone/>
            </a:pPr>
            <a:endParaRPr lang="en-US" sz="1150" dirty="0"/>
          </a:p>
          <a:p>
            <a:pPr marL="0" indent="0" algn="ctr">
              <a:buNone/>
            </a:pPr>
            <a:r>
              <a:rPr lang="en-US" sz="1150" b="1" dirty="0">
                <a:solidFill>
                  <a:srgbClr val="111827"/>
                </a:solidFill>
                <a:latin typeface="Meiryo UI" pitchFamily="34" charset="0"/>
                <a:ea typeface="Meiryo UI" pitchFamily="34" charset="-122"/>
                <a:cs typeface="Meiryo UI" pitchFamily="34" charset="-120"/>
              </a:rPr>
              <a:t>128（LiDAR）</a:t>
            </a:r>
            <a:endParaRPr lang="en-US" sz="1150" dirty="0"/>
          </a:p>
          <a:p>
            <a:pPr marL="0" indent="0" algn="ctr">
              <a:buNone/>
            </a:pPr>
            <a:r>
              <a:rPr lang="en-US" sz="1150" b="1" dirty="0">
                <a:solidFill>
                  <a:srgbClr val="111827"/>
                </a:solidFill>
                <a:latin typeface="Meiryo UI" pitchFamily="34" charset="0"/>
                <a:ea typeface="Meiryo UI" pitchFamily="34" charset="-122"/>
                <a:cs typeface="Meiryo UI" pitchFamily="34" charset="-120"/>
              </a:rPr>
              <a:t>＋128（Image）</a:t>
            </a:r>
            <a:endParaRPr lang="en-US" sz="1150" dirty="0"/>
          </a:p>
          <a:p>
            <a:pPr marL="0" indent="0" algn="ctr">
              <a:buNone/>
            </a:pPr>
            <a:r>
              <a:rPr lang="en-US" sz="1150" b="1" dirty="0">
                <a:solidFill>
                  <a:srgbClr val="111827"/>
                </a:solidFill>
                <a:latin typeface="Meiryo UI" pitchFamily="34" charset="0"/>
                <a:ea typeface="Meiryo UI" pitchFamily="34" charset="-122"/>
                <a:cs typeface="Meiryo UI" pitchFamily="34" charset="-120"/>
              </a:rPr>
              <a:t>＋1（valid）</a:t>
            </a:r>
            <a:endParaRPr lang="en-US" sz="1150" dirty="0"/>
          </a:p>
          <a:p>
            <a:pPr marL="0" indent="0" algn="ctr">
              <a:buNone/>
            </a:pPr>
            <a:r>
              <a:rPr lang="en-US" sz="1150" b="1" dirty="0">
                <a:solidFill>
                  <a:srgbClr val="111827"/>
                </a:solidFill>
                <a:latin typeface="Meiryo UI" pitchFamily="34" charset="0"/>
                <a:ea typeface="Meiryo UI" pitchFamily="34" charset="-122"/>
                <a:cs typeface="Meiryo UI" pitchFamily="34" charset="-120"/>
              </a:rPr>
              <a:t>＝257次元</a:t>
            </a:r>
            <a:endParaRPr lang="en-US" sz="1150" dirty="0"/>
          </a:p>
        </p:txBody>
      </p:sp>
      <p:sp>
        <p:nvSpPr>
          <p:cNvPr id="63" name="Text 61">
            <a:extLst>
              <a:ext uri="{FF2B5EF4-FFF2-40B4-BE49-F238E27FC236}">
                <a16:creationId xmlns:a16="http://schemas.microsoft.com/office/drawing/2014/main" id="{E8E3F711-0294-AC74-65D0-2A749B7584F1}"/>
              </a:ext>
            </a:extLst>
          </p:cNvPr>
          <p:cNvSpPr/>
          <p:nvPr/>
        </p:nvSpPr>
        <p:spPr>
          <a:xfrm>
            <a:off x="8096048" y="4057650"/>
            <a:ext cx="1371566" cy="404515"/>
          </a:xfrm>
          <a:prstGeom prst="rect">
            <a:avLst/>
          </a:prstGeom>
          <a:noFill/>
          <a:ln/>
        </p:spPr>
        <p:txBody>
          <a:bodyPr wrap="square" lIns="0" tIns="0" rIns="0" bIns="0" rtlCol="0" anchor="t"/>
          <a:lstStyle/>
          <a:p>
            <a:pPr marL="0" indent="0" algn="ctr">
              <a:buNone/>
            </a:pPr>
            <a:r>
              <a:rPr lang="en-US" sz="850" dirty="0">
                <a:solidFill>
                  <a:srgbClr val="52606D"/>
                </a:solidFill>
                <a:latin typeface="Meiryo UI" pitchFamily="34" charset="0"/>
                <a:ea typeface="Meiryo UI" pitchFamily="34" charset="-122"/>
                <a:cs typeface="Meiryo UI" pitchFamily="34" charset="-120"/>
              </a:rPr>
              <a:t>画像外・遮蔽点は</a:t>
            </a:r>
            <a:endParaRPr lang="en-US" sz="850" dirty="0"/>
          </a:p>
          <a:p>
            <a:pPr marL="0" indent="0" algn="ctr">
              <a:buNone/>
            </a:pPr>
            <a:r>
              <a:rPr lang="en-US" sz="850" dirty="0">
                <a:solidFill>
                  <a:srgbClr val="52606D"/>
                </a:solidFill>
                <a:latin typeface="Meiryo UI" pitchFamily="34" charset="0"/>
                <a:ea typeface="Meiryo UI" pitchFamily="34" charset="-122"/>
                <a:cs typeface="Meiryo UI" pitchFamily="34" charset="-120"/>
              </a:rPr>
              <a:t>画像特徴＝0</a:t>
            </a:r>
            <a:endParaRPr lang="en-US" sz="850" dirty="0"/>
          </a:p>
          <a:p>
            <a:pPr marL="0" indent="0" algn="ctr">
              <a:buNone/>
            </a:pPr>
            <a:r>
              <a:rPr lang="en-US" sz="850" dirty="0">
                <a:solidFill>
                  <a:srgbClr val="52606D"/>
                </a:solidFill>
                <a:latin typeface="Meiryo UI" pitchFamily="34" charset="0"/>
                <a:ea typeface="Meiryo UI" pitchFamily="34" charset="-122"/>
                <a:cs typeface="Meiryo UI" pitchFamily="34" charset="-120"/>
              </a:rPr>
              <a:t>valid＝0</a:t>
            </a:r>
            <a:endParaRPr lang="en-US" sz="850" dirty="0"/>
          </a:p>
        </p:txBody>
      </p:sp>
      <p:sp>
        <p:nvSpPr>
          <p:cNvPr id="64" name="Shape 62">
            <a:extLst>
              <a:ext uri="{FF2B5EF4-FFF2-40B4-BE49-F238E27FC236}">
                <a16:creationId xmlns:a16="http://schemas.microsoft.com/office/drawing/2014/main" id="{04B14FAC-AC56-8A58-8920-E7F016F790D3}"/>
              </a:ext>
            </a:extLst>
          </p:cNvPr>
          <p:cNvSpPr/>
          <p:nvPr/>
        </p:nvSpPr>
        <p:spPr>
          <a:xfrm>
            <a:off x="9639059" y="1038225"/>
            <a:ext cx="1695408" cy="285750"/>
          </a:xfrm>
          <a:prstGeom prst="rect">
            <a:avLst/>
          </a:prstGeom>
          <a:solidFill>
            <a:srgbClr val="D97706"/>
          </a:solidFill>
          <a:ln w="12700">
            <a:solidFill>
              <a:srgbClr val="FFFFFF">
                <a:alpha val="0"/>
              </a:srgbClr>
            </a:solidFill>
            <a:prstDash val="solid"/>
          </a:ln>
        </p:spPr>
        <p:txBody>
          <a:bodyPr/>
          <a:lstStyle/>
          <a:p>
            <a:endParaRPr lang="ja-JP" altLang="en-US"/>
          </a:p>
        </p:txBody>
      </p:sp>
      <p:sp>
        <p:nvSpPr>
          <p:cNvPr id="65" name="Text 63">
            <a:extLst>
              <a:ext uri="{FF2B5EF4-FFF2-40B4-BE49-F238E27FC236}">
                <a16:creationId xmlns:a16="http://schemas.microsoft.com/office/drawing/2014/main" id="{B80F6E19-AD11-D736-49BB-D100DB068F95}"/>
              </a:ext>
            </a:extLst>
          </p:cNvPr>
          <p:cNvSpPr/>
          <p:nvPr/>
        </p:nvSpPr>
        <p:spPr>
          <a:xfrm>
            <a:off x="10134198" y="1090613"/>
            <a:ext cx="704981" cy="180975"/>
          </a:xfrm>
          <a:prstGeom prst="rect">
            <a:avLst/>
          </a:prstGeom>
          <a:noFill/>
          <a:ln/>
        </p:spPr>
        <p:txBody>
          <a:bodyPr wrap="square" lIns="0" tIns="0" rIns="0" bIns="0" rtlCol="0" anchor="t"/>
          <a:lstStyle/>
          <a:p>
            <a:pPr marL="0" indent="0" algn="l">
              <a:buNone/>
            </a:pPr>
            <a:r>
              <a:rPr lang="en-US" sz="1150" b="1" dirty="0">
                <a:solidFill>
                  <a:srgbClr val="FFFFFF"/>
                </a:solidFill>
                <a:latin typeface="Meiryo UI" pitchFamily="34" charset="0"/>
                <a:ea typeface="Meiryo UI" pitchFamily="34" charset="-122"/>
                <a:cs typeface="Meiryo UI" pitchFamily="34" charset="-120"/>
              </a:rPr>
              <a:t>Classifier</a:t>
            </a:r>
            <a:endParaRPr lang="en-US" sz="1150" dirty="0"/>
          </a:p>
        </p:txBody>
      </p:sp>
      <p:sp>
        <p:nvSpPr>
          <p:cNvPr id="66" name="Shape 64">
            <a:extLst>
              <a:ext uri="{FF2B5EF4-FFF2-40B4-BE49-F238E27FC236}">
                <a16:creationId xmlns:a16="http://schemas.microsoft.com/office/drawing/2014/main" id="{F97885E5-D0EC-BF62-493E-1F30BC0C6C85}"/>
              </a:ext>
            </a:extLst>
          </p:cNvPr>
          <p:cNvSpPr/>
          <p:nvPr/>
        </p:nvSpPr>
        <p:spPr>
          <a:xfrm>
            <a:off x="9429514" y="2219325"/>
            <a:ext cx="171446" cy="152400"/>
          </a:xfrm>
          <a:prstGeom prst="rect">
            <a:avLst/>
          </a:prstGeom>
          <a:solidFill>
            <a:srgbClr val="D97706"/>
          </a:solidFill>
          <a:ln w="12700">
            <a:solidFill>
              <a:srgbClr val="FFFFFF">
                <a:alpha val="0"/>
              </a:srgbClr>
            </a:solidFill>
            <a:prstDash val="solid"/>
          </a:ln>
        </p:spPr>
        <p:txBody>
          <a:bodyPr/>
          <a:lstStyle/>
          <a:p>
            <a:endParaRPr lang="ja-JP" altLang="en-US"/>
          </a:p>
        </p:txBody>
      </p:sp>
      <p:sp>
        <p:nvSpPr>
          <p:cNvPr id="67" name="Shape 65">
            <a:extLst>
              <a:ext uri="{FF2B5EF4-FFF2-40B4-BE49-F238E27FC236}">
                <a16:creationId xmlns:a16="http://schemas.microsoft.com/office/drawing/2014/main" id="{0F6E7C7C-A14C-5A2A-7CA5-DCBFBC8AE8DA}"/>
              </a:ext>
            </a:extLst>
          </p:cNvPr>
          <p:cNvSpPr/>
          <p:nvPr/>
        </p:nvSpPr>
        <p:spPr>
          <a:xfrm>
            <a:off x="9639059" y="1562100"/>
            <a:ext cx="295268" cy="1485900"/>
          </a:xfrm>
          <a:prstGeom prst="rect">
            <a:avLst/>
          </a:prstGeom>
          <a:solidFill>
            <a:srgbClr val="FFF4E5"/>
          </a:solidFill>
          <a:ln w="19050">
            <a:solidFill>
              <a:srgbClr val="D97706"/>
            </a:solidFill>
            <a:prstDash val="solid"/>
          </a:ln>
        </p:spPr>
        <p:txBody>
          <a:bodyPr/>
          <a:lstStyle/>
          <a:p>
            <a:endParaRPr lang="ja-JP" altLang="en-US"/>
          </a:p>
        </p:txBody>
      </p:sp>
      <p:sp>
        <p:nvSpPr>
          <p:cNvPr id="68" name="Text 66">
            <a:extLst>
              <a:ext uri="{FF2B5EF4-FFF2-40B4-BE49-F238E27FC236}">
                <a16:creationId xmlns:a16="http://schemas.microsoft.com/office/drawing/2014/main" id="{E642C405-12D9-2EE6-25B7-4B8A8AA7B116}"/>
              </a:ext>
            </a:extLst>
          </p:cNvPr>
          <p:cNvSpPr/>
          <p:nvPr/>
        </p:nvSpPr>
        <p:spPr>
          <a:xfrm>
            <a:off x="9683558" y="2025551"/>
            <a:ext cx="206271" cy="558850"/>
          </a:xfrm>
          <a:prstGeom prst="rect">
            <a:avLst/>
          </a:prstGeom>
          <a:noFill/>
          <a:ln/>
        </p:spPr>
        <p:txBody>
          <a:bodyPr wrap="square" lIns="0" tIns="0" rIns="0" bIns="0" rtlCol="0" anchor="t"/>
          <a:lstStyle/>
          <a:p>
            <a:pPr marL="0" indent="0" algn="ctr">
              <a:buNone/>
            </a:pPr>
            <a:r>
              <a:rPr lang="en-US" sz="800" b="1" dirty="0">
                <a:solidFill>
                  <a:srgbClr val="111827"/>
                </a:solidFill>
                <a:latin typeface="Meiryo UI" pitchFamily="34" charset="0"/>
                <a:ea typeface="Meiryo UI" pitchFamily="34" charset="-122"/>
                <a:cs typeface="Meiryo UI" pitchFamily="34" charset="-120"/>
              </a:rPr>
              <a:t>Lin</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ear</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257</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128</a:t>
            </a:r>
            <a:endParaRPr lang="en-US" sz="800" dirty="0"/>
          </a:p>
        </p:txBody>
      </p:sp>
      <p:sp>
        <p:nvSpPr>
          <p:cNvPr id="69" name="Shape 67">
            <a:extLst>
              <a:ext uri="{FF2B5EF4-FFF2-40B4-BE49-F238E27FC236}">
                <a16:creationId xmlns:a16="http://schemas.microsoft.com/office/drawing/2014/main" id="{3578D84D-45B1-B832-FEEE-AE2C2E2656FF}"/>
              </a:ext>
            </a:extLst>
          </p:cNvPr>
          <p:cNvSpPr/>
          <p:nvPr/>
        </p:nvSpPr>
        <p:spPr>
          <a:xfrm>
            <a:off x="9953376" y="2228850"/>
            <a:ext cx="66673" cy="152400"/>
          </a:xfrm>
          <a:prstGeom prst="rect">
            <a:avLst/>
          </a:prstGeom>
          <a:solidFill>
            <a:srgbClr val="D97706"/>
          </a:solidFill>
          <a:ln w="12700">
            <a:solidFill>
              <a:srgbClr val="FFFFFF">
                <a:alpha val="0"/>
              </a:srgbClr>
            </a:solidFill>
            <a:prstDash val="solid"/>
          </a:ln>
        </p:spPr>
        <p:txBody>
          <a:bodyPr/>
          <a:lstStyle/>
          <a:p>
            <a:endParaRPr lang="ja-JP" altLang="en-US"/>
          </a:p>
        </p:txBody>
      </p:sp>
      <p:sp>
        <p:nvSpPr>
          <p:cNvPr id="70" name="Shape 68">
            <a:extLst>
              <a:ext uri="{FF2B5EF4-FFF2-40B4-BE49-F238E27FC236}">
                <a16:creationId xmlns:a16="http://schemas.microsoft.com/office/drawing/2014/main" id="{54FF35CE-FE20-239B-D839-A18B8399C374}"/>
              </a:ext>
            </a:extLst>
          </p:cNvPr>
          <p:cNvSpPr/>
          <p:nvPr/>
        </p:nvSpPr>
        <p:spPr>
          <a:xfrm>
            <a:off x="10039099" y="1562100"/>
            <a:ext cx="295268" cy="1485900"/>
          </a:xfrm>
          <a:prstGeom prst="rect">
            <a:avLst/>
          </a:prstGeom>
          <a:solidFill>
            <a:srgbClr val="FFFFFF"/>
          </a:solidFill>
          <a:ln w="19050">
            <a:solidFill>
              <a:srgbClr val="176B9A"/>
            </a:solidFill>
            <a:prstDash val="solid"/>
          </a:ln>
        </p:spPr>
        <p:txBody>
          <a:bodyPr/>
          <a:lstStyle/>
          <a:p>
            <a:endParaRPr lang="ja-JP" altLang="en-US"/>
          </a:p>
        </p:txBody>
      </p:sp>
      <p:sp>
        <p:nvSpPr>
          <p:cNvPr id="71" name="Text 69">
            <a:extLst>
              <a:ext uri="{FF2B5EF4-FFF2-40B4-BE49-F238E27FC236}">
                <a16:creationId xmlns:a16="http://schemas.microsoft.com/office/drawing/2014/main" id="{594E57A8-3BA5-D4D2-904B-098D65EA1809}"/>
              </a:ext>
            </a:extLst>
          </p:cNvPr>
          <p:cNvSpPr/>
          <p:nvPr/>
        </p:nvSpPr>
        <p:spPr>
          <a:xfrm>
            <a:off x="10120804" y="2249091"/>
            <a:ext cx="131858" cy="111770"/>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LN</a:t>
            </a:r>
            <a:endParaRPr lang="en-US" sz="800" dirty="0"/>
          </a:p>
        </p:txBody>
      </p:sp>
      <p:sp>
        <p:nvSpPr>
          <p:cNvPr id="72" name="Shape 70">
            <a:extLst>
              <a:ext uri="{FF2B5EF4-FFF2-40B4-BE49-F238E27FC236}">
                <a16:creationId xmlns:a16="http://schemas.microsoft.com/office/drawing/2014/main" id="{4EA7888B-12D6-0056-0002-70CFDFE22E05}"/>
              </a:ext>
            </a:extLst>
          </p:cNvPr>
          <p:cNvSpPr/>
          <p:nvPr/>
        </p:nvSpPr>
        <p:spPr>
          <a:xfrm>
            <a:off x="10353416" y="2228850"/>
            <a:ext cx="66673"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73" name="Shape 71">
            <a:extLst>
              <a:ext uri="{FF2B5EF4-FFF2-40B4-BE49-F238E27FC236}">
                <a16:creationId xmlns:a16="http://schemas.microsoft.com/office/drawing/2014/main" id="{7044186B-D67A-D558-E1AC-9D391E447836}"/>
              </a:ext>
            </a:extLst>
          </p:cNvPr>
          <p:cNvSpPr/>
          <p:nvPr/>
        </p:nvSpPr>
        <p:spPr>
          <a:xfrm>
            <a:off x="10439139" y="1562100"/>
            <a:ext cx="295268" cy="1485900"/>
          </a:xfrm>
          <a:prstGeom prst="rect">
            <a:avLst/>
          </a:prstGeom>
          <a:solidFill>
            <a:srgbClr val="FFFFFF"/>
          </a:solidFill>
          <a:ln w="19050">
            <a:solidFill>
              <a:srgbClr val="176B9A"/>
            </a:solidFill>
            <a:prstDash val="solid"/>
          </a:ln>
        </p:spPr>
        <p:txBody>
          <a:bodyPr/>
          <a:lstStyle/>
          <a:p>
            <a:endParaRPr lang="ja-JP" altLang="en-US"/>
          </a:p>
        </p:txBody>
      </p:sp>
      <p:sp>
        <p:nvSpPr>
          <p:cNvPr id="74" name="Text 72">
            <a:extLst>
              <a:ext uri="{FF2B5EF4-FFF2-40B4-BE49-F238E27FC236}">
                <a16:creationId xmlns:a16="http://schemas.microsoft.com/office/drawing/2014/main" id="{BF4B21F7-5842-12BC-1D2F-A725A6C93B72}"/>
              </a:ext>
            </a:extLst>
          </p:cNvPr>
          <p:cNvSpPr/>
          <p:nvPr/>
        </p:nvSpPr>
        <p:spPr>
          <a:xfrm>
            <a:off x="10458189" y="2193280"/>
            <a:ext cx="257169" cy="223540"/>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G</a:t>
            </a:r>
          </a:p>
          <a:p>
            <a:pPr marL="0" indent="0" algn="ctr">
              <a:buNone/>
            </a:pPr>
            <a:r>
              <a:rPr lang="en-US" sz="800" dirty="0">
                <a:solidFill>
                  <a:srgbClr val="111827"/>
                </a:solidFill>
                <a:latin typeface="Meiryo UI" pitchFamily="34" charset="0"/>
                <a:ea typeface="Meiryo UI" pitchFamily="34" charset="-122"/>
                <a:cs typeface="Meiryo UI" pitchFamily="34" charset="-120"/>
              </a:rPr>
              <a:t>E</a:t>
            </a:r>
          </a:p>
          <a:p>
            <a:pPr marL="0" indent="0" algn="ctr">
              <a:buNone/>
            </a:pPr>
            <a:r>
              <a:rPr lang="en-US" sz="800" dirty="0">
                <a:solidFill>
                  <a:srgbClr val="111827"/>
                </a:solidFill>
                <a:latin typeface="Meiryo UI" pitchFamily="34" charset="0"/>
                <a:ea typeface="Meiryo UI" pitchFamily="34" charset="-122"/>
                <a:cs typeface="Meiryo UI" pitchFamily="34" charset="-120"/>
              </a:rPr>
              <a:t>L</a:t>
            </a:r>
          </a:p>
          <a:p>
            <a:pPr marL="0" indent="0" algn="ctr">
              <a:buNone/>
            </a:pPr>
            <a:r>
              <a:rPr lang="en-US" sz="800" dirty="0">
                <a:solidFill>
                  <a:srgbClr val="111827"/>
                </a:solidFill>
                <a:latin typeface="Meiryo UI" pitchFamily="34" charset="0"/>
                <a:ea typeface="Meiryo UI" pitchFamily="34" charset="-122"/>
                <a:cs typeface="Meiryo UI" pitchFamily="34" charset="-120"/>
              </a:rPr>
              <a:t>U</a:t>
            </a:r>
            <a:endParaRPr lang="en-US" sz="800" dirty="0"/>
          </a:p>
        </p:txBody>
      </p:sp>
      <p:sp>
        <p:nvSpPr>
          <p:cNvPr id="75" name="Shape 73">
            <a:extLst>
              <a:ext uri="{FF2B5EF4-FFF2-40B4-BE49-F238E27FC236}">
                <a16:creationId xmlns:a16="http://schemas.microsoft.com/office/drawing/2014/main" id="{DBDC6D3E-A570-F5F1-2A66-584C3071EC71}"/>
              </a:ext>
            </a:extLst>
          </p:cNvPr>
          <p:cNvSpPr/>
          <p:nvPr/>
        </p:nvSpPr>
        <p:spPr>
          <a:xfrm>
            <a:off x="10753456" y="2228850"/>
            <a:ext cx="66673" cy="152400"/>
          </a:xfrm>
          <a:prstGeom prst="rect">
            <a:avLst/>
          </a:prstGeom>
          <a:solidFill>
            <a:srgbClr val="176B9A"/>
          </a:solidFill>
          <a:ln w="12700">
            <a:solidFill>
              <a:srgbClr val="FFFFFF">
                <a:alpha val="0"/>
              </a:srgbClr>
            </a:solidFill>
            <a:prstDash val="solid"/>
          </a:ln>
        </p:spPr>
        <p:txBody>
          <a:bodyPr/>
          <a:lstStyle/>
          <a:p>
            <a:endParaRPr lang="ja-JP" altLang="en-US"/>
          </a:p>
        </p:txBody>
      </p:sp>
      <p:sp>
        <p:nvSpPr>
          <p:cNvPr id="76" name="Shape 74">
            <a:extLst>
              <a:ext uri="{FF2B5EF4-FFF2-40B4-BE49-F238E27FC236}">
                <a16:creationId xmlns:a16="http://schemas.microsoft.com/office/drawing/2014/main" id="{258BEABA-3B04-5E48-2514-5A0DED666A76}"/>
              </a:ext>
            </a:extLst>
          </p:cNvPr>
          <p:cNvSpPr/>
          <p:nvPr/>
        </p:nvSpPr>
        <p:spPr>
          <a:xfrm>
            <a:off x="10839179" y="1562100"/>
            <a:ext cx="295268" cy="1485900"/>
          </a:xfrm>
          <a:prstGeom prst="rect">
            <a:avLst/>
          </a:prstGeom>
          <a:solidFill>
            <a:srgbClr val="FFFFFF"/>
          </a:solidFill>
          <a:ln w="19050">
            <a:solidFill>
              <a:srgbClr val="176B9A"/>
            </a:solidFill>
            <a:prstDash val="solid"/>
          </a:ln>
        </p:spPr>
        <p:txBody>
          <a:bodyPr/>
          <a:lstStyle/>
          <a:p>
            <a:endParaRPr lang="ja-JP" altLang="en-US"/>
          </a:p>
        </p:txBody>
      </p:sp>
      <p:sp>
        <p:nvSpPr>
          <p:cNvPr id="77" name="Text 75">
            <a:extLst>
              <a:ext uri="{FF2B5EF4-FFF2-40B4-BE49-F238E27FC236}">
                <a16:creationId xmlns:a16="http://schemas.microsoft.com/office/drawing/2014/main" id="{992FB5EB-3000-4150-ABDE-C3753332F8D7}"/>
              </a:ext>
            </a:extLst>
          </p:cNvPr>
          <p:cNvSpPr/>
          <p:nvPr/>
        </p:nvSpPr>
        <p:spPr>
          <a:xfrm>
            <a:off x="10866712" y="2193280"/>
            <a:ext cx="240054" cy="223540"/>
          </a:xfrm>
          <a:prstGeom prst="rect">
            <a:avLst/>
          </a:prstGeom>
          <a:noFill/>
          <a:ln/>
        </p:spPr>
        <p:txBody>
          <a:bodyPr wrap="square" lIns="0" tIns="0" rIns="0" bIns="0" rtlCol="0" anchor="t"/>
          <a:lstStyle/>
          <a:p>
            <a:pPr marL="0" indent="0" algn="ctr">
              <a:buNone/>
            </a:pPr>
            <a:r>
              <a:rPr lang="en-US" sz="800" dirty="0">
                <a:solidFill>
                  <a:srgbClr val="111827"/>
                </a:solidFill>
                <a:latin typeface="Meiryo UI" pitchFamily="34" charset="0"/>
                <a:ea typeface="Meiryo UI" pitchFamily="34" charset="-122"/>
                <a:cs typeface="Meiryo UI" pitchFamily="34" charset="-120"/>
              </a:rPr>
              <a:t>Drop</a:t>
            </a:r>
            <a:endParaRPr lang="en-US" sz="800" dirty="0"/>
          </a:p>
          <a:p>
            <a:pPr marL="0" indent="0" algn="ctr">
              <a:buNone/>
            </a:pPr>
            <a:r>
              <a:rPr lang="en-US" sz="800" dirty="0">
                <a:solidFill>
                  <a:srgbClr val="111827"/>
                </a:solidFill>
                <a:latin typeface="Meiryo UI" pitchFamily="34" charset="0"/>
                <a:ea typeface="Meiryo UI" pitchFamily="34" charset="-122"/>
                <a:cs typeface="Meiryo UI" pitchFamily="34" charset="-120"/>
              </a:rPr>
              <a:t>0.1</a:t>
            </a:r>
            <a:endParaRPr lang="en-US" sz="800" dirty="0"/>
          </a:p>
        </p:txBody>
      </p:sp>
      <p:sp>
        <p:nvSpPr>
          <p:cNvPr id="78" name="Shape 76">
            <a:extLst>
              <a:ext uri="{FF2B5EF4-FFF2-40B4-BE49-F238E27FC236}">
                <a16:creationId xmlns:a16="http://schemas.microsoft.com/office/drawing/2014/main" id="{1F455E60-E93E-F111-C1DD-4EE6D66F4BB0}"/>
              </a:ext>
            </a:extLst>
          </p:cNvPr>
          <p:cNvSpPr/>
          <p:nvPr/>
        </p:nvSpPr>
        <p:spPr>
          <a:xfrm>
            <a:off x="11153496" y="2228850"/>
            <a:ext cx="66673" cy="152400"/>
          </a:xfrm>
          <a:prstGeom prst="rect">
            <a:avLst/>
          </a:prstGeom>
          <a:solidFill>
            <a:srgbClr val="D97706"/>
          </a:solidFill>
          <a:ln w="12700">
            <a:solidFill>
              <a:srgbClr val="FFFFFF">
                <a:alpha val="0"/>
              </a:srgbClr>
            </a:solidFill>
            <a:prstDash val="solid"/>
          </a:ln>
        </p:spPr>
        <p:txBody>
          <a:bodyPr/>
          <a:lstStyle/>
          <a:p>
            <a:endParaRPr lang="ja-JP" altLang="en-US"/>
          </a:p>
        </p:txBody>
      </p:sp>
      <p:sp>
        <p:nvSpPr>
          <p:cNvPr id="79" name="Shape 77">
            <a:extLst>
              <a:ext uri="{FF2B5EF4-FFF2-40B4-BE49-F238E27FC236}">
                <a16:creationId xmlns:a16="http://schemas.microsoft.com/office/drawing/2014/main" id="{4F8225CD-5A3B-E4A7-D534-B5F1874FAEDD}"/>
              </a:ext>
            </a:extLst>
          </p:cNvPr>
          <p:cNvSpPr/>
          <p:nvPr/>
        </p:nvSpPr>
        <p:spPr>
          <a:xfrm>
            <a:off x="11239219" y="1562100"/>
            <a:ext cx="295268" cy="1485900"/>
          </a:xfrm>
          <a:prstGeom prst="rect">
            <a:avLst/>
          </a:prstGeom>
          <a:solidFill>
            <a:srgbClr val="FFF4E5"/>
          </a:solidFill>
          <a:ln w="19050">
            <a:solidFill>
              <a:srgbClr val="D97706"/>
            </a:solidFill>
            <a:prstDash val="solid"/>
          </a:ln>
        </p:spPr>
        <p:txBody>
          <a:bodyPr/>
          <a:lstStyle/>
          <a:p>
            <a:endParaRPr lang="ja-JP" altLang="en-US"/>
          </a:p>
        </p:txBody>
      </p:sp>
      <p:sp>
        <p:nvSpPr>
          <p:cNvPr id="80" name="Text 78">
            <a:extLst>
              <a:ext uri="{FF2B5EF4-FFF2-40B4-BE49-F238E27FC236}">
                <a16:creationId xmlns:a16="http://schemas.microsoft.com/office/drawing/2014/main" id="{0AA1A3F9-9C06-719C-C1BC-6F2844931B29}"/>
              </a:ext>
            </a:extLst>
          </p:cNvPr>
          <p:cNvSpPr/>
          <p:nvPr/>
        </p:nvSpPr>
        <p:spPr>
          <a:xfrm>
            <a:off x="11283718" y="2025551"/>
            <a:ext cx="206271" cy="558850"/>
          </a:xfrm>
          <a:prstGeom prst="rect">
            <a:avLst/>
          </a:prstGeom>
          <a:noFill/>
          <a:ln/>
        </p:spPr>
        <p:txBody>
          <a:bodyPr wrap="square" lIns="0" tIns="0" rIns="0" bIns="0" rtlCol="0" anchor="t"/>
          <a:lstStyle/>
          <a:p>
            <a:pPr marL="0" indent="0" algn="ctr">
              <a:buNone/>
            </a:pPr>
            <a:r>
              <a:rPr lang="en-US" sz="800" b="1" dirty="0">
                <a:solidFill>
                  <a:srgbClr val="111827"/>
                </a:solidFill>
                <a:latin typeface="Meiryo UI" pitchFamily="34" charset="0"/>
                <a:ea typeface="Meiryo UI" pitchFamily="34" charset="-122"/>
                <a:cs typeface="Meiryo UI" pitchFamily="34" charset="-120"/>
              </a:rPr>
              <a:t>Lin</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ear</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128</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a:t>
            </a:r>
            <a:endParaRPr lang="en-US" sz="800" dirty="0"/>
          </a:p>
          <a:p>
            <a:pPr marL="0" indent="0" algn="ctr">
              <a:buNone/>
            </a:pPr>
            <a:r>
              <a:rPr lang="en-US" sz="800" b="1" dirty="0">
                <a:solidFill>
                  <a:srgbClr val="111827"/>
                </a:solidFill>
                <a:latin typeface="Meiryo UI" pitchFamily="34" charset="0"/>
                <a:ea typeface="Meiryo UI" pitchFamily="34" charset="-122"/>
                <a:cs typeface="Meiryo UI" pitchFamily="34" charset="-120"/>
              </a:rPr>
              <a:t>6</a:t>
            </a:r>
            <a:endParaRPr lang="en-US" sz="800" dirty="0"/>
          </a:p>
        </p:txBody>
      </p:sp>
      <p:sp>
        <p:nvSpPr>
          <p:cNvPr id="81" name="Shape 79">
            <a:extLst>
              <a:ext uri="{FF2B5EF4-FFF2-40B4-BE49-F238E27FC236}">
                <a16:creationId xmlns:a16="http://schemas.microsoft.com/office/drawing/2014/main" id="{B6E62E03-6370-98B2-36CA-20A54C970685}"/>
              </a:ext>
            </a:extLst>
          </p:cNvPr>
          <p:cNvSpPr/>
          <p:nvPr/>
        </p:nvSpPr>
        <p:spPr>
          <a:xfrm>
            <a:off x="9753356" y="3276600"/>
            <a:ext cx="1466813" cy="514350"/>
          </a:xfrm>
          <a:prstGeom prst="rect">
            <a:avLst/>
          </a:prstGeom>
          <a:solidFill>
            <a:srgbClr val="FFF4E5"/>
          </a:solidFill>
          <a:ln w="19050">
            <a:solidFill>
              <a:srgbClr val="D97706"/>
            </a:solidFill>
            <a:prstDash val="solid"/>
          </a:ln>
        </p:spPr>
        <p:txBody>
          <a:bodyPr/>
          <a:lstStyle/>
          <a:p>
            <a:endParaRPr lang="ja-JP" altLang="en-US"/>
          </a:p>
        </p:txBody>
      </p:sp>
      <p:sp>
        <p:nvSpPr>
          <p:cNvPr id="82" name="Text 80">
            <a:extLst>
              <a:ext uri="{FF2B5EF4-FFF2-40B4-BE49-F238E27FC236}">
                <a16:creationId xmlns:a16="http://schemas.microsoft.com/office/drawing/2014/main" id="{9E4FE944-2093-D8C6-3134-26BF0F7258D3}"/>
              </a:ext>
            </a:extLst>
          </p:cNvPr>
          <p:cNvSpPr/>
          <p:nvPr/>
        </p:nvSpPr>
        <p:spPr>
          <a:xfrm>
            <a:off x="10085086" y="3371850"/>
            <a:ext cx="803205" cy="323850"/>
          </a:xfrm>
          <a:prstGeom prst="rect">
            <a:avLst/>
          </a:prstGeom>
          <a:noFill/>
          <a:ln/>
        </p:spPr>
        <p:txBody>
          <a:bodyPr wrap="square" lIns="0" tIns="0" rIns="0" bIns="0" rtlCol="0" anchor="t"/>
          <a:lstStyle/>
          <a:p>
            <a:pPr marL="0" indent="0" algn="ctr">
              <a:buNone/>
            </a:pPr>
            <a:r>
              <a:rPr lang="en-US" sz="1000" b="1" dirty="0">
                <a:solidFill>
                  <a:srgbClr val="111827"/>
                </a:solidFill>
                <a:latin typeface="Meiryo UI" pitchFamily="34" charset="0"/>
                <a:ea typeface="Meiryo UI" pitchFamily="34" charset="-122"/>
                <a:cs typeface="Meiryo UI" pitchFamily="34" charset="-120"/>
              </a:rPr>
              <a:t>6クラス logits</a:t>
            </a:r>
            <a:endParaRPr lang="en-US" sz="1000" dirty="0"/>
          </a:p>
          <a:p>
            <a:pPr marL="0" indent="0" algn="ctr">
              <a:buNone/>
            </a:pPr>
            <a:r>
              <a:rPr lang="en-US" sz="1000" b="1" dirty="0">
                <a:solidFill>
                  <a:srgbClr val="111827"/>
                </a:solidFill>
                <a:latin typeface="Meiryo UI" pitchFamily="34" charset="0"/>
                <a:ea typeface="Meiryo UI" pitchFamily="34" charset="-122"/>
                <a:cs typeface="Meiryo UI" pitchFamily="34" charset="-120"/>
              </a:rPr>
              <a:t>(B,N,6)</a:t>
            </a:r>
            <a:endParaRPr lang="en-US" sz="1000" dirty="0"/>
          </a:p>
        </p:txBody>
      </p:sp>
      <p:sp>
        <p:nvSpPr>
          <p:cNvPr id="83" name="Text 81">
            <a:extLst>
              <a:ext uri="{FF2B5EF4-FFF2-40B4-BE49-F238E27FC236}">
                <a16:creationId xmlns:a16="http://schemas.microsoft.com/office/drawing/2014/main" id="{311B64CB-D281-D6DB-6551-BEC01339EFC8}"/>
              </a:ext>
            </a:extLst>
          </p:cNvPr>
          <p:cNvSpPr/>
          <p:nvPr/>
        </p:nvSpPr>
        <p:spPr>
          <a:xfrm>
            <a:off x="9543811" y="3905250"/>
            <a:ext cx="1885903" cy="400050"/>
          </a:xfrm>
          <a:prstGeom prst="rect">
            <a:avLst/>
          </a:prstGeom>
          <a:noFill/>
          <a:ln/>
        </p:spPr>
        <p:txBody>
          <a:bodyPr wrap="square" lIns="0" tIns="0" rIns="0" bIns="0" rtlCol="0" anchor="t"/>
          <a:lstStyle/>
          <a:p>
            <a:pPr marL="0" indent="0" algn="ctr">
              <a:buNone/>
            </a:pPr>
            <a:r>
              <a:rPr lang="en-US" sz="900" b="1" dirty="0">
                <a:solidFill>
                  <a:srgbClr val="111827"/>
                </a:solidFill>
                <a:latin typeface="Meiryo UI" pitchFamily="34" charset="0"/>
                <a:ea typeface="Meiryo UI" pitchFamily="34" charset="-122"/>
                <a:cs typeface="Meiryo UI" pitchFamily="34" charset="-120"/>
              </a:rPr>
              <a:t>Softmax後のReflection確率を</a:t>
            </a:r>
            <a:endParaRPr lang="en-US" sz="900" dirty="0"/>
          </a:p>
          <a:p>
            <a:pPr marL="0" indent="0" algn="ctr">
              <a:buNone/>
            </a:pPr>
            <a:r>
              <a:rPr lang="en-US" sz="900" b="1" dirty="0">
                <a:solidFill>
                  <a:srgbClr val="111827"/>
                </a:solidFill>
                <a:latin typeface="Meiryo UI" pitchFamily="34" charset="0"/>
                <a:ea typeface="Meiryo UI" pitchFamily="34" charset="-122"/>
                <a:cs typeface="Meiryo UI" pitchFamily="34" charset="-120"/>
              </a:rPr>
              <a:t>ghost確率 q として使用</a:t>
            </a:r>
            <a:endParaRPr lang="en-US" sz="900" dirty="0"/>
          </a:p>
        </p:txBody>
      </p:sp>
      <p:sp>
        <p:nvSpPr>
          <p:cNvPr id="85" name="Text 83">
            <a:extLst>
              <a:ext uri="{FF2B5EF4-FFF2-40B4-BE49-F238E27FC236}">
                <a16:creationId xmlns:a16="http://schemas.microsoft.com/office/drawing/2014/main" id="{45205604-1AD7-2CFB-9C81-D43A3C0A7A1E}"/>
              </a:ext>
            </a:extLst>
          </p:cNvPr>
          <p:cNvSpPr/>
          <p:nvPr/>
        </p:nvSpPr>
        <p:spPr>
          <a:xfrm>
            <a:off x="2584187" y="6072188"/>
            <a:ext cx="7023172" cy="161925"/>
          </a:xfrm>
          <a:prstGeom prst="rect">
            <a:avLst/>
          </a:prstGeom>
          <a:noFill/>
          <a:ln/>
        </p:spPr>
        <p:txBody>
          <a:bodyPr wrap="square" lIns="0" tIns="0" rIns="0" bIns="0" rtlCol="0" anchor="t"/>
          <a:lstStyle/>
          <a:p>
            <a:pPr marL="0" indent="0" algn="ctr">
              <a:buNone/>
            </a:pPr>
            <a:r>
              <a:rPr lang="en-US" sz="1000" dirty="0">
                <a:solidFill>
                  <a:srgbClr val="17212B"/>
                </a:solidFill>
                <a:latin typeface="Meiryo UI" pitchFamily="34" charset="0"/>
                <a:ea typeface="Meiryo UI" pitchFamily="34" charset="-122"/>
                <a:cs typeface="Meiryo UI" pitchFamily="34" charset="-120"/>
              </a:rPr>
              <a:t>実装の要点：ResNet18は layer2 まで使用（約1/8解像度）／bilinear samplingで点へ対応付け／単純連結による中間特徴融合</a:t>
            </a:r>
            <a:endParaRPr lang="en-US" sz="1000" dirty="0"/>
          </a:p>
        </p:txBody>
      </p:sp>
    </p:spTree>
    <p:extLst>
      <p:ext uri="{BB962C8B-B14F-4D97-AF65-F5344CB8AC3E}">
        <p14:creationId xmlns:p14="http://schemas.microsoft.com/office/powerpoint/2010/main" val="3757034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Text 1"/>
          <p:cNvSpPr/>
          <p:nvPr/>
        </p:nvSpPr>
        <p:spPr>
          <a:xfrm>
            <a:off x="742931" y="323850"/>
            <a:ext cx="10705832" cy="457200"/>
          </a:xfrm>
          <a:prstGeom prst="rect">
            <a:avLst/>
          </a:prstGeom>
          <a:noFill/>
          <a:ln/>
        </p:spPr>
        <p:txBody>
          <a:bodyPr wrap="square" lIns="0" tIns="0" rIns="0" bIns="0" rtlCol="0" anchor="t"/>
          <a:lstStyle/>
          <a:p>
            <a:pPr marL="0" indent="0" algn="l">
              <a:buNone/>
            </a:pPr>
            <a:r>
              <a:rPr lang="en-US" sz="2700" u="sng" dirty="0">
                <a:solidFill>
                  <a:srgbClr val="17212B"/>
                </a:solidFill>
                <a:latin typeface="Meiryo UI" panose="020B0604030504040204" pitchFamily="50" charset="-128"/>
                <a:ea typeface="Meiryo UI" panose="020B0604030504040204" pitchFamily="50" charset="-128"/>
                <a:cs typeface="Helvetica Neue" pitchFamily="34" charset="-120"/>
              </a:rPr>
              <a:t>融合で平均IoUは改善、Reflection検出はLiDAR-onlyが優位</a:t>
            </a:r>
            <a:endParaRPr lang="en-US" sz="2700" u="sng" dirty="0">
              <a:latin typeface="Meiryo UI" panose="020B0604030504040204" pitchFamily="50" charset="-128"/>
              <a:ea typeface="Meiryo UI" panose="020B0604030504040204" pitchFamily="50" charset="-128"/>
            </a:endParaRPr>
          </a:p>
        </p:txBody>
      </p:sp>
      <p:sp>
        <p:nvSpPr>
          <p:cNvPr id="7" name="Shape 5"/>
          <p:cNvSpPr/>
          <p:nvPr/>
        </p:nvSpPr>
        <p:spPr>
          <a:xfrm>
            <a:off x="381000" y="1371600"/>
            <a:ext cx="76200" cy="304800"/>
          </a:xfrm>
          <a:prstGeom prst="rect">
            <a:avLst/>
          </a:prstGeom>
          <a:solidFill>
            <a:srgbClr val="1F78A8"/>
          </a:solidFill>
          <a:ln w="12700">
            <a:solidFill>
              <a:srgbClr val="FFFFFF">
                <a:alpha val="0"/>
              </a:srgbClr>
            </a:solidFill>
            <a:prstDash val="solid"/>
          </a:ln>
        </p:spPr>
        <p:txBody>
          <a:bodyPr/>
          <a:lstStyle/>
          <a:p>
            <a:endParaRPr lang="ja-JP" altLang="en-US"/>
          </a:p>
        </p:txBody>
      </p:sp>
      <p:sp>
        <p:nvSpPr>
          <p:cNvPr id="8" name="Text 6"/>
          <p:cNvSpPr/>
          <p:nvPr/>
        </p:nvSpPr>
        <p:spPr>
          <a:xfrm>
            <a:off x="546100" y="1346200"/>
            <a:ext cx="3556000" cy="342900"/>
          </a:xfrm>
          <a:prstGeom prst="rect">
            <a:avLst/>
          </a:prstGeom>
          <a:noFill/>
          <a:ln/>
        </p:spPr>
        <p:txBody>
          <a:bodyPr wrap="square" lIns="0" tIns="0" rIns="0" bIns="0" rtlCol="0" anchor="t"/>
          <a:lstStyle/>
          <a:p>
            <a:pPr marL="0" indent="0" algn="l">
              <a:buNone/>
            </a:pPr>
            <a:r>
              <a:rPr lang="en-US" sz="1700" b="1" dirty="0">
                <a:solidFill>
                  <a:srgbClr val="17212B"/>
                </a:solidFill>
                <a:latin typeface="Helvetica Neue" pitchFamily="34" charset="0"/>
                <a:ea typeface="Helvetica Neue" pitchFamily="34" charset="-122"/>
                <a:cs typeface="Helvetica Neue" pitchFamily="34" charset="-120"/>
              </a:rPr>
              <a:t>Reflection検出と平均IoU</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7997105"/>
              </p:ext>
            </p:extLst>
          </p:nvPr>
        </p:nvGraphicFramePr>
        <p:xfrm>
          <a:off x="381000" y="1727200"/>
          <a:ext cx="5562600" cy="3810000"/>
        </p:xfrm>
        <a:graphic>
          <a:graphicData uri="http://schemas.openxmlformats.org/drawingml/2006/table">
            <a:tbl>
              <a:tblPr/>
              <a:tblGrid>
                <a:gridCol w="2002445">
                  <a:extLst>
                    <a:ext uri="{9D8B030D-6E8A-4147-A177-3AD203B41FA5}">
                      <a16:colId xmlns:a16="http://schemas.microsoft.com/office/drawing/2014/main" val="20000"/>
                    </a:ext>
                  </a:extLst>
                </a:gridCol>
                <a:gridCol w="1223752">
                  <a:extLst>
                    <a:ext uri="{9D8B030D-6E8A-4147-A177-3AD203B41FA5}">
                      <a16:colId xmlns:a16="http://schemas.microsoft.com/office/drawing/2014/main" val="20001"/>
                    </a:ext>
                  </a:extLst>
                </a:gridCol>
                <a:gridCol w="1335017">
                  <a:extLst>
                    <a:ext uri="{9D8B030D-6E8A-4147-A177-3AD203B41FA5}">
                      <a16:colId xmlns:a16="http://schemas.microsoft.com/office/drawing/2014/main" val="20002"/>
                    </a:ext>
                  </a:extLst>
                </a:gridCol>
                <a:gridCol w="1001386">
                  <a:extLst>
                    <a:ext uri="{9D8B030D-6E8A-4147-A177-3AD203B41FA5}">
                      <a16:colId xmlns:a16="http://schemas.microsoft.com/office/drawing/2014/main" val="20003"/>
                    </a:ext>
                  </a:extLst>
                </a:gridCol>
              </a:tblGrid>
              <a:tr h="544285">
                <a:tc>
                  <a:txBody>
                    <a:bodyPr/>
                    <a:lstStyle/>
                    <a:p>
                      <a:pPr marL="0" indent="0" algn="ctr">
                        <a:buNone/>
                      </a:pPr>
                      <a:r>
                        <a:rPr lang="en-US" sz="1500" b="1" dirty="0">
                          <a:solidFill>
                            <a:srgbClr val="FFFFFF"/>
                          </a:solidFill>
                          <a:latin typeface="Helvetica Neue" pitchFamily="34" charset="0"/>
                          <a:ea typeface="Helvetica Neue" pitchFamily="34" charset="-122"/>
                          <a:cs typeface="Helvetica Neue" pitchFamily="34" charset="-120"/>
                        </a:rPr>
                        <a:t>Metric</a:t>
                      </a:r>
                      <a:endParaRPr lang="en-US" sz="150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17212B"/>
                    </a:solidFill>
                  </a:tcPr>
                </a:tc>
                <a:tc>
                  <a:txBody>
                    <a:bodyPr/>
                    <a:lstStyle/>
                    <a:p>
                      <a:pPr marL="0" indent="0" algn="ctr">
                        <a:buNone/>
                      </a:pPr>
                      <a:r>
                        <a:rPr lang="en-US" sz="1500" b="1" dirty="0">
                          <a:solidFill>
                            <a:srgbClr val="FFFFFF"/>
                          </a:solidFill>
                          <a:latin typeface="Helvetica Neue" pitchFamily="34" charset="0"/>
                          <a:ea typeface="Helvetica Neue" pitchFamily="34" charset="-122"/>
                          <a:cs typeface="Helvetica Neue" pitchFamily="34" charset="-120"/>
                        </a:rPr>
                        <a:t>LiDAR-only</a:t>
                      </a:r>
                      <a:endParaRPr lang="en-US" sz="150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1F78A8"/>
                    </a:solidFill>
                  </a:tcPr>
                </a:tc>
                <a:tc>
                  <a:txBody>
                    <a:bodyPr/>
                    <a:lstStyle/>
                    <a:p>
                      <a:pPr marL="0" indent="0" algn="ctr">
                        <a:buNone/>
                      </a:pPr>
                      <a:r>
                        <a:rPr lang="en-US" sz="1500" b="1" dirty="0">
                          <a:solidFill>
                            <a:srgbClr val="FFFFFF"/>
                          </a:solidFill>
                          <a:latin typeface="Helvetica Neue" pitchFamily="34" charset="0"/>
                          <a:ea typeface="Helvetica Neue" pitchFamily="34" charset="-122"/>
                          <a:cs typeface="Helvetica Neue" pitchFamily="34" charset="-120"/>
                        </a:rPr>
                        <a:t>LiDAR–Camera</a:t>
                      </a:r>
                      <a:endParaRPr lang="en-US" sz="150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17900"/>
                    </a:solidFill>
                  </a:tcPr>
                </a:tc>
                <a:tc>
                  <a:txBody>
                    <a:bodyPr/>
                    <a:lstStyle/>
                    <a:p>
                      <a:pPr marL="0" indent="0" algn="ctr">
                        <a:buNone/>
                      </a:pPr>
                      <a:r>
                        <a:rPr lang="en-US" sz="1500" b="1" dirty="0">
                          <a:solidFill>
                            <a:srgbClr val="FFFFFF"/>
                          </a:solidFill>
                          <a:latin typeface="Helvetica Neue" pitchFamily="34" charset="0"/>
                          <a:ea typeface="Helvetica Neue" pitchFamily="34" charset="-122"/>
                          <a:cs typeface="Helvetica Neue" pitchFamily="34" charset="-120"/>
                        </a:rPr>
                        <a:t>Best</a:t>
                      </a:r>
                      <a:endParaRPr lang="en-US" sz="150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44515D"/>
                    </a:solidFill>
                  </a:tcPr>
                </a:tc>
                <a:extLst>
                  <a:ext uri="{0D108BD9-81ED-4DB2-BD59-A6C34878D82A}">
                    <a16:rowId xmlns:a16="http://schemas.microsoft.com/office/drawing/2014/main" val="10000"/>
                  </a:ext>
                </a:extLst>
              </a:tr>
              <a:tr h="54428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AUPRC</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0.4357</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0.4569</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Camera</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tcPr>
                </a:tc>
                <a:extLst>
                  <a:ext uri="{0D108BD9-81ED-4DB2-BD59-A6C34878D82A}">
                    <a16:rowId xmlns:a16="http://schemas.microsoft.com/office/drawing/2014/main" val="10001"/>
                  </a:ext>
                </a:extLst>
              </a:tr>
              <a:tr h="54428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Precision</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0.3916</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0.4274</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Camera</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tcPr>
                </a:tc>
                <a:extLst>
                  <a:ext uri="{0D108BD9-81ED-4DB2-BD59-A6C34878D82A}">
                    <a16:rowId xmlns:a16="http://schemas.microsoft.com/office/drawing/2014/main" val="10002"/>
                  </a:ext>
                </a:extLst>
              </a:tr>
              <a:tr h="54428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Recall</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0.7692</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0.5080</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LiDAR</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tcPr>
                </a:tc>
                <a:extLst>
                  <a:ext uri="{0D108BD9-81ED-4DB2-BD59-A6C34878D82A}">
                    <a16:rowId xmlns:a16="http://schemas.microsoft.com/office/drawing/2014/main" val="10003"/>
                  </a:ext>
                </a:extLst>
              </a:tr>
              <a:tr h="54428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F1</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0.5190</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0.4642</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LiDAR</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tcPr>
                </a:tc>
                <a:extLst>
                  <a:ext uri="{0D108BD9-81ED-4DB2-BD59-A6C34878D82A}">
                    <a16:rowId xmlns:a16="http://schemas.microsoft.com/office/drawing/2014/main" val="10004"/>
                  </a:ext>
                </a:extLst>
              </a:tr>
              <a:tr h="54428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Reflection IoU</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0.3504</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0.3023</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LiDAR</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tcPr>
                </a:tc>
                <a:extLst>
                  <a:ext uri="{0D108BD9-81ED-4DB2-BD59-A6C34878D82A}">
                    <a16:rowId xmlns:a16="http://schemas.microsoft.com/office/drawing/2014/main" val="10005"/>
                  </a:ext>
                </a:extLst>
              </a:tr>
              <a:tr h="544290">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mean IoU</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0.1972</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0.2240</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Camera</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Shape 7"/>
          <p:cNvSpPr/>
          <p:nvPr/>
        </p:nvSpPr>
        <p:spPr>
          <a:xfrm>
            <a:off x="6248400" y="1371600"/>
            <a:ext cx="76200" cy="304800"/>
          </a:xfrm>
          <a:prstGeom prst="rect">
            <a:avLst/>
          </a:prstGeom>
          <a:solidFill>
            <a:srgbClr val="E17900"/>
          </a:solidFill>
          <a:ln w="12700">
            <a:solidFill>
              <a:srgbClr val="FFFFFF">
                <a:alpha val="0"/>
              </a:srgbClr>
            </a:solidFill>
            <a:prstDash val="solid"/>
          </a:ln>
        </p:spPr>
        <p:txBody>
          <a:bodyPr/>
          <a:lstStyle/>
          <a:p>
            <a:endParaRPr lang="ja-JP" altLang="en-US"/>
          </a:p>
        </p:txBody>
      </p:sp>
      <p:sp>
        <p:nvSpPr>
          <p:cNvPr id="11" name="Text 8"/>
          <p:cNvSpPr/>
          <p:nvPr/>
        </p:nvSpPr>
        <p:spPr>
          <a:xfrm>
            <a:off x="6413500" y="1346200"/>
            <a:ext cx="3302000" cy="342900"/>
          </a:xfrm>
          <a:prstGeom prst="rect">
            <a:avLst/>
          </a:prstGeom>
          <a:noFill/>
          <a:ln/>
        </p:spPr>
        <p:txBody>
          <a:bodyPr wrap="square" lIns="0" tIns="0" rIns="0" bIns="0" rtlCol="0" anchor="t"/>
          <a:lstStyle/>
          <a:p>
            <a:pPr marL="0" indent="0" algn="l">
              <a:buNone/>
            </a:pPr>
            <a:r>
              <a:rPr lang="en-US" sz="1700" b="1" dirty="0">
                <a:solidFill>
                  <a:srgbClr val="17212B"/>
                </a:solidFill>
                <a:latin typeface="Helvetica Neue" pitchFamily="34" charset="0"/>
                <a:ea typeface="Helvetica Neue" pitchFamily="34" charset="-122"/>
                <a:cs typeface="Helvetica Neue" pitchFamily="34" charset="-120"/>
              </a:rPr>
              <a:t>全6クラスのIoU</a:t>
            </a:r>
            <a:endParaRPr lang="en-US" sz="1700" dirty="0"/>
          </a:p>
        </p:txBody>
      </p:sp>
      <p:graphicFrame>
        <p:nvGraphicFramePr>
          <p:cNvPr id="12" name="Table 1"/>
          <p:cNvGraphicFramePr>
            <a:graphicFrameLocks noGrp="1"/>
          </p:cNvGraphicFramePr>
          <p:nvPr>
            <p:extLst>
              <p:ext uri="{D42A27DB-BD31-4B8C-83A1-F6EECF244321}">
                <p14:modId xmlns:p14="http://schemas.microsoft.com/office/powerpoint/2010/main" val="3066939605"/>
              </p:ext>
            </p:extLst>
          </p:nvPr>
        </p:nvGraphicFramePr>
        <p:xfrm>
          <a:off x="6248400" y="1727200"/>
          <a:ext cx="5562600" cy="4343400"/>
        </p:xfrm>
        <a:graphic>
          <a:graphicData uri="http://schemas.openxmlformats.org/drawingml/2006/table">
            <a:tbl>
              <a:tblPr/>
              <a:tblGrid>
                <a:gridCol w="2169420">
                  <a:extLst>
                    <a:ext uri="{9D8B030D-6E8A-4147-A177-3AD203B41FA5}">
                      <a16:colId xmlns:a16="http://schemas.microsoft.com/office/drawing/2014/main" val="20000"/>
                    </a:ext>
                  </a:extLst>
                </a:gridCol>
                <a:gridCol w="1112393">
                  <a:extLst>
                    <a:ext uri="{9D8B030D-6E8A-4147-A177-3AD203B41FA5}">
                      <a16:colId xmlns:a16="http://schemas.microsoft.com/office/drawing/2014/main" val="20001"/>
                    </a:ext>
                  </a:extLst>
                </a:gridCol>
                <a:gridCol w="1279284">
                  <a:extLst>
                    <a:ext uri="{9D8B030D-6E8A-4147-A177-3AD203B41FA5}">
                      <a16:colId xmlns:a16="http://schemas.microsoft.com/office/drawing/2014/main" val="20002"/>
                    </a:ext>
                  </a:extLst>
                </a:gridCol>
                <a:gridCol w="1001503">
                  <a:extLst>
                    <a:ext uri="{9D8B030D-6E8A-4147-A177-3AD203B41FA5}">
                      <a16:colId xmlns:a16="http://schemas.microsoft.com/office/drawing/2014/main" val="20003"/>
                    </a:ext>
                  </a:extLst>
                </a:gridCol>
              </a:tblGrid>
              <a:tr h="542925">
                <a:tc>
                  <a:txBody>
                    <a:bodyPr/>
                    <a:lstStyle/>
                    <a:p>
                      <a:pPr marL="0" indent="0" algn="ctr">
                        <a:buNone/>
                      </a:pPr>
                      <a:r>
                        <a:rPr lang="en-US" sz="1500" b="1" dirty="0">
                          <a:solidFill>
                            <a:srgbClr val="FFFFFF"/>
                          </a:solidFill>
                          <a:latin typeface="Helvetica Neue" pitchFamily="34" charset="0"/>
                          <a:ea typeface="Helvetica Neue" pitchFamily="34" charset="-122"/>
                          <a:cs typeface="Helvetica Neue" pitchFamily="34" charset="-120"/>
                        </a:rPr>
                        <a:t>Class</a:t>
                      </a:r>
                      <a:endParaRPr lang="en-US" sz="150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17212B"/>
                    </a:solidFill>
                  </a:tcPr>
                </a:tc>
                <a:tc>
                  <a:txBody>
                    <a:bodyPr/>
                    <a:lstStyle/>
                    <a:p>
                      <a:pPr marL="0" indent="0" algn="ctr">
                        <a:buNone/>
                      </a:pPr>
                      <a:r>
                        <a:rPr lang="en-US" sz="1500" b="1" dirty="0">
                          <a:solidFill>
                            <a:srgbClr val="FFFFFF"/>
                          </a:solidFill>
                          <a:latin typeface="Helvetica Neue" pitchFamily="34" charset="0"/>
                          <a:ea typeface="Helvetica Neue" pitchFamily="34" charset="-122"/>
                          <a:cs typeface="Helvetica Neue" pitchFamily="34" charset="-120"/>
                        </a:rPr>
                        <a:t>LiDAR-only</a:t>
                      </a:r>
                      <a:endParaRPr lang="en-US" sz="150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1F78A8"/>
                    </a:solidFill>
                  </a:tcPr>
                </a:tc>
                <a:tc>
                  <a:txBody>
                    <a:bodyPr/>
                    <a:lstStyle/>
                    <a:p>
                      <a:pPr marL="0" indent="0" algn="ctr">
                        <a:buNone/>
                      </a:pPr>
                      <a:r>
                        <a:rPr lang="en-US" sz="1500" b="1" dirty="0">
                          <a:solidFill>
                            <a:srgbClr val="FFFFFF"/>
                          </a:solidFill>
                          <a:latin typeface="Helvetica Neue" pitchFamily="34" charset="0"/>
                          <a:ea typeface="Helvetica Neue" pitchFamily="34" charset="-122"/>
                          <a:cs typeface="Helvetica Neue" pitchFamily="34" charset="-120"/>
                        </a:rPr>
                        <a:t>LiDAR–Camera</a:t>
                      </a:r>
                      <a:endParaRPr lang="en-US" sz="150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17900"/>
                    </a:solidFill>
                  </a:tcPr>
                </a:tc>
                <a:tc>
                  <a:txBody>
                    <a:bodyPr/>
                    <a:lstStyle/>
                    <a:p>
                      <a:pPr marL="0" indent="0" algn="ctr">
                        <a:buNone/>
                      </a:pPr>
                      <a:r>
                        <a:rPr lang="en-US" sz="1500" b="1" dirty="0">
                          <a:solidFill>
                            <a:srgbClr val="FFFFFF"/>
                          </a:solidFill>
                          <a:latin typeface="Helvetica Neue" pitchFamily="34" charset="0"/>
                          <a:ea typeface="Helvetica Neue" pitchFamily="34" charset="-122"/>
                          <a:cs typeface="Helvetica Neue" pitchFamily="34" charset="-120"/>
                        </a:rPr>
                        <a:t>Δ</a:t>
                      </a:r>
                      <a:endParaRPr lang="en-US" sz="150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44515D"/>
                    </a:solidFill>
                  </a:tcPr>
                </a:tc>
                <a:extLst>
                  <a:ext uri="{0D108BD9-81ED-4DB2-BD59-A6C34878D82A}">
                    <a16:rowId xmlns:a16="http://schemas.microsoft.com/office/drawing/2014/main" val="10000"/>
                  </a:ext>
                </a:extLst>
              </a:tr>
              <a:tr h="54292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Normal</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0.6709</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0.7520</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+0.0811</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extLst>
                  <a:ext uri="{0D108BD9-81ED-4DB2-BD59-A6C34878D82A}">
                    <a16:rowId xmlns:a16="http://schemas.microsoft.com/office/drawing/2014/main" val="10001"/>
                  </a:ext>
                </a:extLst>
              </a:tr>
              <a:tr h="54292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Glass</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0.0490</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0.1161</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+0.0671</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extLst>
                  <a:ext uri="{0D108BD9-81ED-4DB2-BD59-A6C34878D82A}">
                    <a16:rowId xmlns:a16="http://schemas.microsoft.com/office/drawing/2014/main" val="10002"/>
                  </a:ext>
                </a:extLst>
              </a:tr>
              <a:tr h="54292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Mirror</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0.0049</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0.0012</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−0.0037</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extLst>
                  <a:ext uri="{0D108BD9-81ED-4DB2-BD59-A6C34878D82A}">
                    <a16:rowId xmlns:a16="http://schemas.microsoft.com/office/drawing/2014/main" val="10003"/>
                  </a:ext>
                </a:extLst>
              </a:tr>
              <a:tr h="54292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Other reflective</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0.0159</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0.0263</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+0.0104</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extLst>
                  <a:ext uri="{0D108BD9-81ED-4DB2-BD59-A6C34878D82A}">
                    <a16:rowId xmlns:a16="http://schemas.microsoft.com/office/drawing/2014/main" val="10004"/>
                  </a:ext>
                </a:extLst>
              </a:tr>
              <a:tr h="54292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Reflection</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0.3504</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0.3023</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−0.0481</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extLst>
                  <a:ext uri="{0D108BD9-81ED-4DB2-BD59-A6C34878D82A}">
                    <a16:rowId xmlns:a16="http://schemas.microsoft.com/office/drawing/2014/main" val="10005"/>
                  </a:ext>
                </a:extLst>
              </a:tr>
              <a:tr h="54292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Obstacle behind glass</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0.0918</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0.1464</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+0.0545</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extLst>
                  <a:ext uri="{0D108BD9-81ED-4DB2-BD59-A6C34878D82A}">
                    <a16:rowId xmlns:a16="http://schemas.microsoft.com/office/drawing/2014/main" val="10006"/>
                  </a:ext>
                </a:extLst>
              </a:tr>
              <a:tr h="542925">
                <a:tc>
                  <a:txBody>
                    <a:bodyPr/>
                    <a:lstStyle/>
                    <a:p>
                      <a:pPr marL="0" indent="0" algn="l">
                        <a:buNone/>
                      </a:pPr>
                      <a:r>
                        <a:rPr lang="en-US" sz="1450" b="1" dirty="0">
                          <a:solidFill>
                            <a:srgbClr val="17212B"/>
                          </a:solidFill>
                          <a:latin typeface="Helvetica Neue" pitchFamily="34" charset="0"/>
                          <a:ea typeface="Helvetica Neue" pitchFamily="34" charset="-122"/>
                          <a:cs typeface="Helvetica Neue" pitchFamily="34" charset="-120"/>
                        </a:rPr>
                        <a:t>mean IoU</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4F6F8"/>
                    </a:solidFill>
                  </a:tcPr>
                </a:tc>
                <a:tc>
                  <a:txBody>
                    <a:bodyPr/>
                    <a:lstStyle/>
                    <a:p>
                      <a:pPr marL="0" indent="0" algn="ctr">
                        <a:buNone/>
                      </a:pPr>
                      <a:r>
                        <a:rPr lang="en-US" sz="1450" b="1" dirty="0">
                          <a:solidFill>
                            <a:srgbClr val="155F8A"/>
                          </a:solidFill>
                          <a:latin typeface="Helvetica Neue" pitchFamily="34" charset="0"/>
                          <a:ea typeface="Helvetica Neue" pitchFamily="34" charset="-122"/>
                          <a:cs typeface="Helvetica Neue" pitchFamily="34" charset="-120"/>
                        </a:rPr>
                        <a:t>0.1972</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EDF6FA"/>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0.2240</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tc>
                  <a:txBody>
                    <a:bodyPr/>
                    <a:lstStyle/>
                    <a:p>
                      <a:pPr marL="0" indent="0" algn="ctr">
                        <a:buNone/>
                      </a:pPr>
                      <a:r>
                        <a:rPr lang="en-US" sz="1450" b="1" dirty="0">
                          <a:solidFill>
                            <a:srgbClr val="B55C00"/>
                          </a:solidFill>
                          <a:latin typeface="Helvetica Neue" pitchFamily="34" charset="0"/>
                          <a:ea typeface="Helvetica Neue" pitchFamily="34" charset="-122"/>
                          <a:cs typeface="Helvetica Neue" pitchFamily="34" charset="-120"/>
                        </a:rPr>
                        <a:t>+0.0269</a:t>
                      </a:r>
                      <a:endParaRPr lang="en-US" sz="1450" dirty="0">
                        <a:latin typeface="Helvetica Neue" charset="0"/>
                        <a:ea typeface="Helvetica Neue" charset="0"/>
                        <a:cs typeface="Helvetica Neue" charset="0"/>
                      </a:endParaRPr>
                    </a:p>
                  </a:txBody>
                  <a:tcPr marL="36576" marR="36576" marT="36576" marB="36576" anchor="ctr">
                    <a:lnL w="9525" cap="flat" cmpd="sng" algn="ctr">
                      <a:solidFill>
                        <a:srgbClr val="CBD4DC"/>
                      </a:solidFill>
                      <a:prstDash val="solid"/>
                      <a:round/>
                      <a:headEnd type="none" w="med" len="med"/>
                      <a:tailEnd type="none" w="med" len="med"/>
                    </a:lnL>
                    <a:lnR w="9525" cap="flat" cmpd="sng" algn="ctr">
                      <a:solidFill>
                        <a:srgbClr val="CBD4DC"/>
                      </a:solidFill>
                      <a:prstDash val="solid"/>
                      <a:round/>
                      <a:headEnd type="none" w="med" len="med"/>
                      <a:tailEnd type="none" w="med" len="med"/>
                    </a:lnR>
                    <a:lnT w="9525" cap="flat" cmpd="sng" algn="ctr">
                      <a:solidFill>
                        <a:srgbClr val="CBD4DC"/>
                      </a:solidFill>
                      <a:prstDash val="solid"/>
                      <a:round/>
                      <a:headEnd type="none" w="med" len="med"/>
                      <a:tailEnd type="none" w="med" len="med"/>
                    </a:lnT>
                    <a:lnB w="9525" cap="flat" cmpd="sng" algn="ctr">
                      <a:solidFill>
                        <a:srgbClr val="CBD4DC"/>
                      </a:solidFill>
                      <a:prstDash val="solid"/>
                      <a:round/>
                      <a:headEnd type="none" w="med" len="med"/>
                      <a:tailEnd type="none" w="med" len="med"/>
                    </a:lnB>
                    <a:solidFill>
                      <a:srgbClr val="FFF5E8"/>
                    </a:solidFill>
                  </a:tcPr>
                </a:tc>
                <a:extLst>
                  <a:ext uri="{0D108BD9-81ED-4DB2-BD59-A6C34878D82A}">
                    <a16:rowId xmlns:a16="http://schemas.microsoft.com/office/drawing/2014/main" val="10007"/>
                  </a:ext>
                </a:extLst>
              </a:tr>
            </a:tbl>
          </a:graphicData>
        </a:graphic>
      </p:graphicFrame>
      <p:sp>
        <p:nvSpPr>
          <p:cNvPr id="17" name="Text 13"/>
          <p:cNvSpPr/>
          <p:nvPr/>
        </p:nvSpPr>
        <p:spPr>
          <a:xfrm>
            <a:off x="6114897" y="6429375"/>
            <a:ext cx="5333867" cy="171450"/>
          </a:xfrm>
          <a:prstGeom prst="rect">
            <a:avLst/>
          </a:prstGeom>
          <a:noFill/>
          <a:ln/>
        </p:spPr>
        <p:txBody>
          <a:bodyPr wrap="square" lIns="0" tIns="0" rIns="0" bIns="0" rtlCol="0" anchor="t"/>
          <a:lstStyle/>
          <a:p>
            <a:pPr marL="0" indent="0" algn="r">
              <a:buNone/>
            </a:pPr>
            <a:r>
              <a:rPr lang="en-US" sz="900" dirty="0">
                <a:solidFill>
                  <a:srgbClr val="8A949D"/>
                </a:solidFill>
                <a:latin typeface="Helvetica Neue" pitchFamily="34" charset="0"/>
                <a:ea typeface="Helvetica Neue" pitchFamily="34" charset="-122"/>
                <a:cs typeface="Helvetica Neue" pitchFamily="34" charset="-120"/>
              </a:rPr>
              <a:t>Source: docs/results/FOLD1_POINT_MLP_FINAL.md §6.1–6.2</a:t>
            </a:r>
            <a:endParaRPr lang="en-US" sz="900" dirty="0"/>
          </a:p>
        </p:txBody>
      </p:sp>
    </p:spTree>
    <p:extLst>
      <p:ext uri="{BB962C8B-B14F-4D97-AF65-F5344CB8AC3E}">
        <p14:creationId xmlns:p14="http://schemas.microsoft.com/office/powerpoint/2010/main" val="214319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6BFCFE-CD74-7C06-0847-14C3B2CA82E0}"/>
              </a:ext>
            </a:extLst>
          </p:cNvPr>
          <p:cNvSpPr>
            <a:spLocks noGrp="1"/>
          </p:cNvSpPr>
          <p:nvPr>
            <p:ph type="title"/>
          </p:nvPr>
        </p:nvSpPr>
        <p:spPr>
          <a:xfrm>
            <a:off x="914400" y="50800"/>
            <a:ext cx="10414000" cy="787400"/>
          </a:xfrm>
        </p:spPr>
        <p:txBody>
          <a:bodyPr wrap="none">
            <a:noAutofit/>
          </a:bodyPr>
          <a:lstStyle/>
          <a:p>
            <a:r>
              <a:rPr kumimoji="1" lang="ja-JP" altLang="en-US" sz="3800" u="sng">
                <a:solidFill>
                  <a:srgbClr val="000000"/>
                </a:solidFill>
                <a:latin typeface="Meiryo UI" panose="020B0604030504040204" pitchFamily="50" charset="-128"/>
                <a:ea typeface="Meiryo UI" panose="020B0604030504040204" pitchFamily="50" charset="-128"/>
              </a:rPr>
              <a:t>結果の解釈</a:t>
            </a:r>
            <a:endParaRPr kumimoji="1" lang="ja-JP" altLang="en-US" sz="3800" u="sng" dirty="0">
              <a:solidFill>
                <a:srgbClr val="000000"/>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02B78E17-78B9-46A0-A3B8-C0EDBD6AF35A}"/>
              </a:ext>
            </a:extLst>
          </p:cNvPr>
          <p:cNvSpPr txBox="1"/>
          <p:nvPr/>
        </p:nvSpPr>
        <p:spPr>
          <a:xfrm>
            <a:off x="914400" y="1117600"/>
            <a:ext cx="4826000" cy="406400"/>
          </a:xfrm>
          <a:prstGeom prst="rect">
            <a:avLst/>
          </a:prstGeom>
          <a:noFill/>
        </p:spPr>
        <p:txBody>
          <a:bodyPr vertOverflow="overflow" vert="horz" wrap="square" rtlCol="0" anchor="t">
            <a:spAutoFit/>
          </a:bodyPr>
          <a:lstStyle/>
          <a:p>
            <a:pPr algn="l"/>
            <a:r>
              <a:rPr lang="en-US" altLang="ja-JP" sz="2000" b="1" u="sng">
                <a:solidFill>
                  <a:srgbClr val="000000"/>
                </a:solidFill>
                <a:latin typeface="Meiryo UI" panose="020B0604030504040204" pitchFamily="50" charset="-128"/>
                <a:ea typeface="Meiryo UI" panose="020B0604030504040204" pitchFamily="50" charset="-128"/>
              </a:rPr>
              <a:t>9.1  </a:t>
            </a:r>
            <a:r>
              <a:rPr lang="ja-JP" altLang="en-US" sz="2000" b="1" u="sng">
                <a:solidFill>
                  <a:srgbClr val="000000"/>
                </a:solidFill>
                <a:latin typeface="Meiryo UI" panose="020B0604030504040204" pitchFamily="50" charset="-128"/>
                <a:ea typeface="Meiryo UI" panose="020B0604030504040204" pitchFamily="50" charset="-128"/>
              </a:rPr>
              <a:t>カメラ融合で改善した点</a:t>
            </a:r>
          </a:p>
        </p:txBody>
      </p:sp>
      <p:sp>
        <p:nvSpPr>
          <p:cNvPr id="5" name="テキスト ボックス 4">
            <a:extLst>
              <a:ext uri="{FF2B5EF4-FFF2-40B4-BE49-F238E27FC236}">
                <a16:creationId xmlns:a16="http://schemas.microsoft.com/office/drawing/2014/main" id="{C7BB5E64-20E4-4E54-8399-6F55CB43C866}"/>
              </a:ext>
            </a:extLst>
          </p:cNvPr>
          <p:cNvSpPr txBox="1"/>
          <p:nvPr/>
        </p:nvSpPr>
        <p:spPr>
          <a:xfrm>
            <a:off x="6604000" y="1117600"/>
            <a:ext cx="4572000" cy="406400"/>
          </a:xfrm>
          <a:prstGeom prst="rect">
            <a:avLst/>
          </a:prstGeom>
          <a:noFill/>
        </p:spPr>
        <p:txBody>
          <a:bodyPr vertOverflow="overflow" vert="horz" wrap="square" rtlCol="0" anchor="t">
            <a:spAutoFit/>
          </a:bodyPr>
          <a:lstStyle/>
          <a:p>
            <a:pPr algn="l"/>
            <a:r>
              <a:rPr lang="en-US" altLang="ja-JP" sz="2000" b="1" u="sng" dirty="0">
                <a:solidFill>
                  <a:srgbClr val="000000"/>
                </a:solidFill>
                <a:latin typeface="Meiryo UI" panose="020B0604030504040204" pitchFamily="50" charset="-128"/>
                <a:ea typeface="Meiryo UI" panose="020B0604030504040204" pitchFamily="50" charset="-128"/>
              </a:rPr>
              <a:t>9.2  </a:t>
            </a:r>
            <a:r>
              <a:rPr lang="ja-JP" altLang="en-US" sz="2000" b="1" u="sng" dirty="0">
                <a:solidFill>
                  <a:srgbClr val="000000"/>
                </a:solidFill>
                <a:latin typeface="Meiryo UI" panose="020B0604030504040204" pitchFamily="50" charset="-128"/>
                <a:ea typeface="Meiryo UI" panose="020B0604030504040204" pitchFamily="50" charset="-128"/>
              </a:rPr>
              <a:t>残った課題</a:t>
            </a:r>
          </a:p>
        </p:txBody>
      </p:sp>
      <p:sp>
        <p:nvSpPr>
          <p:cNvPr id="9" name="正方形/長方形 8">
            <a:extLst>
              <a:ext uri="{FF2B5EF4-FFF2-40B4-BE49-F238E27FC236}">
                <a16:creationId xmlns:a16="http://schemas.microsoft.com/office/drawing/2014/main" id="{B55B5C20-7626-4B35-9BA7-9B15FA329E6C}"/>
              </a:ext>
            </a:extLst>
          </p:cNvPr>
          <p:cNvSpPr/>
          <p:nvPr/>
        </p:nvSpPr>
        <p:spPr>
          <a:xfrm>
            <a:off x="6159500" y="1117600"/>
            <a:ext cx="15875" cy="4851400"/>
          </a:xfrm>
          <a:prstGeom prst="rect">
            <a:avLst/>
          </a:prstGeom>
          <a:solidFill>
            <a:srgbClr val="D0D5D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10" name="楕円 9">
            <a:extLst>
              <a:ext uri="{FF2B5EF4-FFF2-40B4-BE49-F238E27FC236}">
                <a16:creationId xmlns:a16="http://schemas.microsoft.com/office/drawing/2014/main" id="{5A0C757F-3095-4860-BD3C-59EE56E81E3E}"/>
              </a:ext>
            </a:extLst>
          </p:cNvPr>
          <p:cNvSpPr/>
          <p:nvPr/>
        </p:nvSpPr>
        <p:spPr>
          <a:xfrm>
            <a:off x="965200" y="1841500"/>
            <a:ext cx="101600" cy="101600"/>
          </a:xfrm>
          <a:prstGeom prst="ellipse">
            <a:avLst/>
          </a:prstGeom>
          <a:solidFill>
            <a:srgbClr val="1F78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62F2B61F-F4B4-434E-AD03-9DB9D2C3097C}"/>
              </a:ext>
            </a:extLst>
          </p:cNvPr>
          <p:cNvSpPr txBox="1"/>
          <p:nvPr/>
        </p:nvSpPr>
        <p:spPr>
          <a:xfrm>
            <a:off x="1193800" y="1739900"/>
            <a:ext cx="4699000" cy="533400"/>
          </a:xfrm>
          <a:prstGeom prst="rect">
            <a:avLst/>
          </a:prstGeom>
          <a:noFill/>
        </p:spPr>
        <p:txBody>
          <a:bodyPr vertOverflow="overflow" vert="horz" wrap="square" rtlCol="0" anchor="t">
            <a:normAutofit fontScale="92500"/>
          </a:bodyPr>
          <a:lstStyle/>
          <a:p>
            <a:pPr algn="l"/>
            <a:r>
              <a:rPr lang="ja-JP" altLang="en-US" sz="1700">
                <a:solidFill>
                  <a:srgbClr val="000000"/>
                </a:solidFill>
                <a:latin typeface="Meiryo UI" panose="020B0604030504040204" pitchFamily="50" charset="-128"/>
                <a:ea typeface="Meiryo UI" panose="020B0604030504040204" pitchFamily="50" charset="-128"/>
              </a:rPr>
              <a:t>全点の未校正</a:t>
            </a:r>
            <a:r>
              <a:rPr lang="en-US" altLang="ja-JP" sz="1700">
                <a:solidFill>
                  <a:srgbClr val="000000"/>
                </a:solidFill>
                <a:latin typeface="Meiryo UI" panose="020B0604030504040204" pitchFamily="50" charset="-128"/>
                <a:ea typeface="Meiryo UI" panose="020B0604030504040204" pitchFamily="50" charset="-128"/>
              </a:rPr>
              <a:t>AUPRC</a:t>
            </a:r>
            <a:r>
              <a:rPr lang="ja-JP" altLang="en-US" sz="1700">
                <a:solidFill>
                  <a:srgbClr val="000000"/>
                </a:solidFill>
                <a:latin typeface="Meiryo UI" panose="020B0604030504040204" pitchFamily="50" charset="-128"/>
                <a:ea typeface="Meiryo UI" panose="020B0604030504040204" pitchFamily="50" charset="-128"/>
              </a:rPr>
              <a:t>が </a:t>
            </a:r>
            <a:r>
              <a:rPr lang="en-US" altLang="ja-JP" sz="1700">
                <a:solidFill>
                  <a:srgbClr val="000000"/>
                </a:solidFill>
                <a:latin typeface="Meiryo UI" panose="020B0604030504040204" pitchFamily="50" charset="-128"/>
                <a:ea typeface="Meiryo UI" panose="020B0604030504040204" pitchFamily="50" charset="-128"/>
              </a:rPr>
              <a:t>0.4295 → 0.4395 </a:t>
            </a:r>
            <a:r>
              <a:rPr lang="ja-JP" altLang="en-US" sz="1700">
                <a:solidFill>
                  <a:srgbClr val="000000"/>
                </a:solidFill>
                <a:latin typeface="Meiryo UI" panose="020B0604030504040204" pitchFamily="50" charset="-128"/>
                <a:ea typeface="Meiryo UI" panose="020B0604030504040204" pitchFamily="50" charset="-128"/>
              </a:rPr>
              <a:t>に改善</a:t>
            </a:r>
          </a:p>
        </p:txBody>
      </p:sp>
      <p:sp>
        <p:nvSpPr>
          <p:cNvPr id="12" name="楕円 11">
            <a:extLst>
              <a:ext uri="{FF2B5EF4-FFF2-40B4-BE49-F238E27FC236}">
                <a16:creationId xmlns:a16="http://schemas.microsoft.com/office/drawing/2014/main" id="{22E0C3AF-6CE7-427B-A0CD-F0149053DABD}"/>
              </a:ext>
            </a:extLst>
          </p:cNvPr>
          <p:cNvSpPr/>
          <p:nvPr/>
        </p:nvSpPr>
        <p:spPr>
          <a:xfrm>
            <a:off x="965200" y="2527300"/>
            <a:ext cx="101600" cy="101600"/>
          </a:xfrm>
          <a:prstGeom prst="ellipse">
            <a:avLst/>
          </a:prstGeom>
          <a:solidFill>
            <a:srgbClr val="1F78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EF596C82-B438-4CC5-9D51-5631B0CDFE33}"/>
              </a:ext>
            </a:extLst>
          </p:cNvPr>
          <p:cNvSpPr txBox="1"/>
          <p:nvPr/>
        </p:nvSpPr>
        <p:spPr>
          <a:xfrm>
            <a:off x="1193800" y="2425700"/>
            <a:ext cx="4699000" cy="533400"/>
          </a:xfrm>
          <a:prstGeom prst="rect">
            <a:avLst/>
          </a:prstGeom>
          <a:noFill/>
        </p:spPr>
        <p:txBody>
          <a:bodyPr vertOverflow="overflow" vert="horz" wrap="square" rtlCol="0" anchor="t">
            <a:normAutofit fontScale="92500"/>
          </a:bodyPr>
          <a:lstStyle/>
          <a:p>
            <a:pPr algn="l"/>
            <a:r>
              <a:rPr lang="ja-JP" altLang="en-US" sz="1700">
                <a:solidFill>
                  <a:srgbClr val="000000"/>
                </a:solidFill>
                <a:latin typeface="Meiryo UI" panose="020B0604030504040204" pitchFamily="50" charset="-128"/>
                <a:ea typeface="Meiryo UI" panose="020B0604030504040204" pitchFamily="50" charset="-128"/>
              </a:rPr>
              <a:t>全点の校正後</a:t>
            </a:r>
            <a:r>
              <a:rPr lang="en-US" altLang="ja-JP" sz="1700">
                <a:solidFill>
                  <a:srgbClr val="000000"/>
                </a:solidFill>
                <a:latin typeface="Meiryo UI" panose="020B0604030504040204" pitchFamily="50" charset="-128"/>
                <a:ea typeface="Meiryo UI" panose="020B0604030504040204" pitchFamily="50" charset="-128"/>
              </a:rPr>
              <a:t>AUPRC</a:t>
            </a:r>
            <a:r>
              <a:rPr lang="ja-JP" altLang="en-US" sz="1700">
                <a:solidFill>
                  <a:srgbClr val="000000"/>
                </a:solidFill>
                <a:latin typeface="Meiryo UI" panose="020B0604030504040204" pitchFamily="50" charset="-128"/>
                <a:ea typeface="Meiryo UI" panose="020B0604030504040204" pitchFamily="50" charset="-128"/>
              </a:rPr>
              <a:t>が </a:t>
            </a:r>
            <a:r>
              <a:rPr lang="en-US" altLang="ja-JP" sz="1700">
                <a:solidFill>
                  <a:srgbClr val="000000"/>
                </a:solidFill>
                <a:latin typeface="Meiryo UI" panose="020B0604030504040204" pitchFamily="50" charset="-128"/>
                <a:ea typeface="Meiryo UI" panose="020B0604030504040204" pitchFamily="50" charset="-128"/>
              </a:rPr>
              <a:t>0.4357 → 0.4569 </a:t>
            </a:r>
            <a:r>
              <a:rPr lang="ja-JP" altLang="en-US" sz="1700">
                <a:solidFill>
                  <a:srgbClr val="000000"/>
                </a:solidFill>
                <a:latin typeface="Meiryo UI" panose="020B0604030504040204" pitchFamily="50" charset="-128"/>
                <a:ea typeface="Meiryo UI" panose="020B0604030504040204" pitchFamily="50" charset="-128"/>
              </a:rPr>
              <a:t>に改善</a:t>
            </a:r>
          </a:p>
        </p:txBody>
      </p:sp>
      <p:sp>
        <p:nvSpPr>
          <p:cNvPr id="14" name="楕円 13">
            <a:extLst>
              <a:ext uri="{FF2B5EF4-FFF2-40B4-BE49-F238E27FC236}">
                <a16:creationId xmlns:a16="http://schemas.microsoft.com/office/drawing/2014/main" id="{5372270C-9F24-4B1B-98A1-68051AAC10B3}"/>
              </a:ext>
            </a:extLst>
          </p:cNvPr>
          <p:cNvSpPr/>
          <p:nvPr/>
        </p:nvSpPr>
        <p:spPr>
          <a:xfrm>
            <a:off x="965200" y="3213100"/>
            <a:ext cx="101600" cy="101600"/>
          </a:xfrm>
          <a:prstGeom prst="ellipse">
            <a:avLst/>
          </a:prstGeom>
          <a:solidFill>
            <a:srgbClr val="1F78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58A15C30-332D-4D7F-9390-DD00E4358BC1}"/>
              </a:ext>
            </a:extLst>
          </p:cNvPr>
          <p:cNvSpPr txBox="1"/>
          <p:nvPr/>
        </p:nvSpPr>
        <p:spPr>
          <a:xfrm>
            <a:off x="1193800" y="3111500"/>
            <a:ext cx="4699000" cy="533400"/>
          </a:xfrm>
          <a:prstGeom prst="rect">
            <a:avLst/>
          </a:prstGeom>
          <a:noFill/>
        </p:spPr>
        <p:txBody>
          <a:bodyPr vertOverflow="overflow" vert="horz" wrap="square" rtlCol="0" anchor="t">
            <a:normAutofit/>
          </a:bodyPr>
          <a:lstStyle/>
          <a:p>
            <a:pPr algn="l"/>
            <a:r>
              <a:rPr lang="ja-JP" altLang="en-US" sz="1700">
                <a:solidFill>
                  <a:srgbClr val="000000"/>
                </a:solidFill>
                <a:latin typeface="Meiryo UI" panose="020B0604030504040204" pitchFamily="50" charset="-128"/>
                <a:ea typeface="Meiryo UI" panose="020B0604030504040204" pitchFamily="50" charset="-128"/>
              </a:rPr>
              <a:t>全点</a:t>
            </a:r>
            <a:r>
              <a:rPr lang="en-US" altLang="ja-JP" sz="1700">
                <a:solidFill>
                  <a:srgbClr val="000000"/>
                </a:solidFill>
                <a:latin typeface="Meiryo UI" panose="020B0604030504040204" pitchFamily="50" charset="-128"/>
                <a:ea typeface="Meiryo UI" panose="020B0604030504040204" pitchFamily="50" charset="-128"/>
              </a:rPr>
              <a:t>mean IoU</a:t>
            </a:r>
            <a:r>
              <a:rPr lang="ja-JP" altLang="en-US" sz="1700">
                <a:solidFill>
                  <a:srgbClr val="000000"/>
                </a:solidFill>
                <a:latin typeface="Meiryo UI" panose="020B0604030504040204" pitchFamily="50" charset="-128"/>
                <a:ea typeface="Meiryo UI" panose="020B0604030504040204" pitchFamily="50" charset="-128"/>
              </a:rPr>
              <a:t>が </a:t>
            </a:r>
            <a:r>
              <a:rPr lang="en-US" altLang="ja-JP" sz="1700">
                <a:solidFill>
                  <a:srgbClr val="000000"/>
                </a:solidFill>
                <a:latin typeface="Meiryo UI" panose="020B0604030504040204" pitchFamily="50" charset="-128"/>
                <a:ea typeface="Meiryo UI" panose="020B0604030504040204" pitchFamily="50" charset="-128"/>
              </a:rPr>
              <a:t>0.1972 → 0.2240 </a:t>
            </a:r>
            <a:r>
              <a:rPr lang="ja-JP" altLang="en-US" sz="1700">
                <a:solidFill>
                  <a:srgbClr val="000000"/>
                </a:solidFill>
                <a:latin typeface="Meiryo UI" panose="020B0604030504040204" pitchFamily="50" charset="-128"/>
                <a:ea typeface="Meiryo UI" panose="020B0604030504040204" pitchFamily="50" charset="-128"/>
              </a:rPr>
              <a:t>に改善</a:t>
            </a:r>
          </a:p>
        </p:txBody>
      </p:sp>
      <p:sp>
        <p:nvSpPr>
          <p:cNvPr id="16" name="楕円 15">
            <a:extLst>
              <a:ext uri="{FF2B5EF4-FFF2-40B4-BE49-F238E27FC236}">
                <a16:creationId xmlns:a16="http://schemas.microsoft.com/office/drawing/2014/main" id="{4F739E24-A0D6-4454-870A-0E649E91C3C2}"/>
              </a:ext>
            </a:extLst>
          </p:cNvPr>
          <p:cNvSpPr/>
          <p:nvPr/>
        </p:nvSpPr>
        <p:spPr>
          <a:xfrm>
            <a:off x="965200" y="3898900"/>
            <a:ext cx="101600" cy="101600"/>
          </a:xfrm>
          <a:prstGeom prst="ellipse">
            <a:avLst/>
          </a:prstGeom>
          <a:solidFill>
            <a:srgbClr val="1F78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6758CFB0-129D-4EBC-A591-C2C4C9FA6A54}"/>
              </a:ext>
            </a:extLst>
          </p:cNvPr>
          <p:cNvSpPr txBox="1"/>
          <p:nvPr/>
        </p:nvSpPr>
        <p:spPr>
          <a:xfrm>
            <a:off x="1193800" y="3797300"/>
            <a:ext cx="4699000" cy="533400"/>
          </a:xfrm>
          <a:prstGeom prst="rect">
            <a:avLst/>
          </a:prstGeom>
          <a:noFill/>
        </p:spPr>
        <p:txBody>
          <a:bodyPr vertOverflow="overflow" vert="horz" wrap="square" rtlCol="0" anchor="t">
            <a:normAutofit/>
          </a:bodyPr>
          <a:lstStyle/>
          <a:p>
            <a:pPr algn="l"/>
            <a:r>
              <a:rPr lang="ja-JP" altLang="en-US" sz="1700">
                <a:solidFill>
                  <a:srgbClr val="000000"/>
                </a:solidFill>
                <a:latin typeface="Meiryo UI" panose="020B0604030504040204" pitchFamily="50" charset="-128"/>
                <a:ea typeface="Meiryo UI" panose="020B0604030504040204" pitchFamily="50" charset="-128"/>
              </a:rPr>
              <a:t>カメラ可視点でも</a:t>
            </a:r>
            <a:r>
              <a:rPr lang="en-US" altLang="ja-JP" sz="1700">
                <a:solidFill>
                  <a:srgbClr val="000000"/>
                </a:solidFill>
                <a:latin typeface="Meiryo UI" panose="020B0604030504040204" pitchFamily="50" charset="-128"/>
                <a:ea typeface="Meiryo UI" panose="020B0604030504040204" pitchFamily="50" charset="-128"/>
              </a:rPr>
              <a:t>AUPRC</a:t>
            </a:r>
            <a:r>
              <a:rPr lang="ja-JP" altLang="en-US" sz="1700">
                <a:solidFill>
                  <a:srgbClr val="000000"/>
                </a:solidFill>
                <a:latin typeface="Meiryo UI" panose="020B0604030504040204" pitchFamily="50" charset="-128"/>
                <a:ea typeface="Meiryo UI" panose="020B0604030504040204" pitchFamily="50" charset="-128"/>
              </a:rPr>
              <a:t>と</a:t>
            </a:r>
            <a:r>
              <a:rPr lang="en-US" altLang="ja-JP" sz="1700">
                <a:solidFill>
                  <a:srgbClr val="000000"/>
                </a:solidFill>
                <a:latin typeface="Meiryo UI" panose="020B0604030504040204" pitchFamily="50" charset="-128"/>
                <a:ea typeface="Meiryo UI" panose="020B0604030504040204" pitchFamily="50" charset="-128"/>
              </a:rPr>
              <a:t>mean IoU</a:t>
            </a:r>
            <a:r>
              <a:rPr lang="ja-JP" altLang="en-US" sz="1700">
                <a:solidFill>
                  <a:srgbClr val="000000"/>
                </a:solidFill>
                <a:latin typeface="Meiryo UI" panose="020B0604030504040204" pitchFamily="50" charset="-128"/>
                <a:ea typeface="Meiryo UI" panose="020B0604030504040204" pitchFamily="50" charset="-128"/>
              </a:rPr>
              <a:t>が改善</a:t>
            </a:r>
          </a:p>
        </p:txBody>
      </p:sp>
      <p:sp>
        <p:nvSpPr>
          <p:cNvPr id="18" name="楕円 17">
            <a:extLst>
              <a:ext uri="{FF2B5EF4-FFF2-40B4-BE49-F238E27FC236}">
                <a16:creationId xmlns:a16="http://schemas.microsoft.com/office/drawing/2014/main" id="{53162E12-88FC-4308-B4F1-3AB5C2DE3A61}"/>
              </a:ext>
            </a:extLst>
          </p:cNvPr>
          <p:cNvSpPr/>
          <p:nvPr/>
        </p:nvSpPr>
        <p:spPr>
          <a:xfrm>
            <a:off x="965200" y="4584700"/>
            <a:ext cx="101600" cy="101600"/>
          </a:xfrm>
          <a:prstGeom prst="ellipse">
            <a:avLst/>
          </a:prstGeom>
          <a:solidFill>
            <a:srgbClr val="1F78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19" name="テキスト ボックス 18">
            <a:extLst>
              <a:ext uri="{FF2B5EF4-FFF2-40B4-BE49-F238E27FC236}">
                <a16:creationId xmlns:a16="http://schemas.microsoft.com/office/drawing/2014/main" id="{A5C56D60-8E16-45FF-AEDE-AEF702106E98}"/>
              </a:ext>
            </a:extLst>
          </p:cNvPr>
          <p:cNvSpPr txBox="1"/>
          <p:nvPr/>
        </p:nvSpPr>
        <p:spPr>
          <a:xfrm>
            <a:off x="1193800" y="4483100"/>
            <a:ext cx="4699000" cy="736600"/>
          </a:xfrm>
          <a:prstGeom prst="rect">
            <a:avLst/>
          </a:prstGeom>
          <a:noFill/>
        </p:spPr>
        <p:txBody>
          <a:bodyPr vertOverflow="overflow" vert="horz" wrap="square" rtlCol="0" anchor="t">
            <a:normAutofit/>
          </a:bodyPr>
          <a:lstStyle/>
          <a:p>
            <a:pPr algn="l"/>
            <a:r>
              <a:rPr lang="en-US" altLang="ja-JP" sz="1700">
                <a:solidFill>
                  <a:srgbClr val="000000"/>
                </a:solidFill>
                <a:latin typeface="Meiryo UI" panose="020B0604030504040204" pitchFamily="50" charset="-128"/>
                <a:ea typeface="Meiryo UI" panose="020B0604030504040204" pitchFamily="50" charset="-128"/>
              </a:rPr>
              <a:t>Normal</a:t>
            </a:r>
            <a:r>
              <a:rPr lang="ja-JP" altLang="en-US" sz="1700">
                <a:solidFill>
                  <a:srgbClr val="000000"/>
                </a:solidFill>
                <a:latin typeface="Meiryo UI" panose="020B0604030504040204" pitchFamily="50" charset="-128"/>
                <a:ea typeface="Meiryo UI" panose="020B0604030504040204" pitchFamily="50" charset="-128"/>
              </a:rPr>
              <a:t>、</a:t>
            </a:r>
            <a:r>
              <a:rPr lang="en-US" altLang="ja-JP" sz="1700">
                <a:solidFill>
                  <a:srgbClr val="000000"/>
                </a:solidFill>
                <a:latin typeface="Meiryo UI" panose="020B0604030504040204" pitchFamily="50" charset="-128"/>
                <a:ea typeface="Meiryo UI" panose="020B0604030504040204" pitchFamily="50" charset="-128"/>
              </a:rPr>
              <a:t>Glass</a:t>
            </a:r>
            <a:r>
              <a:rPr lang="ja-JP" altLang="en-US" sz="1700">
                <a:solidFill>
                  <a:srgbClr val="000000"/>
                </a:solidFill>
                <a:latin typeface="Meiryo UI" panose="020B0604030504040204" pitchFamily="50" charset="-128"/>
                <a:ea typeface="Meiryo UI" panose="020B0604030504040204" pitchFamily="50" charset="-128"/>
              </a:rPr>
              <a:t>、</a:t>
            </a:r>
            <a:r>
              <a:rPr lang="en-US" altLang="ja-JP" sz="1700">
                <a:solidFill>
                  <a:srgbClr val="000000"/>
                </a:solidFill>
                <a:latin typeface="Meiryo UI" panose="020B0604030504040204" pitchFamily="50" charset="-128"/>
                <a:ea typeface="Meiryo UI" panose="020B0604030504040204" pitchFamily="50" charset="-128"/>
              </a:rPr>
              <a:t>Other reflective</a:t>
            </a:r>
            <a:r>
              <a:rPr lang="ja-JP" altLang="en-US" sz="1700">
                <a:solidFill>
                  <a:srgbClr val="000000"/>
                </a:solidFill>
                <a:latin typeface="Meiryo UI" panose="020B0604030504040204" pitchFamily="50" charset="-128"/>
                <a:ea typeface="Meiryo UI" panose="020B0604030504040204" pitchFamily="50" charset="-128"/>
              </a:rPr>
              <a:t>、</a:t>
            </a:r>
            <a:r>
              <a:rPr lang="en-US" altLang="ja-JP" sz="1700">
                <a:solidFill>
                  <a:srgbClr val="000000"/>
                </a:solidFill>
                <a:latin typeface="Meiryo UI" panose="020B0604030504040204" pitchFamily="50" charset="-128"/>
                <a:ea typeface="Meiryo UI" panose="020B0604030504040204" pitchFamily="50" charset="-128"/>
              </a:rPr>
              <a:t>Obstacle behind glass</a:t>
            </a:r>
            <a:r>
              <a:rPr lang="ja-JP" altLang="en-US" sz="1700">
                <a:solidFill>
                  <a:srgbClr val="000000"/>
                </a:solidFill>
                <a:latin typeface="Meiryo UI" panose="020B0604030504040204" pitchFamily="50" charset="-128"/>
                <a:ea typeface="Meiryo UI" panose="020B0604030504040204" pitchFamily="50" charset="-128"/>
              </a:rPr>
              <a:t>の</a:t>
            </a:r>
            <a:r>
              <a:rPr lang="en-US" altLang="ja-JP" sz="1700">
                <a:solidFill>
                  <a:srgbClr val="000000"/>
                </a:solidFill>
                <a:latin typeface="Meiryo UI" panose="020B0604030504040204" pitchFamily="50" charset="-128"/>
                <a:ea typeface="Meiryo UI" panose="020B0604030504040204" pitchFamily="50" charset="-128"/>
              </a:rPr>
              <a:t>IoU</a:t>
            </a:r>
            <a:r>
              <a:rPr lang="ja-JP" altLang="en-US" sz="1700">
                <a:solidFill>
                  <a:srgbClr val="000000"/>
                </a:solidFill>
                <a:latin typeface="Meiryo UI" panose="020B0604030504040204" pitchFamily="50" charset="-128"/>
                <a:ea typeface="Meiryo UI" panose="020B0604030504040204" pitchFamily="50" charset="-128"/>
              </a:rPr>
              <a:t>が改善</a:t>
            </a:r>
          </a:p>
        </p:txBody>
      </p:sp>
      <p:sp>
        <p:nvSpPr>
          <p:cNvPr id="20" name="楕円 19">
            <a:extLst>
              <a:ext uri="{FF2B5EF4-FFF2-40B4-BE49-F238E27FC236}">
                <a16:creationId xmlns:a16="http://schemas.microsoft.com/office/drawing/2014/main" id="{1510BD6D-AB1D-4CF7-B9C8-B5FB1C4F3A8B}"/>
              </a:ext>
            </a:extLst>
          </p:cNvPr>
          <p:cNvSpPr/>
          <p:nvPr/>
        </p:nvSpPr>
        <p:spPr>
          <a:xfrm>
            <a:off x="965200" y="5499100"/>
            <a:ext cx="101600" cy="101600"/>
          </a:xfrm>
          <a:prstGeom prst="ellipse">
            <a:avLst/>
          </a:prstGeom>
          <a:solidFill>
            <a:srgbClr val="1F78A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21" name="テキスト ボックス 20">
            <a:extLst>
              <a:ext uri="{FF2B5EF4-FFF2-40B4-BE49-F238E27FC236}">
                <a16:creationId xmlns:a16="http://schemas.microsoft.com/office/drawing/2014/main" id="{641F7E13-00A8-48DE-8DC4-568A39E52BCB}"/>
              </a:ext>
            </a:extLst>
          </p:cNvPr>
          <p:cNvSpPr txBox="1"/>
          <p:nvPr/>
        </p:nvSpPr>
        <p:spPr>
          <a:xfrm>
            <a:off x="1193800" y="5397500"/>
            <a:ext cx="4699000" cy="533400"/>
          </a:xfrm>
          <a:prstGeom prst="rect">
            <a:avLst/>
          </a:prstGeom>
          <a:noFill/>
        </p:spPr>
        <p:txBody>
          <a:bodyPr vertOverflow="overflow" vert="horz" wrap="square" rtlCol="0" anchor="t">
            <a:normAutofit fontScale="92500" lnSpcReduction="10000"/>
          </a:bodyPr>
          <a:lstStyle/>
          <a:p>
            <a:pPr algn="l"/>
            <a:r>
              <a:rPr lang="ja-JP" altLang="en-US" sz="1700">
                <a:solidFill>
                  <a:srgbClr val="000000"/>
                </a:solidFill>
                <a:latin typeface="Meiryo UI" panose="020B0604030504040204" pitchFamily="50" charset="-128"/>
                <a:ea typeface="Meiryo UI" panose="020B0604030504040204" pitchFamily="50" charset="-128"/>
              </a:rPr>
              <a:t>校正後</a:t>
            </a:r>
            <a:r>
              <a:rPr lang="en-US" altLang="ja-JP" sz="1700">
                <a:solidFill>
                  <a:srgbClr val="000000"/>
                </a:solidFill>
                <a:latin typeface="Meiryo UI" panose="020B0604030504040204" pitchFamily="50" charset="-128"/>
                <a:ea typeface="Meiryo UI" panose="020B0604030504040204" pitchFamily="50" charset="-128"/>
              </a:rPr>
              <a:t>Reflection ECE</a:t>
            </a:r>
            <a:r>
              <a:rPr lang="ja-JP" altLang="en-US" sz="1700">
                <a:solidFill>
                  <a:srgbClr val="000000"/>
                </a:solidFill>
                <a:latin typeface="Meiryo UI" panose="020B0604030504040204" pitchFamily="50" charset="-128"/>
                <a:ea typeface="Meiryo UI" panose="020B0604030504040204" pitchFamily="50" charset="-128"/>
              </a:rPr>
              <a:t>が </a:t>
            </a:r>
            <a:r>
              <a:rPr lang="en-US" altLang="ja-JP" sz="1700">
                <a:solidFill>
                  <a:srgbClr val="000000"/>
                </a:solidFill>
                <a:latin typeface="Meiryo UI" panose="020B0604030504040204" pitchFamily="50" charset="-128"/>
                <a:ea typeface="Meiryo UI" panose="020B0604030504040204" pitchFamily="50" charset="-128"/>
              </a:rPr>
              <a:t>0.0908 → 0.0228 </a:t>
            </a:r>
            <a:r>
              <a:rPr lang="ja-JP" altLang="en-US" sz="1700">
                <a:solidFill>
                  <a:srgbClr val="000000"/>
                </a:solidFill>
                <a:latin typeface="Meiryo UI" panose="020B0604030504040204" pitchFamily="50" charset="-128"/>
                <a:ea typeface="Meiryo UI" panose="020B0604030504040204" pitchFamily="50" charset="-128"/>
              </a:rPr>
              <a:t>に改善</a:t>
            </a:r>
          </a:p>
        </p:txBody>
      </p:sp>
      <p:sp>
        <p:nvSpPr>
          <p:cNvPr id="22" name="楕円 21">
            <a:extLst>
              <a:ext uri="{FF2B5EF4-FFF2-40B4-BE49-F238E27FC236}">
                <a16:creationId xmlns:a16="http://schemas.microsoft.com/office/drawing/2014/main" id="{D3900BE5-4BEB-44B8-847E-4094F7A269E8}"/>
              </a:ext>
            </a:extLst>
          </p:cNvPr>
          <p:cNvSpPr/>
          <p:nvPr/>
        </p:nvSpPr>
        <p:spPr>
          <a:xfrm>
            <a:off x="6654800" y="1841500"/>
            <a:ext cx="101600" cy="101600"/>
          </a:xfrm>
          <a:prstGeom prst="ellipse">
            <a:avLst/>
          </a:prstGeom>
          <a:solidFill>
            <a:srgbClr val="E17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23" name="テキスト ボックス 22">
            <a:extLst>
              <a:ext uri="{FF2B5EF4-FFF2-40B4-BE49-F238E27FC236}">
                <a16:creationId xmlns:a16="http://schemas.microsoft.com/office/drawing/2014/main" id="{EF9EFFD1-E187-4738-9DDF-00BE26272579}"/>
              </a:ext>
            </a:extLst>
          </p:cNvPr>
          <p:cNvSpPr txBox="1"/>
          <p:nvPr/>
        </p:nvSpPr>
        <p:spPr>
          <a:xfrm>
            <a:off x="6883400" y="1739900"/>
            <a:ext cx="4445000" cy="533400"/>
          </a:xfrm>
          <a:prstGeom prst="rect">
            <a:avLst/>
          </a:prstGeom>
          <a:noFill/>
        </p:spPr>
        <p:txBody>
          <a:bodyPr vertOverflow="overflow" vert="horz" wrap="square" rtlCol="0" anchor="t">
            <a:normAutofit/>
          </a:bodyPr>
          <a:lstStyle/>
          <a:p>
            <a:pPr algn="l"/>
            <a:r>
              <a:rPr lang="en-US" altLang="ja-JP" sz="1700">
                <a:solidFill>
                  <a:srgbClr val="000000"/>
                </a:solidFill>
                <a:latin typeface="Meiryo UI" panose="020B0604030504040204" pitchFamily="50" charset="-128"/>
                <a:ea typeface="Meiryo UI" panose="020B0604030504040204" pitchFamily="50" charset="-128"/>
              </a:rPr>
              <a:t>Reflection IoU</a:t>
            </a:r>
            <a:r>
              <a:rPr lang="ja-JP" altLang="en-US" sz="1700">
                <a:solidFill>
                  <a:srgbClr val="000000"/>
                </a:solidFill>
                <a:latin typeface="Meiryo UI" panose="020B0604030504040204" pitchFamily="50" charset="-128"/>
                <a:ea typeface="Meiryo UI" panose="020B0604030504040204" pitchFamily="50" charset="-128"/>
              </a:rPr>
              <a:t>が </a:t>
            </a:r>
            <a:r>
              <a:rPr lang="en-US" altLang="ja-JP" sz="1700">
                <a:solidFill>
                  <a:srgbClr val="000000"/>
                </a:solidFill>
                <a:latin typeface="Meiryo UI" panose="020B0604030504040204" pitchFamily="50" charset="-128"/>
                <a:ea typeface="Meiryo UI" panose="020B0604030504040204" pitchFamily="50" charset="-128"/>
              </a:rPr>
              <a:t>0.3504 → 0.3023 </a:t>
            </a:r>
            <a:r>
              <a:rPr lang="ja-JP" altLang="en-US" sz="1700">
                <a:solidFill>
                  <a:srgbClr val="000000"/>
                </a:solidFill>
                <a:latin typeface="Meiryo UI" panose="020B0604030504040204" pitchFamily="50" charset="-128"/>
                <a:ea typeface="Meiryo UI" panose="020B0604030504040204" pitchFamily="50" charset="-128"/>
              </a:rPr>
              <a:t>に低下</a:t>
            </a:r>
          </a:p>
        </p:txBody>
      </p:sp>
      <p:sp>
        <p:nvSpPr>
          <p:cNvPr id="24" name="楕円 23">
            <a:extLst>
              <a:ext uri="{FF2B5EF4-FFF2-40B4-BE49-F238E27FC236}">
                <a16:creationId xmlns:a16="http://schemas.microsoft.com/office/drawing/2014/main" id="{377F6D0F-6723-4033-A72F-8EC66DD21E0F}"/>
              </a:ext>
            </a:extLst>
          </p:cNvPr>
          <p:cNvSpPr/>
          <p:nvPr/>
        </p:nvSpPr>
        <p:spPr>
          <a:xfrm>
            <a:off x="6654800" y="2527300"/>
            <a:ext cx="101600" cy="101600"/>
          </a:xfrm>
          <a:prstGeom prst="ellipse">
            <a:avLst/>
          </a:prstGeom>
          <a:solidFill>
            <a:srgbClr val="E17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25" name="テキスト ボックス 24">
            <a:extLst>
              <a:ext uri="{FF2B5EF4-FFF2-40B4-BE49-F238E27FC236}">
                <a16:creationId xmlns:a16="http://schemas.microsoft.com/office/drawing/2014/main" id="{12C65A00-E004-480B-8D0D-62B28EA30419}"/>
              </a:ext>
            </a:extLst>
          </p:cNvPr>
          <p:cNvSpPr txBox="1"/>
          <p:nvPr/>
        </p:nvSpPr>
        <p:spPr>
          <a:xfrm>
            <a:off x="6883400" y="2425700"/>
            <a:ext cx="4445000" cy="533400"/>
          </a:xfrm>
          <a:prstGeom prst="rect">
            <a:avLst/>
          </a:prstGeom>
          <a:noFill/>
        </p:spPr>
        <p:txBody>
          <a:bodyPr vertOverflow="overflow" vert="horz" wrap="square" rtlCol="0" anchor="t">
            <a:normAutofit fontScale="92500"/>
          </a:bodyPr>
          <a:lstStyle/>
          <a:p>
            <a:pPr algn="l"/>
            <a:r>
              <a:rPr lang="en-US" altLang="ja-JP" sz="1700">
                <a:solidFill>
                  <a:srgbClr val="000000"/>
                </a:solidFill>
                <a:latin typeface="Meiryo UI" panose="020B0604030504040204" pitchFamily="50" charset="-128"/>
                <a:ea typeface="Meiryo UI" panose="020B0604030504040204" pitchFamily="50" charset="-128"/>
              </a:rPr>
              <a:t>Reflection Recall</a:t>
            </a:r>
            <a:r>
              <a:rPr lang="ja-JP" altLang="en-US" sz="1700">
                <a:solidFill>
                  <a:srgbClr val="000000"/>
                </a:solidFill>
                <a:latin typeface="Meiryo UI" panose="020B0604030504040204" pitchFamily="50" charset="-128"/>
                <a:ea typeface="Meiryo UI" panose="020B0604030504040204" pitchFamily="50" charset="-128"/>
              </a:rPr>
              <a:t>が </a:t>
            </a:r>
            <a:r>
              <a:rPr lang="en-US" altLang="ja-JP" sz="1700">
                <a:solidFill>
                  <a:srgbClr val="000000"/>
                </a:solidFill>
                <a:latin typeface="Meiryo UI" panose="020B0604030504040204" pitchFamily="50" charset="-128"/>
                <a:ea typeface="Meiryo UI" panose="020B0604030504040204" pitchFamily="50" charset="-128"/>
              </a:rPr>
              <a:t>0.7692 → 0.5080 </a:t>
            </a:r>
            <a:r>
              <a:rPr lang="ja-JP" altLang="en-US" sz="1700">
                <a:solidFill>
                  <a:srgbClr val="000000"/>
                </a:solidFill>
                <a:latin typeface="Meiryo UI" panose="020B0604030504040204" pitchFamily="50" charset="-128"/>
                <a:ea typeface="Meiryo UI" panose="020B0604030504040204" pitchFamily="50" charset="-128"/>
              </a:rPr>
              <a:t>に低下</a:t>
            </a:r>
          </a:p>
        </p:txBody>
      </p:sp>
      <p:sp>
        <p:nvSpPr>
          <p:cNvPr id="26" name="楕円 25">
            <a:extLst>
              <a:ext uri="{FF2B5EF4-FFF2-40B4-BE49-F238E27FC236}">
                <a16:creationId xmlns:a16="http://schemas.microsoft.com/office/drawing/2014/main" id="{A050990C-FC7D-4176-889A-BBA2D13815CA}"/>
              </a:ext>
            </a:extLst>
          </p:cNvPr>
          <p:cNvSpPr/>
          <p:nvPr/>
        </p:nvSpPr>
        <p:spPr>
          <a:xfrm>
            <a:off x="6654800" y="3213100"/>
            <a:ext cx="101600" cy="101600"/>
          </a:xfrm>
          <a:prstGeom prst="ellipse">
            <a:avLst/>
          </a:prstGeom>
          <a:solidFill>
            <a:srgbClr val="E17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BB13FD10-49F6-4054-8DC5-DDF7EE9E0BC1}"/>
              </a:ext>
            </a:extLst>
          </p:cNvPr>
          <p:cNvSpPr txBox="1"/>
          <p:nvPr/>
        </p:nvSpPr>
        <p:spPr>
          <a:xfrm>
            <a:off x="6883400" y="3111500"/>
            <a:ext cx="4445000" cy="533400"/>
          </a:xfrm>
          <a:prstGeom prst="rect">
            <a:avLst/>
          </a:prstGeom>
          <a:noFill/>
        </p:spPr>
        <p:txBody>
          <a:bodyPr vertOverflow="overflow" vert="horz" wrap="square" rtlCol="0" anchor="t">
            <a:normAutofit fontScale="92500" lnSpcReduction="10000"/>
          </a:bodyPr>
          <a:lstStyle/>
          <a:p>
            <a:pPr algn="l"/>
            <a:r>
              <a:rPr lang="en-US" altLang="ja-JP" sz="1700">
                <a:solidFill>
                  <a:srgbClr val="000000"/>
                </a:solidFill>
                <a:latin typeface="Meiryo UI" panose="020B0604030504040204" pitchFamily="50" charset="-128"/>
                <a:ea typeface="Meiryo UI" panose="020B0604030504040204" pitchFamily="50" charset="-128"/>
              </a:rPr>
              <a:t>Mirror IoU</a:t>
            </a:r>
            <a:r>
              <a:rPr lang="ja-JP" altLang="en-US" sz="1700">
                <a:solidFill>
                  <a:srgbClr val="000000"/>
                </a:solidFill>
                <a:latin typeface="Meiryo UI" panose="020B0604030504040204" pitchFamily="50" charset="-128"/>
                <a:ea typeface="Meiryo UI" panose="020B0604030504040204" pitchFamily="50" charset="-128"/>
              </a:rPr>
              <a:t>は融合モデルでも</a:t>
            </a:r>
            <a:r>
              <a:rPr lang="en-US" altLang="ja-JP" sz="1700">
                <a:solidFill>
                  <a:srgbClr val="000000"/>
                </a:solidFill>
                <a:latin typeface="Meiryo UI" panose="020B0604030504040204" pitchFamily="50" charset="-128"/>
                <a:ea typeface="Meiryo UI" panose="020B0604030504040204" pitchFamily="50" charset="-128"/>
              </a:rPr>
              <a:t>0.0012</a:t>
            </a:r>
            <a:r>
              <a:rPr lang="ja-JP" altLang="en-US" sz="1700">
                <a:solidFill>
                  <a:srgbClr val="000000"/>
                </a:solidFill>
                <a:latin typeface="Meiryo UI" panose="020B0604030504040204" pitchFamily="50" charset="-128"/>
                <a:ea typeface="Meiryo UI" panose="020B0604030504040204" pitchFamily="50" charset="-128"/>
              </a:rPr>
              <a:t>で、ほぼ検出できない</a:t>
            </a:r>
          </a:p>
        </p:txBody>
      </p:sp>
      <p:sp>
        <p:nvSpPr>
          <p:cNvPr id="28" name="楕円 27">
            <a:extLst>
              <a:ext uri="{FF2B5EF4-FFF2-40B4-BE49-F238E27FC236}">
                <a16:creationId xmlns:a16="http://schemas.microsoft.com/office/drawing/2014/main" id="{C4B34803-77D3-4E49-AF23-1DF33CD277D4}"/>
              </a:ext>
            </a:extLst>
          </p:cNvPr>
          <p:cNvSpPr/>
          <p:nvPr/>
        </p:nvSpPr>
        <p:spPr>
          <a:xfrm>
            <a:off x="6654800" y="3898900"/>
            <a:ext cx="101600" cy="101600"/>
          </a:xfrm>
          <a:prstGeom prst="ellipse">
            <a:avLst/>
          </a:prstGeom>
          <a:solidFill>
            <a:srgbClr val="E17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29" name="テキスト ボックス 28">
            <a:extLst>
              <a:ext uri="{FF2B5EF4-FFF2-40B4-BE49-F238E27FC236}">
                <a16:creationId xmlns:a16="http://schemas.microsoft.com/office/drawing/2014/main" id="{4304CA81-2F6E-4D55-BFF7-3A7AEE967956}"/>
              </a:ext>
            </a:extLst>
          </p:cNvPr>
          <p:cNvSpPr txBox="1"/>
          <p:nvPr/>
        </p:nvSpPr>
        <p:spPr>
          <a:xfrm>
            <a:off x="6883400" y="3797300"/>
            <a:ext cx="4445000" cy="533400"/>
          </a:xfrm>
          <a:prstGeom prst="rect">
            <a:avLst/>
          </a:prstGeom>
          <a:noFill/>
        </p:spPr>
        <p:txBody>
          <a:bodyPr vertOverflow="overflow" vert="horz" wrap="square" rtlCol="0" anchor="t">
            <a:normAutofit fontScale="92500"/>
          </a:bodyPr>
          <a:lstStyle/>
          <a:p>
            <a:pPr algn="l"/>
            <a:r>
              <a:rPr lang="ja-JP" altLang="en-US" sz="1700">
                <a:solidFill>
                  <a:srgbClr val="000000"/>
                </a:solidFill>
                <a:latin typeface="Meiryo UI" panose="020B0604030504040204" pitchFamily="50" charset="-128"/>
                <a:ea typeface="Meiryo UI" panose="020B0604030504040204" pitchFamily="50" charset="-128"/>
              </a:rPr>
              <a:t>カメラを利用できる点は全体の</a:t>
            </a:r>
            <a:r>
              <a:rPr lang="en-US" altLang="ja-JP" sz="1700">
                <a:solidFill>
                  <a:srgbClr val="000000"/>
                </a:solidFill>
                <a:latin typeface="Meiryo UI" panose="020B0604030504040204" pitchFamily="50" charset="-128"/>
                <a:ea typeface="Meiryo UI" panose="020B0604030504040204" pitchFamily="50" charset="-128"/>
              </a:rPr>
              <a:t>41.71%</a:t>
            </a:r>
            <a:r>
              <a:rPr lang="ja-JP" altLang="en-US" sz="1700">
                <a:solidFill>
                  <a:srgbClr val="000000"/>
                </a:solidFill>
                <a:latin typeface="Meiryo UI" panose="020B0604030504040204" pitchFamily="50" charset="-128"/>
                <a:ea typeface="Meiryo UI" panose="020B0604030504040204" pitchFamily="50" charset="-128"/>
              </a:rPr>
              <a:t>に限られる</a:t>
            </a:r>
          </a:p>
        </p:txBody>
      </p:sp>
      <p:sp>
        <p:nvSpPr>
          <p:cNvPr id="30" name="楕円 29">
            <a:extLst>
              <a:ext uri="{FF2B5EF4-FFF2-40B4-BE49-F238E27FC236}">
                <a16:creationId xmlns:a16="http://schemas.microsoft.com/office/drawing/2014/main" id="{DA78B8B2-D848-4DD8-99D9-2BF4C78AB2F4}"/>
              </a:ext>
            </a:extLst>
          </p:cNvPr>
          <p:cNvSpPr/>
          <p:nvPr/>
        </p:nvSpPr>
        <p:spPr>
          <a:xfrm>
            <a:off x="6654800" y="4584700"/>
            <a:ext cx="101600" cy="101600"/>
          </a:xfrm>
          <a:prstGeom prst="ellipse">
            <a:avLst/>
          </a:prstGeom>
          <a:solidFill>
            <a:srgbClr val="E17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AA85B68F-EF8B-4998-B134-C442DFDB73F8}"/>
              </a:ext>
            </a:extLst>
          </p:cNvPr>
          <p:cNvSpPr txBox="1"/>
          <p:nvPr/>
        </p:nvSpPr>
        <p:spPr>
          <a:xfrm>
            <a:off x="6883400" y="4483100"/>
            <a:ext cx="4445000" cy="736600"/>
          </a:xfrm>
          <a:prstGeom prst="rect">
            <a:avLst/>
          </a:prstGeom>
          <a:noFill/>
        </p:spPr>
        <p:txBody>
          <a:bodyPr vertOverflow="overflow" vert="horz" wrap="square" rtlCol="0" anchor="t">
            <a:normAutofit/>
          </a:bodyPr>
          <a:lstStyle/>
          <a:p>
            <a:pPr algn="l"/>
            <a:r>
              <a:rPr lang="ja-JP" altLang="en-US" sz="1700">
                <a:solidFill>
                  <a:srgbClr val="000000"/>
                </a:solidFill>
                <a:latin typeface="Meiryo UI" panose="020B0604030504040204" pitchFamily="50" charset="-128"/>
                <a:ea typeface="Meiryo UI" panose="020B0604030504040204" pitchFamily="50" charset="-128"/>
              </a:rPr>
              <a:t>全点の</a:t>
            </a:r>
            <a:r>
              <a:rPr lang="en-US" altLang="ja-JP" sz="1700">
                <a:solidFill>
                  <a:srgbClr val="000000"/>
                </a:solidFill>
                <a:latin typeface="Meiryo UI" panose="020B0604030504040204" pitchFamily="50" charset="-128"/>
                <a:ea typeface="Meiryo UI" panose="020B0604030504040204" pitchFamily="50" charset="-128"/>
              </a:rPr>
              <a:t>Temperature</a:t>
            </a:r>
            <a:r>
              <a:rPr lang="ja-JP" altLang="en-US" sz="1700">
                <a:solidFill>
                  <a:srgbClr val="000000"/>
                </a:solidFill>
                <a:latin typeface="Meiryo UI" panose="020B0604030504040204" pitchFamily="50" charset="-128"/>
                <a:ea typeface="Meiryo UI" panose="020B0604030504040204" pitchFamily="50" charset="-128"/>
              </a:rPr>
              <a:t>適用後に、全体</a:t>
            </a:r>
            <a:r>
              <a:rPr lang="en-US" altLang="ja-JP" sz="1700">
                <a:solidFill>
                  <a:srgbClr val="000000"/>
                </a:solidFill>
                <a:latin typeface="Meiryo UI" panose="020B0604030504040204" pitchFamily="50" charset="-128"/>
                <a:ea typeface="Meiryo UI" panose="020B0604030504040204" pitchFamily="50" charset="-128"/>
              </a:rPr>
              <a:t>Brier</a:t>
            </a:r>
            <a:r>
              <a:rPr lang="ja-JP" altLang="en-US" sz="1700">
                <a:solidFill>
                  <a:srgbClr val="000000"/>
                </a:solidFill>
                <a:latin typeface="Meiryo UI" panose="020B0604030504040204" pitchFamily="50" charset="-128"/>
                <a:ea typeface="Meiryo UI" panose="020B0604030504040204" pitchFamily="50" charset="-128"/>
              </a:rPr>
              <a:t>と</a:t>
            </a:r>
            <a:r>
              <a:rPr lang="en-US" altLang="ja-JP" sz="1700">
                <a:solidFill>
                  <a:srgbClr val="000000"/>
                </a:solidFill>
                <a:latin typeface="Meiryo UI" panose="020B0604030504040204" pitchFamily="50" charset="-128"/>
                <a:ea typeface="Meiryo UI" panose="020B0604030504040204" pitchFamily="50" charset="-128"/>
              </a:rPr>
              <a:t>ECE</a:t>
            </a:r>
            <a:r>
              <a:rPr lang="ja-JP" altLang="en-US" sz="1700">
                <a:solidFill>
                  <a:srgbClr val="000000"/>
                </a:solidFill>
                <a:latin typeface="Meiryo UI" panose="020B0604030504040204" pitchFamily="50" charset="-128"/>
                <a:ea typeface="Meiryo UI" panose="020B0604030504040204" pitchFamily="50" charset="-128"/>
              </a:rPr>
              <a:t>が悪化</a:t>
            </a:r>
          </a:p>
        </p:txBody>
      </p:sp>
      <p:sp>
        <p:nvSpPr>
          <p:cNvPr id="32" name="楕円 31">
            <a:extLst>
              <a:ext uri="{FF2B5EF4-FFF2-40B4-BE49-F238E27FC236}">
                <a16:creationId xmlns:a16="http://schemas.microsoft.com/office/drawing/2014/main" id="{0DD38859-E02B-4F18-931C-0C77FDE76AC3}"/>
              </a:ext>
            </a:extLst>
          </p:cNvPr>
          <p:cNvSpPr/>
          <p:nvPr/>
        </p:nvSpPr>
        <p:spPr>
          <a:xfrm>
            <a:off x="6654800" y="5499100"/>
            <a:ext cx="101600" cy="101600"/>
          </a:xfrm>
          <a:prstGeom prst="ellipse">
            <a:avLst/>
          </a:prstGeom>
          <a:solidFill>
            <a:srgbClr val="E17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latin typeface="Meiryo UI" panose="020B0604030504040204" pitchFamily="50" charset="-128"/>
              <a:ea typeface="Meiryo UI" panose="020B0604030504040204" pitchFamily="50" charset="-128"/>
            </a:endParaRPr>
          </a:p>
        </p:txBody>
      </p:sp>
      <p:sp>
        <p:nvSpPr>
          <p:cNvPr id="33" name="テキスト ボックス 32">
            <a:extLst>
              <a:ext uri="{FF2B5EF4-FFF2-40B4-BE49-F238E27FC236}">
                <a16:creationId xmlns:a16="http://schemas.microsoft.com/office/drawing/2014/main" id="{40C2F9FE-1CEC-4F4B-8536-7B8C8562E59B}"/>
              </a:ext>
            </a:extLst>
          </p:cNvPr>
          <p:cNvSpPr txBox="1"/>
          <p:nvPr/>
        </p:nvSpPr>
        <p:spPr>
          <a:xfrm>
            <a:off x="6883400" y="5397500"/>
            <a:ext cx="4445000" cy="533400"/>
          </a:xfrm>
          <a:prstGeom prst="rect">
            <a:avLst/>
          </a:prstGeom>
          <a:noFill/>
        </p:spPr>
        <p:txBody>
          <a:bodyPr vertOverflow="overflow" vert="horz" wrap="square" rtlCol="0" anchor="t">
            <a:normAutofit fontScale="92500"/>
          </a:bodyPr>
          <a:lstStyle/>
          <a:p>
            <a:pPr algn="l"/>
            <a:r>
              <a:rPr lang="ja-JP" altLang="en-US" sz="1700">
                <a:solidFill>
                  <a:srgbClr val="000000"/>
                </a:solidFill>
                <a:latin typeface="Meiryo UI" panose="020B0604030504040204" pitchFamily="50" charset="-128"/>
                <a:ea typeface="Meiryo UI" panose="020B0604030504040204" pitchFamily="50" charset="-128"/>
              </a:rPr>
              <a:t>点</a:t>
            </a:r>
            <a:r>
              <a:rPr lang="en-US" altLang="ja-JP" sz="1700">
                <a:solidFill>
                  <a:srgbClr val="000000"/>
                </a:solidFill>
                <a:latin typeface="Meiryo UI" panose="020B0604030504040204" pitchFamily="50" charset="-128"/>
                <a:ea typeface="Meiryo UI" panose="020B0604030504040204" pitchFamily="50" charset="-128"/>
              </a:rPr>
              <a:t>MLP</a:t>
            </a:r>
            <a:r>
              <a:rPr lang="ja-JP" altLang="en-US" sz="1700">
                <a:solidFill>
                  <a:srgbClr val="000000"/>
                </a:solidFill>
                <a:latin typeface="Meiryo UI" panose="020B0604030504040204" pitchFamily="50" charset="-128"/>
                <a:ea typeface="Meiryo UI" panose="020B0604030504040204" pitchFamily="50" charset="-128"/>
              </a:rPr>
              <a:t>は周辺点との</a:t>
            </a:r>
            <a:r>
              <a:rPr lang="en-US" altLang="ja-JP" sz="1700">
                <a:solidFill>
                  <a:srgbClr val="000000"/>
                </a:solidFill>
                <a:latin typeface="Meiryo UI" panose="020B0604030504040204" pitchFamily="50" charset="-128"/>
                <a:ea typeface="Meiryo UI" panose="020B0604030504040204" pitchFamily="50" charset="-128"/>
              </a:rPr>
              <a:t>3</a:t>
            </a:r>
            <a:r>
              <a:rPr lang="ja-JP" altLang="en-US" sz="1700">
                <a:solidFill>
                  <a:srgbClr val="000000"/>
                </a:solidFill>
                <a:latin typeface="Meiryo UI" panose="020B0604030504040204" pitchFamily="50" charset="-128"/>
                <a:ea typeface="Meiryo UI" panose="020B0604030504040204" pitchFamily="50" charset="-128"/>
              </a:rPr>
              <a:t>次元構造を直接利用しない</a:t>
            </a:r>
          </a:p>
        </p:txBody>
      </p:sp>
    </p:spTree>
    <p:extLst>
      <p:ext uri="{BB962C8B-B14F-4D97-AF65-F5344CB8AC3E}">
        <p14:creationId xmlns:p14="http://schemas.microsoft.com/office/powerpoint/2010/main" val="223820789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765D96D-A20E-4E22-8285-C86F8D687584}">
  <we:reference id="wa200010215" version="2.0.0.0" store="en-US" storeType="OMEX"/>
  <we:alternateReferences>
    <we:reference id="WA200010215" version="2.0.0.0" store="" storeType="OMEX"/>
  </we:alternateReferences>
  <we:properties>
    <we:property name="bps.codex_control.document_id" value="&quot;0652a013-f519-4799-963d-2f229e735aa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163</TotalTime>
  <Words>717</Words>
  <Application>Microsoft Office PowerPoint</Application>
  <PresentationFormat>ワイド画面</PresentationFormat>
  <Paragraphs>173</Paragraphs>
  <Slides>7</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7</vt:i4>
      </vt:variant>
    </vt:vector>
  </HeadingPairs>
  <TitlesOfParts>
    <vt:vector size="15" baseType="lpstr">
      <vt:lpstr>Helvetica Neue</vt:lpstr>
      <vt:lpstr>Meiryo UI</vt:lpstr>
      <vt:lpstr>游ゴシック</vt:lpstr>
      <vt:lpstr>游ゴシック Light</vt:lpstr>
      <vt:lpstr>Arial</vt:lpstr>
      <vt:lpstr>Cambria Math</vt:lpstr>
      <vt:lpstr>Office テーマ</vt:lpstr>
      <vt:lpstr>Office Theme</vt:lpstr>
      <vt:lpstr>進捗報告</vt:lpstr>
      <vt:lpstr>進捗内容</vt:lpstr>
      <vt:lpstr>研究目的1</vt:lpstr>
      <vt:lpstr>研究目的2</vt:lpstr>
      <vt:lpstr>PowerPoint プレゼンテーション</vt:lpstr>
      <vt:lpstr>PowerPoint プレゼンテーション</vt:lpstr>
      <vt:lpstr>結果の解釈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樹生 武知</dc:creator>
  <cp:lastModifiedBy>樹生 武知</cp:lastModifiedBy>
  <cp:revision>5</cp:revision>
  <dcterms:created xsi:type="dcterms:W3CDTF">2026-07-14T08:17:51Z</dcterms:created>
  <dcterms:modified xsi:type="dcterms:W3CDTF">2026-07-21T17:56:41Z</dcterms:modified>
</cp:coreProperties>
</file>